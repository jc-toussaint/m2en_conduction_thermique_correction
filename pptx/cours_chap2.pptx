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256" r:id="rId2"/>
    <p:sldId id="261" r:id="rId3"/>
    <p:sldId id="291" r:id="rId4"/>
    <p:sldId id="263" r:id="rId5"/>
    <p:sldId id="264" r:id="rId6"/>
    <p:sldId id="265" r:id="rId7"/>
    <p:sldId id="267" r:id="rId8"/>
    <p:sldId id="266" r:id="rId9"/>
    <p:sldId id="268" r:id="rId10"/>
    <p:sldId id="270" r:id="rId11"/>
    <p:sldId id="292" r:id="rId12"/>
    <p:sldId id="269" r:id="rId13"/>
    <p:sldId id="271" r:id="rId14"/>
    <p:sldId id="273" r:id="rId15"/>
    <p:sldId id="272" r:id="rId16"/>
    <p:sldId id="274" r:id="rId17"/>
    <p:sldId id="275" r:id="rId18"/>
    <p:sldId id="276" r:id="rId19"/>
    <p:sldId id="277" r:id="rId20"/>
    <p:sldId id="279" r:id="rId21"/>
    <p:sldId id="278" r:id="rId22"/>
    <p:sldId id="280" r:id="rId23"/>
    <p:sldId id="281" r:id="rId24"/>
    <p:sldId id="282" r:id="rId25"/>
    <p:sldId id="283" r:id="rId26"/>
    <p:sldId id="284" r:id="rId27"/>
    <p:sldId id="290" r:id="rId28"/>
    <p:sldId id="285" r:id="rId29"/>
    <p:sldId id="286" r:id="rId30"/>
    <p:sldId id="287" r:id="rId31"/>
    <p:sldId id="288" r:id="rId32"/>
    <p:sldId id="289" r:id="rId33"/>
  </p:sldIdLst>
  <p:sldSz cx="12192000" cy="6858000"/>
  <p:notesSz cx="6797675" cy="9926638"/>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1" d="100"/>
          <a:sy n="81" d="100"/>
        </p:scale>
        <p:origin x="24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36DE70FF-228E-47FB-94DE-7A280A394D15}" type="datetimeFigureOut">
              <a:rPr lang="fr-FR" smtClean="0"/>
              <a:t>11/09/2025</a:t>
            </a:fld>
            <a:endParaRPr lang="fr-FR"/>
          </a:p>
        </p:txBody>
      </p:sp>
      <p:sp>
        <p:nvSpPr>
          <p:cNvPr id="4" name="Espace réservé du pied de page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888D0975-E02E-49E3-9733-C9E6F6444EE7}" type="slidenum">
              <a:rPr lang="fr-FR" smtClean="0"/>
              <a:t>‹N°›</a:t>
            </a:fld>
            <a:endParaRPr lang="fr-FR"/>
          </a:p>
        </p:txBody>
      </p:sp>
    </p:spTree>
    <p:extLst>
      <p:ext uri="{BB962C8B-B14F-4D97-AF65-F5344CB8AC3E}">
        <p14:creationId xmlns:p14="http://schemas.microsoft.com/office/powerpoint/2010/main" val="4158898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A5B44191-EE3B-4515-966B-1DCEE858949A}" type="datetimeFigureOut">
              <a:rPr lang="fr-FR" smtClean="0"/>
              <a:t>11/09/2025</a:t>
            </a:fld>
            <a:endParaRPr lang="fr-FR"/>
          </a:p>
        </p:txBody>
      </p:sp>
      <p:sp>
        <p:nvSpPr>
          <p:cNvPr id="4" name="Espace réservé de l'image des diapositives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33639F0E-33EF-4D64-BCF3-BE7B36DBC362}" type="slidenum">
              <a:rPr lang="fr-FR" smtClean="0"/>
              <a:t>‹N°›</a:t>
            </a:fld>
            <a:endParaRPr lang="fr-FR"/>
          </a:p>
        </p:txBody>
      </p:sp>
    </p:spTree>
    <p:extLst>
      <p:ext uri="{BB962C8B-B14F-4D97-AF65-F5344CB8AC3E}">
        <p14:creationId xmlns:p14="http://schemas.microsoft.com/office/powerpoint/2010/main" val="1888690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0375C402-EA8E-4276-B15E-D4A7F024FD7A}" type="datetime1">
              <a:rPr lang="fr-FR" smtClean="0"/>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780103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1C674B68-9166-4443-BC44-4BD685F6CB38}" type="datetime1">
              <a:rPr lang="fr-FR" smtClean="0"/>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450851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341179DE-063C-497B-A5AC-85B3543D1B84}" type="datetime1">
              <a:rPr lang="fr-FR" smtClean="0"/>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591595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CEEC9F39-C892-4A4C-A5C0-F59DD566CAD7}" type="datetime1">
              <a:rPr lang="fr-FR" smtClean="0"/>
              <a:t>11/09/2025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3220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1FE7EA54-438A-40D2-BF6C-5F69B26699BC}" type="datetime1">
              <a:rPr lang="fr-FR" smtClean="0"/>
              <a:t>11/09/2025</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199590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35006FC9-6F87-4FDA-B85C-B5427941757A}" type="datetime1">
              <a:rPr lang="fr-FR" smtClean="0"/>
              <a:t>11/09/2025</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353705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4D73EB4F-84FA-40BF-9C9F-9615600430BB}" type="datetime1">
              <a:rPr lang="fr-FR" smtClean="0"/>
              <a:t>11/09/2025</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548793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05730B66-DB65-4B29-B850-1504EBFED8A3}" type="datetime1">
              <a:rPr lang="fr-FR" smtClean="0"/>
              <a:t>11/09/2025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764486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9816439E-E20C-49AC-84CD-E7D925C27FE1}" type="datetime1">
              <a:rPr lang="fr-FR" smtClean="0"/>
              <a:t>11/09/2025</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2289866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E97D8EBC-A87C-4B64-9B4D-AC23646450FB}" type="datetime1">
              <a:rPr lang="fr-FR" smtClean="0"/>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3872407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5EBB2A33-88D4-4999-9FB7-3C265F88DBA2}" type="datetime1">
              <a:rPr lang="fr-FR" smtClean="0"/>
              <a:t>11/09/2025</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CB13DDC6-9977-4A69-882A-1641CFA73689}" type="slidenum">
              <a:rPr lang="fr-FR" smtClean="0"/>
              <a:t>‹N°›</a:t>
            </a:fld>
            <a:endParaRPr lang="fr-FR"/>
          </a:p>
        </p:txBody>
      </p:sp>
    </p:spTree>
    <p:extLst>
      <p:ext uri="{BB962C8B-B14F-4D97-AF65-F5344CB8AC3E}">
        <p14:creationId xmlns:p14="http://schemas.microsoft.com/office/powerpoint/2010/main" val="192109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530916-6FA0-4CE1-A61F-4E8083C4FE60}" type="datetime1">
              <a:rPr lang="fr-FR" smtClean="0"/>
              <a:t>11/09/2025</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13DDC6-9977-4A69-882A-1641CFA73689}" type="slidenum">
              <a:rPr lang="fr-FR" smtClean="0"/>
              <a:t>‹N°›</a:t>
            </a:fld>
            <a:endParaRPr lang="fr-FR"/>
          </a:p>
        </p:txBody>
      </p:sp>
    </p:spTree>
    <p:extLst>
      <p:ext uri="{BB962C8B-B14F-4D97-AF65-F5344CB8AC3E}">
        <p14:creationId xmlns:p14="http://schemas.microsoft.com/office/powerpoint/2010/main" val="32982988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6.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tags" Target="../tags/tag13.xml"/><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tags" Target="../tags/tag8.xml"/><Relationship Id="rId21" Type="http://schemas.openxmlformats.org/officeDocument/2006/relationships/image" Target="../media/image17.png"/><Relationship Id="rId7" Type="http://schemas.openxmlformats.org/officeDocument/2006/relationships/tags" Target="../tags/tag12.xml"/><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tags" Target="../tags/tag7.xml"/><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slideLayout" Target="../slideLayouts/slideLayout2.xml"/><Relationship Id="rId5" Type="http://schemas.openxmlformats.org/officeDocument/2006/relationships/tags" Target="../tags/tag10.xml"/><Relationship Id="rId15" Type="http://schemas.openxmlformats.org/officeDocument/2006/relationships/image" Target="../media/image11.png"/><Relationship Id="rId10" Type="http://schemas.openxmlformats.org/officeDocument/2006/relationships/tags" Target="../tags/tag15.xml"/><Relationship Id="rId19" Type="http://schemas.openxmlformats.org/officeDocument/2006/relationships/image" Target="../media/image15.png"/><Relationship Id="rId4" Type="http://schemas.openxmlformats.org/officeDocument/2006/relationships/tags" Target="../tags/tag9.xml"/><Relationship Id="rId9" Type="http://schemas.openxmlformats.org/officeDocument/2006/relationships/tags" Target="../tags/tag14.xml"/><Relationship Id="rId14" Type="http://schemas.openxmlformats.org/officeDocument/2006/relationships/image" Target="../media/image10.png"/><Relationship Id="rId22" Type="http://schemas.openxmlformats.org/officeDocument/2006/relationships/image" Target="../media/image18.png"/></Relationships>
</file>

<file path=ppt/slides/_rels/slide5.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tags" Target="../tags/tag18.xml"/><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slideLayout" Target="../slideLayouts/slideLayout2.xml"/><Relationship Id="rId11" Type="http://schemas.openxmlformats.org/officeDocument/2006/relationships/image" Target="../media/image23.png"/><Relationship Id="rId5" Type="http://schemas.openxmlformats.org/officeDocument/2006/relationships/tags" Target="../tags/tag20.xml"/><Relationship Id="rId10" Type="http://schemas.openxmlformats.org/officeDocument/2006/relationships/image" Target="../media/image22.png"/><Relationship Id="rId4" Type="http://schemas.openxmlformats.org/officeDocument/2006/relationships/tags" Target="../tags/tag19.xml"/><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23.xml"/><Relationship Id="rId7" Type="http://schemas.openxmlformats.org/officeDocument/2006/relationships/image" Target="../media/image27.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slideLayout" Target="../slideLayouts/slideLayout7.xml"/><Relationship Id="rId9" Type="http://schemas.openxmlformats.org/officeDocument/2006/relationships/image" Target="../media/image29.pn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slideLayout" Target="../slideLayouts/slideLayout7.xml"/><Relationship Id="rId1" Type="http://schemas.openxmlformats.org/officeDocument/2006/relationships/tags" Target="../tags/tag24.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tags" Target="../tags/tag29.xml"/><Relationship Id="rId7" Type="http://schemas.openxmlformats.org/officeDocument/2006/relationships/image" Target="../media/image36.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slideLayout" Target="../slideLayouts/slideLayout7.xml"/><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32.xml"/><Relationship Id="rId7" Type="http://schemas.openxmlformats.org/officeDocument/2006/relationships/image" Target="../media/image37.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36.png"/><Relationship Id="rId5" Type="http://schemas.openxmlformats.org/officeDocument/2006/relationships/image" Target="../media/image40.png"/><Relationship Id="rId4" Type="http://schemas.openxmlformats.org/officeDocument/2006/relationships/slideLayout" Target="../slideLayouts/slideLayout7.xml"/><Relationship Id="rId9" Type="http://schemas.openxmlformats.org/officeDocument/2006/relationships/image" Target="../media/image42.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1.xml"/><Relationship Id="rId13" Type="http://schemas.openxmlformats.org/officeDocument/2006/relationships/image" Target="../media/image47.png"/><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image" Target="../media/image46.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image" Target="../media/image45.png"/><Relationship Id="rId5" Type="http://schemas.openxmlformats.org/officeDocument/2006/relationships/tags" Target="../tags/tag37.xml"/><Relationship Id="rId15" Type="http://schemas.openxmlformats.org/officeDocument/2006/relationships/image" Target="../media/image49.png"/><Relationship Id="rId10" Type="http://schemas.openxmlformats.org/officeDocument/2006/relationships/image" Target="../media/image44.png"/><Relationship Id="rId4" Type="http://schemas.openxmlformats.org/officeDocument/2006/relationships/tags" Target="../tags/tag36.xml"/><Relationship Id="rId9" Type="http://schemas.openxmlformats.org/officeDocument/2006/relationships/image" Target="../media/image43.png"/><Relationship Id="rId14" Type="http://schemas.openxmlformats.org/officeDocument/2006/relationships/image" Target="../media/image48.png"/></Relationships>
</file>

<file path=ppt/slides/_rels/slide1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7.xml"/><Relationship Id="rId1" Type="http://schemas.openxmlformats.org/officeDocument/2006/relationships/tags" Target="../tags/tag40.xml"/><Relationship Id="rId4" Type="http://schemas.openxmlformats.org/officeDocument/2006/relationships/image" Target="../media/image51.png"/></Relationships>
</file>

<file path=ppt/slides/_rels/slide1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slideLayout" Target="../slideLayouts/slideLayout7.xml"/><Relationship Id="rId1" Type="http://schemas.openxmlformats.org/officeDocument/2006/relationships/tags" Target="../tags/tag41.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7.xml"/><Relationship Id="rId1" Type="http://schemas.openxmlformats.org/officeDocument/2006/relationships/tags" Target="../tags/tag42.xml"/><Relationship Id="rId4" Type="http://schemas.openxmlformats.org/officeDocument/2006/relationships/image" Target="../media/image53.png"/></Relationships>
</file>

<file path=ppt/slides/_rels/slide1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slideLayout" Target="../slideLayouts/slideLayout7.xml"/><Relationship Id="rId1" Type="http://schemas.openxmlformats.org/officeDocument/2006/relationships/tags" Target="../tags/tag43.xml"/></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7.xml"/><Relationship Id="rId1" Type="http://schemas.openxmlformats.org/officeDocument/2006/relationships/tags" Target="../tags/tag44.xml"/><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tags" Target="../tags/tag45.xml"/></Relationships>
</file>

<file path=ppt/slides/_rels/slide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slideLayout" Target="../slideLayouts/slideLayout7.xml"/><Relationship Id="rId1" Type="http://schemas.openxmlformats.org/officeDocument/2006/relationships/tags" Target="../tags/tag46.xml"/></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7.xml"/><Relationship Id="rId1" Type="http://schemas.openxmlformats.org/officeDocument/2006/relationships/tags" Target="../tags/tag47.xml"/></Relationships>
</file>

<file path=ppt/slides/_rels/slide2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slideLayout" Target="../slideLayouts/slideLayout7.xml"/><Relationship Id="rId1" Type="http://schemas.openxmlformats.org/officeDocument/2006/relationships/tags" Target="../tags/tag48.xml"/></Relationships>
</file>

<file path=ppt/slides/_rels/slide2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tags" Target="../tags/tag49.xml"/></Relationships>
</file>

<file path=ppt/slides/_rels/slide2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7.xml"/><Relationship Id="rId1" Type="http://schemas.openxmlformats.org/officeDocument/2006/relationships/tags" Target="../tags/tag50.xml"/></Relationships>
</file>

<file path=ppt/slides/_rels/slide2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tags" Target="../tags/tag53.xml"/><Relationship Id="rId7" Type="http://schemas.openxmlformats.org/officeDocument/2006/relationships/image" Target="../media/image65.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slideLayout" Target="../slideLayouts/slideLayout7.xml"/><Relationship Id="rId1" Type="http://schemas.openxmlformats.org/officeDocument/2006/relationships/tags" Target="../tags/tag54.xml"/></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7.xml"/><Relationship Id="rId1" Type="http://schemas.openxmlformats.org/officeDocument/2006/relationships/tags" Target="../tags/tag55.xml"/></Relationships>
</file>

<file path=ppt/slides/_rels/slide2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slideLayout" Target="../slideLayouts/slideLayout7.xml"/><Relationship Id="rId1" Type="http://schemas.openxmlformats.org/officeDocument/2006/relationships/tags" Target="../tags/tag56.xml"/></Relationships>
</file>

<file path=ppt/slides/_rels/slide2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slideLayout" Target="../slideLayouts/slideLayout7.xml"/><Relationship Id="rId1" Type="http://schemas.openxmlformats.org/officeDocument/2006/relationships/tags" Target="../tags/tag57.xml"/></Relationships>
</file>

<file path=ppt/slides/_rels/slide2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slideLayout" Target="../slideLayouts/slideLayout7.xml"/><Relationship Id="rId1" Type="http://schemas.openxmlformats.org/officeDocument/2006/relationships/tags" Target="../tags/tag58.xml"/></Relationships>
</file>

<file path=ppt/slides/_rels/slide3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slideLayout" Target="../slideLayouts/slideLayout7.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Layout" Target="../slideLayouts/slideLayout7.xml"/><Relationship Id="rId1" Type="http://schemas.openxmlformats.org/officeDocument/2006/relationships/tags" Target="../tags/tag60.xml"/><Relationship Id="rId4" Type="http://schemas.openxmlformats.org/officeDocument/2006/relationships/image" Target="../media/image75.png"/></Relationships>
</file>

<file path=ppt/slides/_rels/slide3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slideLayout" Target="../slideLayouts/slideLayout7.xml"/><Relationship Id="rId1" Type="http://schemas.openxmlformats.org/officeDocument/2006/relationships/tags" Target="../tags/tag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ZoneTexte 7"/>
          <p:cNvSpPr txBox="1"/>
          <p:nvPr/>
        </p:nvSpPr>
        <p:spPr>
          <a:xfrm>
            <a:off x="429370" y="350760"/>
            <a:ext cx="1189749" cy="954107"/>
          </a:xfrm>
          <a:prstGeom prst="rect">
            <a:avLst/>
          </a:prstGeom>
          <a:noFill/>
        </p:spPr>
        <p:txBody>
          <a:bodyPr wrap="none" rtlCol="0">
            <a:spAutoFit/>
          </a:bodyPr>
          <a:lstStyle/>
          <a:p>
            <a:r>
              <a:rPr lang="fr-FR" sz="2800" dirty="0" smtClean="0"/>
              <a:t>Cours</a:t>
            </a:r>
          </a:p>
          <a:p>
            <a:r>
              <a:rPr lang="fr-FR" sz="2800" dirty="0" err="1" smtClean="0"/>
              <a:t>Chap</a:t>
            </a:r>
            <a:r>
              <a:rPr lang="fr-FR" sz="2800" dirty="0" smtClean="0"/>
              <a:t> 2</a:t>
            </a:r>
            <a:endParaRPr lang="fr-FR" sz="2800" dirty="0"/>
          </a:p>
        </p:txBody>
      </p:sp>
      <p:pic>
        <p:nvPicPr>
          <p:cNvPr id="6" name="Image 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824883" y="1145896"/>
            <a:ext cx="7844571" cy="5123657"/>
          </a:xfrm>
          <a:prstGeom prst="rect">
            <a:avLst/>
          </a:prstGeom>
        </p:spPr>
      </p:pic>
      <p:pic>
        <p:nvPicPr>
          <p:cNvPr id="10" name="Image 9"/>
          <p:cNvPicPr>
            <a:picLocks noChangeAspect="1"/>
          </p:cNvPicPr>
          <p:nvPr/>
        </p:nvPicPr>
        <p:blipFill>
          <a:blip r:embed="rId4"/>
          <a:stretch>
            <a:fillRect/>
          </a:stretch>
        </p:blipFill>
        <p:spPr>
          <a:xfrm>
            <a:off x="951762" y="1413752"/>
            <a:ext cx="1722269" cy="1501270"/>
          </a:xfrm>
          <a:prstGeom prst="rect">
            <a:avLst/>
          </a:prstGeom>
        </p:spPr>
      </p:pic>
      <p:pic>
        <p:nvPicPr>
          <p:cNvPr id="11" name="Image 10"/>
          <p:cNvPicPr>
            <a:picLocks noChangeAspect="1"/>
          </p:cNvPicPr>
          <p:nvPr/>
        </p:nvPicPr>
        <p:blipFill rotWithShape="1">
          <a:blip r:embed="rId5"/>
          <a:srcRect r="6032"/>
          <a:stretch/>
        </p:blipFill>
        <p:spPr>
          <a:xfrm>
            <a:off x="0" y="3023907"/>
            <a:ext cx="3625795" cy="3475464"/>
          </a:xfrm>
          <a:prstGeom prst="rect">
            <a:avLst/>
          </a:prstGeom>
        </p:spPr>
      </p:pic>
      <p:sp>
        <p:nvSpPr>
          <p:cNvPr id="15" name="ZoneTexte 14"/>
          <p:cNvSpPr txBox="1"/>
          <p:nvPr/>
        </p:nvSpPr>
        <p:spPr>
          <a:xfrm>
            <a:off x="3745060" y="181482"/>
            <a:ext cx="4758419" cy="646331"/>
          </a:xfrm>
          <a:prstGeom prst="rect">
            <a:avLst/>
          </a:prstGeom>
          <a:noFill/>
        </p:spPr>
        <p:txBody>
          <a:bodyPr wrap="none" rtlCol="0">
            <a:spAutoFit/>
          </a:bodyPr>
          <a:lstStyle/>
          <a:p>
            <a:r>
              <a:rPr lang="fr-FR" sz="3600" dirty="0" smtClean="0">
                <a:latin typeface="Euclid" panose="02020503060505020303" pitchFamily="18" charset="0"/>
              </a:rPr>
              <a:t>Equation de la chaleur</a:t>
            </a:r>
            <a:endParaRPr lang="fr-FR" sz="3600" dirty="0">
              <a:latin typeface="Euclid" panose="02020503060505020303" pitchFamily="18" charset="0"/>
            </a:endParaRPr>
          </a:p>
        </p:txBody>
      </p:sp>
      <p:sp>
        <p:nvSpPr>
          <p:cNvPr id="2" name="Espace réservé du numéro de diapositive 1"/>
          <p:cNvSpPr>
            <a:spLocks noGrp="1"/>
          </p:cNvSpPr>
          <p:nvPr>
            <p:ph type="sldNum" sz="quarter" idx="12"/>
          </p:nvPr>
        </p:nvSpPr>
        <p:spPr/>
        <p:txBody>
          <a:bodyPr/>
          <a:lstStyle/>
          <a:p>
            <a:fld id="{CB13DDC6-9977-4A69-882A-1641CFA73689}" type="slidenum">
              <a:rPr lang="fr-FR" smtClean="0"/>
              <a:t>1</a:t>
            </a:fld>
            <a:endParaRPr lang="fr-FR"/>
          </a:p>
        </p:txBody>
      </p:sp>
    </p:spTree>
    <p:extLst>
      <p:ext uri="{BB962C8B-B14F-4D97-AF65-F5344CB8AC3E}">
        <p14:creationId xmlns:p14="http://schemas.microsoft.com/office/powerpoint/2010/main" val="549641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615789" y="448808"/>
            <a:ext cx="10418742" cy="3067885"/>
          </a:xfrm>
          <a:prstGeom prst="rect">
            <a:avLst/>
          </a:prstGeom>
        </p:spPr>
      </p:pic>
      <p:pic>
        <p:nvPicPr>
          <p:cNvPr id="4" name="Image 3"/>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618530" y="4056275"/>
            <a:ext cx="10416001" cy="799543"/>
          </a:xfrm>
          <a:prstGeom prst="rect">
            <a:avLst/>
          </a:prstGeom>
        </p:spPr>
      </p:pic>
      <p:pic>
        <p:nvPicPr>
          <p:cNvPr id="5" name="Image 4"/>
          <p:cNvPicPr>
            <a:picLocks noChangeAspect="1"/>
          </p:cNvPicPr>
          <p:nvPr>
            <p:custDataLst>
              <p:tags r:id="rId3"/>
            </p:custDataLst>
          </p:nvPr>
        </p:nvPicPr>
        <p:blipFill>
          <a:blip r:embed="rId7" cstate="print">
            <a:extLst>
              <a:ext uri="{28A0092B-C50C-407E-A947-70E740481C1C}">
                <a14:useLocalDpi xmlns:a14="http://schemas.microsoft.com/office/drawing/2010/main" val="0"/>
              </a:ext>
            </a:extLst>
          </a:blip>
          <a:stretch>
            <a:fillRect/>
          </a:stretch>
        </p:blipFill>
        <p:spPr>
          <a:xfrm>
            <a:off x="615789" y="5395401"/>
            <a:ext cx="10418742" cy="994286"/>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2</a:t>
            </a:fld>
            <a:endParaRPr lang="fr-FR"/>
          </a:p>
        </p:txBody>
      </p:sp>
    </p:spTree>
    <p:extLst>
      <p:ext uri="{BB962C8B-B14F-4D97-AF65-F5344CB8AC3E}">
        <p14:creationId xmlns:p14="http://schemas.microsoft.com/office/powerpoint/2010/main" val="42531903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14"/>
          <p:cNvPicPr>
            <a:picLocks noChangeAspect="1"/>
          </p:cNvPicPr>
          <p:nvPr/>
        </p:nvPicPr>
        <p:blipFill rotWithShape="1">
          <a:blip r:embed="rId3"/>
          <a:srcRect r="6032"/>
          <a:stretch/>
        </p:blipFill>
        <p:spPr>
          <a:xfrm>
            <a:off x="8331348" y="2456483"/>
            <a:ext cx="3625795" cy="3475464"/>
          </a:xfrm>
          <a:prstGeom prst="rect">
            <a:avLst/>
          </a:prstGeom>
        </p:spPr>
      </p:pic>
      <p:pic>
        <p:nvPicPr>
          <p:cNvPr id="18" name="Image 17" descr="\documentclass{article}&#10;\usepackage{amsmath}&#10;\usepackage{bm} % pour mettre en gras les symboles mathématiques&#10;\usepackage[paperwidth=23cm]{geometry}&#10;% Définition des opérateurs vectoriels&#10;\newcommand{\grad}[1]{\bm{\nabla} #1} % notation vecteur&#10;\renewcommand{\div}{\mathrm{div}} % texte &quot;div&quot;&#10;\newcommand{\curl}[1]{\bm{\nabla} \times #1}&#10;\pagestyle{empty}&#10;\begin{document}&#10;&#10;&#10;La dernière étape de la méthodologie consiste à exprimer la conservation de l’énergie en utilisant les équations de taux précédemment établies. En termes de taux, la forme générale de l’expression du principe de conservation de l’énergie est :&#10;$$&#10;\dot{E}_{in} + \dot{E}_g -\dot{E}_{out} = \dot{E}_{st}&#10;$$&#10;&#10;En reconnaissant que les taux de conduction constituent respectivement l'apport d'énergie &#10;$\dot{E}_{in}$ et la perte d'énergie $\dot{E}_{out}$:&#10;\begin{equation*}&#10;\begin{split}&#10;&amp;q_x''\,dy\,dz + q_y''\,dz\,dx + q_z''\,dx\,dy + Q\,dx\,dy\,dz \\&#10;&amp;\quad - q_{x+dx}''\,dy\,dz - q_{y+dy}''\,dz\,dx - q_{z+dz}''\,dx\,dy &#10;= \rho c_p \frac{\partial T}{\partial t}\, dx\,dy\,dz&#10;\end{split}&#10;\end{equation*}&#10;&#10;On obtient après développement au premier ordre en $dx$, $dy$ et $dz$:&#10;$$&#10;-\frac{\partial q_x''}{\partial x} -\frac{\partial q_y''}{\partial y} -\frac{\partial q_z''}{\partial z}&#10;+Q = \rho c_p \frac{\partial T}{\partial t}&#10;$$&#10;&#10;Les flux de chaleur par conduction par unité de surface,\\ dans un matériau isotrope peuvent être évalués à partir de la loi de Fourier:&#10;$$&#10;\bm{q}'' = -k \; \grad T&#10;$$&#10;&#10;Après substitution, on obtient l'équation de la chaleur dépendante du temps:&#10;$$&#10;\frac{\partial }{\partial x} \Big(k \frac{\partial T}{\partial x} \Big) +&#10;\frac{\partial }{\partial y} \Big(k \frac{\partial T}{\partial y} \Big) +&#10;\frac{\partial }{\partial z} \Big(k \frac{\partial T}{\partial z} \Big) +&#10;Q = \rho c_p \frac{\partial T}{\partial t}&#10;$$&#10;&#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31939" y="217063"/>
            <a:ext cx="10421488" cy="6562287"/>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3</a:t>
            </a:fld>
            <a:endParaRPr lang="fr-FR"/>
          </a:p>
        </p:txBody>
      </p:sp>
    </p:spTree>
    <p:extLst>
      <p:ext uri="{BB962C8B-B14F-4D97-AF65-F5344CB8AC3E}">
        <p14:creationId xmlns:p14="http://schemas.microsoft.com/office/powerpoint/2010/main" val="5099013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documentclass{article}&#10;\usepackage{amsmath}&#10;\pagestyle{empty}&#10;&#10;&#10;\begin{document}&#10;&#10;Il est courant de définir la diffusivité par $\alpha = \frac{k}{\rho c_p}$ \\dans l'hypothèse&#10;de paramètres constants.&#10;&#10;\end{document}" title="IguanaTex Bitmap Display"/>
          <p:cNvPicPr>
            <a:picLocks noChangeAspect="1"/>
          </p:cNvPicPr>
          <p:nvPr>
            <p:custDataLst>
              <p:tags r:id="rId1"/>
            </p:custDataLst>
          </p:nvPr>
        </p:nvPicPr>
        <p:blipFill>
          <a:blip r:embed="rId12" cstate="print">
            <a:extLst>
              <a:ext uri="{28A0092B-C50C-407E-A947-70E740481C1C}">
                <a14:useLocalDpi xmlns:a14="http://schemas.microsoft.com/office/drawing/2010/main" val="0"/>
              </a:ext>
            </a:extLst>
          </a:blip>
          <a:stretch>
            <a:fillRect/>
          </a:stretch>
        </p:blipFill>
        <p:spPr>
          <a:xfrm>
            <a:off x="6302353" y="708584"/>
            <a:ext cx="5211429" cy="552685"/>
          </a:xfrm>
          <a:prstGeom prst="rect">
            <a:avLst/>
          </a:prstGeom>
        </p:spPr>
      </p:pic>
      <p:pic>
        <p:nvPicPr>
          <p:cNvPr id="5" name="Image 4" descr="\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De manière générale, l'équation de la chaleur s'écrit:&#10;$$&#10;\div(k\; \grad T)+ Q = \rho c_p \frac{\partial T}{\partial t}&#10;$$&#10;&#10;&#10;\end{document}" title="IguanaTex Bitmap Display"/>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tretch>
            <a:fillRect/>
          </a:stretch>
        </p:blipFill>
        <p:spPr>
          <a:xfrm>
            <a:off x="415310" y="324675"/>
            <a:ext cx="5199087" cy="927085"/>
          </a:xfrm>
          <a:prstGeom prst="rect">
            <a:avLst/>
          </a:prstGeom>
        </p:spPr>
      </p:pic>
      <p:pic>
        <p:nvPicPr>
          <p:cNvPr id="27" name="Image 26"/>
          <p:cNvPicPr>
            <a:picLocks noChangeAspect="1"/>
          </p:cNvPicPr>
          <p:nvPr>
            <p:custDataLst>
              <p:tags r:id="rId3"/>
            </p:custDataLst>
          </p:nvPr>
        </p:nvPicPr>
        <p:blipFill>
          <a:blip r:embed="rId14" cstate="print">
            <a:extLst>
              <a:ext uri="{28A0092B-C50C-407E-A947-70E740481C1C}">
                <a14:useLocalDpi xmlns:a14="http://schemas.microsoft.com/office/drawing/2010/main" val="0"/>
              </a:ext>
            </a:extLst>
          </a:blip>
          <a:stretch>
            <a:fillRect/>
          </a:stretch>
        </p:blipFill>
        <p:spPr>
          <a:xfrm>
            <a:off x="462193" y="2760749"/>
            <a:ext cx="3821715" cy="228571"/>
          </a:xfrm>
          <a:prstGeom prst="rect">
            <a:avLst/>
          </a:prstGeom>
        </p:spPr>
      </p:pic>
      <p:pic>
        <p:nvPicPr>
          <p:cNvPr id="26" name="Image 25"/>
          <p:cNvPicPr>
            <a:picLocks noChangeAspect="1"/>
          </p:cNvPicPr>
          <p:nvPr/>
        </p:nvPicPr>
        <p:blipFill>
          <a:blip r:embed="rId15"/>
          <a:stretch>
            <a:fillRect/>
          </a:stretch>
        </p:blipFill>
        <p:spPr>
          <a:xfrm>
            <a:off x="691764" y="3286771"/>
            <a:ext cx="5152445" cy="3198470"/>
          </a:xfrm>
          <a:prstGeom prst="rect">
            <a:avLst/>
          </a:prstGeom>
        </p:spPr>
      </p:pic>
      <p:pic>
        <p:nvPicPr>
          <p:cNvPr id="29" name="Image 28"/>
          <p:cNvPicPr>
            <a:picLocks noChangeAspect="1"/>
          </p:cNvPicPr>
          <p:nvPr>
            <p:custDataLst>
              <p:tags r:id="rId4"/>
            </p:custDataLst>
          </p:nvPr>
        </p:nvPicPr>
        <p:blipFill>
          <a:blip r:embed="rId16" cstate="print">
            <a:extLst>
              <a:ext uri="{28A0092B-C50C-407E-A947-70E740481C1C}">
                <a14:useLocalDpi xmlns:a14="http://schemas.microsoft.com/office/drawing/2010/main" val="0"/>
              </a:ext>
            </a:extLst>
          </a:blip>
          <a:stretch>
            <a:fillRect/>
          </a:stretch>
        </p:blipFill>
        <p:spPr>
          <a:xfrm>
            <a:off x="4617285" y="2657477"/>
            <a:ext cx="3454629" cy="464914"/>
          </a:xfrm>
          <a:prstGeom prst="rect">
            <a:avLst/>
          </a:prstGeom>
        </p:spPr>
      </p:pic>
      <p:pic>
        <p:nvPicPr>
          <p:cNvPr id="40" name="Image 39"/>
          <p:cNvPicPr>
            <a:picLocks noChangeAspect="1"/>
          </p:cNvPicPr>
          <p:nvPr>
            <p:custDataLst>
              <p:tags r:id="rId5"/>
            </p:custDataLst>
          </p:nvPr>
        </p:nvPicPr>
        <p:blipFill>
          <a:blip r:embed="rId17" cstate="print">
            <a:extLst>
              <a:ext uri="{28A0092B-C50C-407E-A947-70E740481C1C}">
                <a14:useLocalDpi xmlns:a14="http://schemas.microsoft.com/office/drawing/2010/main" val="0"/>
              </a:ext>
            </a:extLst>
          </a:blip>
          <a:stretch>
            <a:fillRect/>
          </a:stretch>
        </p:blipFill>
        <p:spPr>
          <a:xfrm>
            <a:off x="7566345" y="3255434"/>
            <a:ext cx="3266745" cy="528000"/>
          </a:xfrm>
          <a:prstGeom prst="rect">
            <a:avLst/>
          </a:prstGeom>
        </p:spPr>
      </p:pic>
      <p:pic>
        <p:nvPicPr>
          <p:cNvPr id="43" name="Image 42"/>
          <p:cNvPicPr>
            <a:picLocks noChangeAspect="1"/>
          </p:cNvPicPr>
          <p:nvPr>
            <p:custDataLst>
              <p:tags r:id="rId6"/>
            </p:custDataLst>
          </p:nvPr>
        </p:nvPicPr>
        <p:blipFill>
          <a:blip r:embed="rId18" cstate="print">
            <a:extLst>
              <a:ext uri="{28A0092B-C50C-407E-A947-70E740481C1C}">
                <a14:useLocalDpi xmlns:a14="http://schemas.microsoft.com/office/drawing/2010/main" val="0"/>
              </a:ext>
            </a:extLst>
          </a:blip>
          <a:stretch>
            <a:fillRect/>
          </a:stretch>
        </p:blipFill>
        <p:spPr>
          <a:xfrm>
            <a:off x="462193" y="1949764"/>
            <a:ext cx="2870400" cy="161829"/>
          </a:xfrm>
          <a:prstGeom prst="rect">
            <a:avLst/>
          </a:prstGeom>
        </p:spPr>
      </p:pic>
      <p:pic>
        <p:nvPicPr>
          <p:cNvPr id="45" name="Image 44"/>
          <p:cNvPicPr>
            <a:picLocks noChangeAspect="1"/>
          </p:cNvPicPr>
          <p:nvPr>
            <p:custDataLst>
              <p:tags r:id="rId7"/>
            </p:custDataLst>
          </p:nvPr>
        </p:nvPicPr>
        <p:blipFill>
          <a:blip r:embed="rId19" cstate="print">
            <a:extLst>
              <a:ext uri="{28A0092B-C50C-407E-A947-70E740481C1C}">
                <a14:useLocalDpi xmlns:a14="http://schemas.microsoft.com/office/drawing/2010/main" val="0"/>
              </a:ext>
            </a:extLst>
          </a:blip>
          <a:stretch>
            <a:fillRect/>
          </a:stretch>
        </p:blipFill>
        <p:spPr>
          <a:xfrm>
            <a:off x="3869898" y="1947045"/>
            <a:ext cx="3292800" cy="230400"/>
          </a:xfrm>
          <a:prstGeom prst="rect">
            <a:avLst/>
          </a:prstGeom>
        </p:spPr>
      </p:pic>
      <p:pic>
        <p:nvPicPr>
          <p:cNvPr id="46" name="Image 45"/>
          <p:cNvPicPr>
            <a:picLocks noChangeAspect="1"/>
          </p:cNvPicPr>
          <p:nvPr>
            <p:custDataLst>
              <p:tags r:id="rId8"/>
            </p:custDataLst>
          </p:nvPr>
        </p:nvPicPr>
        <p:blipFill>
          <a:blip r:embed="rId20" cstate="print">
            <a:extLst>
              <a:ext uri="{28A0092B-C50C-407E-A947-70E740481C1C}">
                <a14:useLocalDpi xmlns:a14="http://schemas.microsoft.com/office/drawing/2010/main" val="0"/>
              </a:ext>
            </a:extLst>
          </a:blip>
          <a:stretch>
            <a:fillRect/>
          </a:stretch>
        </p:blipFill>
        <p:spPr>
          <a:xfrm>
            <a:off x="8053204" y="1931134"/>
            <a:ext cx="2779886" cy="238628"/>
          </a:xfrm>
          <a:prstGeom prst="rect">
            <a:avLst/>
          </a:prstGeom>
        </p:spPr>
      </p:pic>
      <p:pic>
        <p:nvPicPr>
          <p:cNvPr id="3" name="Image 2"/>
          <p:cNvPicPr>
            <a:picLocks noChangeAspect="1"/>
          </p:cNvPicPr>
          <p:nvPr>
            <p:custDataLst>
              <p:tags r:id="rId9"/>
            </p:custDataLst>
          </p:nvPr>
        </p:nvPicPr>
        <p:blipFill>
          <a:blip r:embed="rId21" cstate="print">
            <a:extLst>
              <a:ext uri="{28A0092B-C50C-407E-A947-70E740481C1C}">
                <a14:useLocalDpi xmlns:a14="http://schemas.microsoft.com/office/drawing/2010/main" val="0"/>
              </a:ext>
            </a:extLst>
          </a:blip>
          <a:stretch>
            <a:fillRect/>
          </a:stretch>
        </p:blipFill>
        <p:spPr>
          <a:xfrm>
            <a:off x="6234711" y="4219386"/>
            <a:ext cx="5263543" cy="48822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4</a:t>
            </a:fld>
            <a:endParaRPr lang="fr-FR"/>
          </a:p>
        </p:txBody>
      </p:sp>
      <p:pic>
        <p:nvPicPr>
          <p:cNvPr id="4" name="Image 3" descr="\documentclass{article}&#10;\usepackage{amsmath}&#10;\pagestyle{empty}&#10;\begin{document}&#10;&#10;&#10;\begin{equation*}&#10;\boxed{&#10;\frac{1}{r} \frac{\partial}{\partial r} \left( k r \frac{\partial T}{\partial r} \right)&#10;+ \frac{1}{r^{2}} \frac{\partial}{\partial \phi} \left( k \frac{\partial T}{\partial \phi} \right)&#10;+ \frac{\partial}{\partial z} \left( k \frac{\partial T}{\partial z} \right)&#10;+ Q&#10;= \rho c_p \frac{\partial T}{\partial t}&#10;}&#10;\end{equation*}&#10;&#10;\end{document}" title="IguanaTex Bitmap Display"/>
          <p:cNvPicPr>
            <a:picLocks noChangeAspect="1"/>
          </p:cNvPicPr>
          <p:nvPr>
            <p:custDataLst>
              <p:tags r:id="rId10"/>
            </p:custDataLst>
          </p:nvPr>
        </p:nvPicPr>
        <p:blipFill>
          <a:blip r:embed="rId22" cstate="print">
            <a:extLst>
              <a:ext uri="{28A0092B-C50C-407E-A947-70E740481C1C}">
                <a14:useLocalDpi xmlns:a14="http://schemas.microsoft.com/office/drawing/2010/main" val="0"/>
              </a:ext>
            </a:extLst>
          </a:blip>
          <a:stretch>
            <a:fillRect/>
          </a:stretch>
        </p:blipFill>
        <p:spPr>
          <a:xfrm>
            <a:off x="5780768" y="5154368"/>
            <a:ext cx="6171428" cy="702171"/>
          </a:xfrm>
          <a:prstGeom prst="rect">
            <a:avLst/>
          </a:prstGeom>
        </p:spPr>
      </p:pic>
    </p:spTree>
    <p:extLst>
      <p:ext uri="{BB962C8B-B14F-4D97-AF65-F5344CB8AC3E}">
        <p14:creationId xmlns:p14="http://schemas.microsoft.com/office/powerpoint/2010/main" val="156431055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p:cNvPicPr>
            <a:picLocks noChangeAspect="1"/>
          </p:cNvPicPr>
          <p:nvPr/>
        </p:nvPicPr>
        <p:blipFill>
          <a:blip r:embed="rId7"/>
          <a:stretch>
            <a:fillRect/>
          </a:stretch>
        </p:blipFill>
        <p:spPr>
          <a:xfrm>
            <a:off x="0" y="955498"/>
            <a:ext cx="4663991" cy="2439709"/>
          </a:xfrm>
          <a:prstGeom prst="rect">
            <a:avLst/>
          </a:prstGeom>
        </p:spPr>
      </p:pic>
      <p:pic>
        <p:nvPicPr>
          <p:cNvPr id="6" name="Image 5"/>
          <p:cNvPicPr>
            <a:picLocks noChangeAspect="1"/>
          </p:cNvPicPr>
          <p:nvPr>
            <p:custDataLst>
              <p:tags r:id="rId1"/>
            </p:custDataLst>
          </p:nvPr>
        </p:nvPicPr>
        <p:blipFill>
          <a:blip r:embed="rId8" cstate="print">
            <a:extLst>
              <a:ext uri="{28A0092B-C50C-407E-A947-70E740481C1C}">
                <a14:useLocalDpi xmlns:a14="http://schemas.microsoft.com/office/drawing/2010/main" val="0"/>
              </a:ext>
            </a:extLst>
          </a:blip>
          <a:stretch>
            <a:fillRect/>
          </a:stretch>
        </p:blipFill>
        <p:spPr>
          <a:xfrm>
            <a:off x="613269" y="577161"/>
            <a:ext cx="3648001" cy="225523"/>
          </a:xfrm>
          <a:prstGeom prst="rect">
            <a:avLst/>
          </a:prstGeom>
        </p:spPr>
      </p:pic>
      <p:pic>
        <p:nvPicPr>
          <p:cNvPr id="10" name="Image 9"/>
          <p:cNvPicPr>
            <a:picLocks noChangeAspect="1"/>
          </p:cNvPicPr>
          <p:nvPr>
            <p:custDataLst>
              <p:tags r:id="rId2"/>
            </p:custDataLst>
          </p:nvPr>
        </p:nvPicPr>
        <p:blipFill>
          <a:blip r:embed="rId9" cstate="print">
            <a:extLst>
              <a:ext uri="{28A0092B-C50C-407E-A947-70E740481C1C}">
                <a14:useLocalDpi xmlns:a14="http://schemas.microsoft.com/office/drawing/2010/main" val="0"/>
              </a:ext>
            </a:extLst>
          </a:blip>
          <a:stretch>
            <a:fillRect/>
          </a:stretch>
        </p:blipFill>
        <p:spPr>
          <a:xfrm>
            <a:off x="5397173" y="1117473"/>
            <a:ext cx="4151314" cy="464914"/>
          </a:xfrm>
          <a:prstGeom prst="rect">
            <a:avLst/>
          </a:prstGeom>
        </p:spPr>
      </p:pic>
      <p:pic>
        <p:nvPicPr>
          <p:cNvPr id="16" name="Image 15"/>
          <p:cNvPicPr>
            <a:picLocks noChangeAspect="1"/>
          </p:cNvPicPr>
          <p:nvPr>
            <p:custDataLst>
              <p:tags r:id="rId3"/>
            </p:custDataLst>
          </p:nvPr>
        </p:nvPicPr>
        <p:blipFill>
          <a:blip r:embed="rId10" cstate="print">
            <a:extLst>
              <a:ext uri="{28A0092B-C50C-407E-A947-70E740481C1C}">
                <a14:useLocalDpi xmlns:a14="http://schemas.microsoft.com/office/drawing/2010/main" val="0"/>
              </a:ext>
            </a:extLst>
          </a:blip>
          <a:stretch>
            <a:fillRect/>
          </a:stretch>
        </p:blipFill>
        <p:spPr>
          <a:xfrm>
            <a:off x="4578190" y="2053733"/>
            <a:ext cx="7486629" cy="969600"/>
          </a:xfrm>
          <a:prstGeom prst="rect">
            <a:avLst/>
          </a:prstGeom>
        </p:spPr>
      </p:pic>
      <p:pic>
        <p:nvPicPr>
          <p:cNvPr id="2" name="Image 1"/>
          <p:cNvPicPr>
            <a:picLocks noChangeAspect="1"/>
          </p:cNvPicPr>
          <p:nvPr>
            <p:custDataLst>
              <p:tags r:id="rId4"/>
            </p:custDataLst>
          </p:nvPr>
        </p:nvPicPr>
        <p:blipFill>
          <a:blip r:embed="rId11" cstate="print">
            <a:extLst>
              <a:ext uri="{28A0092B-C50C-407E-A947-70E740481C1C}">
                <a14:useLocalDpi xmlns:a14="http://schemas.microsoft.com/office/drawing/2010/main" val="0"/>
              </a:ext>
            </a:extLst>
          </a:blip>
          <a:stretch>
            <a:fillRect/>
          </a:stretch>
        </p:blipFill>
        <p:spPr>
          <a:xfrm>
            <a:off x="1706657" y="3701355"/>
            <a:ext cx="7841830" cy="447086"/>
          </a:xfrm>
          <a:prstGeom prst="rect">
            <a:avLst/>
          </a:prstGeom>
        </p:spPr>
      </p:pic>
      <p:sp>
        <p:nvSpPr>
          <p:cNvPr id="3" name="Espace réservé du numéro de diapositive 2"/>
          <p:cNvSpPr>
            <a:spLocks noGrp="1"/>
          </p:cNvSpPr>
          <p:nvPr>
            <p:ph type="sldNum" sz="quarter" idx="12"/>
          </p:nvPr>
        </p:nvSpPr>
        <p:spPr/>
        <p:txBody>
          <a:bodyPr/>
          <a:lstStyle/>
          <a:p>
            <a:fld id="{CB13DDC6-9977-4A69-882A-1641CFA73689}" type="slidenum">
              <a:rPr lang="fr-FR" smtClean="0"/>
              <a:t>5</a:t>
            </a:fld>
            <a:endParaRPr lang="fr-FR"/>
          </a:p>
        </p:txBody>
      </p:sp>
      <p:pic>
        <p:nvPicPr>
          <p:cNvPr id="7" name="Image 6" descr="\documentclass{article}&#10;\usepackage{amsmath}&#10;\pagestyle{empty}&#10;\begin{document}&#10;&#10;&#10;\begin{equation*}&#10;\boxed{&#10;\frac{1}{r^{2}} \frac{\partial}{\partial r} \left( k r^{2} \frac{\partial T}{\partial r} \right)&#10;+ \frac{1}{r^{2}\sin^{2}\theta} \frac{\partial}{\partial \phi} \left( k \frac{\partial T}{\partial \phi} \right)&#10;+ \frac{1}{r^{2}\sin \theta} \frac{\partial}{\partial \theta} \left( k \sin \theta \frac{\partial T}{\partial \theta} \right)&#10;+ Q = \rho c_{p} \frac{\partial T}{\partial t}&#10;}&#10;\end{equation*}&#10;&#10;&#10;\end{document}" title="IguanaTex Bitmap Display"/>
          <p:cNvPicPr>
            <a:picLocks noChangeAspect="1"/>
          </p:cNvPicPr>
          <p:nvPr>
            <p:custDataLst>
              <p:tags r:id="rId5"/>
            </p:custDataLst>
          </p:nvPr>
        </p:nvPicPr>
        <p:blipFill>
          <a:blip r:embed="rId12" cstate="print">
            <a:extLst>
              <a:ext uri="{28A0092B-C50C-407E-A947-70E740481C1C}">
                <a14:useLocalDpi xmlns:a14="http://schemas.microsoft.com/office/drawing/2010/main" val="0"/>
              </a:ext>
            </a:extLst>
          </a:blip>
          <a:stretch>
            <a:fillRect/>
          </a:stretch>
        </p:blipFill>
        <p:spPr>
          <a:xfrm>
            <a:off x="1509888" y="4757405"/>
            <a:ext cx="9046857" cy="780190"/>
          </a:xfrm>
          <a:prstGeom prst="rect">
            <a:avLst/>
          </a:prstGeom>
        </p:spPr>
      </p:pic>
    </p:spTree>
    <p:extLst>
      <p:ext uri="{BB962C8B-B14F-4D97-AF65-F5344CB8AC3E}">
        <p14:creationId xmlns:p14="http://schemas.microsoft.com/office/powerpoint/2010/main" val="73748576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1280160" y="318053"/>
            <a:ext cx="6909264" cy="523220"/>
          </a:xfrm>
          <a:prstGeom prst="rect">
            <a:avLst/>
          </a:prstGeom>
          <a:noFill/>
        </p:spPr>
        <p:txBody>
          <a:bodyPr wrap="none" rtlCol="0">
            <a:spAutoFit/>
          </a:bodyPr>
          <a:lstStyle/>
          <a:p>
            <a:r>
              <a:rPr lang="fr-FR" sz="2800" dirty="0" smtClean="0">
                <a:latin typeface="Euclid" panose="02020503060505020303" pitchFamily="18" charset="0"/>
              </a:rPr>
              <a:t>Conditions aux limites et condition initiale</a:t>
            </a:r>
            <a:endParaRPr lang="fr-FR" sz="2800" dirty="0">
              <a:latin typeface="Euclid" panose="02020503060505020303" pitchFamily="18" charset="0"/>
            </a:endParaRPr>
          </a:p>
        </p:txBody>
      </p:sp>
      <p:pic>
        <p:nvPicPr>
          <p:cNvPr id="3" name="Image 2"/>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62394" y="1068750"/>
            <a:ext cx="11325259" cy="1570285"/>
          </a:xfrm>
          <a:prstGeom prst="rect">
            <a:avLst/>
          </a:prstGeom>
        </p:spPr>
      </p:pic>
      <p:pic>
        <p:nvPicPr>
          <p:cNvPr id="7" name="Image 6"/>
          <p:cNvPicPr>
            <a:picLocks noChangeAspect="1"/>
          </p:cNvPicPr>
          <p:nvPr/>
        </p:nvPicPr>
        <p:blipFill rotWithShape="1">
          <a:blip r:embed="rId6"/>
          <a:srcRect r="52283"/>
          <a:stretch/>
        </p:blipFill>
        <p:spPr>
          <a:xfrm>
            <a:off x="476658" y="2866512"/>
            <a:ext cx="2924543" cy="3357828"/>
          </a:xfrm>
          <a:prstGeom prst="rect">
            <a:avLst/>
          </a:prstGeom>
        </p:spPr>
      </p:pic>
      <p:pic>
        <p:nvPicPr>
          <p:cNvPr id="8" name="Image 7"/>
          <p:cNvPicPr>
            <a:picLocks noChangeAspect="1"/>
          </p:cNvPicPr>
          <p:nvPr/>
        </p:nvPicPr>
        <p:blipFill rotWithShape="1">
          <a:blip r:embed="rId7"/>
          <a:srcRect r="54380"/>
          <a:stretch/>
        </p:blipFill>
        <p:spPr>
          <a:xfrm>
            <a:off x="5788340" y="2902908"/>
            <a:ext cx="2788191" cy="1379340"/>
          </a:xfrm>
          <a:prstGeom prst="rect">
            <a:avLst/>
          </a:prstGeom>
        </p:spPr>
      </p:pic>
      <p:pic>
        <p:nvPicPr>
          <p:cNvPr id="9" name="Image 8"/>
          <p:cNvPicPr>
            <a:picLocks noChangeAspect="1"/>
          </p:cNvPicPr>
          <p:nvPr/>
        </p:nvPicPr>
        <p:blipFill rotWithShape="1">
          <a:blip r:embed="rId6"/>
          <a:srcRect l="65620"/>
          <a:stretch/>
        </p:blipFill>
        <p:spPr>
          <a:xfrm>
            <a:off x="3307532" y="2872587"/>
            <a:ext cx="2107097" cy="3357828"/>
          </a:xfrm>
          <a:prstGeom prst="rect">
            <a:avLst/>
          </a:prstGeom>
        </p:spPr>
      </p:pic>
      <p:pic>
        <p:nvPicPr>
          <p:cNvPr id="10" name="Image 9"/>
          <p:cNvPicPr>
            <a:picLocks noChangeAspect="1"/>
          </p:cNvPicPr>
          <p:nvPr/>
        </p:nvPicPr>
        <p:blipFill rotWithShape="1">
          <a:blip r:embed="rId7"/>
          <a:srcRect l="65090"/>
          <a:stretch/>
        </p:blipFill>
        <p:spPr>
          <a:xfrm>
            <a:off x="8992924" y="2902908"/>
            <a:ext cx="2133600" cy="1379340"/>
          </a:xfrm>
          <a:prstGeom prst="rect">
            <a:avLst/>
          </a:prstGeom>
        </p:spPr>
      </p:pic>
      <p:pic>
        <p:nvPicPr>
          <p:cNvPr id="5" name="Image 4"/>
          <p:cNvPicPr>
            <a:picLocks noChangeAspect="1"/>
          </p:cNvPicPr>
          <p:nvPr>
            <p:custDataLst>
              <p:tags r:id="rId2"/>
            </p:custDataLst>
          </p:nvPr>
        </p:nvPicPr>
        <p:blipFill>
          <a:blip r:embed="rId8" cstate="print">
            <a:extLst>
              <a:ext uri="{28A0092B-C50C-407E-A947-70E740481C1C}">
                <a14:useLocalDpi xmlns:a14="http://schemas.microsoft.com/office/drawing/2010/main" val="0"/>
              </a:ext>
            </a:extLst>
          </a:blip>
          <a:stretch>
            <a:fillRect/>
          </a:stretch>
        </p:blipFill>
        <p:spPr>
          <a:xfrm>
            <a:off x="5779651" y="5578844"/>
            <a:ext cx="6104228" cy="490971"/>
          </a:xfrm>
          <a:prstGeom prst="rect">
            <a:avLst/>
          </a:prstGeom>
        </p:spPr>
      </p:pic>
      <p:pic>
        <p:nvPicPr>
          <p:cNvPr id="11" name="Image 10" descr="\documentclass{article}&#10;\usepackage{amsmath}&#10;\pagestyle{empty}&#10;\begin{document}&#10;&#10;$$&#10;q \cdot n = h\; (T(0,t)-T_\infty) = &#10;-k \left . \dfrac{\partial T}{\partial x} \right |_{x=0} \; e_x \cdot n = + k \left . \dfrac{\partial T}{\partial x} \right |_{x=0}&#10;$$&#10;\noindent&#10;où $n$ est la normale extérieure.&#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5061025" y="4488260"/>
            <a:ext cx="6822854" cy="884571"/>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6</a:t>
            </a:fld>
            <a:endParaRPr lang="fr-FR"/>
          </a:p>
        </p:txBody>
      </p:sp>
    </p:spTree>
    <p:extLst>
      <p:ext uri="{BB962C8B-B14F-4D97-AF65-F5344CB8AC3E}">
        <p14:creationId xmlns:p14="http://schemas.microsoft.com/office/powerpoint/2010/main" val="6443320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21590" y="397565"/>
            <a:ext cx="11325257" cy="5879315"/>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7</a:t>
            </a:fld>
            <a:endParaRPr lang="fr-FR"/>
          </a:p>
        </p:txBody>
      </p:sp>
    </p:spTree>
    <p:extLst>
      <p:ext uri="{BB962C8B-B14F-4D97-AF65-F5344CB8AC3E}">
        <p14:creationId xmlns:p14="http://schemas.microsoft.com/office/powerpoint/2010/main" val="24984576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12"/>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53401" y="250032"/>
            <a:ext cx="7353295" cy="6140344"/>
          </a:xfrm>
          <a:prstGeom prst="rect">
            <a:avLst/>
          </a:prstGeom>
        </p:spPr>
      </p:pic>
      <p:pic>
        <p:nvPicPr>
          <p:cNvPr id="20" name="Image 19"/>
          <p:cNvPicPr>
            <a:picLocks noChangeAspect="1"/>
          </p:cNvPicPr>
          <p:nvPr>
            <p:custDataLst>
              <p:tags r:id="rId2"/>
            </p:custDataLst>
          </p:nvPr>
        </p:nvPicPr>
        <p:blipFill>
          <a:blip r:embed="rId5" cstate="print">
            <a:extLst>
              <a:ext uri="{28A0092B-C50C-407E-A947-70E740481C1C}">
                <a14:useLocalDpi xmlns:a14="http://schemas.microsoft.com/office/drawing/2010/main" val="0"/>
              </a:ext>
            </a:extLst>
          </a:blip>
          <a:stretch>
            <a:fillRect/>
          </a:stretch>
        </p:blipFill>
        <p:spPr>
          <a:xfrm>
            <a:off x="8201338" y="2484346"/>
            <a:ext cx="3643428" cy="2357333"/>
          </a:xfrm>
          <a:prstGeom prst="rect">
            <a:avLst/>
          </a:prstGeom>
        </p:spPr>
      </p:pic>
      <p:pic>
        <p:nvPicPr>
          <p:cNvPr id="21" name="Image 20"/>
          <p:cNvPicPr>
            <a:picLocks noChangeAspect="1"/>
          </p:cNvPicPr>
          <p:nvPr/>
        </p:nvPicPr>
        <p:blipFill>
          <a:blip r:embed="rId6"/>
          <a:stretch>
            <a:fillRect/>
          </a:stretch>
        </p:blipFill>
        <p:spPr>
          <a:xfrm>
            <a:off x="8002755" y="1812529"/>
            <a:ext cx="3842011" cy="487086"/>
          </a:xfrm>
          <a:prstGeom prst="rect">
            <a:avLst/>
          </a:prstGeom>
        </p:spPr>
      </p:pic>
      <p:cxnSp>
        <p:nvCxnSpPr>
          <p:cNvPr id="23" name="Connecteur droit 22"/>
          <p:cNvCxnSpPr/>
          <p:nvPr/>
        </p:nvCxnSpPr>
        <p:spPr>
          <a:xfrm>
            <a:off x="7945235" y="46254"/>
            <a:ext cx="0" cy="6547899"/>
          </a:xfrm>
          <a:prstGeom prst="line">
            <a:avLst/>
          </a:prstGeom>
        </p:spPr>
        <p:style>
          <a:lnRef idx="1">
            <a:schemeClr val="accent1"/>
          </a:lnRef>
          <a:fillRef idx="0">
            <a:schemeClr val="accent1"/>
          </a:fillRef>
          <a:effectRef idx="0">
            <a:schemeClr val="accent1"/>
          </a:effectRef>
          <a:fontRef idx="minor">
            <a:schemeClr val="tx1"/>
          </a:fontRef>
        </p:style>
      </p:cxnSp>
      <p:sp>
        <p:nvSpPr>
          <p:cNvPr id="2" name="Espace réservé du numéro de diapositive 1"/>
          <p:cNvSpPr>
            <a:spLocks noGrp="1"/>
          </p:cNvSpPr>
          <p:nvPr>
            <p:ph type="sldNum" sz="quarter" idx="12"/>
          </p:nvPr>
        </p:nvSpPr>
        <p:spPr/>
        <p:txBody>
          <a:bodyPr/>
          <a:lstStyle/>
          <a:p>
            <a:fld id="{CB13DDC6-9977-4A69-882A-1641CFA73689}" type="slidenum">
              <a:rPr lang="fr-FR" smtClean="0"/>
              <a:t>8</a:t>
            </a:fld>
            <a:endParaRPr lang="fr-FR"/>
          </a:p>
        </p:txBody>
      </p:sp>
    </p:spTree>
    <p:extLst>
      <p:ext uri="{BB962C8B-B14F-4D97-AF65-F5344CB8AC3E}">
        <p14:creationId xmlns:p14="http://schemas.microsoft.com/office/powerpoint/2010/main" val="6408411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documentclass{article}&#10;\usepackage{amsmath, amssymb}&#10;\usepackage{xcolor}&#10;\usepackage[paperwidth=25cm]{geometry}&#10;\pagestyle{empty}&#10;\begin{document}&#10;&#10;&#10;\section*{Exercice 2.33 modifié}&#10;&#10;L'oxydation lente des particules de charbon dans une couche plane d'épaisseur $L = 1$ m&#10;génère une densité volumique de puissance $Q = 10$ W/m$^3$. En moyenne par jour, la surface supérieure de la couche transfère la chaleur par convection à l'air ambiant pour lequel $h = 8$ W/m$^2 \cdot$ K et $T_{\infty} = 30$°C, tout en recevant un rayonnement solaire d'une quantité $G_s = 500$ W/m$^2$. L'absorptivité solaire et l'émissivité de la surface sont respectivement $\alpha_s = \varepsilon = 0.95$. On tiendra compte du rayonnement de l'atmosphère dont $T_{sur}=20^\circ C$.&#10;\end{document}&#10;"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81170" y="119271"/>
            <a:ext cx="11329371" cy="1867887"/>
          </a:xfrm>
          <a:prstGeom prst="rect">
            <a:avLst/>
          </a:prstGeom>
        </p:spPr>
      </p:pic>
      <p:pic>
        <p:nvPicPr>
          <p:cNvPr id="12" name="Image 11"/>
          <p:cNvPicPr>
            <a:picLocks noChangeAspect="1"/>
          </p:cNvPicPr>
          <p:nvPr>
            <p:custDataLst>
              <p:tags r:id="rId2"/>
            </p:custDataLst>
          </p:nvPr>
        </p:nvPicPr>
        <p:blipFill>
          <a:blip r:embed="rId6" cstate="print">
            <a:extLst>
              <a:ext uri="{28A0092B-C50C-407E-A947-70E740481C1C}">
                <a14:useLocalDpi xmlns:a14="http://schemas.microsoft.com/office/drawing/2010/main" val="0"/>
              </a:ext>
            </a:extLst>
          </a:blip>
          <a:stretch>
            <a:fillRect/>
          </a:stretch>
        </p:blipFill>
        <p:spPr>
          <a:xfrm>
            <a:off x="4981050" y="2087608"/>
            <a:ext cx="6625372" cy="4505140"/>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9</a:t>
            </a:fld>
            <a:endParaRPr lang="fr-FR"/>
          </a:p>
        </p:txBody>
      </p:sp>
      <p:grpSp>
        <p:nvGrpSpPr>
          <p:cNvPr id="8" name="Groupe 7"/>
          <p:cNvGrpSpPr/>
          <p:nvPr/>
        </p:nvGrpSpPr>
        <p:grpSpPr>
          <a:xfrm>
            <a:off x="215772" y="2479735"/>
            <a:ext cx="4578478" cy="2899201"/>
            <a:chOff x="215772" y="2086035"/>
            <a:chExt cx="4578478" cy="2899201"/>
          </a:xfrm>
        </p:grpSpPr>
        <p:grpSp>
          <p:nvGrpSpPr>
            <p:cNvPr id="3" name="Groupe 2"/>
            <p:cNvGrpSpPr/>
            <p:nvPr/>
          </p:nvGrpSpPr>
          <p:grpSpPr>
            <a:xfrm>
              <a:off x="215772" y="2556489"/>
              <a:ext cx="4529645" cy="2428747"/>
              <a:chOff x="224565" y="2660087"/>
              <a:chExt cx="4529645" cy="2428747"/>
            </a:xfrm>
          </p:grpSpPr>
          <p:pic>
            <p:nvPicPr>
              <p:cNvPr id="4" name="Image 3"/>
              <p:cNvPicPr>
                <a:picLocks noChangeAspect="1"/>
              </p:cNvPicPr>
              <p:nvPr/>
            </p:nvPicPr>
            <p:blipFill>
              <a:blip r:embed="rId7"/>
              <a:stretch>
                <a:fillRect/>
              </a:stretch>
            </p:blipFill>
            <p:spPr>
              <a:xfrm>
                <a:off x="224565" y="2660087"/>
                <a:ext cx="4529645" cy="2428747"/>
              </a:xfrm>
              <a:prstGeom prst="rect">
                <a:avLst/>
              </a:prstGeom>
            </p:spPr>
          </p:pic>
          <p:sp>
            <p:nvSpPr>
              <p:cNvPr id="13" name="ZoneTexte 12"/>
              <p:cNvSpPr txBox="1"/>
              <p:nvPr/>
            </p:nvSpPr>
            <p:spPr>
              <a:xfrm>
                <a:off x="4258753" y="4500438"/>
                <a:ext cx="471604" cy="307777"/>
              </a:xfrm>
              <a:prstGeom prst="rect">
                <a:avLst/>
              </a:prstGeom>
              <a:solidFill>
                <a:schemeClr val="bg1"/>
              </a:solidFill>
            </p:spPr>
            <p:txBody>
              <a:bodyPr wrap="none" rtlCol="0">
                <a:spAutoFit/>
              </a:bodyPr>
              <a:lstStyle/>
              <a:p>
                <a:r>
                  <a:rPr lang="fr-FR" sz="1400" dirty="0"/>
                  <a:t>k</a:t>
                </a:r>
                <a:r>
                  <a:rPr lang="fr-FR" sz="1400" dirty="0" smtClean="0"/>
                  <a:t>, Q</a:t>
                </a:r>
                <a:endParaRPr lang="fr-FR" sz="1400" dirty="0"/>
              </a:p>
            </p:txBody>
          </p:sp>
          <p:pic>
            <p:nvPicPr>
              <p:cNvPr id="6" name="Image 5"/>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1073888" y="4382495"/>
                <a:ext cx="2335542" cy="235885"/>
              </a:xfrm>
              <a:prstGeom prst="rect">
                <a:avLst/>
              </a:prstGeom>
              <a:solidFill>
                <a:schemeClr val="bg1"/>
              </a:solidFill>
            </p:spPr>
          </p:pic>
        </p:grpSp>
        <p:pic>
          <p:nvPicPr>
            <p:cNvPr id="5" name="Image 4"/>
            <p:cNvPicPr>
              <a:picLocks noChangeAspect="1"/>
            </p:cNvPicPr>
            <p:nvPr/>
          </p:nvPicPr>
          <p:blipFill>
            <a:blip r:embed="rId9"/>
            <a:stretch>
              <a:fillRect/>
            </a:stretch>
          </p:blipFill>
          <p:spPr>
            <a:xfrm>
              <a:off x="437828" y="2087608"/>
              <a:ext cx="1649713" cy="766912"/>
            </a:xfrm>
            <a:prstGeom prst="rect">
              <a:avLst/>
            </a:prstGeom>
          </p:spPr>
        </p:pic>
        <p:pic>
          <p:nvPicPr>
            <p:cNvPr id="7" name="Image 6"/>
            <p:cNvPicPr>
              <a:picLocks noChangeAspect="1"/>
            </p:cNvPicPr>
            <p:nvPr/>
          </p:nvPicPr>
          <p:blipFill>
            <a:blip r:embed="rId10"/>
            <a:stretch>
              <a:fillRect/>
            </a:stretch>
          </p:blipFill>
          <p:spPr>
            <a:xfrm>
              <a:off x="366691" y="2086035"/>
              <a:ext cx="4427559" cy="163228"/>
            </a:xfrm>
            <a:prstGeom prst="rect">
              <a:avLst/>
            </a:prstGeom>
          </p:spPr>
        </p:pic>
      </p:grpSp>
    </p:spTree>
    <p:extLst>
      <p:ext uri="{BB962C8B-B14F-4D97-AF65-F5344CB8AC3E}">
        <p14:creationId xmlns:p14="http://schemas.microsoft.com/office/powerpoint/2010/main" val="41673352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documentclass{article}&#10;\usepackage{amsmath, amssymb}&#10;\usepackage{xcolor}&#10;\usepackage[paperwidth=18cm]{geometry}&#10;\pagestyle{empty}&#10;\begin{document}&#10;&#10;&#10;\textbf{(a)} Pour une conduction unidimensionnelle en régime permanent, avec une génération volumique de chaleur uniforme et des propriétés constantes, l’équation de diffusion thermique est :&#10;\begin{equation}&#10;\dfrac{d}{dx} \left( k \dfrac{dT}{dx} \right) + Q =0&#10;\end{equation}&#10;La distribution parabolique de température, sachant que $k=C^{te}$, vérifie cette équation.&#10;&#10;On note que la distribution de température doit être quadratique, avec une valeur maximale à $x = 0$. À $x = 0$, le flux de chaleur est&#10;&#10;\begin{equation}&#10;q_x''(0) = -k \left. \frac{dT}{dx} \right|_{x=0} = -k \left[ 0 + \frac{Q \; L^2}{2k} \left( 0 - \frac{2x}{L^2} \right) \right]_{x=0} = 0&#10;\end{equation}&#10;&#10;de sorte que le gradient en $x = 0$ est nul. Par conséquent, le fond est isolé.&#10;&#10; &#10;\end{document}" title="IguanaTex Bitmap Display"/>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210404" y="383023"/>
            <a:ext cx="7247238" cy="3587658"/>
          </a:xfrm>
          <a:prstGeom prst="rect">
            <a:avLst/>
          </a:prstGeom>
        </p:spPr>
      </p:pic>
      <p:pic>
        <p:nvPicPr>
          <p:cNvPr id="14" name="Image 13"/>
          <p:cNvPicPr>
            <a:picLocks noChangeAspect="1"/>
          </p:cNvPicPr>
          <p:nvPr/>
        </p:nvPicPr>
        <p:blipFill>
          <a:blip r:embed="rId6"/>
          <a:stretch>
            <a:fillRect/>
          </a:stretch>
        </p:blipFill>
        <p:spPr>
          <a:xfrm>
            <a:off x="8841981" y="3569677"/>
            <a:ext cx="2652874" cy="1422442"/>
          </a:xfrm>
          <a:prstGeom prst="rect">
            <a:avLst/>
          </a:prstGeom>
        </p:spPr>
      </p:pic>
      <p:pic>
        <p:nvPicPr>
          <p:cNvPr id="15" name="Image 14"/>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9108231" y="5148617"/>
            <a:ext cx="2335542" cy="235885"/>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10</a:t>
            </a:fld>
            <a:endParaRPr lang="fr-FR"/>
          </a:p>
        </p:txBody>
      </p:sp>
      <p:grpSp>
        <p:nvGrpSpPr>
          <p:cNvPr id="13" name="Groupe 12"/>
          <p:cNvGrpSpPr/>
          <p:nvPr/>
        </p:nvGrpSpPr>
        <p:grpSpPr>
          <a:xfrm>
            <a:off x="7573875" y="383023"/>
            <a:ext cx="4484828" cy="2646485"/>
            <a:chOff x="7573875" y="383023"/>
            <a:chExt cx="4484828" cy="2646485"/>
          </a:xfrm>
        </p:grpSpPr>
        <p:pic>
          <p:nvPicPr>
            <p:cNvPr id="8" name="Image 7"/>
            <p:cNvPicPr>
              <a:picLocks noChangeAspect="1"/>
            </p:cNvPicPr>
            <p:nvPr/>
          </p:nvPicPr>
          <p:blipFill>
            <a:blip r:embed="rId8"/>
            <a:stretch>
              <a:fillRect/>
            </a:stretch>
          </p:blipFill>
          <p:spPr>
            <a:xfrm>
              <a:off x="7573875" y="383023"/>
              <a:ext cx="4484828" cy="2646485"/>
            </a:xfrm>
            <a:prstGeom prst="rect">
              <a:avLst/>
            </a:prstGeom>
          </p:spPr>
        </p:pic>
        <p:pic>
          <p:nvPicPr>
            <p:cNvPr id="10" name="Image 9" descr="\documentclass{article}&#10;\usepackage{amsmath}&#10;\usepackage{xcolor}&#10;\pagestyle{empty}&#10;\begin{document}&#10;&#10;{\color{red} ATTENTION: T(x) en abs., x en ord.}&#10;&#10;&#10;&#10;&#10;\end{document}" title="IguanaTex Bitmap Display"/>
            <p:cNvPicPr>
              <a:picLocks noChangeAspect="1"/>
            </p:cNvPicPr>
            <p:nvPr>
              <p:custDataLst>
                <p:tags r:id="rId3"/>
              </p:custDataLst>
            </p:nvPr>
          </p:nvPicPr>
          <p:blipFill>
            <a:blip r:embed="rId9" cstate="print">
              <a:extLst>
                <a:ext uri="{28A0092B-C50C-407E-A947-70E740481C1C}">
                  <a14:useLocalDpi xmlns:a14="http://schemas.microsoft.com/office/drawing/2010/main" val="0"/>
                </a:ext>
              </a:extLst>
            </a:blip>
            <a:stretch>
              <a:fillRect/>
            </a:stretch>
          </p:blipFill>
          <p:spPr>
            <a:xfrm>
              <a:off x="8075038" y="2411315"/>
              <a:ext cx="3359695" cy="203581"/>
            </a:xfrm>
            <a:prstGeom prst="rect">
              <a:avLst/>
            </a:prstGeom>
          </p:spPr>
        </p:pic>
        <p:cxnSp>
          <p:nvCxnSpPr>
            <p:cNvPr id="12" name="Connecteur droit avec flèche 11"/>
            <p:cNvCxnSpPr/>
            <p:nvPr/>
          </p:nvCxnSpPr>
          <p:spPr>
            <a:xfrm flipV="1">
              <a:off x="11777663" y="2205446"/>
              <a:ext cx="0" cy="45679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1" name="ZoneTexte 10"/>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2007300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Image 59" descr="\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b) Conservation du flux thermique en surface}&#10;&#10;Sur la surface supérieure, la conservation du flux thermique impose par unité de surface:&#10;&#10;$$&#10;\lim_{e \rightarrow 0} Q\; e +\alpha_s\; G_s- \rtvector{q}''_{\text{cond}} \cdot \rtvector{n}_{12} - &#10;\rtvector{q}''_{\text{conv}} \cdot \rtvector{n}_{21} - \rtvector{q}''_{\text{rad}} \cdot \rtvector{n}_{21} =0&#10;$$&#10;&#10;\noindent&#10;où $\rtvector{n}_{21} = -\rtvector{n}_{12}$ et Q une fonction constante par morceaux.&#10;&#10;\noindent Comme $\lim_{e \rightarrow 0} Q\; e=0$, l'expression se réduit à:&#10;&#10;$$\alpha_s\; G_s-\rtvector{q}''_{\text{cond}} \cdot \rtvector{n}_{12} - &#10;\rtvector{q}''_{\text{conv}} \cdot \rtvector{n}_{21} - \rtvector{q}''_{\text{rad}} \cdot \rtvector{n}_{21} &#10;=0&#10;$$&#10;&#10;avec $$\rtvector{q}''_{\text{cond}}\cdot \rtvector{n}_{12} = -k \; \left. \dfrac{\partial T}{\partial x} \right|_L\; \rtvector{e}_{x} \cdot \rtvector{n}_{12} =k \; \left. \dfrac{\partial T}{\partial x} \right|_L$$.&#10;Comme $&#10;T(x) = T_s + \frac{Q\;L^2}{2k}\left(1 - \frac{x^2}{L^2}\right)&#10;$, on a en $x=L$:&#10;$\rtvector{q}''_{\text{cond}}\cdot \rtvector{n}_{12} = k \; \left. \dfrac{\partial T}{\partial x} \right|_L = -Q\;L&#10;$.&#10;&#10;$$\rtvector{q}_{\text{conv}} \cdot \rtvector{n}_{21}  + \rtvector{q}_{\text{rad}} \cdot \rtvector{n}_{21} =&#10; h(T_s-T_\infty) + \epsilon \sigma (T_s^4-T_{sur}^4) &#10;$$&#10;&#10;Le bilan s'écrit finalement:&#10;\begin{equation*}&#10;\alpha_s \; G_S  + Q\; L - h(T_s - T_\infty) - \varepsilon\sigma (T_s^4 -T_{sur}^4) = 0&#10;\end{equation*}&#10;\end{document}" title="IguanaTex Bitmap Display"/>
          <p:cNvPicPr>
            <a:picLocks noChangeAspect="1"/>
          </p:cNvPicPr>
          <p:nvPr>
            <p:custDataLst>
              <p:tags r:id="rId1"/>
            </p:custDataLst>
          </p:nvPr>
        </p:nvPicPr>
        <p:blipFill>
          <a:blip r:embed="rId9" cstate="print">
            <a:extLst>
              <a:ext uri="{28A0092B-C50C-407E-A947-70E740481C1C}">
                <a14:useLocalDpi xmlns:a14="http://schemas.microsoft.com/office/drawing/2010/main" val="0"/>
              </a:ext>
            </a:extLst>
          </a:blip>
          <a:stretch>
            <a:fillRect/>
          </a:stretch>
        </p:blipFill>
        <p:spPr>
          <a:xfrm>
            <a:off x="320292" y="449096"/>
            <a:ext cx="8801855" cy="5465149"/>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11</a:t>
            </a:fld>
            <a:endParaRPr lang="fr-FR"/>
          </a:p>
        </p:txBody>
      </p:sp>
      <p:sp>
        <p:nvSpPr>
          <p:cNvPr id="18" name="ZoneTexte 17"/>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grpSp>
        <p:nvGrpSpPr>
          <p:cNvPr id="45" name="Groupe 44"/>
          <p:cNvGrpSpPr/>
          <p:nvPr/>
        </p:nvGrpSpPr>
        <p:grpSpPr>
          <a:xfrm>
            <a:off x="9280328" y="255257"/>
            <a:ext cx="2626815" cy="3253276"/>
            <a:chOff x="9500248" y="255257"/>
            <a:chExt cx="2626815" cy="3253276"/>
          </a:xfrm>
        </p:grpSpPr>
        <p:sp>
          <p:nvSpPr>
            <p:cNvPr id="17" name="ZoneTexte 16"/>
            <p:cNvSpPr txBox="1"/>
            <p:nvPr/>
          </p:nvSpPr>
          <p:spPr>
            <a:xfrm>
              <a:off x="11091641" y="879846"/>
              <a:ext cx="301686" cy="369332"/>
            </a:xfrm>
            <a:prstGeom prst="rect">
              <a:avLst/>
            </a:prstGeom>
            <a:noFill/>
          </p:spPr>
          <p:txBody>
            <a:bodyPr wrap="none" rtlCol="0">
              <a:spAutoFit/>
            </a:bodyPr>
            <a:lstStyle/>
            <a:p>
              <a:r>
                <a:rPr lang="fr-FR" dirty="0" smtClean="0"/>
                <a:t>1</a:t>
              </a:r>
              <a:endParaRPr lang="fr-FR" dirty="0"/>
            </a:p>
          </p:txBody>
        </p:sp>
        <p:sp>
          <p:nvSpPr>
            <p:cNvPr id="24" name="ZoneTexte 23"/>
            <p:cNvSpPr txBox="1"/>
            <p:nvPr/>
          </p:nvSpPr>
          <p:spPr>
            <a:xfrm>
              <a:off x="11093477" y="1745024"/>
              <a:ext cx="301686" cy="369332"/>
            </a:xfrm>
            <a:prstGeom prst="rect">
              <a:avLst/>
            </a:prstGeom>
            <a:noFill/>
          </p:spPr>
          <p:txBody>
            <a:bodyPr wrap="none" rtlCol="0">
              <a:spAutoFit/>
            </a:bodyPr>
            <a:lstStyle/>
            <a:p>
              <a:r>
                <a:rPr lang="fr-FR" dirty="0"/>
                <a:t>2</a:t>
              </a:r>
            </a:p>
          </p:txBody>
        </p:sp>
        <p:cxnSp>
          <p:nvCxnSpPr>
            <p:cNvPr id="20" name="Connecteur droit 19"/>
            <p:cNvCxnSpPr/>
            <p:nvPr/>
          </p:nvCxnSpPr>
          <p:spPr>
            <a:xfrm rot="5400000">
              <a:off x="10383109" y="1026440"/>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Connecteur droit 22"/>
            <p:cNvCxnSpPr/>
            <p:nvPr/>
          </p:nvCxnSpPr>
          <p:spPr>
            <a:xfrm rot="5400000">
              <a:off x="10383110" y="580963"/>
              <a:ext cx="0" cy="133643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Connecteur droit avec flèche 18"/>
            <p:cNvCxnSpPr/>
            <p:nvPr/>
          </p:nvCxnSpPr>
          <p:spPr>
            <a:xfrm rot="5400000">
              <a:off x="10157039" y="1920728"/>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p:cNvCxnSpPr/>
            <p:nvPr/>
          </p:nvCxnSpPr>
          <p:spPr>
            <a:xfrm rot="5400000" flipH="1">
              <a:off x="10157039" y="1023206"/>
              <a:ext cx="452144"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5" name="Image 24" descr="\documentclass{article}&#10;\usepackage{amsmath}&#10;\pagestyle{empty}&#10;\begin{document}&#10;&#10;$n_{21}=n_{ext}$&#10;&#10;&#10;\end{document}" title="IguanaTex Bitmap Display"/>
            <p:cNvPicPr>
              <a:picLocks noChangeAspect="1"/>
            </p:cNvPicPr>
            <p:nvPr>
              <p:custDataLst>
                <p:tags r:id="rId2"/>
              </p:custDataLst>
            </p:nvPr>
          </p:nvPicPr>
          <p:blipFill>
            <a:blip r:embed="rId10" cstate="print">
              <a:extLst>
                <a:ext uri="{28A0092B-C50C-407E-A947-70E740481C1C}">
                  <a14:useLocalDpi xmlns:a14="http://schemas.microsoft.com/office/drawing/2010/main" val="0"/>
                </a:ext>
              </a:extLst>
            </a:blip>
            <a:stretch>
              <a:fillRect/>
            </a:stretch>
          </p:blipFill>
          <p:spPr>
            <a:xfrm>
              <a:off x="10005393" y="928911"/>
              <a:ext cx="1129144" cy="150857"/>
            </a:xfrm>
            <a:prstGeom prst="rect">
              <a:avLst/>
            </a:prstGeom>
          </p:spPr>
        </p:pic>
        <p:sp>
          <p:nvSpPr>
            <p:cNvPr id="32" name="ZoneTexte 31"/>
            <p:cNvSpPr txBox="1"/>
            <p:nvPr/>
          </p:nvSpPr>
          <p:spPr>
            <a:xfrm flipV="1">
              <a:off x="11496450" y="255257"/>
              <a:ext cx="284052" cy="369332"/>
            </a:xfrm>
            <a:prstGeom prst="rect">
              <a:avLst/>
            </a:prstGeom>
            <a:noFill/>
          </p:spPr>
          <p:txBody>
            <a:bodyPr wrap="none" rtlCol="0">
              <a:spAutoFit/>
            </a:bodyPr>
            <a:lstStyle/>
            <a:p>
              <a:r>
                <a:rPr lang="fr-FR" dirty="0" smtClean="0"/>
                <a:t>x</a:t>
              </a:r>
              <a:endParaRPr lang="fr-FR" dirty="0"/>
            </a:p>
          </p:txBody>
        </p:sp>
        <p:pic>
          <p:nvPicPr>
            <p:cNvPr id="7" name="Image 6" descr="\documentclass{article}&#10;\usepackage{amsmath}&#10;\pagestyle{empty}&#10;\begin{document}&#10;&#10;$n_{12}$&#10;&#10;&#10;\end{document}" title="IguanaTex Bitmap Display"/>
            <p:cNvPicPr>
              <a:picLocks noChangeAspect="1"/>
            </p:cNvPicPr>
            <p:nvPr>
              <p:custDataLst>
                <p:tags r:id="rId3"/>
              </p:custDataLst>
            </p:nvPr>
          </p:nvPicPr>
          <p:blipFill>
            <a:blip r:embed="rId11" cstate="print">
              <a:extLst>
                <a:ext uri="{28A0092B-C50C-407E-A947-70E740481C1C}">
                  <a14:useLocalDpi xmlns:a14="http://schemas.microsoft.com/office/drawing/2010/main" val="0"/>
                </a:ext>
              </a:extLst>
            </a:blip>
            <a:stretch>
              <a:fillRect/>
            </a:stretch>
          </p:blipFill>
          <p:spPr>
            <a:xfrm>
              <a:off x="9992261" y="1903341"/>
              <a:ext cx="336762" cy="149333"/>
            </a:xfrm>
            <a:prstGeom prst="rect">
              <a:avLst/>
            </a:prstGeom>
          </p:spPr>
        </p:pic>
        <p:sp>
          <p:nvSpPr>
            <p:cNvPr id="3" name="Rectangle 2"/>
            <p:cNvSpPr/>
            <p:nvPr/>
          </p:nvSpPr>
          <p:spPr>
            <a:xfrm>
              <a:off x="9766355" y="1283719"/>
              <a:ext cx="1336432" cy="37791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descr="\documentclass{article}&#10;\usepackage{amsmath}&#10;\pagestyle{empty}&#10;\begin{document}&#10;&#10;$$Q$$&#10;&#10;&#10;\end{document}" title="IguanaTex Bitmap Display"/>
            <p:cNvPicPr>
              <a:picLocks noChangeAspect="1"/>
            </p:cNvPicPr>
            <p:nvPr>
              <p:custDataLst>
                <p:tags r:id="rId4"/>
              </p:custDataLst>
            </p:nvPr>
          </p:nvPicPr>
          <p:blipFill>
            <a:blip r:embed="rId12" cstate="print">
              <a:extLst>
                <a:ext uri="{28A0092B-C50C-407E-A947-70E740481C1C}">
                  <a14:useLocalDpi xmlns:a14="http://schemas.microsoft.com/office/drawing/2010/main" val="0"/>
                </a:ext>
              </a:extLst>
            </a:blip>
            <a:stretch>
              <a:fillRect/>
            </a:stretch>
          </p:blipFill>
          <p:spPr>
            <a:xfrm>
              <a:off x="10236847" y="1385053"/>
              <a:ext cx="157714" cy="204343"/>
            </a:xfrm>
            <a:prstGeom prst="rect">
              <a:avLst/>
            </a:prstGeom>
          </p:spPr>
        </p:pic>
        <p:cxnSp>
          <p:nvCxnSpPr>
            <p:cNvPr id="11" name="Connecteur droit avec flèche 10"/>
            <p:cNvCxnSpPr/>
            <p:nvPr/>
          </p:nvCxnSpPr>
          <p:spPr>
            <a:xfrm>
              <a:off x="9646297" y="1255528"/>
              <a:ext cx="6350" cy="41245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2" name="Image 11" descr="\documentclass{article}&#10;\usepackage{amsmath}&#10;\pagestyle{empty}&#10;\begin{document}&#10;&#10;$$e$$&#10;&#10;&#10;\end{document}" title="IguanaTex Bitmap Display"/>
            <p:cNvPicPr>
              <a:picLocks noChangeAspect="1"/>
            </p:cNvPicPr>
            <p:nvPr>
              <p:custDataLst>
                <p:tags r:id="rId5"/>
              </p:custDataLst>
            </p:nvPr>
          </p:nvPicPr>
          <p:blipFill>
            <a:blip r:embed="rId13" cstate="print">
              <a:extLst>
                <a:ext uri="{28A0092B-C50C-407E-A947-70E740481C1C}">
                  <a14:useLocalDpi xmlns:a14="http://schemas.microsoft.com/office/drawing/2010/main" val="0"/>
                </a:ext>
              </a:extLst>
            </a:blip>
            <a:stretch>
              <a:fillRect/>
            </a:stretch>
          </p:blipFill>
          <p:spPr>
            <a:xfrm>
              <a:off x="9500248" y="1435101"/>
              <a:ext cx="89143" cy="102857"/>
            </a:xfrm>
            <a:prstGeom prst="rect">
              <a:avLst/>
            </a:prstGeom>
          </p:spPr>
        </p:pic>
        <p:grpSp>
          <p:nvGrpSpPr>
            <p:cNvPr id="44" name="Groupe 43"/>
            <p:cNvGrpSpPr/>
            <p:nvPr/>
          </p:nvGrpSpPr>
          <p:grpSpPr>
            <a:xfrm>
              <a:off x="10697282" y="369333"/>
              <a:ext cx="776323" cy="3103072"/>
              <a:chOff x="10315318" y="369333"/>
              <a:chExt cx="776323" cy="3103072"/>
            </a:xfrm>
          </p:grpSpPr>
          <p:cxnSp>
            <p:nvCxnSpPr>
              <p:cNvPr id="31" name="Connecteur droit avec flèche 30"/>
              <p:cNvCxnSpPr/>
              <p:nvPr/>
            </p:nvCxnSpPr>
            <p:spPr>
              <a:xfrm flipV="1">
                <a:off x="11042444" y="369333"/>
                <a:ext cx="49197" cy="31030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necteur droit 32"/>
              <p:cNvCxnSpPr/>
              <p:nvPr/>
            </p:nvCxnSpPr>
            <p:spPr>
              <a:xfrm flipH="1">
                <a:off x="10315318" y="3472405"/>
                <a:ext cx="72712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40" name="Image 39" descr="\documentclass{article}&#10;\usepackage{amsmath}&#10;\pagestyle{empty}&#10;\begin{document}&#10;&#10;&#10;$x=0$&#10;&#10;\end{document}" title="IguanaTex Bitmap Display"/>
            <p:cNvPicPr>
              <a:picLocks noChangeAspect="1"/>
            </p:cNvPicPr>
            <p:nvPr>
              <p:custDataLst>
                <p:tags r:id="rId6"/>
              </p:custDataLst>
            </p:nvPr>
          </p:nvPicPr>
          <p:blipFill>
            <a:blip r:embed="rId14" cstate="print">
              <a:extLst>
                <a:ext uri="{28A0092B-C50C-407E-A947-70E740481C1C}">
                  <a14:useLocalDpi xmlns:a14="http://schemas.microsoft.com/office/drawing/2010/main" val="0"/>
                </a:ext>
              </a:extLst>
            </a:blip>
            <a:stretch>
              <a:fillRect/>
            </a:stretch>
          </p:blipFill>
          <p:spPr>
            <a:xfrm>
              <a:off x="11560176" y="3352190"/>
              <a:ext cx="533486" cy="156343"/>
            </a:xfrm>
            <a:prstGeom prst="rect">
              <a:avLst/>
            </a:prstGeom>
          </p:spPr>
        </p:pic>
        <p:pic>
          <p:nvPicPr>
            <p:cNvPr id="41" name="Image 40" descr="\documentclass{article}&#10;\usepackage{amsmath}&#10;\pagestyle{empty}&#10;\begin{document}&#10;&#10;&#10;$x=L$&#10;&#10;\end{document}" title="IguanaTex Bitmap Display"/>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11552434" y="1385053"/>
              <a:ext cx="574629" cy="157714"/>
            </a:xfrm>
            <a:prstGeom prst="rect">
              <a:avLst/>
            </a:prstGeom>
          </p:spPr>
        </p:pic>
      </p:grpSp>
    </p:spTree>
    <p:extLst>
      <p:ext uri="{BB962C8B-B14F-4D97-AF65-F5344CB8AC3E}">
        <p14:creationId xmlns:p14="http://schemas.microsoft.com/office/powerpoint/2010/main" val="72655046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10" descr="\documentclass{article}&#10;\usepackage{amsmath}&#10;\usepackage[paperwidth=23cm]{geometry}&#10;\pagestyle{empty}&#10;\begin{document}&#10;&#10;\begin{equation}&#10;Q\; L - h(T_s - T_\infty) + 0.95G_S - \varepsilon\sigma (T_s^4-T_{sur}^4) = 0&#10;\end{equation}&#10;&#10;Numériquement, on a:&#10;\begin{equation}&#10;10 \times 1\, - 8\,(T_s - 303) + 0.95 \times 500\, - 0.95 \times 5.67 \times 10^{-8}\,(T_s^4-293^4) = 0&#10;\end{equation}&#10;&#10;\begin{equation}&#10;T_s = 331.72\,\text{K} = 58.6^{\circ} \text{C}&#10;\end{equation}&#10;&#10;En $x=0$&#10;\begin{equation}&#10;T(0) = T_s + \frac{Q\;L^2}{2k} = 77.8^{\circ} \text{C}&#10;\end{equation}&#10;&#10;Sans prendre en compte $G_{sur}$, on sous-estime $T_s = = 305.20 K = 32.05^\circ C$&#10;L’effet est naturellement d'augmenter les valeurs de&#10;$T_s$ donc de $T(0)$ prédites par ce modèle.&#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232063" y="630179"/>
            <a:ext cx="10409139" cy="3461492"/>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12</a:t>
            </a:fld>
            <a:endParaRPr lang="fr-FR"/>
          </a:p>
        </p:txBody>
      </p:sp>
      <p:sp>
        <p:nvSpPr>
          <p:cNvPr id="4" name="ZoneTexte 3"/>
          <p:cNvSpPr txBox="1"/>
          <p:nvPr/>
        </p:nvSpPr>
        <p:spPr>
          <a:xfrm>
            <a:off x="0" y="0"/>
            <a:ext cx="1413785" cy="369332"/>
          </a:xfrm>
          <a:prstGeom prst="rect">
            <a:avLst/>
          </a:prstGeom>
          <a:solidFill>
            <a:srgbClr val="FFFF00"/>
          </a:solidFill>
        </p:spPr>
        <p:txBody>
          <a:bodyPr wrap="none" rtlCol="0">
            <a:spAutoFit/>
          </a:bodyPr>
          <a:lstStyle/>
          <a:p>
            <a:r>
              <a:rPr lang="fr-FR" dirty="0" smtClean="0"/>
              <a:t>CORRECTION</a:t>
            </a:r>
            <a:endParaRPr lang="fr-FR" dirty="0"/>
          </a:p>
        </p:txBody>
      </p:sp>
      <p:pic>
        <p:nvPicPr>
          <p:cNvPr id="12" name="Image 11"/>
          <p:cNvPicPr>
            <a:picLocks noChangeAspect="1"/>
          </p:cNvPicPr>
          <p:nvPr/>
        </p:nvPicPr>
        <p:blipFill>
          <a:blip r:embed="rId4"/>
          <a:stretch>
            <a:fillRect/>
          </a:stretch>
        </p:blipFill>
        <p:spPr>
          <a:xfrm>
            <a:off x="1413785" y="4170712"/>
            <a:ext cx="4242597" cy="2550763"/>
          </a:xfrm>
          <a:prstGeom prst="rect">
            <a:avLst/>
          </a:prstGeom>
        </p:spPr>
      </p:pic>
    </p:spTree>
    <p:extLst>
      <p:ext uri="{BB962C8B-B14F-4D97-AF65-F5344CB8AC3E}">
        <p14:creationId xmlns:p14="http://schemas.microsoft.com/office/powerpoint/2010/main" val="237133649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 amssymb}&#10;\usepackage{xcolor}&#10;\usepackage[paperwidth=25cm]{geometry}&#10;\pagestyle{empty}&#10;\begin{document}&#10;&#10;\section*{Exercice : équation de la chaleur en axisymétrie}&#10;&#10;Le but est d'écrire l'équation de diffusion de la chaleur en supposant que&#10;\begin{enumerate}&#10;    \item Milieu homogène.&#10;    \item La distribution de température est invariante selon $z$ et ne dépend que de $r$ : $T = T(r, t)$.&#10;    \item Régime transitoire.&#10;    \item Conductivité thermique dépendant de la température.&#10;\end{enumerate}&#10;&#10;Pour établir l'équation de diffusion de la chaleur en coordonnées cylindriques, considérons un élément de volume cylindrique de rayon $r$ et d'épaisseur $dr$.&#10;&#10;Le bilan énergétique sur cet élément s'écrit :&#10;\begin{equation}&#10;\dot{E}_{\text{in}} - \dot{E}_{\text{out}} + \dot{E}_{\text{g}} = \dot{E}_{\text{st}}&#10;\end{equation}&#10;&#10;En régime transitoire, $\dot{E}_{\text{st}} = \rho c_p \; V \frac{\partial T}{\partial t} = \rho c_p \; (2\pi r L \, dr) \frac{\partial T}{\partial t}$, donc :&#10;\begin{equation}&#10;q_r - q_{r+dr} + \dot{E}_{\text{g}} = \rho c_p \; (2\pi r L \, dr) \frac{\partial T}{\partial t}&#10;\end{equation}&#10;&#10;&#10;\end{document}&#10;"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599" y="277534"/>
            <a:ext cx="11319772" cy="5380115"/>
          </a:xfrm>
          <a:prstGeom prst="rect">
            <a:avLst/>
          </a:prstGeom>
        </p:spPr>
      </p:pic>
      <p:pic>
        <p:nvPicPr>
          <p:cNvPr id="9" name="Image 8"/>
          <p:cNvPicPr>
            <a:picLocks noChangeAspect="1"/>
          </p:cNvPicPr>
          <p:nvPr/>
        </p:nvPicPr>
        <p:blipFill>
          <a:blip r:embed="rId4"/>
          <a:stretch>
            <a:fillRect/>
          </a:stretch>
        </p:blipFill>
        <p:spPr>
          <a:xfrm>
            <a:off x="8406986" y="3570158"/>
            <a:ext cx="3032277" cy="1784357"/>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13</a:t>
            </a:fld>
            <a:endParaRPr lang="fr-FR"/>
          </a:p>
        </p:txBody>
      </p:sp>
    </p:spTree>
    <p:extLst>
      <p:ext uri="{BB962C8B-B14F-4D97-AF65-F5344CB8AC3E}">
        <p14:creationId xmlns:p14="http://schemas.microsoft.com/office/powerpoint/2010/main" val="24316501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 amssymb}&#10;\usepackage{xcolor}&#10;\usepackage[paperwidth=25cm]{geometry}&#10;\pagestyle{empty}&#10;\begin{document}&#10;&#10;\begin{equation}&#10;q_r - q_{r+dr} + \dot{E}_{\text{g}} = \rho c_p \; (2\pi r L \, dr) \frac{\partial T}{\partial t}&#10;\end{equation}&#10;&#10;où :&#10;\begin{itemize}&#10;    \item $q_r$ : flux de chaleur entrant à la position $r$&#10;    \item $q_{r+dr}$ : flux de chaleur sortant à la position $r + dr$&#10;    \item $\dot{E}_{\text{gen}}$ : génération de chaleur dans l'élément&#10;\end{itemize}&#10;&#10;Le flux de chaleur radial s'exprime par la loi de Fourier :&#10;\begin{equation}&#10;q_r = -kA_r\frac{dT}{dr} = -k(2\pi r L)\frac{dT}{dr}&#10;\end{equation}&#10;&#10;où $A_r = 2\pi r L$ est la surface cylindrique à la position $r$.&#10;&#10;Le flux à la position $r + dr$ est :&#10;\begin{equation}&#10;q_{r+dr} = q_r + \frac{dq_r}{dr}dr = -k(2\pi r L)\frac{dT}{dr} - (2\pi L)\frac{d}{dr}\left(k \; r\frac{dT}{dr}\right)dr&#10;\end{equation}&#10;en notant que $k(T(r))$ dépend implicitement de $r$.&#10;&#10;\end{document}&#10;"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604" y="277534"/>
            <a:ext cx="11307429" cy="5376004"/>
          </a:xfrm>
          <a:prstGeom prst="rect">
            <a:avLst/>
          </a:prstGeom>
        </p:spPr>
      </p:pic>
      <p:pic>
        <p:nvPicPr>
          <p:cNvPr id="9" name="Image 8"/>
          <p:cNvPicPr>
            <a:picLocks noChangeAspect="1"/>
          </p:cNvPicPr>
          <p:nvPr/>
        </p:nvPicPr>
        <p:blipFill>
          <a:blip r:embed="rId4"/>
          <a:stretch>
            <a:fillRect/>
          </a:stretch>
        </p:blipFill>
        <p:spPr>
          <a:xfrm>
            <a:off x="8408266" y="352173"/>
            <a:ext cx="3032277" cy="1784357"/>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14</a:t>
            </a:fld>
            <a:endParaRPr lang="fr-FR"/>
          </a:p>
        </p:txBody>
      </p:sp>
    </p:spTree>
    <p:extLst>
      <p:ext uri="{BB962C8B-B14F-4D97-AF65-F5344CB8AC3E}">
        <p14:creationId xmlns:p14="http://schemas.microsoft.com/office/powerpoint/2010/main" val="35508064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599" y="822650"/>
            <a:ext cx="10964572" cy="3023998"/>
          </a:xfrm>
          <a:prstGeom prst="rect">
            <a:avLst/>
          </a:prstGeom>
        </p:spPr>
      </p:pic>
      <p:sp>
        <p:nvSpPr>
          <p:cNvPr id="2" name="Espace réservé du numéro de diapositive 1"/>
          <p:cNvSpPr>
            <a:spLocks noGrp="1"/>
          </p:cNvSpPr>
          <p:nvPr>
            <p:ph type="sldNum" sz="quarter" idx="12"/>
          </p:nvPr>
        </p:nvSpPr>
        <p:spPr/>
        <p:txBody>
          <a:bodyPr/>
          <a:lstStyle/>
          <a:p>
            <a:fld id="{CB13DDC6-9977-4A69-882A-1641CFA73689}" type="slidenum">
              <a:rPr lang="fr-FR" smtClean="0"/>
              <a:t>15</a:t>
            </a:fld>
            <a:endParaRPr lang="fr-FR"/>
          </a:p>
        </p:txBody>
      </p:sp>
    </p:spTree>
    <p:extLst>
      <p:ext uri="{BB962C8B-B14F-4D97-AF65-F5344CB8AC3E}">
        <p14:creationId xmlns:p14="http://schemas.microsoft.com/office/powerpoint/2010/main" val="313653956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599" y="277534"/>
            <a:ext cx="11323880" cy="4703998"/>
          </a:xfrm>
          <a:prstGeom prst="rect">
            <a:avLst/>
          </a:prstGeom>
        </p:spPr>
      </p:pic>
      <p:pic>
        <p:nvPicPr>
          <p:cNvPr id="6" name="Image 5"/>
          <p:cNvPicPr>
            <a:picLocks noChangeAspect="1"/>
          </p:cNvPicPr>
          <p:nvPr/>
        </p:nvPicPr>
        <p:blipFill>
          <a:blip r:embed="rId4"/>
          <a:stretch>
            <a:fillRect/>
          </a:stretch>
        </p:blipFill>
        <p:spPr>
          <a:xfrm>
            <a:off x="8301501" y="2199813"/>
            <a:ext cx="3032277" cy="1784357"/>
          </a:xfrm>
          <a:prstGeom prst="rect">
            <a:avLst/>
          </a:prstGeom>
        </p:spPr>
      </p:pic>
      <p:sp>
        <p:nvSpPr>
          <p:cNvPr id="4" name="Espace réservé du numéro de diapositive 3"/>
          <p:cNvSpPr>
            <a:spLocks noGrp="1"/>
          </p:cNvSpPr>
          <p:nvPr>
            <p:ph type="sldNum" sz="quarter" idx="12"/>
          </p:nvPr>
        </p:nvSpPr>
        <p:spPr/>
        <p:txBody>
          <a:bodyPr/>
          <a:lstStyle/>
          <a:p>
            <a:fld id="{CB13DDC6-9977-4A69-882A-1641CFA73689}" type="slidenum">
              <a:rPr lang="fr-FR" smtClean="0"/>
              <a:t>16</a:t>
            </a:fld>
            <a:endParaRPr lang="fr-FR"/>
          </a:p>
        </p:txBody>
      </p:sp>
    </p:spTree>
    <p:extLst>
      <p:ext uri="{BB962C8B-B14F-4D97-AF65-F5344CB8AC3E}">
        <p14:creationId xmlns:p14="http://schemas.microsoft.com/office/powerpoint/2010/main" val="19634008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602" y="101689"/>
            <a:ext cx="11326623" cy="6602051"/>
          </a:xfrm>
          <a:prstGeom prst="rect">
            <a:avLst/>
          </a:prstGeom>
        </p:spPr>
      </p:pic>
      <p:grpSp>
        <p:nvGrpSpPr>
          <p:cNvPr id="4" name="Groupe 3"/>
          <p:cNvGrpSpPr/>
          <p:nvPr/>
        </p:nvGrpSpPr>
        <p:grpSpPr>
          <a:xfrm>
            <a:off x="8801057" y="4040142"/>
            <a:ext cx="2160000" cy="2160000"/>
            <a:chOff x="8975228" y="4508228"/>
            <a:chExt cx="2160000" cy="2160000"/>
          </a:xfrm>
        </p:grpSpPr>
        <p:sp>
          <p:nvSpPr>
            <p:cNvPr id="2" name="Ellipse 1"/>
            <p:cNvSpPr>
              <a:spLocks noChangeAspect="1"/>
            </p:cNvSpPr>
            <p:nvPr/>
          </p:nvSpPr>
          <p:spPr>
            <a:xfrm>
              <a:off x="9696000" y="5229000"/>
              <a:ext cx="718457" cy="7184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Ellipse 2"/>
            <p:cNvSpPr>
              <a:spLocks noChangeAspect="1"/>
            </p:cNvSpPr>
            <p:nvPr/>
          </p:nvSpPr>
          <p:spPr>
            <a:xfrm>
              <a:off x="8975228" y="4508228"/>
              <a:ext cx="2160000" cy="2160000"/>
            </a:xfrm>
            <a:prstGeom prst="ellipse">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5" name="Espace réservé du numéro de diapositive 4"/>
          <p:cNvSpPr>
            <a:spLocks noGrp="1"/>
          </p:cNvSpPr>
          <p:nvPr>
            <p:ph type="sldNum" sz="quarter" idx="12"/>
          </p:nvPr>
        </p:nvSpPr>
        <p:spPr/>
        <p:txBody>
          <a:bodyPr/>
          <a:lstStyle/>
          <a:p>
            <a:fld id="{CB13DDC6-9977-4A69-882A-1641CFA73689}" type="slidenum">
              <a:rPr lang="fr-FR" smtClean="0"/>
              <a:t>17</a:t>
            </a:fld>
            <a:endParaRPr lang="fr-FR"/>
          </a:p>
        </p:txBody>
      </p:sp>
    </p:spTree>
    <p:extLst>
      <p:ext uri="{BB962C8B-B14F-4D97-AF65-F5344CB8AC3E}">
        <p14:creationId xmlns:p14="http://schemas.microsoft.com/office/powerpoint/2010/main" val="14460773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7" y="215989"/>
            <a:ext cx="11307423" cy="6362050"/>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18</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42652169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7" y="215990"/>
            <a:ext cx="11306045" cy="6470392"/>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19</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79229235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6" y="85888"/>
            <a:ext cx="11306050" cy="6772112"/>
          </a:xfrm>
          <a:prstGeom prst="rect">
            <a:avLst/>
          </a:prstGeom>
        </p:spPr>
      </p:pic>
      <p:sp>
        <p:nvSpPr>
          <p:cNvPr id="7" name="Espace réservé du numéro de diapositive 6"/>
          <p:cNvSpPr>
            <a:spLocks noGrp="1"/>
          </p:cNvSpPr>
          <p:nvPr>
            <p:ph type="sldNum" sz="quarter" idx="12"/>
          </p:nvPr>
        </p:nvSpPr>
        <p:spPr/>
        <p:txBody>
          <a:bodyPr/>
          <a:lstStyle/>
          <a:p>
            <a:fld id="{CB13DDC6-9977-4A69-882A-1641CFA73689}" type="slidenum">
              <a:rPr lang="fr-FR" smtClean="0"/>
              <a:t>20</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09318745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9" y="215992"/>
            <a:ext cx="10964566" cy="6256454"/>
          </a:xfrm>
          <a:prstGeom prst="rect">
            <a:avLst/>
          </a:prstGeom>
        </p:spPr>
      </p:pic>
      <p:sp>
        <p:nvSpPr>
          <p:cNvPr id="9" name="Espace réservé du numéro de diapositive 8"/>
          <p:cNvSpPr>
            <a:spLocks noGrp="1"/>
          </p:cNvSpPr>
          <p:nvPr>
            <p:ph type="sldNum" sz="quarter" idx="12"/>
          </p:nvPr>
        </p:nvSpPr>
        <p:spPr/>
        <p:txBody>
          <a:bodyPr/>
          <a:lstStyle/>
          <a:p>
            <a:fld id="{CB13DDC6-9977-4A69-882A-1641CFA73689}" type="slidenum">
              <a:rPr lang="fr-FR" smtClean="0"/>
              <a:t>21</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6564145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 9"/>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21849" y="215992"/>
            <a:ext cx="11306033" cy="5809364"/>
          </a:xfrm>
          <a:prstGeom prst="rect">
            <a:avLst/>
          </a:prstGeom>
        </p:spPr>
      </p:pic>
      <p:sp>
        <p:nvSpPr>
          <p:cNvPr id="7" name="Espace réservé du numéro de diapositive 6"/>
          <p:cNvSpPr>
            <a:spLocks noGrp="1"/>
          </p:cNvSpPr>
          <p:nvPr>
            <p:ph type="sldNum" sz="quarter" idx="12"/>
          </p:nvPr>
        </p:nvSpPr>
        <p:spPr/>
        <p:txBody>
          <a:bodyPr/>
          <a:lstStyle/>
          <a:p>
            <a:fld id="{CB13DDC6-9977-4A69-882A-1641CFA73689}" type="slidenum">
              <a:rPr lang="fr-FR" smtClean="0"/>
              <a:t>22</a:t>
            </a:fld>
            <a:endParaRPr lang="fr-FR"/>
          </a:p>
        </p:txBody>
      </p:sp>
      <p:sp>
        <p:nvSpPr>
          <p:cNvPr id="4" name="ZoneTexte 3"/>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309726105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numéro de diapositive 6"/>
          <p:cNvSpPr>
            <a:spLocks noGrp="1"/>
          </p:cNvSpPr>
          <p:nvPr>
            <p:ph type="sldNum" sz="quarter" idx="12"/>
          </p:nvPr>
        </p:nvSpPr>
        <p:spPr/>
        <p:txBody>
          <a:bodyPr/>
          <a:lstStyle/>
          <a:p>
            <a:fld id="{CB13DDC6-9977-4A69-882A-1641CFA73689}" type="slidenum">
              <a:rPr lang="fr-FR" smtClean="0"/>
              <a:t>23</a:t>
            </a:fld>
            <a:endParaRPr lang="fr-FR"/>
          </a:p>
        </p:txBody>
      </p:sp>
      <p:pic>
        <p:nvPicPr>
          <p:cNvPr id="9" name="Image 8"/>
          <p:cNvPicPr>
            <a:picLocks noChangeAspect="1"/>
          </p:cNvPicPr>
          <p:nvPr>
            <p:custDataLst>
              <p:tags r:id="rId1"/>
            </p:custDataLst>
          </p:nvPr>
        </p:nvPicPr>
        <p:blipFill>
          <a:blip r:embed="rId5" cstate="print">
            <a:extLst>
              <a:ext uri="{28A0092B-C50C-407E-A947-70E740481C1C}">
                <a14:useLocalDpi xmlns:a14="http://schemas.microsoft.com/office/drawing/2010/main" val="0"/>
              </a:ext>
            </a:extLst>
          </a:blip>
          <a:stretch>
            <a:fillRect/>
          </a:stretch>
        </p:blipFill>
        <p:spPr>
          <a:xfrm>
            <a:off x="4188306" y="727621"/>
            <a:ext cx="7549708" cy="2439769"/>
          </a:xfrm>
          <a:prstGeom prst="rect">
            <a:avLst/>
          </a:prstGeom>
        </p:spPr>
      </p:pic>
      <p:pic>
        <p:nvPicPr>
          <p:cNvPr id="3" name="Image 2"/>
          <p:cNvPicPr>
            <a:picLocks noChangeAspect="1"/>
          </p:cNvPicPr>
          <p:nvPr/>
        </p:nvPicPr>
        <p:blipFill>
          <a:blip r:embed="rId6"/>
          <a:stretch>
            <a:fillRect/>
          </a:stretch>
        </p:blipFill>
        <p:spPr>
          <a:xfrm>
            <a:off x="744689" y="468086"/>
            <a:ext cx="7194222" cy="4920344"/>
          </a:xfrm>
          <a:prstGeom prst="rect">
            <a:avLst/>
          </a:prstGeom>
        </p:spPr>
      </p:pic>
      <p:grpSp>
        <p:nvGrpSpPr>
          <p:cNvPr id="10" name="Groupe 9"/>
          <p:cNvGrpSpPr/>
          <p:nvPr/>
        </p:nvGrpSpPr>
        <p:grpSpPr>
          <a:xfrm>
            <a:off x="9015726" y="3426925"/>
            <a:ext cx="1693456" cy="1693456"/>
            <a:chOff x="8975228" y="4508228"/>
            <a:chExt cx="2160000" cy="2160000"/>
          </a:xfrm>
        </p:grpSpPr>
        <p:sp>
          <p:nvSpPr>
            <p:cNvPr id="11" name="Ellipse 10"/>
            <p:cNvSpPr>
              <a:spLocks noChangeAspect="1"/>
            </p:cNvSpPr>
            <p:nvPr/>
          </p:nvSpPr>
          <p:spPr>
            <a:xfrm>
              <a:off x="9696000" y="5229000"/>
              <a:ext cx="718457" cy="718457"/>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Ellipse 11"/>
            <p:cNvSpPr>
              <a:spLocks noChangeAspect="1"/>
            </p:cNvSpPr>
            <p:nvPr/>
          </p:nvSpPr>
          <p:spPr>
            <a:xfrm>
              <a:off x="8975228" y="4508228"/>
              <a:ext cx="2160000" cy="2160000"/>
            </a:xfrm>
            <a:prstGeom prst="ellipse">
              <a:avLst/>
            </a:prstGeom>
            <a:solidFill>
              <a:schemeClr val="accent1">
                <a:alpha val="5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4" name="Image 3" descr="\documentclass{article}&#10;\usepackage{amsmath}&#10;\pagestyle{empty}&#10;\begin{document}&#10;&#10;&#10;\begin{equation*}&#10;T(R_e) =  T_\infty + \frac{Q R_i^3}{3h R_e^2} = 308.3K\end{equation*}&#10;&#10;\end{document}" title="IguanaTex Bitmap Display"/>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4430347" y="1947505"/>
            <a:ext cx="3117258" cy="556800"/>
          </a:xfrm>
          <a:prstGeom prst="rect">
            <a:avLst/>
          </a:prstGeom>
        </p:spPr>
      </p:pic>
      <p:pic>
        <p:nvPicPr>
          <p:cNvPr id="5" name="Image 4" descr="\documentclass{article}&#10;\usepackage{amsmath}&#10;\pagestyle{empty}&#10;\begin{document}&#10;&#10;sphère et couronne 3D&#10;&#10;&#10;\end{document}" title="IguanaTex Bitmap Display"/>
          <p:cNvPicPr>
            <a:picLocks noChangeAspect="1"/>
          </p:cNvPicPr>
          <p:nvPr>
            <p:custDataLst>
              <p:tags r:id="rId3"/>
            </p:custDataLst>
          </p:nvPr>
        </p:nvPicPr>
        <p:blipFill>
          <a:blip r:embed="rId8" cstate="print">
            <a:extLst>
              <a:ext uri="{28A0092B-C50C-407E-A947-70E740481C1C}">
                <a14:useLocalDpi xmlns:a14="http://schemas.microsoft.com/office/drawing/2010/main" val="0"/>
              </a:ext>
            </a:extLst>
          </a:blip>
          <a:stretch>
            <a:fillRect/>
          </a:stretch>
        </p:blipFill>
        <p:spPr>
          <a:xfrm>
            <a:off x="8872714" y="5176945"/>
            <a:ext cx="2218971" cy="202971"/>
          </a:xfrm>
          <a:prstGeom prst="rect">
            <a:avLst/>
          </a:prstGeom>
        </p:spPr>
      </p:pic>
      <p:sp>
        <p:nvSpPr>
          <p:cNvPr id="13" name="ZoneTexte 12"/>
          <p:cNvSpPr txBox="1"/>
          <p:nvPr/>
        </p:nvSpPr>
        <p:spPr>
          <a:xfrm>
            <a:off x="10778215" y="0"/>
            <a:ext cx="1413785" cy="369332"/>
          </a:xfrm>
          <a:prstGeom prst="rect">
            <a:avLst/>
          </a:prstGeom>
          <a:solidFill>
            <a:srgbClr val="FFFF00"/>
          </a:solidFill>
        </p:spPr>
        <p:txBody>
          <a:bodyPr wrap="none" rtlCol="0">
            <a:spAutoFit/>
          </a:bodyPr>
          <a:lstStyle/>
          <a:p>
            <a:r>
              <a:rPr lang="fr-FR" dirty="0" smtClean="0"/>
              <a:t>CORRECTION</a:t>
            </a:r>
            <a:endParaRPr lang="fr-FR" dirty="0"/>
          </a:p>
        </p:txBody>
      </p:sp>
    </p:spTree>
    <p:extLst>
      <p:ext uri="{BB962C8B-B14F-4D97-AF65-F5344CB8AC3E}">
        <p14:creationId xmlns:p14="http://schemas.microsoft.com/office/powerpoint/2010/main" val="77631047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documentclass{article}&#10;\usepackage{amsmath, amssymb}&#10;\usepackage{xcolor}&#10;\usepackage{enumitem}&#10;\usepackage[paperwidth=25cm]{geometry}&#10;\pagestyle{empty}&#10;\begin{document}&#10;&#10;\subsection*{Exercice : solution analytique de l'équation de la chaleur sur un carré avec conditions aux limites mixtes}&#10;&#10;Soit un domaine carré $\Omega = [0,L] \times [0,L]$ de côté $L$. Nous cherchons à résoudre l'équation de la chaleur sans source en régime permanent :&#10;\begin{equation*}&#10;\Delta T = \frac{\partial^2 T}{\partial x^2} + \frac{\partial^2 T}{\partial y^2} = 0 \quad \text{dans } \Omega&#10;\end{equation*}&#10;avec les conditions aux limites suivantes :&#10;&#10;\begin{itemize}[itemsep=0pt, topsep=0pt, parsep=0pt, partopsep=0pt]&#10;\item \textbf{Condition de Dirichlet} sur le bord inférieur ($y = 0$) :&#10;$&#10;T(x,0) = T_0 \quad \text{pour } 0 \leq x \leq L&#10;$&#10;&#10;\item \textbf{Conditions de Robin} sur les trois autres côtés :&#10;\begin{align}&#10;\text{Côté droit } (x = L): \quad &amp;-k\frac{\partial T}{\partial x}\bigg|_{x=L} = h\; (T(L,y) - T_a) \\&#10;\text{Côté supérieur } (y = L): \quad &amp;-k\frac{\partial T}{\partial y}\bigg|_{y=L} = h\; (T(x,L) - T_a) \\&#10;\text{Côté gauche } (x = 0): \quad &amp;+k\frac{\partial T}{\partial x}\bigg|_{x=0} = h\;(T(0,y) - T_a)&#10;\end{align}&#10;\end{itemize}&#10;où :&#10;\begin{itemize}[itemsep=0pt, topsep=0pt, parsep=0pt, partopsep=0pt]&#10;\item $k$ est la conductivité thermique du matériau&#10;\item $h$ est le coefficient de transfert convectif&#10;\item $T_a$ est la température du fluide ambiant&#10;\item $T_0$ est la température imposée sur le bord inférieur&#10;\item $L$ est la dimension du côté du carré&#10;\end{itemize}&#10;\end{document}&#10;"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74602" y="101686"/>
            <a:ext cx="11322509" cy="6588334"/>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24</a:t>
            </a:fld>
            <a:endParaRPr lang="fr-FR"/>
          </a:p>
        </p:txBody>
      </p:sp>
      <p:grpSp>
        <p:nvGrpSpPr>
          <p:cNvPr id="22" name="Groupe 21"/>
          <p:cNvGrpSpPr/>
          <p:nvPr/>
        </p:nvGrpSpPr>
        <p:grpSpPr>
          <a:xfrm>
            <a:off x="9711310" y="2841900"/>
            <a:ext cx="2297398" cy="2409143"/>
            <a:chOff x="9711310" y="2841900"/>
            <a:chExt cx="2297398" cy="2409143"/>
          </a:xfrm>
        </p:grpSpPr>
        <p:grpSp>
          <p:nvGrpSpPr>
            <p:cNvPr id="18" name="Groupe 17"/>
            <p:cNvGrpSpPr/>
            <p:nvPr/>
          </p:nvGrpSpPr>
          <p:grpSpPr>
            <a:xfrm>
              <a:off x="10046828" y="3026566"/>
              <a:ext cx="1851950" cy="1834659"/>
              <a:chOff x="10359342" y="3300792"/>
              <a:chExt cx="1469985" cy="1456260"/>
            </a:xfrm>
          </p:grpSpPr>
          <p:sp>
            <p:nvSpPr>
              <p:cNvPr id="15" name="Rectangle 14"/>
              <p:cNvSpPr/>
              <p:nvPr/>
            </p:nvSpPr>
            <p:spPr>
              <a:xfrm>
                <a:off x="10380711" y="3300792"/>
                <a:ext cx="1440000" cy="1440000"/>
              </a:xfrm>
              <a:prstGeom prst="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p:nvPr/>
            </p:nvCxnSpPr>
            <p:spPr>
              <a:xfrm>
                <a:off x="10359342" y="4757052"/>
                <a:ext cx="146998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ZoneTexte 18"/>
            <p:cNvSpPr txBox="1"/>
            <p:nvPr/>
          </p:nvSpPr>
          <p:spPr>
            <a:xfrm>
              <a:off x="9969367" y="4881711"/>
              <a:ext cx="2039341" cy="369332"/>
            </a:xfrm>
            <a:prstGeom prst="rect">
              <a:avLst/>
            </a:prstGeom>
            <a:noFill/>
          </p:spPr>
          <p:txBody>
            <a:bodyPr wrap="none" rtlCol="0">
              <a:spAutoFit/>
            </a:bodyPr>
            <a:lstStyle/>
            <a:p>
              <a:r>
                <a:rPr lang="fr-FR" dirty="0" smtClean="0"/>
                <a:t>0                               L</a:t>
              </a:r>
              <a:endParaRPr lang="fr-FR" dirty="0"/>
            </a:p>
          </p:txBody>
        </p:sp>
        <p:sp>
          <p:nvSpPr>
            <p:cNvPr id="20" name="ZoneTexte 19"/>
            <p:cNvSpPr txBox="1"/>
            <p:nvPr/>
          </p:nvSpPr>
          <p:spPr>
            <a:xfrm>
              <a:off x="9736780" y="2841900"/>
              <a:ext cx="282450" cy="369332"/>
            </a:xfrm>
            <a:prstGeom prst="rect">
              <a:avLst/>
            </a:prstGeom>
            <a:noFill/>
          </p:spPr>
          <p:txBody>
            <a:bodyPr wrap="none" rtlCol="0">
              <a:spAutoFit/>
            </a:bodyPr>
            <a:lstStyle/>
            <a:p>
              <a:r>
                <a:rPr lang="fr-FR" dirty="0" smtClean="0"/>
                <a:t>L</a:t>
              </a:r>
              <a:endParaRPr lang="fr-FR" dirty="0"/>
            </a:p>
          </p:txBody>
        </p:sp>
        <p:sp>
          <p:nvSpPr>
            <p:cNvPr id="21" name="ZoneTexte 20"/>
            <p:cNvSpPr txBox="1"/>
            <p:nvPr/>
          </p:nvSpPr>
          <p:spPr>
            <a:xfrm>
              <a:off x="9711310" y="4656074"/>
              <a:ext cx="301686" cy="369332"/>
            </a:xfrm>
            <a:prstGeom prst="rect">
              <a:avLst/>
            </a:prstGeom>
            <a:noFill/>
          </p:spPr>
          <p:txBody>
            <a:bodyPr wrap="none" rtlCol="0">
              <a:spAutoFit/>
            </a:bodyPr>
            <a:lstStyle/>
            <a:p>
              <a:r>
                <a:rPr lang="fr-FR" dirty="0" smtClean="0"/>
                <a:t>0</a:t>
              </a:r>
              <a:endParaRPr lang="fr-FR" dirty="0"/>
            </a:p>
          </p:txBody>
        </p:sp>
      </p:grpSp>
    </p:spTree>
    <p:extLst>
      <p:ext uri="{BB962C8B-B14F-4D97-AF65-F5344CB8AC3E}">
        <p14:creationId xmlns:p14="http://schemas.microsoft.com/office/powerpoint/2010/main" val="10639899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descr="\documentclass{article}&#10;\usepackage{amsmath,amssymb,amsthm}&#10;\usepackage{xcolor}&#10;\usepackage{enumitem}&#10;\usepackage[paperwidth=25cm]{geometry}&#10;\pagestyle{empty}&#10;\begin{document}&#10;&#10;\subsection*{Adimensionnalisation}&#10;&#10;Pour traiter la géométrie carrée, introduisons les variables adimensionnelles suivantes :&#10;\begin{align}&#10;u &amp;= \frac{x}{L}, \quad v = \frac{y}{L} \\&#10;\theta &amp;= \frac{T - T_a}{T_0 - T_a} \\&#10;Bi &amp;= \frac{hL}{k} \quad \text{(nombre de Biot)}&#10;\end{align}&#10;&#10;L'équation de la chaleur sans source devient :&#10;\begin{equation}&#10;\frac{\partial^2 \theta}{\partial u^2} + \frac{\partial^2 \theta}{\partial v^2} = 0&#10;\end{equation}&#10;avec les conditions aux limites adimensionnelles :&#10;\begin{align}&#10;\theta(u,0) &amp;= 1 \quad \text{pour } 0 \leq u \leq 1 \\&#10;\frac{\partial \theta}{\partial u}\bigg|_{u=1} + Bi \cdot \theta(1,v) &amp;= 0 \quad \text{pour } 0 \leq v \leq 1 \\&#10;\frac{\partial \theta}{\partial v}\bigg|_{v=1} + Bi \cdot \theta(u,1) &amp;= 0 \quad \text{pour } 0 \leq u \leq 1 \\&#10;\frac{\partial \theta}{\partial u}\bigg|_{u=0} - Bi \cdot \theta(0,v) &amp;= 0 \quad \text{pour } 0 \leq v \leq 1&#10;\end{align}&#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59652" y="110479"/>
            <a:ext cx="11306048" cy="6603420"/>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25</a:t>
            </a:fld>
            <a:endParaRPr lang="fr-FR"/>
          </a:p>
        </p:txBody>
      </p:sp>
      <p:grpSp>
        <p:nvGrpSpPr>
          <p:cNvPr id="4" name="Groupe 3"/>
          <p:cNvGrpSpPr/>
          <p:nvPr/>
        </p:nvGrpSpPr>
        <p:grpSpPr>
          <a:xfrm>
            <a:off x="8832079" y="647638"/>
            <a:ext cx="2483108" cy="2581380"/>
            <a:chOff x="9649764" y="647638"/>
            <a:chExt cx="2483108" cy="2581380"/>
          </a:xfrm>
        </p:grpSpPr>
        <p:grpSp>
          <p:nvGrpSpPr>
            <p:cNvPr id="22" name="Groupe 21"/>
            <p:cNvGrpSpPr/>
            <p:nvPr/>
          </p:nvGrpSpPr>
          <p:grpSpPr>
            <a:xfrm>
              <a:off x="9649764" y="819875"/>
              <a:ext cx="2422432" cy="2409143"/>
              <a:chOff x="9711310" y="2841900"/>
              <a:chExt cx="2422432" cy="2409143"/>
            </a:xfrm>
          </p:grpSpPr>
          <p:grpSp>
            <p:nvGrpSpPr>
              <p:cNvPr id="18" name="Groupe 17"/>
              <p:cNvGrpSpPr/>
              <p:nvPr/>
            </p:nvGrpSpPr>
            <p:grpSpPr>
              <a:xfrm>
                <a:off x="10046828" y="3026566"/>
                <a:ext cx="1851950" cy="1834659"/>
                <a:chOff x="10359342" y="3300792"/>
                <a:chExt cx="1469985" cy="1456260"/>
              </a:xfrm>
            </p:grpSpPr>
            <p:sp>
              <p:nvSpPr>
                <p:cNvPr id="15" name="Rectangle 14"/>
                <p:cNvSpPr/>
                <p:nvPr/>
              </p:nvSpPr>
              <p:spPr>
                <a:xfrm>
                  <a:off x="10380711" y="3300792"/>
                  <a:ext cx="1440000" cy="1440000"/>
                </a:xfrm>
                <a:prstGeom prst="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p:nvPr/>
              </p:nvCxnSpPr>
              <p:spPr>
                <a:xfrm>
                  <a:off x="10359342" y="4757052"/>
                  <a:ext cx="146998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ZoneTexte 18"/>
              <p:cNvSpPr txBox="1"/>
              <p:nvPr/>
            </p:nvSpPr>
            <p:spPr>
              <a:xfrm>
                <a:off x="9969367" y="4881711"/>
                <a:ext cx="2164375" cy="369332"/>
              </a:xfrm>
              <a:prstGeom prst="rect">
                <a:avLst/>
              </a:prstGeom>
              <a:noFill/>
            </p:spPr>
            <p:txBody>
              <a:bodyPr wrap="none" rtlCol="0">
                <a:spAutoFit/>
              </a:bodyPr>
              <a:lstStyle/>
              <a:p>
                <a:r>
                  <a:rPr lang="fr-FR" dirty="0" smtClean="0"/>
                  <a:t>0                               1 </a:t>
                </a:r>
                <a:endParaRPr lang="fr-FR" dirty="0"/>
              </a:p>
            </p:txBody>
          </p:sp>
          <p:sp>
            <p:nvSpPr>
              <p:cNvPr id="20" name="ZoneTexte 19"/>
              <p:cNvSpPr txBox="1"/>
              <p:nvPr/>
            </p:nvSpPr>
            <p:spPr>
              <a:xfrm>
                <a:off x="9736780" y="2841900"/>
                <a:ext cx="301686" cy="369332"/>
              </a:xfrm>
              <a:prstGeom prst="rect">
                <a:avLst/>
              </a:prstGeom>
              <a:noFill/>
            </p:spPr>
            <p:txBody>
              <a:bodyPr wrap="none" rtlCol="0">
                <a:spAutoFit/>
              </a:bodyPr>
              <a:lstStyle/>
              <a:p>
                <a:r>
                  <a:rPr lang="fr-FR" dirty="0"/>
                  <a:t>1</a:t>
                </a:r>
              </a:p>
            </p:txBody>
          </p:sp>
          <p:sp>
            <p:nvSpPr>
              <p:cNvPr id="21" name="ZoneTexte 20"/>
              <p:cNvSpPr txBox="1"/>
              <p:nvPr/>
            </p:nvSpPr>
            <p:spPr>
              <a:xfrm>
                <a:off x="9711310" y="4656074"/>
                <a:ext cx="301686" cy="369332"/>
              </a:xfrm>
              <a:prstGeom prst="rect">
                <a:avLst/>
              </a:prstGeom>
              <a:noFill/>
            </p:spPr>
            <p:txBody>
              <a:bodyPr wrap="none" rtlCol="0">
                <a:spAutoFit/>
              </a:bodyPr>
              <a:lstStyle/>
              <a:p>
                <a:r>
                  <a:rPr lang="fr-FR" dirty="0" smtClean="0"/>
                  <a:t>0</a:t>
                </a:r>
                <a:endParaRPr lang="fr-FR" dirty="0"/>
              </a:p>
            </p:txBody>
          </p:sp>
        </p:grpSp>
        <p:sp>
          <p:nvSpPr>
            <p:cNvPr id="3" name="ZoneTexte 2"/>
            <p:cNvSpPr txBox="1"/>
            <p:nvPr/>
          </p:nvSpPr>
          <p:spPr>
            <a:xfrm>
              <a:off x="11826378" y="2634049"/>
              <a:ext cx="306494" cy="369332"/>
            </a:xfrm>
            <a:prstGeom prst="rect">
              <a:avLst/>
            </a:prstGeom>
            <a:noFill/>
          </p:spPr>
          <p:txBody>
            <a:bodyPr wrap="none" rtlCol="0">
              <a:spAutoFit/>
            </a:bodyPr>
            <a:lstStyle/>
            <a:p>
              <a:r>
                <a:rPr lang="fr-FR" dirty="0" smtClean="0"/>
                <a:t>u</a:t>
              </a:r>
              <a:endParaRPr lang="fr-FR" dirty="0"/>
            </a:p>
          </p:txBody>
        </p:sp>
        <p:sp>
          <p:nvSpPr>
            <p:cNvPr id="13" name="ZoneTexte 12"/>
            <p:cNvSpPr txBox="1"/>
            <p:nvPr/>
          </p:nvSpPr>
          <p:spPr>
            <a:xfrm>
              <a:off x="9884795" y="647638"/>
              <a:ext cx="288862" cy="369332"/>
            </a:xfrm>
            <a:prstGeom prst="rect">
              <a:avLst/>
            </a:prstGeom>
            <a:noFill/>
          </p:spPr>
          <p:txBody>
            <a:bodyPr wrap="none" rtlCol="0">
              <a:spAutoFit/>
            </a:bodyPr>
            <a:lstStyle/>
            <a:p>
              <a:r>
                <a:rPr lang="fr-FR" dirty="0" smtClean="0"/>
                <a:t>v</a:t>
              </a:r>
              <a:endParaRPr lang="fr-FR" dirty="0"/>
            </a:p>
          </p:txBody>
        </p:sp>
      </p:grpSp>
    </p:spTree>
    <p:extLst>
      <p:ext uri="{BB962C8B-B14F-4D97-AF65-F5344CB8AC3E}">
        <p14:creationId xmlns:p14="http://schemas.microsoft.com/office/powerpoint/2010/main" val="270639289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documentclass{article}&#10;\usepackage{amsmath,amssymb,amsthm}&#10;\usepackage{xcolor}&#10;\usepackage{enumitem}&#10;\usepackage[paperwidth=25cm]{geometry}&#10;\pagestyle{empty}&#10;\begin{document}&#10;&#10;\subsection*{Séparation des variables}&#10;&#10;Cherchons les solutions de la forme $\theta(u,v) = X(u)Y(v)$ satisfaisant l'équation homogène et les conditions de Robin homogènes. La substitution dans l'équation adimensionnelle de la chaleur  donne :&#10;\begin{equation}&#10;\frac{X''(u)}{X(u)} + \frac{Y''(v)}{Y(v)} = 0&#10;\end{equation}&#10;En posant $\frac{X''}{X} = -\lambda^2$ et $\frac{Y''}{Y} = \lambda^2$, nous obtenons :&#10;\begin{align}&#10;X'' + \lambda^2 X &amp;= 0 \\&#10;Y'' - \lambda^2 Y &amp;= 0&#10;\end{align}&#10;\vspace{-1cm}&#10;\subsubsection*{Problème aux valeurs propres en $X(u)$}&#10;Le problème de Sturm-Liouville pour $X(u)$ est :&#10;\begin{align}&#10;X'' + \lambda^2 X &amp;= 0 \\&#10;X'(0) - Bi \cdot X(0) &amp;= 0 \\&#10;X'(1) + Bi \cdot X(1) &amp;= 0&#10;\end{align}&#10;\noindent&#10;L'équation transcendante pour les valeurs propres est :&#10;$&#10;\boxed{\tan(\lambda) = \frac{2Bi\lambda}{\lambda^2 - Bi^2}}&#10;$.\\&#10;Les valeurs propres $\lambda_n$ sont les racines {\color{red} strictement positives} de cette équation.&#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59653" y="110476"/>
            <a:ext cx="11322503" cy="6333246"/>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26</a:t>
            </a:fld>
            <a:endParaRPr lang="fr-FR"/>
          </a:p>
        </p:txBody>
      </p:sp>
      <p:grpSp>
        <p:nvGrpSpPr>
          <p:cNvPr id="4" name="Groupe 3"/>
          <p:cNvGrpSpPr/>
          <p:nvPr/>
        </p:nvGrpSpPr>
        <p:grpSpPr>
          <a:xfrm>
            <a:off x="8610600" y="1052084"/>
            <a:ext cx="2483108" cy="2581380"/>
            <a:chOff x="9649764" y="647638"/>
            <a:chExt cx="2483108" cy="2581380"/>
          </a:xfrm>
        </p:grpSpPr>
        <p:grpSp>
          <p:nvGrpSpPr>
            <p:cNvPr id="22" name="Groupe 21"/>
            <p:cNvGrpSpPr/>
            <p:nvPr/>
          </p:nvGrpSpPr>
          <p:grpSpPr>
            <a:xfrm>
              <a:off x="9649764" y="819875"/>
              <a:ext cx="2422432" cy="2409143"/>
              <a:chOff x="9711310" y="2841900"/>
              <a:chExt cx="2422432" cy="2409143"/>
            </a:xfrm>
          </p:grpSpPr>
          <p:grpSp>
            <p:nvGrpSpPr>
              <p:cNvPr id="18" name="Groupe 17"/>
              <p:cNvGrpSpPr/>
              <p:nvPr/>
            </p:nvGrpSpPr>
            <p:grpSpPr>
              <a:xfrm>
                <a:off x="10046828" y="3026566"/>
                <a:ext cx="1851950" cy="1834659"/>
                <a:chOff x="10359342" y="3300792"/>
                <a:chExt cx="1469985" cy="1456260"/>
              </a:xfrm>
            </p:grpSpPr>
            <p:sp>
              <p:nvSpPr>
                <p:cNvPr id="15" name="Rectangle 14"/>
                <p:cNvSpPr/>
                <p:nvPr/>
              </p:nvSpPr>
              <p:spPr>
                <a:xfrm>
                  <a:off x="10380711" y="3300792"/>
                  <a:ext cx="1440000" cy="1440000"/>
                </a:xfrm>
                <a:prstGeom prst="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p:nvPr/>
              </p:nvCxnSpPr>
              <p:spPr>
                <a:xfrm>
                  <a:off x="10359342" y="4757052"/>
                  <a:ext cx="146998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ZoneTexte 18"/>
              <p:cNvSpPr txBox="1"/>
              <p:nvPr/>
            </p:nvSpPr>
            <p:spPr>
              <a:xfrm>
                <a:off x="9969367" y="4881711"/>
                <a:ext cx="2164375" cy="369332"/>
              </a:xfrm>
              <a:prstGeom prst="rect">
                <a:avLst/>
              </a:prstGeom>
              <a:noFill/>
            </p:spPr>
            <p:txBody>
              <a:bodyPr wrap="none" rtlCol="0">
                <a:spAutoFit/>
              </a:bodyPr>
              <a:lstStyle/>
              <a:p>
                <a:r>
                  <a:rPr lang="fr-FR" dirty="0" smtClean="0"/>
                  <a:t>0                               1 </a:t>
                </a:r>
                <a:endParaRPr lang="fr-FR" dirty="0"/>
              </a:p>
            </p:txBody>
          </p:sp>
          <p:sp>
            <p:nvSpPr>
              <p:cNvPr id="20" name="ZoneTexte 19"/>
              <p:cNvSpPr txBox="1"/>
              <p:nvPr/>
            </p:nvSpPr>
            <p:spPr>
              <a:xfrm>
                <a:off x="9736780" y="2841900"/>
                <a:ext cx="301686" cy="369332"/>
              </a:xfrm>
              <a:prstGeom prst="rect">
                <a:avLst/>
              </a:prstGeom>
              <a:noFill/>
            </p:spPr>
            <p:txBody>
              <a:bodyPr wrap="none" rtlCol="0">
                <a:spAutoFit/>
              </a:bodyPr>
              <a:lstStyle/>
              <a:p>
                <a:r>
                  <a:rPr lang="fr-FR" dirty="0"/>
                  <a:t>1</a:t>
                </a:r>
              </a:p>
            </p:txBody>
          </p:sp>
          <p:sp>
            <p:nvSpPr>
              <p:cNvPr id="21" name="ZoneTexte 20"/>
              <p:cNvSpPr txBox="1"/>
              <p:nvPr/>
            </p:nvSpPr>
            <p:spPr>
              <a:xfrm>
                <a:off x="9711310" y="4656074"/>
                <a:ext cx="301686" cy="369332"/>
              </a:xfrm>
              <a:prstGeom prst="rect">
                <a:avLst/>
              </a:prstGeom>
              <a:noFill/>
            </p:spPr>
            <p:txBody>
              <a:bodyPr wrap="none" rtlCol="0">
                <a:spAutoFit/>
              </a:bodyPr>
              <a:lstStyle/>
              <a:p>
                <a:r>
                  <a:rPr lang="fr-FR" dirty="0" smtClean="0"/>
                  <a:t>0</a:t>
                </a:r>
                <a:endParaRPr lang="fr-FR" dirty="0"/>
              </a:p>
            </p:txBody>
          </p:sp>
        </p:grpSp>
        <p:sp>
          <p:nvSpPr>
            <p:cNvPr id="3" name="ZoneTexte 2"/>
            <p:cNvSpPr txBox="1"/>
            <p:nvPr/>
          </p:nvSpPr>
          <p:spPr>
            <a:xfrm>
              <a:off x="11826378" y="2634049"/>
              <a:ext cx="306494" cy="369332"/>
            </a:xfrm>
            <a:prstGeom prst="rect">
              <a:avLst/>
            </a:prstGeom>
            <a:noFill/>
          </p:spPr>
          <p:txBody>
            <a:bodyPr wrap="none" rtlCol="0">
              <a:spAutoFit/>
            </a:bodyPr>
            <a:lstStyle/>
            <a:p>
              <a:r>
                <a:rPr lang="fr-FR" dirty="0" smtClean="0"/>
                <a:t>u</a:t>
              </a:r>
              <a:endParaRPr lang="fr-FR" dirty="0"/>
            </a:p>
          </p:txBody>
        </p:sp>
        <p:sp>
          <p:nvSpPr>
            <p:cNvPr id="13" name="ZoneTexte 12"/>
            <p:cNvSpPr txBox="1"/>
            <p:nvPr/>
          </p:nvSpPr>
          <p:spPr>
            <a:xfrm>
              <a:off x="9884795" y="647638"/>
              <a:ext cx="288862" cy="369332"/>
            </a:xfrm>
            <a:prstGeom prst="rect">
              <a:avLst/>
            </a:prstGeom>
            <a:noFill/>
          </p:spPr>
          <p:txBody>
            <a:bodyPr wrap="none" rtlCol="0">
              <a:spAutoFit/>
            </a:bodyPr>
            <a:lstStyle/>
            <a:p>
              <a:r>
                <a:rPr lang="fr-FR" dirty="0" smtClean="0"/>
                <a:t>v</a:t>
              </a:r>
              <a:endParaRPr lang="fr-FR" dirty="0"/>
            </a:p>
          </p:txBody>
        </p:sp>
      </p:grpSp>
    </p:spTree>
    <p:extLst>
      <p:ext uri="{BB962C8B-B14F-4D97-AF65-F5344CB8AC3E}">
        <p14:creationId xmlns:p14="http://schemas.microsoft.com/office/powerpoint/2010/main" val="34398654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13DDC6-9977-4A69-882A-1641CFA73689}" type="slidenum">
              <a:rPr lang="fr-FR" smtClean="0"/>
              <a:t>27</a:t>
            </a:fld>
            <a:endParaRPr lang="fr-F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392" y="504124"/>
            <a:ext cx="11843239" cy="5852226"/>
          </a:xfrm>
          <a:prstGeom prst="rect">
            <a:avLst/>
          </a:prstGeom>
        </p:spPr>
      </p:pic>
    </p:spTree>
    <p:extLst>
      <p:ext uri="{BB962C8B-B14F-4D97-AF65-F5344CB8AC3E}">
        <p14:creationId xmlns:p14="http://schemas.microsoft.com/office/powerpoint/2010/main" val="337116969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documentclass{article}&#10;\usepackage{amsmath,amssymb,amsthm}&#10;\usepackage{xcolor}&#10;\usepackage{enumitem}&#10;\usepackage[paperwidth=25cm]{geometry}&#10;\pagestyle{empty}&#10;\begin{document}&#10;&#10;\subsection*{Solutions}&#10;&#10;Pour chaque valeur propre $\lambda_n$, nous avons :&#10;\begin{equation}&#10;X_n(u) = \cos(\lambda_n u) + \frac{Bi}{\lambda_n}\sin(\lambda_n u)&#10;\end{equation}&#10;\noindent&#10;Pour $Y_n(v)$, la solution générale de $Y'' - \lambda_n^2 Y = 0$ est :&#10;\begin{equation}&#10;Y_n(v) = C_n \sinh(\lambda_n v) + D_n \cosh(\lambda_n v)&#10;\end{equation}&#10;\noindent&#10;La condition $Y'(1) + Bi \cdot Y(1) = 0$ donne :&#10;\begin{equation}&#10;\lambda_n C_n \cosh(\lambda_n) + \lambda_n D_n \sinh(\lambda_n) + Bi \left[C_n \sinh(\lambda_n) + D_n \cosh(\lambda_n)\right] = 0&#10;\end{equation}&#10;\noindent&#10;d'où :&#10;\begin{equation}&#10;D_n = -\frac{\lambda_n \cosh(\lambda_n) + Bi \sinh(\lambda_n)}{\lambda_n \sinh(\lambda_n) + Bi \cosh(\lambda_n)} C_n&#10;\end{equation}&#10;\noindent&#10;En normalisant par $C_n = 1$, nous obtenons :&#10;\begin{equation}&#10;Y_n(v) = \sinh(\lambda_n v) - \frac{\lambda_n \cosh(\lambda_n) + Bi \sinh(\lambda_n)}{\lambda_n \sinh(\lambda_n) + Bi \cosh(\lambda_n)} \cosh(\lambda_n v)&#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59652" y="277528"/>
            <a:ext cx="11306041" cy="5555648"/>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28</a:t>
            </a:fld>
            <a:endParaRPr lang="fr-FR"/>
          </a:p>
        </p:txBody>
      </p:sp>
    </p:spTree>
    <p:extLst>
      <p:ext uri="{BB962C8B-B14F-4D97-AF65-F5344CB8AC3E}">
        <p14:creationId xmlns:p14="http://schemas.microsoft.com/office/powerpoint/2010/main" val="14533339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documentclass{article}&#10;\usepackage{amsmath,amssymb,amsthm}&#10;\usepackage{xcolor}&#10;\usepackage{enumitem}&#10;\usepackage[paperwidth=25cm]{geometry}&#10;\pagestyle{empty}&#10;\begin{document}&#10;&#10;\subsection*{Solution générale}&#10;&#10;La solution générale s'écrit comme une série infinie :&#10;\begin{equation}&#10;\boxed{\theta(u,v) = \sum_{n=1}^{\infty} A_n X_n(u) Y_n(v)}&#10;\end{equation}&#10;&#10;Les coefficients $A_n$ sont déterminés par la condition $\theta(u,0) = 1$ :&#10;\begin{equation}&#10;1 = \sum_{n=1}^{\infty} A_n X_n(u) Y_n(0)&#10;\end{equation}&#10;&#10;En utilisant l'orthogonalité des fonctions propres :&#10;\begin{equation}&#10;A_n = \frac{\int_0^1 X_n(u) du}{\int_0^1 X_n^2(u) du \cdot Y_n(0)}&#10;\end{equation}&#10;&#10;avec :&#10;\begin{equation}&#10;Y_n(0) = -\frac{\lambda_n \cosh(\lambda_n) + Bi \sinh(\lambda_n)}{\lambda_n \sinh(\lambda_n) + Bi \cosh(\lambda_n)}&#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12406" y="463000"/>
            <a:ext cx="11306043" cy="5417134"/>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29</a:t>
            </a:fld>
            <a:endParaRPr lang="fr-FR"/>
          </a:p>
        </p:txBody>
      </p:sp>
      <p:grpSp>
        <p:nvGrpSpPr>
          <p:cNvPr id="7" name="Groupe 6"/>
          <p:cNvGrpSpPr/>
          <p:nvPr/>
        </p:nvGrpSpPr>
        <p:grpSpPr>
          <a:xfrm>
            <a:off x="8251786" y="463000"/>
            <a:ext cx="2483108" cy="2581380"/>
            <a:chOff x="9649764" y="647638"/>
            <a:chExt cx="2483108" cy="2581380"/>
          </a:xfrm>
        </p:grpSpPr>
        <p:grpSp>
          <p:nvGrpSpPr>
            <p:cNvPr id="9" name="Groupe 8"/>
            <p:cNvGrpSpPr/>
            <p:nvPr/>
          </p:nvGrpSpPr>
          <p:grpSpPr>
            <a:xfrm>
              <a:off x="9649764" y="819875"/>
              <a:ext cx="2422432" cy="2409143"/>
              <a:chOff x="9711310" y="2841900"/>
              <a:chExt cx="2422432" cy="2409143"/>
            </a:xfrm>
          </p:grpSpPr>
          <p:grpSp>
            <p:nvGrpSpPr>
              <p:cNvPr id="12" name="Groupe 11"/>
              <p:cNvGrpSpPr/>
              <p:nvPr/>
            </p:nvGrpSpPr>
            <p:grpSpPr>
              <a:xfrm>
                <a:off x="10046828" y="3026566"/>
                <a:ext cx="1851950" cy="1834659"/>
                <a:chOff x="10359342" y="3300792"/>
                <a:chExt cx="1469985" cy="1456260"/>
              </a:xfrm>
            </p:grpSpPr>
            <p:sp>
              <p:nvSpPr>
                <p:cNvPr id="16" name="Rectangle 15"/>
                <p:cNvSpPr/>
                <p:nvPr/>
              </p:nvSpPr>
              <p:spPr>
                <a:xfrm>
                  <a:off x="10380711" y="3300792"/>
                  <a:ext cx="1440000" cy="1440000"/>
                </a:xfrm>
                <a:prstGeom prst="rect">
                  <a:avLst/>
                </a:prstGeom>
                <a:solidFill>
                  <a:schemeClr val="bg1"/>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7" name="Connecteur droit 16"/>
                <p:cNvCxnSpPr/>
                <p:nvPr/>
              </p:nvCxnSpPr>
              <p:spPr>
                <a:xfrm>
                  <a:off x="10359342" y="4757052"/>
                  <a:ext cx="146998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 name="ZoneTexte 12"/>
              <p:cNvSpPr txBox="1"/>
              <p:nvPr/>
            </p:nvSpPr>
            <p:spPr>
              <a:xfrm>
                <a:off x="9969367" y="4881711"/>
                <a:ext cx="2164375" cy="369332"/>
              </a:xfrm>
              <a:prstGeom prst="rect">
                <a:avLst/>
              </a:prstGeom>
              <a:noFill/>
            </p:spPr>
            <p:txBody>
              <a:bodyPr wrap="none" rtlCol="0">
                <a:spAutoFit/>
              </a:bodyPr>
              <a:lstStyle/>
              <a:p>
                <a:r>
                  <a:rPr lang="fr-FR" dirty="0" smtClean="0"/>
                  <a:t>0                               1 </a:t>
                </a:r>
                <a:endParaRPr lang="fr-FR" dirty="0"/>
              </a:p>
            </p:txBody>
          </p:sp>
          <p:sp>
            <p:nvSpPr>
              <p:cNvPr id="14" name="ZoneTexte 13"/>
              <p:cNvSpPr txBox="1"/>
              <p:nvPr/>
            </p:nvSpPr>
            <p:spPr>
              <a:xfrm>
                <a:off x="9736780" y="2841900"/>
                <a:ext cx="301686" cy="369332"/>
              </a:xfrm>
              <a:prstGeom prst="rect">
                <a:avLst/>
              </a:prstGeom>
              <a:noFill/>
            </p:spPr>
            <p:txBody>
              <a:bodyPr wrap="none" rtlCol="0">
                <a:spAutoFit/>
              </a:bodyPr>
              <a:lstStyle/>
              <a:p>
                <a:r>
                  <a:rPr lang="fr-FR" dirty="0"/>
                  <a:t>1</a:t>
                </a:r>
              </a:p>
            </p:txBody>
          </p:sp>
          <p:sp>
            <p:nvSpPr>
              <p:cNvPr id="15" name="ZoneTexte 14"/>
              <p:cNvSpPr txBox="1"/>
              <p:nvPr/>
            </p:nvSpPr>
            <p:spPr>
              <a:xfrm>
                <a:off x="9711310" y="4656074"/>
                <a:ext cx="301686" cy="369332"/>
              </a:xfrm>
              <a:prstGeom prst="rect">
                <a:avLst/>
              </a:prstGeom>
              <a:noFill/>
            </p:spPr>
            <p:txBody>
              <a:bodyPr wrap="none" rtlCol="0">
                <a:spAutoFit/>
              </a:bodyPr>
              <a:lstStyle/>
              <a:p>
                <a:r>
                  <a:rPr lang="fr-FR" dirty="0" smtClean="0"/>
                  <a:t>0</a:t>
                </a:r>
                <a:endParaRPr lang="fr-FR" dirty="0"/>
              </a:p>
            </p:txBody>
          </p:sp>
        </p:grpSp>
        <p:sp>
          <p:nvSpPr>
            <p:cNvPr id="10" name="ZoneTexte 9"/>
            <p:cNvSpPr txBox="1"/>
            <p:nvPr/>
          </p:nvSpPr>
          <p:spPr>
            <a:xfrm>
              <a:off x="11826378" y="2634049"/>
              <a:ext cx="306494" cy="369332"/>
            </a:xfrm>
            <a:prstGeom prst="rect">
              <a:avLst/>
            </a:prstGeom>
            <a:noFill/>
          </p:spPr>
          <p:txBody>
            <a:bodyPr wrap="none" rtlCol="0">
              <a:spAutoFit/>
            </a:bodyPr>
            <a:lstStyle/>
            <a:p>
              <a:r>
                <a:rPr lang="fr-FR" dirty="0" smtClean="0"/>
                <a:t>u</a:t>
              </a:r>
              <a:endParaRPr lang="fr-FR" dirty="0"/>
            </a:p>
          </p:txBody>
        </p:sp>
        <p:sp>
          <p:nvSpPr>
            <p:cNvPr id="11" name="ZoneTexte 10"/>
            <p:cNvSpPr txBox="1"/>
            <p:nvPr/>
          </p:nvSpPr>
          <p:spPr>
            <a:xfrm>
              <a:off x="9884795" y="647638"/>
              <a:ext cx="288862" cy="369332"/>
            </a:xfrm>
            <a:prstGeom prst="rect">
              <a:avLst/>
            </a:prstGeom>
            <a:noFill/>
          </p:spPr>
          <p:txBody>
            <a:bodyPr wrap="none" rtlCol="0">
              <a:spAutoFit/>
            </a:bodyPr>
            <a:lstStyle/>
            <a:p>
              <a:r>
                <a:rPr lang="fr-FR" dirty="0" smtClean="0"/>
                <a:t>v</a:t>
              </a:r>
              <a:endParaRPr lang="fr-FR" dirty="0"/>
            </a:p>
          </p:txBody>
        </p:sp>
      </p:grpSp>
    </p:spTree>
    <p:extLst>
      <p:ext uri="{BB962C8B-B14F-4D97-AF65-F5344CB8AC3E}">
        <p14:creationId xmlns:p14="http://schemas.microsoft.com/office/powerpoint/2010/main" val="229461484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descr="\documentclass{article}&#10;\usepackage{amsmath,amssymb,amsthm}&#10;\usepackage{xcolor}&#10;\usepackage{enumitem}&#10;\usepackage[paperwidth=25cm]{geometry}&#10;\pagestyle{empty}&#10;\begin{document}&#10;&#10;\subsection*{Intégrale de $X_n(u)$}&#10;\begin{equation}&#10;\int_0^1 X_n(u) du = \int_0^1 \left[\cos(\lambda_n u) + \frac{Bi}{\lambda_n}\sin(\lambda_n u)\right] du = \frac{\sin(\lambda_n)}{\lambda_n} + \frac{Bi}{\lambda_n^2}[1-\cos(\lambda_n)]&#10;\end{equation}&#10;&#10;\subsection*{Intégrale de $X_n^2(u)$}&#10;$$&#10;\int_0^1 X_n^2(u) du = \frac{1}{2}\left[1 + \frac{Bi^2}{\lambda_n^2}\right] + \frac{\sin(2\lambda_n)}{4\lambda_n}\left[1 - \frac{Bi^2}{\lambda_n^2}\right] + \frac{Bi}{\lambda_n} \cdot \frac{\sin^2(\lambda_n)}{\lambda_n}&#10;$$&#10;&#10;\subsection*{Solution complète}&#10;&#10;La température adimensionnelle est donnée par :&#10;\begin{equation}&#10;\boxed{\theta(u,v) = \sum_{n=1}^{\infty} A_n X_n(u) Y_n(v)}&#10;\end{equation}&#10;où $n$ est le numéro de la racine strictement positive $\lambda_n$ de l'équation transcendante.&#10;&#10;\noindent&#10;La température dimensionnelle correspondante est :&#10;\begin{equation}&#10;\boxed{T(x,y) = T_a + (T_0 - T_a) \sum_{n=1}^{\infty} A_n X_n\left(\frac{x}{L}\right) Y_n\left(\frac{y}{L}\right)}&#10;\end{equation}&#10;&#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459652" y="251153"/>
            <a:ext cx="11307410" cy="6244106"/>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30</a:t>
            </a:fld>
            <a:endParaRPr lang="fr-FR"/>
          </a:p>
        </p:txBody>
      </p:sp>
    </p:spTree>
    <p:extLst>
      <p:ext uri="{BB962C8B-B14F-4D97-AF65-F5344CB8AC3E}">
        <p14:creationId xmlns:p14="http://schemas.microsoft.com/office/powerpoint/2010/main" val="40853743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p:cNvSpPr>
            <a:spLocks noGrp="1"/>
          </p:cNvSpPr>
          <p:nvPr>
            <p:ph type="sldNum" sz="quarter" idx="12"/>
          </p:nvPr>
        </p:nvSpPr>
        <p:spPr/>
        <p:txBody>
          <a:bodyPr/>
          <a:lstStyle/>
          <a:p>
            <a:fld id="{CB13DDC6-9977-4A69-882A-1641CFA73689}" type="slidenum">
              <a:rPr lang="fr-FR" smtClean="0"/>
              <a:t>31</a:t>
            </a:fld>
            <a:endParaRPr lang="fr-FR"/>
          </a:p>
        </p:txBody>
      </p:sp>
      <p:pic>
        <p:nvPicPr>
          <p:cNvPr id="3" name="Image 2"/>
          <p:cNvPicPr>
            <a:picLocks noChangeAspect="1"/>
          </p:cNvPicPr>
          <p:nvPr/>
        </p:nvPicPr>
        <p:blipFill>
          <a:blip r:embed="rId3"/>
          <a:stretch>
            <a:fillRect/>
          </a:stretch>
        </p:blipFill>
        <p:spPr>
          <a:xfrm>
            <a:off x="4281755" y="228672"/>
            <a:ext cx="7910245" cy="6492803"/>
          </a:xfrm>
          <a:prstGeom prst="rect">
            <a:avLst/>
          </a:prstGeom>
        </p:spPr>
      </p:pic>
      <p:sp>
        <p:nvSpPr>
          <p:cNvPr id="4" name="ZoneTexte 3"/>
          <p:cNvSpPr txBox="1"/>
          <p:nvPr/>
        </p:nvSpPr>
        <p:spPr>
          <a:xfrm>
            <a:off x="263770" y="1266092"/>
            <a:ext cx="4570482" cy="2862322"/>
          </a:xfrm>
          <a:prstGeom prst="rect">
            <a:avLst/>
          </a:prstGeom>
          <a:noFill/>
        </p:spPr>
        <p:txBody>
          <a:bodyPr wrap="none" rtlCol="0">
            <a:spAutoFit/>
          </a:bodyPr>
          <a:lstStyle/>
          <a:p>
            <a:r>
              <a:rPr lang="fr-FR" dirty="0"/>
              <a:t>PARAMÈTRES DU PROBLÈME</a:t>
            </a:r>
          </a:p>
          <a:p>
            <a:r>
              <a:rPr lang="fr-FR" dirty="0" smtClean="0"/>
              <a:t>======================================</a:t>
            </a:r>
          </a:p>
          <a:p>
            <a:r>
              <a:rPr lang="fr-FR" dirty="0" smtClean="0"/>
              <a:t>Côté </a:t>
            </a:r>
            <a:r>
              <a:rPr lang="fr-FR" dirty="0"/>
              <a:t>du carré (L): 0.10 m</a:t>
            </a:r>
          </a:p>
          <a:p>
            <a:r>
              <a:rPr lang="fr-FR" dirty="0"/>
              <a:t>Conductivité thermique (k): 10.00 W/</a:t>
            </a:r>
            <a:r>
              <a:rPr lang="fr-FR" dirty="0" err="1"/>
              <a:t>m·K</a:t>
            </a:r>
            <a:endParaRPr lang="fr-FR" dirty="0"/>
          </a:p>
          <a:p>
            <a:r>
              <a:rPr lang="fr-FR" dirty="0"/>
              <a:t>Coefficient convectif (h): 1000.00 W/m²·K</a:t>
            </a:r>
          </a:p>
          <a:p>
            <a:r>
              <a:rPr lang="fr-FR" dirty="0"/>
              <a:t>Température imposée (T0): 100.0 °C</a:t>
            </a:r>
          </a:p>
          <a:p>
            <a:r>
              <a:rPr lang="fr-FR" dirty="0"/>
              <a:t>Température ambiante (Ta): 20.0 °C</a:t>
            </a:r>
          </a:p>
          <a:p>
            <a:r>
              <a:rPr lang="fr-FR" dirty="0"/>
              <a:t>Nombre de Biot (Bi): 10.000</a:t>
            </a:r>
          </a:p>
          <a:p>
            <a:r>
              <a:rPr lang="fr-FR" dirty="0"/>
              <a:t>Nombre de termes: 30</a:t>
            </a:r>
          </a:p>
          <a:p>
            <a:r>
              <a:rPr lang="fr-FR" dirty="0" smtClean="0"/>
              <a:t>======================================</a:t>
            </a:r>
            <a:endParaRPr lang="fr-FR" dirty="0"/>
          </a:p>
        </p:txBody>
      </p:sp>
      <p:pic>
        <p:nvPicPr>
          <p:cNvPr id="5" name="Image 4" descr="\documentclass{article}&#10;\usepackage{amsmath}&#10;\pagestyle{empty}&#10;\begin{document}&#10;&#10;\subsection*{Isothermes}&#10;&#10;&#10;\end{document}" title="IguanaTex Bitmap Display"/>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85885" y="228672"/>
            <a:ext cx="1604571" cy="211810"/>
          </a:xfrm>
          <a:prstGeom prst="rect">
            <a:avLst/>
          </a:prstGeom>
        </p:spPr>
      </p:pic>
    </p:spTree>
    <p:extLst>
      <p:ext uri="{BB962C8B-B14F-4D97-AF65-F5344CB8AC3E}">
        <p14:creationId xmlns:p14="http://schemas.microsoft.com/office/powerpoint/2010/main" val="58991083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 5" descr="\documentclass{article}&#10;\usepackage{amsmath,amssymb,amsthm}&#10;\usepackage{xcolor}&#10;\usepackage{enumitem}&#10;\usepackage[paperwidth=25cm]{geometry}&#10;\pagestyle{empty}&#10;\begin{document}&#10;&#10;\subsection*{Avantages de cette approche}&#10;&#10;\begin{itemize}[itemsep=0pt, topsep=2pt, parsep=0pt, partopsep=0pt]&#10;\item Méthode de séparation des variables : cadre théorique solide pour résoudre les équations aux dérivées partielles linéaires. &#10;\item Solution exacte malgré la nécessité de résoudre numériquement l'équation transcendantale.&#10;\item La combinaison de conditions de Dirichlet et de Robin permet de modéliser des situations physiques réalistes, notamment les échanges convectifs aux frontières.&#10;\item Chaque terme de la série correspond à un mode propre du système, facilitant l'interprétation physique des phénomènes de diffusion.&#10;\end{itemize}&#10;&#10;\subsection*{ Inconvénients et limitations}&#10;&#10;\begin{itemize}[itemsep=0pt, topsep=2pt, parsep=0pt, partopsep=0pt]&#10;\item La résolution de l'équation transcendantale nécessite des méthodes numériques itératives, souvent coûteuses en temps de calcul, particulièrement pour déterminer un grand nombre de valeurs propres.&#10;\item Convergence lente de la série, nécessite de nombreux termes pour obtenir une précision satisfaisante.&#10;\item La méthode de séparation des variables n'est applicable qu'à des domaines de géométrie simple (rectangulaires, cylindriques, sphériques). Elle ne s'étend pas facilement à des géométries complexes ou irrégulières.&#10;\item Conditions aux limites restrictives : Bien que les conditions mixtes soient plus flexibles que les conditions homogènes, la méthode reste limitée aux conditions aux limites linéaires et homogènes.&#10;\item Difficulté d'extension : l'adaptation à des problèmes non linéaires ou avec des coefficients variables demeure problématique avec cette approche classique.&#10;\end{itemize}&#10;\end{document}" title="IguanaTex Bitmap Display"/>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389315" y="346975"/>
            <a:ext cx="11318378" cy="5536448"/>
          </a:xfrm>
          <a:prstGeom prst="rect">
            <a:avLst/>
          </a:prstGeom>
        </p:spPr>
      </p:pic>
      <p:sp>
        <p:nvSpPr>
          <p:cNvPr id="5" name="Espace réservé du numéro de diapositive 4"/>
          <p:cNvSpPr>
            <a:spLocks noGrp="1"/>
          </p:cNvSpPr>
          <p:nvPr>
            <p:ph type="sldNum" sz="quarter" idx="12"/>
          </p:nvPr>
        </p:nvSpPr>
        <p:spPr/>
        <p:txBody>
          <a:bodyPr/>
          <a:lstStyle/>
          <a:p>
            <a:fld id="{CB13DDC6-9977-4A69-882A-1641CFA73689}" type="slidenum">
              <a:rPr lang="fr-FR" smtClean="0"/>
              <a:t>32</a:t>
            </a:fld>
            <a:endParaRPr lang="fr-FR"/>
          </a:p>
        </p:txBody>
      </p:sp>
    </p:spTree>
    <p:extLst>
      <p:ext uri="{BB962C8B-B14F-4D97-AF65-F5344CB8AC3E}">
        <p14:creationId xmlns:p14="http://schemas.microsoft.com/office/powerpoint/2010/main" val="760690527"/>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2801.65"/>
  <p:tag name="ORIGINALWIDTH" val="4289.464"/>
  <p:tag name="OUTPUTTYPE" val="PNG"/>
  <p:tag name="IGUANATEXVERSION" val="161"/>
  <p:tag name="LATEXADDIN" val="\documentclass{article}&#10;\usepackage{amsmath}&#10;\usepackage{xcolor}&#10;\pagestyle{empty}&#10;\begin{document}&#10;&#10;Considérons un milieu homogène, dans lequel il n’y a {\color{red} pas de mouvement de masse (advection)}, et où la distribution de température $T(x,y,z)$ est exprimée en coordonnées cartésiennes. &#10;&#10;Le milieu est supposé {\color{red} incompressible}, c’est-à-dire que sa densité peut être considérée comme constante. &#10;&#10;On définit un volume de contrôle infiniment petit (différentiel), dx dy dz. &#10;&#10;En choisissant de formuler la première loi à un instant donné, la deuxième étape consiste à examiner les échanges d’énergie pertinents pour ce volume de contrôle. &#10;&#10;En l’absence de mouvement, il n’y a {\color{red} ni changement d’énergie mécanique ni travail effectué} sur le système. Seules les formes d’énergie thermique doivent être prises en compte. &#10;&#10;Plus précisément, en présence de gradients de température, un transfert de chaleur par conduction se produit à travers chacune des faces du volume de contrôle. &#10;&#10;Les flux de chaleur par conduction perpendiculaires à chaque face, selon les directions $x$, $y$ et $z$, sont respectivement notés $q_x$, $q_y$, $q_z$. Les flux de chaleur aux faces opposées peuvent alors être exprimés par un développement en série de Taylor, en négligeant les termes d’ordre supérieur.&#10;\end{document}"/>
  <p:tag name="IGUANATEXSIZE" val="18"/>
  <p:tag name="IGUANATEXCURSOR" val="1319"/>
  <p:tag name="TRANSPARENCY" val="Vrai"/>
  <p:tag name="FILENAME" val=""/>
  <p:tag name="LATEXENGINEID" val="0"/>
  <p:tag name="TEMPFOLDER" val="c:\temp\"/>
  <p:tag name="LATEXFORMHEIGHT" val="438"/>
  <p:tag name="LATEXFORMWIDTH" val="622.2"/>
  <p:tag name="LATEXFORMWRAP" val="Vrai"/>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677.54"/>
  <p:tag name="ORIGINALWIDTH" val="5697.038"/>
  <p:tag name="OUTPUTTYPE" val="PNG"/>
  <p:tag name="IGUANATEXVERSION" val="161"/>
  <p:tag name="LATEXADDIN" val="\documentclass{article}&#10;\usepackage{amsmath}&#10;\usepackage{xcolor}&#10;\usepackage[paperwidth=23cm]{geometry}&#10;\pagestyle{empty}&#10;\begin{document}&#10;&#10;Dans le milieu, il peut également exister un terme {\color{red} source d’énergie} associé au taux de génération d’énergie thermique. Ce terme est représenté par :&#10;$$&#10;\dot{E}_g = Q\, dx\; dy\; dz&#10;$$&#10;où Q représente le taux de génération d’énergie par unité de volume du milieu (en $W/m^3$).&#10;&#10;De plus, des variations peuvent survenir dans la quantité d’énergie thermique interne stockée par le matériau dans le volume de contrôle. Si le matériau ne subit pas de changement de phase, les effets d’énergie latente ne sont pas pertinents, et le terme de stockage d’énergie se réduit au taux de variation de l’énergie sensible :&#10;$$&#10;\dot{E}_{st} = \rho c_p \frac{\partial T}{\partial t}&#10;$$&#10;&#10;\end{document}"/>
  <p:tag name="IGUANATEXSIZE" val="18"/>
  <p:tag name="IGUANATEXCURSOR" val="103"/>
  <p:tag name="TRANSPARENCY" val="Vrai"/>
  <p:tag name="FILENAME" val=""/>
  <p:tag name="LATEXENGINEID" val="0"/>
  <p:tag name="TEMPFOLDER" val="c:\temp\"/>
  <p:tag name="LATEXFORMHEIGHT" val="365.4"/>
  <p:tag name="LATEXFORMWIDTH" val="607.2"/>
  <p:tag name="LATEXFORMWRAP" val="Vrai"/>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437.1953"/>
  <p:tag name="ORIGINALWIDTH" val="5695.538"/>
  <p:tag name="OUTPUTTYPE" val="PNG"/>
  <p:tag name="IGUANATEXVERSION" val="161"/>
  <p:tag name="LATEXADDIN" val="\documentclass{article}&#10;\usepackage{amsmath}&#10;\usepackage[paperwidth=23cm]{geometry}&#10;\pagestyle{empty}&#10;\begin{document}&#10;&#10;Le terme de génération d’énergie $\dot{E}_g$ est la manifestation d’un processus de conversion d’énergie impliquant, d’une part, l’énergie thermique et, d’autre part, une autre forme d’énergie, telle que l’énergie chimique, électrique ou nucléaire. &#10;&#10;&#10;\end{document}"/>
  <p:tag name="IGUANATEXSIZE" val="18"/>
  <p:tag name="IGUANATEXCURSOR" val="83"/>
  <p:tag name="TRANSPARENCY" val="Vrai"/>
  <p:tag name="FILENAME" val=""/>
  <p:tag name="LATEXENGINEID" val="0"/>
  <p:tag name="TEMPFOLDER" val="c:\temp\"/>
  <p:tag name="LATEXFORMHEIGHT" val="320"/>
  <p:tag name="LATEXFORMWIDTH" val="385"/>
  <p:tag name="LATEXFORMWRAP" val="Vrai"/>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543.6821"/>
  <p:tag name="ORIGINALWIDTH" val="5697.038"/>
  <p:tag name="OUTPUTTYPE" val="PNG"/>
  <p:tag name="IGUANATEXVERSION" val="161"/>
  <p:tag name="LATEXADDIN" val="\documentclass{article}&#10;\usepackage{amsmath}&#10;\usepackage[paperwidth=23cm]{geometry}&#10;\pagestyle{empty}&#10;\begin{document}&#10;&#10;&#10;Ce terme est positif (source) lorsque de l’énergie thermique est générée dans le matériau aux dépens d’une autre forme d’énergie ; il est négatif (puits) lorsque de l’énergie thermique est consommée. En revanche, le terme de stockage d’énergie $\dot{E}_{st}$ fait référence au taux de variation de l’énergie thermique stockée dans la matière.&#10;&#10;\end{document}"/>
  <p:tag name="IGUANATEXSIZE" val="18"/>
  <p:tag name="IGUANATEXCURSOR" val="83"/>
  <p:tag name="TRANSPARENCY" val="Vrai"/>
  <p:tag name="FILENAME" val=""/>
  <p:tag name="LATEXENGINEID" val="0"/>
  <p:tag name="TEMPFOLDER" val="c:\temp\"/>
  <p:tag name="LATEXFORMHEIGHT" val="320"/>
  <p:tag name="LATEXFORMWIDTH" val="385"/>
  <p:tag name="LATEXFORMWRAP" val="Vrai"/>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3588.302"/>
  <p:tag name="ORIGINALWIDTH" val="5698.537"/>
  <p:tag name="OUTPUTTYPE" val="PNG"/>
  <p:tag name="IGUANATEXVERSION" val="160"/>
  <p:tag name="LATEXADDIN" val="\documentclass{article}&#10;\usepackage{amsmath}&#10;\usepackage{bm} % pour mettre en gras les symboles mathématiques&#10;\usepackage[paperwidth=23cm]{geometry}&#10;% Définition des opérateurs vectoriels&#10;\newcommand{\grad}[1]{\bm{\nabla} #1} % notation vecteur&#10;\renewcommand{\div}{\mathrm{div}} % texte &quot;div&quot;&#10;\newcommand{\curl}[1]{\bm{\nabla} \times #1}&#10;\pagestyle{empty}&#10;\begin{document}&#10;&#10;&#10;La dernière étape de la méthodologie consiste à exprimer la conservation de l’énergie en utilisant les équations de taux précédemment établies. En termes de taux, la forme générale de l’expression du principe de conservation de l’énergie est :&#10;$$&#10;\dot{E}_{in} + \dot{E}_g -\dot{E}_{out} = \dot{E}_{st}&#10;$$&#10;&#10;En reconnaissant que les taux de conduction constituent respectivement l'apport d'énergie &#10;$\dot{E}_{in}$ et la perte d'énergie $\dot{E}_{out}$:&#10;\begin{equation*}&#10;\begin{split}&#10;&amp;q_x''\,dy\,dz + q_y''\,dz\,dx + q_z''\,dx\,dy + Q\,dx\,dy\,dz \\&#10;&amp;\quad - q_{x+dx}''\,dy\,dz - q_{y+dy}''\,dz\,dx - q_{z+dz}''\,dx\,dy &#10;= \rho c_p \frac{\partial T}{\partial t}\, dx\,dy\,dz&#10;\end{split}&#10;\end{equation*}&#10;&#10;On obtient après développement au premier ordre en $dx$, $dy$ et $dz$:&#10;$$&#10;-\frac{\partial q_x''}{\partial x} -\frac{\partial q_y''}{\partial y} -\frac{\partial q_z''}{\partial z}&#10;+Q = \rho c_p \frac{\partial T}{\partial t}&#10;$$&#10;&#10;Les flux de chaleur par conduction par unité de surface,\\ dans un matériau isotrope peuvent être évalués à partir de la loi de Fourier:&#10;$$&#10;\bm{q}'' = -k \; \grad T&#10;$$&#10;&#10;Après substitution, on obtient l'équation de la chaleur dépendante du temps:&#10;$$&#10;\frac{\partial }{\partial x} \Big(k \frac{\partial T}{\partial x} \Big) +&#10;\frac{\partial }{\partial y} \Big(k \frac{\partial T}{\partial y} \Big) +&#10;\frac{\partial }{\partial z} \Big(k \frac{\partial T}{\partial z} \Big) +&#10;Q = \rho c_p \frac{\partial T}{\partial t}&#10;$$&#10;&#10;&#10;\end{document}"/>
  <p:tag name="IGUANATEXSIZE" val="18"/>
  <p:tag name="IGUANATEXCURSOR" val="1549"/>
  <p:tag name="TRANSPARENCY" val="Vrai"/>
  <p:tag name="FILENAME" val=""/>
  <p:tag name="LATEXENGINEID" val="0"/>
  <p:tag name="TEMPFOLDER" val="c:\temp\"/>
  <p:tag name="LATEXFORMHEIGHT" val="320"/>
  <p:tag name="LATEXFORMWIDTH" val="693"/>
  <p:tag name="LATEXFORMWRAP" val="Vrai"/>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302.2122"/>
  <p:tag name="ORIGINALWIDTH" val="2849.644"/>
  <p:tag name="OUTPUTTYPE" val="PNG"/>
  <p:tag name="IGUANATEXVERSION" val="160"/>
  <p:tag name="LATEXADDIN" val="\documentclass{article}&#10;\usepackage{amsmath}&#10;\pagestyle{empty}&#10;&#10;&#10;\begin{document}&#10;&#10;Il est courant de définir la diffusivité par $\alpha = \frac{k}{\rho c_p}$ \\dans l'hypothèse&#10;de paramètres constants.&#10;&#10;\end{document}"/>
  <p:tag name="IGUANATEXSIZE" val="18"/>
  <p:tag name="IGUANATEXCURSOR" val="160"/>
  <p:tag name="TRANSPARENCY" val="Vrai"/>
  <p:tag name="FILENAME" val=""/>
  <p:tag name="LATEXENGINEID" val="0"/>
  <p:tag name="TEMPFOLDER" val="c:\temp\"/>
  <p:tag name="LATEXFORMHEIGHT" val="387.6"/>
  <p:tag name="LATEXFORMWIDTH" val="693"/>
  <p:tag name="LATEXFORMWRAP" val="Vrai"/>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506.9366"/>
  <p:tag name="ORIGINALWIDTH" val="2842.895"/>
  <p:tag name="OUTPUTTYPE" val="PNG"/>
  <p:tag name="IGUANATEXVERSION" val="160"/>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De manière générale, l'équation de la chaleur s'écrit:&#10;$$&#10;\div(k\; \grad T)+ Q = \rho c_p \frac{\partial T}{\partial t}&#10;$$&#10;&#10;&#10;\end{document}"/>
  <p:tag name="IGUANATEXSIZE" val="18"/>
  <p:tag name="IGUANATEXCURSOR" val="435"/>
  <p:tag name="TRANSPARENCY" val="Vrai"/>
  <p:tag name="FILENAME" val=""/>
  <p:tag name="LATEXENGINEID" val="0"/>
  <p:tag name="TEMPFOLDER" val="c:\temp\"/>
  <p:tag name="LATEXFORMHEIGHT" val="387.6"/>
  <p:tag name="LATEXFORMWIDTH" val="693"/>
  <p:tag name="LATEXFORMWRAP" val="Vrai"/>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12.4859"/>
  <p:tag name="ORIGINALWIDTH" val="1880.765"/>
  <p:tag name="OUTPUTTYPE" val="PNG"/>
  <p:tag name="IGUANATEXVERSION" val="161"/>
  <p:tag name="LATEXADDIN" val="\documentclass{article}&#10;\usepackage{amsmath}&#10;\pagestyle{empty}&#10;\begin{document}&#10;&#10;En coordonnées cylindriques, on a:&#10;&#10;&#10;\end{document}"/>
  <p:tag name="IGUANATEXSIZE" val="20"/>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254.2182"/>
  <p:tag name="ORIGINALWIDTH" val="1889.014"/>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10;\grad T= \partial_r T \; \bm{e}_r + \frac{1}{r} \partial_\phi T \; \bm{e}_\phi + \partial_z T \;\bm{e}_z&#10;$$&#10;&#10;&#10;\end{document}"/>
  <p:tag name="IGUANATEXSIZE" val="18"/>
  <p:tag name="IGUANATEXCURSOR" val="485"/>
  <p:tag name="TRANSPARENCY" val="Vrai"/>
  <p:tag name="FILENAME" val=""/>
  <p:tag name="LATEXENGINEID" val="0"/>
  <p:tag name="TEMPFOLDER" val="c:\temp\"/>
  <p:tag name="LATEXFORMHEIGHT" val="387.6"/>
  <p:tag name="LATEXFORMWIDTH" val="693"/>
  <p:tag name="LATEXFORMWRAP" val="Vrai"/>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288.7139"/>
  <p:tag name="ORIGINALWIDTH" val="1786.277"/>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10;\div( \bm{q}) = \frac{1}{r} \frac{\partial (r q_r)}{\partial r} + &#10;\frac{1}{r} \frac{\partial q_\phi}{\partial \phi} + \frac{\partial q_z}{\partial z} &#10;$$&#10;&#10;&#10;\end{document}"/>
  <p:tag name="IGUANATEXSIZE" val="18"/>
  <p:tag name="IGUANATEXCURSOR" val="528"/>
  <p:tag name="TRANSPARENCY" val="Vrai"/>
  <p:tag name="FILENAME" val=""/>
  <p:tag name="LATEXENGINEID" val="0"/>
  <p:tag name="TEMPFOLDER" val="c:\temp\"/>
  <p:tag name="LATEXFORMHEIGHT" val="387.6"/>
  <p:tag name="LATEXFORMWIDTH" val="693"/>
  <p:tag name="LATEXFORMWRAP" val="Vrai"/>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88.48898"/>
  <p:tag name="ORIGINALWIDTH" val="1569.554"/>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En coordonnées cartésiennes:&#10;&#10;\end{document}"/>
  <p:tag name="IGUANATEXSIZE" val="18"/>
  <p:tag name="IGUANATEXCURSOR" val="419"/>
  <p:tag name="TRANSPARENCY" val="Vrai"/>
  <p:tag name="FILENAME" val=""/>
  <p:tag name="LATEXENGINEID" val="0"/>
  <p:tag name="TEMPFOLDER" val="c:\temp\"/>
  <p:tag name="LATEXFORMHEIGHT" val="387.6"/>
  <p:tag name="LATEXFORMWIDTH" val="693"/>
  <p:tag name="LATEXFORMWRAP" val="Vrai"/>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25.9843"/>
  <p:tag name="ORIGINALWIDTH" val="1800.525"/>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grad T= \partial_x T \; \bm{e}_x + \partial_y T \; \bm{e}_y + \partial_z T \;\bm{e}_z&#10;$$&#10;&#10;&#10;\end{document}"/>
  <p:tag name="IGUANATEXSIZE" val="18"/>
  <p:tag name="IGUANATEXCURSOR" val="483"/>
  <p:tag name="TRANSPARENCY" val="Vrai"/>
  <p:tag name="FILENAME" val=""/>
  <p:tag name="LATEXENGINEID" val="0"/>
  <p:tag name="TEMPFOLDER" val="c:\temp\"/>
  <p:tag name="LATEXFORMHEIGHT" val="387.6"/>
  <p:tag name="LATEXFORMWIDTH" val="693"/>
  <p:tag name="LATEXFORMWRAP" val="Vrai"/>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30.4837"/>
  <p:tag name="ORIGINALWIDTH" val="1520.06"/>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div(\bm{q}) = \partial_x q_x + \partial_y q_y + \partial_z q_z$$ &#10;&#10;\end{document}"/>
  <p:tag name="IGUANATEXSIZE" val="18"/>
  <p:tag name="IGUANATEXCURSOR" val="388"/>
  <p:tag name="TRANSPARENCY" val="Vrai"/>
  <p:tag name="FILENAME" val=""/>
  <p:tag name="LATEXENGINEID" val="0"/>
  <p:tag name="TEMPFOLDER" val="c:\temp\"/>
  <p:tag name="LATEXFORMHEIGHT" val="387.6"/>
  <p:tag name="LATEXFORMWIDTH" val="693"/>
  <p:tag name="LATEXFORMWRAP" val="Vrai"/>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266.9666"/>
  <p:tag name="ORIGINALWIDTH" val="2878.14"/>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mathrm{div}} % texte &quot;div&quot;&#10;\newcommand{\curl}[1]{\bm{\nabla} \times #1}&#10;&#10;\pagestyle{empty}&#10;&#10;\begin{document}&#10;&#10;Comme le flux par unité de surface $\bm{q}'' = -k \; \grad T$, \\l'équation de la chaleur s'écrit :&#10;&#10;\end{document}&#10;"/>
  <p:tag name="IGUANATEXSIZE" val="18"/>
  <p:tag name="IGUANATEXCURSOR" val="403"/>
  <p:tag name="TRANSPARENCY" val="Vrai"/>
  <p:tag name="FILENAME" val=""/>
  <p:tag name="LATEXENGINEID" val="0"/>
  <p:tag name="TEMPFOLDER" val="c:\temp\"/>
  <p:tag name="LATEXFORMHEIGHT" val="387.6"/>
  <p:tag name="LATEXFORMWIDTH" val="693"/>
  <p:tag name="LATEXFORMWRAP" val="Vrai"/>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383.952"/>
  <p:tag name="ORIGINALWIDTH" val="3374.578"/>
  <p:tag name="OUTPUTTYPE" val="PNG"/>
  <p:tag name="IGUANATEXVERSION" val="160"/>
  <p:tag name="LATEXADDIN" val="\documentclass{article}&#10;\usepackage{amsmath}&#10;\pagestyle{empty}&#10;\begin{document}&#10;&#10;&#10;\begin{equation*}&#10;\boxed{&#10;\frac{1}{r} \frac{\partial}{\partial r} \left( k r \frac{\partial T}{\partial r} \right)&#10;+ \frac{1}{r^{2}} \frac{\partial}{\partial \phi} \left( k \frac{\partial T}{\partial \phi} \right)&#10;+ \frac{\partial}{\partial z} \left( k \frac{\partial T}{\partial z} \right)&#10;+ Q&#10;= \rho c_p \frac{\partial T}{\partial t}&#10;}&#10;\end{equation*}&#10;&#10;\end{document}"/>
  <p:tag name="IGUANATEXSIZE" val="18"/>
  <p:tag name="IGUANATEXCURSOR" val="419"/>
  <p:tag name="TRANSPARENCY" val="Vrai"/>
  <p:tag name="FILENAME" val=""/>
  <p:tag name="LATEXENGINEID" val="0"/>
  <p:tag name="TEMPFOLDER" val="c:\temp\"/>
  <p:tag name="LATEXFORMHEIGHT" val="320"/>
  <p:tag name="LATEXFORMWIDTH" val="385"/>
  <p:tag name="LATEXFORMWRAP" val="Vrai"/>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10.9861"/>
  <p:tag name="ORIGINALWIDTH" val="1795.276"/>
  <p:tag name="OUTPUTTYPE" val="PNG"/>
  <p:tag name="IGUANATEXVERSION" val="161"/>
  <p:tag name="LATEXADDIN" val="\documentclass{article}&#10;\usepackage{amsmath}&#10;\pagestyle{empty}&#10;\begin{document}&#10;&#10;En coordonnées sphériques, on a:&#10;&#10;&#10;\end{document}"/>
  <p:tag name="IGUANATEXSIZE" val="20"/>
  <p:tag name="IGUANATEXCURSOR" val="106"/>
  <p:tag name="TRANSPARENCY" val="Vrai"/>
  <p:tag name="FILENAME" val=""/>
  <p:tag name="LATEXENGINEID" val="0"/>
  <p:tag name="TEMPFOLDER" val="c:\temp\"/>
  <p:tag name="LATEXFORMHEIGHT" val="320"/>
  <p:tag name="LATEXFORMWIDTH" val="385"/>
  <p:tag name="LATEXFORMWRAP" val="Vrai"/>
  <p:tag name="BITMAPVECTOR" val="0"/>
</p:tagLst>
</file>

<file path=ppt/tags/tag17.xml><?xml version="1.0" encoding="utf-8"?>
<p:tagLst xmlns:a="http://schemas.openxmlformats.org/drawingml/2006/main" xmlns:r="http://schemas.openxmlformats.org/officeDocument/2006/relationships" xmlns:p="http://schemas.openxmlformats.org/presentationml/2006/main">
  <p:tag name="OUTPUTDPI" val="1200"/>
  <p:tag name="ORIGINALHEIGHT" val="254.2182"/>
  <p:tag name="ORIGINALWIDTH" val="2269.966"/>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1]{\bm{\nabla} \cdot #1}&#10;\renewcommand{\div}{\mathrm{div}} % for divergence&#10;\newcommand{\curl}[1]{\bm{\nabla} \times #1}&#10;&#10;&#10;\pagestyle{empty}&#10;&#10;&#10;\begin{document}&#10;&#10;&#10;$$&#10;\grad T= \partial_r T \; \bm{e}_r + \frac{1}{r} \partial_\theta T \; \bm{e}_\theta + &#10;\frac{1}{r\; \sin \theta} \partial_\phi T \;\bm{e}_\phi&#10;$$&#10;&#10;&#10;\end{document}"/>
  <p:tag name="IGUANATEXSIZE" val="18"/>
  <p:tag name="IGUANATEXCURSOR" val="456"/>
  <p:tag name="TRANSPARENCY" val="Vrai"/>
  <p:tag name="FILENAME" val=""/>
  <p:tag name="LATEXENGINEID" val="0"/>
  <p:tag name="TEMPFOLDER" val="c:\temp\"/>
  <p:tag name="LATEXFORMHEIGHT" val="387.6"/>
  <p:tag name="LATEXFORMWIDTH" val="693"/>
  <p:tag name="LATEXFORMWRAP" val="Vrai"/>
  <p:tag name="BITMAPVECTOR" val="0"/>
</p:tagLst>
</file>

<file path=ppt/tags/tag18.xml><?xml version="1.0" encoding="utf-8"?>
<p:tagLst xmlns:a="http://schemas.openxmlformats.org/drawingml/2006/main" xmlns:r="http://schemas.openxmlformats.org/officeDocument/2006/relationships" xmlns:p="http://schemas.openxmlformats.org/presentationml/2006/main">
  <p:tag name="OUTPUTDPI" val="1200"/>
  <p:tag name="ORIGINALHEIGHT" val="530.1837"/>
  <p:tag name="ORIGINALWIDTH" val="4093.738"/>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mathrm{div}} % texte &quot;div&quot;&#10;\newcommand{\curl}[1]{\bm{\nabla} \times #1}&#10;&#10;\pagestyle{empty}&#10;&#10;\begin{document}&#10;&#10;Divergence d’un champ \( \bm{q} = q_r\,\bm{e}_r + q_\theta\,\bm{e}_\theta + q_\phi\,\bm{e}_\phi \) en coordonnées sphériques :&#10;&#10;\[&#10;\div(\bm{q}) = \frac{1}{r^2} \frac{\partial}{\partial r}(r^2 \; q_r) &#10;+ \frac{1}{r \sin\theta} \frac{\partial}{\partial \theta}( \sin\theta \; q_\theta)&#10;+ \frac{1}{r \sin\theta} \frac{\partial q_\phi}{\partial \phi}&#10;\]&#10;&#10;\end{document}&#10;"/>
  <p:tag name="IGUANATEXSIZE" val="18"/>
  <p:tag name="IGUANATEXCURSOR" val="360"/>
  <p:tag name="TRANSPARENCY" val="Vrai"/>
  <p:tag name="FILENAME" val=""/>
  <p:tag name="LATEXENGINEID" val="0"/>
  <p:tag name="TEMPFOLDER" val="c:\temp\"/>
  <p:tag name="LATEXFORMHEIGHT" val="387.6"/>
  <p:tag name="LATEXFORMWIDTH" val="693"/>
  <p:tag name="LATEXFORMWRAP" val="Vrai"/>
  <p:tag name="BITMAPVECTOR" val="0"/>
</p:tagLst>
</file>

<file path=ppt/tags/tag19.xml><?xml version="1.0" encoding="utf-8"?>
<p:tagLst xmlns:a="http://schemas.openxmlformats.org/drawingml/2006/main" xmlns:r="http://schemas.openxmlformats.org/officeDocument/2006/relationships" xmlns:p="http://schemas.openxmlformats.org/presentationml/2006/main">
  <p:tag name="OUTPUTDPI" val="1200"/>
  <p:tag name="ORIGINALHEIGHT" val="244.4695"/>
  <p:tag name="ORIGINALWIDTH" val="4287.964"/>
  <p:tag name="OUTPUTTYPE" val="PNG"/>
  <p:tag name="IGUANATEXVERSION" val="161"/>
  <p:tag name="LATEXADDIN" val="\documentclass{article}&#10;\usepackage{amsmath}&#10;\usepackage{bm} % pour mettre en gras les symboles mathématiques&#10;&#10;% Définition des opérateurs vectoriels&#10;\newcommand{\grad}[1]{\bm{\nabla} #1} % notation vecteur&#10;\renewcommand{\div}{\mathrm{div}} % texte &quot;div&quot;&#10;\newcommand{\curl}[1]{\bm{\nabla} \times #1}&#10;&#10;\pagestyle{empty}&#10;&#10;\begin{document}&#10;&#10;Comme le flux par unité de surface $\bm{q}'' = -k \; \grad T$, l'équation de la chaleur s'écrit :&#10;&#10;\end{document}&#10;"/>
  <p:tag name="IGUANATEXSIZE" val="18"/>
  <p:tag name="IGUANATEXCURSOR" val="401"/>
  <p:tag name="TRANSPARENCY" val="Vrai"/>
  <p:tag name="FILENAME" val=""/>
  <p:tag name="LATEXENGINEID" val="0"/>
  <p:tag name="TEMPFOLDER" val="c:\temp\"/>
  <p:tag name="LATEXFORMHEIGHT" val="387.6"/>
  <p:tag name="LATEXFORMWIDTH" val="693"/>
  <p:tag name="LATEXFORMWRAP" val="Vrai"/>
  <p:tag name="BITMAPVECTOR" val="0"/>
</p:tagLst>
</file>

<file path=ppt/tags/tag20.xml><?xml version="1.0" encoding="utf-8"?>
<p:tagLst xmlns:a="http://schemas.openxmlformats.org/drawingml/2006/main" xmlns:r="http://schemas.openxmlformats.org/officeDocument/2006/relationships" xmlns:p="http://schemas.openxmlformats.org/presentationml/2006/main">
  <p:tag name="OUTPUTDPI" val="1200"/>
  <p:tag name="ORIGINALHEIGHT" val="383.952"/>
  <p:tag name="ORIGINALWIDTH" val="4452.193"/>
  <p:tag name="OUTPUTTYPE" val="PNG"/>
  <p:tag name="IGUANATEXVERSION" val="160"/>
  <p:tag name="LATEXADDIN" val="\documentclass{article}&#10;\usepackage{amsmath}&#10;\pagestyle{empty}&#10;\begin{document}&#10;&#10;&#10;\begin{equation*}&#10;\boxed{&#10;\frac{1}{r^{2}} \frac{\partial}{\partial r} \left( k r^{2} \frac{\partial T}{\partial r} \right)&#10;+ \frac{1}{r^{2}\sin^{2}\theta} \frac{\partial}{\partial \phi} \left( k \frac{\partial T}{\partial \phi} \right)&#10;+ \frac{1}{r^{2}\sin \theta} \frac{\partial}{\partial \theta} \left( k \sin \theta \frac{\partial T}{\partial \theta} \right)&#10;+ Q = \rho c_{p} \frac{\partial T}{\partial t}&#10;}&#10;\end{equation*}&#10;&#10;&#10;\end{document}"/>
  <p:tag name="IGUANATEXSIZE" val="20"/>
  <p:tag name="IGUANATEXCURSOR" val="492"/>
  <p:tag name="TRANSPARENCY" val="Vrai"/>
  <p:tag name="FILENAME" val=""/>
  <p:tag name="LATEXENGINEID" val="0"/>
  <p:tag name="TEMPFOLDER" val="c:\temp\"/>
  <p:tag name="LATEXFORMHEIGHT" val="320"/>
  <p:tag name="LATEXFORMWIDTH" val="385"/>
  <p:tag name="LATEXFORMWRAP" val="Vrai"/>
  <p:tag name="BITMAPVECTOR" val="0"/>
</p:tagLst>
</file>

<file path=ppt/tags/tag21.xml><?xml version="1.0" encoding="utf-8"?>
<p:tagLst xmlns:a="http://schemas.openxmlformats.org/drawingml/2006/main" xmlns:r="http://schemas.openxmlformats.org/officeDocument/2006/relationships" xmlns:p="http://schemas.openxmlformats.org/presentationml/2006/main">
  <p:tag name="OUTPUTDPI" val="1200"/>
  <p:tag name="ORIGINALHEIGHT" val="858.6427"/>
  <p:tag name="ORIGINALWIDTH" val="6192.726"/>
  <p:tag name="OUTPUTTYPE" val="PNG"/>
  <p:tag name="IGUANATEXVERSION" val="161"/>
  <p:tag name="LATEXADDIN" val="\documentclass{article}&#10;\usepackage{amsmath}&#10;\usepackage[paperwidth=25cm]{geometry}&#10;\pagestyle{empty}&#10;\begin{document}&#10;&#10;&#10;Pour déterminer la répartition de température dans un milieu, il est nécessaire de résoudre la forme appropriée de l’équation de la chaleur. &#10;&#10;La solution dépend des conditions physiques existant aux frontières du milieu et, si la situation dépend du temps, des conditions existant dans le milieu à un instant initial donné. &#10;&#10;Comme l’équation est du premier ordre par rapport au temps, une seule condition, appelée condition initiale, doit être spécifiée.&#10;&#10;\end{document}"/>
  <p:tag name="IGUANATEXSIZE" val="18"/>
  <p:tag name="IGUANATEXCURSOR" val="83"/>
  <p:tag name="TRANSPARENCY" val="Vrai"/>
  <p:tag name="FILENAME" val=""/>
  <p:tag name="LATEXENGINEID" val="0"/>
  <p:tag name="TEMPFOLDER" val="c:\temp\"/>
  <p:tag name="LATEXFORMHEIGHT" val="456"/>
  <p:tag name="LATEXFORMWIDTH" val="744.6"/>
  <p:tag name="LATEXFORMWRAP" val="Vrai"/>
  <p:tag name="BITMAPVECTOR" val="0"/>
</p:tagLst>
</file>

<file path=ppt/tags/tag22.xml><?xml version="1.0" encoding="utf-8"?>
<p:tagLst xmlns:a="http://schemas.openxmlformats.org/drawingml/2006/main" xmlns:r="http://schemas.openxmlformats.org/officeDocument/2006/relationships" xmlns:p="http://schemas.openxmlformats.org/presentationml/2006/main">
  <p:tag name="OUTPUTDPI" val="1200"/>
  <p:tag name="ORIGINALHEIGHT" val="268.4665"/>
  <p:tag name="ORIGINALWIDTH" val="3337.833"/>
  <p:tag name="OUTPUTTYPE" val="PNG"/>
  <p:tag name="IGUANATEXVERSION" val="161"/>
  <p:tag name="LATEXADDIN" val="\documentclass{article}&#10;\usepackage{amsmath}&#10;\pagestyle{empty}&#10;\begin{document}&#10;&#10;$T_\infty$ est la température ambiante du gaz, loin de la surface \\ et $h$ (en $\mathrm{W\,m^{-2}\,K^{-1}}$) est le coefficient de convection.&#10;&#10;&#10;\end{document}"/>
  <p:tag name="IGUANATEXSIZE" val="18"/>
  <p:tag name="IGUANATEXCURSOR" val="146"/>
  <p:tag name="TRANSPARENCY" val="Vrai"/>
  <p:tag name="FILENAME" val=""/>
  <p:tag name="LATEXENGINEID" val="0"/>
  <p:tag name="TEMPFOLDER" val="c:\temp\"/>
  <p:tag name="LATEXFORMHEIGHT" val="320"/>
  <p:tag name="LATEXFORMWIDTH" val="712.8"/>
  <p:tag name="LATEXFORMWRAP" val="Vrai"/>
  <p:tag name="BITMAPVECTOR" val="0"/>
</p:tagLst>
</file>

<file path=ppt/tags/tag23.xml><?xml version="1.0" encoding="utf-8"?>
<p:tagLst xmlns:a="http://schemas.openxmlformats.org/drawingml/2006/main" xmlns:r="http://schemas.openxmlformats.org/officeDocument/2006/relationships" xmlns:p="http://schemas.openxmlformats.org/presentationml/2006/main">
  <p:tag name="OUTPUTDPI" val="1200"/>
  <p:tag name="ORIGINALHEIGHT" val="483.6895"/>
  <p:tag name="ORIGINALWIDTH" val="3730.784"/>
  <p:tag name="OUTPUTTYPE" val="PNG"/>
  <p:tag name="IGUANATEXVERSION" val="160"/>
  <p:tag name="LATEXADDIN" val="\documentclass{article}&#10;\usepackage{amsmath}&#10;\pagestyle{empty}&#10;\begin{document}&#10;&#10;$$&#10;q \cdot n = h\; (T(0,t)-T_\infty) = &#10;-k \left . \dfrac{\partial T}{\partial x} \right |_{x=0} \; e_x \cdot n = + k \left . \dfrac{\partial T}{\partial x} \right |_{x=0}&#10;$$&#10;\noindent&#10;où $n$ est la normale extérieure.&#10;\end{document}"/>
  <p:tag name="IGUANATEXSIZE" val="18"/>
  <p:tag name="IGUANATEXCURSOR" val="265"/>
  <p:tag name="TRANSPARENCY" val="Vrai"/>
  <p:tag name="FILENAME" val=""/>
  <p:tag name="LATEXENGINEID" val="0"/>
  <p:tag name="TEMPFOLDER" val="c:\temp\"/>
  <p:tag name="LATEXFORMHEIGHT" val="320"/>
  <p:tag name="LATEXFORMWIDTH" val="722.4"/>
  <p:tag name="LATEXFORMWRAP" val="Vrai"/>
  <p:tag name="BITMAPVECTOR" val="0"/>
</p:tagLst>
</file>

<file path=ppt/tags/tag24.xml><?xml version="1.0" encoding="utf-8"?>
<p:tagLst xmlns:a="http://schemas.openxmlformats.org/drawingml/2006/main" xmlns:r="http://schemas.openxmlformats.org/officeDocument/2006/relationships" xmlns:p="http://schemas.openxmlformats.org/presentationml/2006/main">
  <p:tag name="OUTPUTDPI" val="1200"/>
  <p:tag name="ORIGINALHEIGHT" val="3214.848"/>
  <p:tag name="ORIGINALWIDTH" val="6192.726"/>
  <p:tag name="OUTPUTTYPE" val="PNG"/>
  <p:tag name="IGUANATEXVERSION" val="161"/>
  <p:tag name="LATEXADDIN" val="\documentclass{article}&#10;\usepackage{amsmath, amssymb}&#10;\usepackage{xcolor}&#10;\usepackage[paperwidth=25cm]{geometry}&#10;\pagestyle{empty}&#10;\begin{document}&#10;&#10;&#10;\section*{Distribution de température dans une plaque plane}&#10;&#10;On considère une plaque plane d'épaisseur \( L \), dont la température ne dépend que de la coordonnée \( x \in [0, L] \). En régime stationnaire et en l'absence de source interne, la température \( T(x) \) vérifie l'équation différentielle :&#10;\[&#10;\frac{d^2 T}{dx^2} = 0&#10;\]&#10;&#10;Les échanges thermiques ont lieu de part et d'autre de la plaque avec des gaz à température constante. On impose des conditions de type Robin aux deux faces :&#10;&#10;\begin{itemize}&#10;  \item À \( x = 0 \) (face gauche), le flux est donné par :&#10;$&#10;  +k \left. \frac{dT}{dx} \right|_{x=0} = h \left( T(0) - T^g_\infty \right)&#10;$&#10;  \item À \( x = L \) (face droite), le flux est donné par :&#10;$&#10;  -k \left. \frac{dT}{dx} \right|_{x=L} = h \left( T(L) - T^d_\infty \right)&#10;$&#10;\end{itemize}&#10;&#10;où :&#10;\begin{itemize}&#10;  \item \( k \) est la conductivité thermique de la plaque (constante),&#10;  \item \( h \) est le coefficient de transfert thermique (identique des deux côtés),&#10;  \item \( T^g_\infty \) et \( T^d_\infty \) sont les températures des gaz à gauche et à droite, respectivement.&#10;\end{itemize}&#10;&#10;\textbf{Question :} Déterminer l'expression analytique de la température \( T(x) \) dans la plaque.&#10;&#10;&#10;\end{document}&#10;"/>
  <p:tag name="IGUANATEXSIZE" val="18"/>
  <p:tag name="IGUANATEXCURSOR" val="907"/>
  <p:tag name="TRANSPARENCY" val="Vrai"/>
  <p:tag name="FILENAME" val=""/>
  <p:tag name="LATEXENGINEID" val="0"/>
  <p:tag name="TEMPFOLDER" val="c:\temp\"/>
  <p:tag name="LATEXFORMHEIGHT" val="509.4"/>
  <p:tag name="LATEXFORMWIDTH" val="596.4"/>
  <p:tag name="LATEXFORMWRAP" val="Vrai"/>
  <p:tag name="BITMAPVECTOR" val="0"/>
</p:tagLst>
</file>

<file path=ppt/tags/tag25.xml><?xml version="1.0" encoding="utf-8"?>
<p:tagLst xmlns:a="http://schemas.openxmlformats.org/drawingml/2006/main" xmlns:r="http://schemas.openxmlformats.org/officeDocument/2006/relationships" xmlns:p="http://schemas.openxmlformats.org/presentationml/2006/main">
  <p:tag name="OUTPUTDPI" val="1200"/>
  <p:tag name="ORIGINALHEIGHT" val="3777.278"/>
  <p:tag name="ORIGINALWIDTH" val="4523.435"/>
  <p:tag name="OUTPUTTYPE" val="PNG"/>
  <p:tag name="IGUANATEXVERSION" val="161"/>
  <p:tag name="LATEXADDIN" val="\documentclass{article}&#10;\usepackage{amsmath, amssymb}&#10;\usepackage{xcolor}&#10;\usepackage[paperwidth=23cm]{geometry}&#10;\pagestyle{empty}&#10;\begin{document}&#10;&#10;\( T(x) \) est une fonction affine :&#10;$&#10;T(x) = A x + B&#10;$&#10;&#10;On cherche les constantes \( A \) et \( B \) à partir des conditions aux limites.&#10;&#10;\begin{itemize}&#10;  \item Première dérivée : \( \frac{dT}{dx} = A \)&#10;  \item Condition à gauche (x = 0) :&#10;  \[&#10;  k A = h(B - T^g_\infty) \quad \Rightarrow \quad B = T^g_\infty + \frac{k}{h} A \quad \text{(1)}&#10;  \]&#10;  \item Condition à droite (x = L) :&#10;  \[&#10;  -k A = h(A L + B - T^d_\infty) \quad \Rightarrow \quad k A = -h(A L + B - T^d_\infty) \quad \text{(2)}&#10;  \]&#10;\end{itemize}&#10;&#10;En injectant (1) dans (2) :&#10;&#10;\[&#10;k A = -h\left( A L + \left(T^g_\infty + \frac{k}{h} A\right) - T^d_\infty \right)&#10;\]&#10;&#10;Développons et simplifions :&#10;&#10;\[&#10;A = \frac{h (T^d_\infty - T^g_\infty)}{2k + h L}&#10;\]&#10;&#10;Puis, on trouve \( B \) à l'aide de (1) :&#10;&#10;\[&#10;B = T^g_\infty + \frac{k}{h} A = T^g_\infty + \frac{k}{h} \cdot \frac{h (T^d_\infty - T^g_\infty)}{2k + h L} = T^g_\infty + \frac{k (T^d_\infty - T^g_\infty)}{2k + h L}&#10;\]&#10;&#10;\end{document}&#10;"/>
  <p:tag name="IGUANATEXSIZE" val="16"/>
  <p:tag name="IGUANATEXCURSOR" val="1090"/>
  <p:tag name="TRANSPARENCY" val="Vrai"/>
  <p:tag name="FILENAME" val=""/>
  <p:tag name="LATEXENGINEID" val="0"/>
  <p:tag name="TEMPFOLDER" val="c:\temp\"/>
  <p:tag name="LATEXFORMHEIGHT" val="434.4"/>
  <p:tag name="LATEXFORMWIDTH" val="596.4"/>
  <p:tag name="LATEXFORMWRAP" val="Vrai"/>
  <p:tag name="BITMAPVECTOR" val="0"/>
</p:tagLst>
</file>

<file path=ppt/tags/tag26.xml><?xml version="1.0" encoding="utf-8"?>
<p:tagLst xmlns:a="http://schemas.openxmlformats.org/drawingml/2006/main" xmlns:r="http://schemas.openxmlformats.org/officeDocument/2006/relationships" xmlns:p="http://schemas.openxmlformats.org/presentationml/2006/main">
  <p:tag name="OUTPUTDPI" val="1200"/>
  <p:tag name="ORIGINALHEIGHT" val="1160.105"/>
  <p:tag name="ORIGINALWIDTH" val="1793.026"/>
  <p:tag name="OUTPUTTYPE" val="PNG"/>
  <p:tag name="IGUANATEXVERSION" val="161"/>
  <p:tag name="LATEXADDIN" val="\documentclass{article}&#10;\usepackage{amsmath}&#10;\pagestyle{empty}&#10;\begin{document}&#10;&#10;$$&#10;R'' = \dfrac{1}{h}+\dfrac{L}{k}+\dfrac{1}{h}&#10;$$&#10;&#10;$$&#10;q_x'' = -k \dfrac{\partial T}{\partial x}=-k\;A=\dfrac{T^g_\infty-T^d_\infty}{R''}&#10;$$&#10;&#10;$$&#10;A = \dfrac{T^d_\infty-T^g_\infty}{k\; \left(\frac{1}{h}+\frac{L}{k}+\frac{1}{h} \right)}&#10;$$&#10;&#10;\end{document}"/>
  <p:tag name="IGUANATEXSIZE" val="20"/>
  <p:tag name="IGUANATEXCURSOR" val="269"/>
  <p:tag name="TRANSPARENCY" val="Vrai"/>
  <p:tag name="FILENAME" val=""/>
  <p:tag name="LATEXENGINEID" val="0"/>
  <p:tag name="TEMPFOLDER" val="c:\temp\"/>
  <p:tag name="LATEXFORMHEIGHT" val="320"/>
  <p:tag name="LATEXFORMWIDTH" val="385"/>
  <p:tag name="LATEXFORMWRAP" val="Vrai"/>
  <p:tag name="BITMAPVECTOR" val="0"/>
</p:tagLst>
</file>

<file path=ppt/tags/tag27.xml><?xml version="1.0" encoding="utf-8"?>
<p:tagLst xmlns:a="http://schemas.openxmlformats.org/drawingml/2006/main" xmlns:r="http://schemas.openxmlformats.org/officeDocument/2006/relationships" xmlns:p="http://schemas.openxmlformats.org/presentationml/2006/main">
  <p:tag name="OUTPUTDPI" val="1200"/>
  <p:tag name="ORIGINALHEIGHT" val="1021.372"/>
  <p:tag name="ORIGINALWIDTH" val="6194.976"/>
  <p:tag name="OUTPUTTYPE" val="PNG"/>
  <p:tag name="IGUANATEXVERSION" val="160"/>
  <p:tag name="LATEXADDIN" val="\documentclass{article}&#10;\usepackage{amsmath, amssymb}&#10;\usepackage{xcolor}&#10;\usepackage[paperwidth=25cm]{geometry}&#10;\pagestyle{empty}&#10;\begin{document}&#10;&#10;&#10;\section*{Exercice 2.33 modifié}&#10;&#10;L'oxydation lente des particules de charbon dans une couche plane d'épaisseur $L = 1$ m&#10;génère une densité volumique de puissance $Q = 10$ W/m$^3$. En moyenne par jour, la surface supérieure de la couche transfère la chaleur par convection à l'air ambiant pour lequel $h = 8$ W/m$^2 \cdot$ K et $T_{\infty} = 30$°C, tout en recevant un rayonnement solaire d'une quantité $G_s = 500$ W/m$^2$. L'absorptivité solaire et l'émissivité de la surface sont respectivement $\alpha_s = \varepsilon = 0.95$. On tiendra compte du rayonnement de l'atmosphère dont $T_{sur}=20^\circ C$.&#10;\end{document}&#10;"/>
  <p:tag name="IGUANATEXSIZE" val="18"/>
  <p:tag name="IGUANATEXCURSOR" val="181"/>
  <p:tag name="TRANSPARENCY" val="Vrai"/>
  <p:tag name="FILENAME" val=""/>
  <p:tag name="LATEXENGINEID" val="0"/>
  <p:tag name="TEMPFOLDER" val="c:\temp\"/>
  <p:tag name="LATEXFORMHEIGHT" val="509.4"/>
  <p:tag name="LATEXFORMWIDTH" val="596.4"/>
  <p:tag name="LATEXFORMWRAP" val="Vrai"/>
  <p:tag name="BITMAPVECTOR" val="0"/>
</p:tagLst>
</file>

<file path=ppt/tags/tag28.xml><?xml version="1.0" encoding="utf-8"?>
<p:tagLst xmlns:a="http://schemas.openxmlformats.org/drawingml/2006/main" xmlns:r="http://schemas.openxmlformats.org/officeDocument/2006/relationships" xmlns:p="http://schemas.openxmlformats.org/presentationml/2006/main">
  <p:tag name="OUTPUTDPI" val="1200"/>
  <p:tag name="ORIGINALHEIGHT" val="2463.442"/>
  <p:tag name="ORIGINALWIDTH" val="3622.797"/>
  <p:tag name="OUTPUTTYPE" val="PNG"/>
  <p:tag name="IGUANATEXVERSION" val="161"/>
  <p:tag name="LATEXADDIN" val="\documentclass{article}&#10;\usepackage{amsmath}&#10;\usepackage[paperwidth=15cm]{geometry}&#10;\pagestyle{empty}&#10;\begin{document}&#10;&#10;\begin{enumerate}&#10;\item[(a)] Écrivez la forme en régime permanent de l'équation de diffusion de la chaleur pour la couche de charbon. Vérifiez, par substitution directe, que cette équation est satisfaite par une distribution de température de la forme&#10;\begin{equation}&#10;T(x) = T_s + \frac{Q\;L^2}{2k}\left(1 - \frac{x^2}{L^2}\right)&#10;\end{equation}&#10;À partir de cette distribution, que pouvez-vous dire sur les conditions à la surface inférieure ($x = 0$) ? Donnez l'allure de la distribution de température et ses caractéristiques principales.&#10;&#10;\item[(b)] Obtenez une expression pour le taux de transfert de chaleur par conduction par unité de surface à $x = L$. En appliquant un bilan énergétique à une surface de contrôle autour de la surface supérieure de la couche, obtenez une expression pour $T_s$. Évaluez $T_s$ et $T(0)$ pour les conditions prescrites.&#10;&#10;\end{enumerate}&#10;&#10;\end{document}"/>
  <p:tag name="IGUANATEXSIZE" val="18"/>
  <p:tag name="IGUANATEXCURSOR" val="629"/>
  <p:tag name="TRANSPARENCY" val="Vrai"/>
  <p:tag name="FILENAME" val=""/>
  <p:tag name="LATEXENGINEID" val="0"/>
  <p:tag name="TEMPFOLDER" val="c:\temp\"/>
  <p:tag name="LATEXFORMHEIGHT" val="438"/>
  <p:tag name="LATEXFORMWIDTH" val="622.2"/>
  <p:tag name="LATEXFORMWRAP" val="Vrai"/>
  <p:tag name="BITMAPVECTOR" val="0"/>
</p:tagLst>
</file>

<file path=ppt/tags/tag29.xml><?xml version="1.0" encoding="utf-8"?>
<p:tagLst xmlns:a="http://schemas.openxmlformats.org/drawingml/2006/main" xmlns:r="http://schemas.openxmlformats.org/officeDocument/2006/relationships" xmlns:p="http://schemas.openxmlformats.org/presentationml/2006/main">
  <p:tag name="OUTPUTDPI" val=" 1200"/>
  <p:tag name="ORIGINALHEIGHT" val=" 128.9839"/>
  <p:tag name="ORIGINALWIDTH" val=" 1277.09"/>
  <p:tag name="OUTPUTTYPE" val="PNG"/>
  <p:tag name="IGUANATEXVERSION" val="162"/>
  <p:tag name="LATEXADDIN" val="\documentclass{article}&#10;\usepackage{amsmath}&#10;\usepackage{siunitx}&#10;\pagestyle{empty}&#10;\begin{document}&#10;&#10;$$k_{coal} = \SI{0.26}{\watt\per\meter\per\kelvin}$$&#10;\end{document}"/>
  <p:tag name="IGUANATEXSIZE" val="18"/>
  <p:tag name="IGUANATEXCURSOR" val="101"/>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30.xml><?xml version="1.0" encoding="utf-8"?>
<p:tagLst xmlns:a="http://schemas.openxmlformats.org/drawingml/2006/main" xmlns:r="http://schemas.openxmlformats.org/officeDocument/2006/relationships" xmlns:p="http://schemas.openxmlformats.org/presentationml/2006/main">
  <p:tag name="OUTPUTDPI" val="1200"/>
  <p:tag name="ORIGINALHEIGHT" val="2206.974"/>
  <p:tag name="ORIGINALWIDTH" val="4458.193"/>
  <p:tag name="OUTPUTTYPE" val="PNG"/>
  <p:tag name="IGUANATEXVERSION" val="160"/>
  <p:tag name="LATEXADDIN" val="\documentclass{article}&#10;\usepackage{amsmath, amssymb}&#10;\usepackage{xcolor}&#10;\usepackage[paperwidth=18cm]{geometry}&#10;\pagestyle{empty}&#10;\begin{document}&#10;&#10;&#10;\textbf{(a)} Pour une conduction unidimensionnelle en régime permanent, avec une génération volumique de chaleur uniforme et des propriétés constantes, l’équation de diffusion thermique est :&#10;\begin{equation}&#10;\dfrac{d}{dx} \left( k \dfrac{dT}{dx} \right) + Q =0&#10;\end{equation}&#10;La distribution parabolique de température, sachant que $k=C^{te}$, vérifie cette équation.&#10;&#10;On note que la distribution de température doit être quadratique, avec une valeur maximale à $x = 0$. À $x = 0$, le flux de chaleur est&#10;&#10;\begin{equation}&#10;q_x''(0) = -k \left. \frac{dT}{dx} \right|_{x=0} = -k \left[ 0 + \frac{Q \; L^2}{2k} \left( 0 - \frac{2x}{L^2} \right) \right]_{x=0} = 0&#10;\end{equation}&#10;&#10;de sorte que le gradient en $x = 0$ est nul. Par conséquent, le fond est isolé.&#10;&#10; &#10;\end{document}"/>
  <p:tag name="IGUANATEXSIZE" val="16"/>
  <p:tag name="IGUANATEXCURSOR" val="908"/>
  <p:tag name="TRANSPARENCY" val="Vrai"/>
  <p:tag name="FILENAME" val=""/>
  <p:tag name="LATEXENGINEID" val="0"/>
  <p:tag name="TEMPFOLDER" val="c:\temp\"/>
  <p:tag name="LATEXFORMHEIGHT" val="509.4"/>
  <p:tag name="LATEXFORMWIDTH" val="596.4"/>
  <p:tag name="LATEXFORMWRAP" val="Vrai"/>
  <p:tag name="BITMAPVECTOR" val="0"/>
</p:tagLst>
</file>

<file path=ppt/tags/tag31.xml><?xml version="1.0" encoding="utf-8"?>
<p:tagLst xmlns:a="http://schemas.openxmlformats.org/drawingml/2006/main" xmlns:r="http://schemas.openxmlformats.org/officeDocument/2006/relationships" xmlns:p="http://schemas.openxmlformats.org/presentationml/2006/main">
  <p:tag name="OUTPUTDPI" val=" 1200"/>
  <p:tag name="ORIGINALHEIGHT" val=" 128.9839"/>
  <p:tag name="ORIGINALWIDTH" val=" 1277.09"/>
  <p:tag name="OUTPUTTYPE" val="PNG"/>
  <p:tag name="IGUANATEXVERSION" val="162"/>
  <p:tag name="LATEXADDIN" val="\documentclass{article}&#10;\usepackage{amsmath}&#10;\usepackage{siunitx}&#10;\pagestyle{empty}&#10;\begin{document}&#10;&#10;$$k_{coal} = \SI{0.26}{\watt\per\meter\per\kelvin}$$&#10;\end{document}"/>
  <p:tag name="IGUANATEXSIZE" val="18"/>
  <p:tag name="IGUANATEXCURSOR" val="101"/>
  <p:tag name="TRANSPARENCY" val="Vrai"/>
  <p:tag name="CHOOSECOLOR" val="Faux"/>
  <p:tag name="COLORHEX" val="000000"/>
  <p:tag name="FILENAME" val=""/>
  <p:tag name="LATEXENGINEID" val="0"/>
  <p:tag name="TEMPFOLDER" val="c:\temp\"/>
  <p:tag name="LATEXFORMHEIGHT" val=" 320"/>
  <p:tag name="LATEXFORMWIDTH" val=" 385"/>
  <p:tag name="LATEXFORMWRAP" val="Vrai"/>
  <p:tag name="BITMAPVECTOR" val="0"/>
</p:tagLst>
</file>

<file path=ppt/tags/tag32.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066.742"/>
  <p:tag name="OUTPUTTYPE" val="PNG"/>
  <p:tag name="IGUANATEXVERSION" val="160"/>
  <p:tag name="LATEXADDIN" val="\documentclass{article}&#10;\usepackage{amsmath}&#10;\usepackage{xcolor}&#10;\pagestyle{empty}&#10;\begin{document}&#10;&#10;{\color{red} ATTENTION: T(x) en abs., x en ord.}&#10;&#10;&#10;&#10;&#10;\end{document}"/>
  <p:tag name="IGUANATEXSIZE" val="16"/>
  <p:tag name="IGUANATEXCURSOR" val="137"/>
  <p:tag name="TRANSPARENCY" val="Vrai"/>
  <p:tag name="FILENAME" val=""/>
  <p:tag name="LATEXENGINEID" val="0"/>
  <p:tag name="TEMPFOLDER" val="c:\temp\"/>
  <p:tag name="LATEXFORMHEIGHT" val="320"/>
  <p:tag name="LATEXFORMWIDTH" val="385"/>
  <p:tag name="LATEXFORMWRAP" val="Vrai"/>
  <p:tag name="BITMAPVECTOR" val="0"/>
</p:tagLst>
</file>

<file path=ppt/tags/tag33.xml><?xml version="1.0" encoding="utf-8"?>
<p:tagLst xmlns:a="http://schemas.openxmlformats.org/drawingml/2006/main" xmlns:r="http://schemas.openxmlformats.org/officeDocument/2006/relationships" xmlns:p="http://schemas.openxmlformats.org/presentationml/2006/main">
  <p:tag name="OUTPUTDPI" val="1200"/>
  <p:tag name="ORIGINALHEIGHT" val="2988.376"/>
  <p:tag name="ORIGINALWIDTH" val="4812.898"/>
  <p:tag name="OUTPUTTYPE" val="PNG"/>
  <p:tag name="IGUANATEXVERSION" val="160"/>
  <p:tag name="LATEXADDIN" val="\documentclass{article}&#10;\usepackage{amsmath}&#10;\usepackage[paperwidth=23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10;\begin{document}&#10;&#10;\subsection*{b) Conservation du flux thermique en surface}&#10;&#10;Sur la surface supérieure, la conservation du flux thermique impose par unité de surface:&#10;&#10;$$&#10;\lim_{e \rightarrow 0} Q\; e +\alpha_s\; G_s- \rtvector{q}''_{\text{cond}} \cdot \rtvector{n}_{12} - &#10;\rtvector{q}''_{\text{conv}} \cdot \rtvector{n}_{21} - \rtvector{q}''_{\text{rad}} \cdot \rtvector{n}_{21} =0&#10;$$&#10;&#10;\noindent&#10;où $\rtvector{n}_{21} = -\rtvector{n}_{12}$ et Q une fonction constante par morceaux.&#10;&#10;\noindent Comme $\lim_{e \rightarrow 0} Q\; e=0$, l'expression se réduit à:&#10;&#10;$$\alpha_s\; G_s-\rtvector{q}''_{\text{cond}} \cdot \rtvector{n}_{12} - &#10;\rtvector{q}''_{\text{conv}} \cdot \rtvector{n}_{21} - \rtvector{q}''_{\text{rad}} \cdot \rtvector{n}_{21} &#10;=0&#10;$$&#10;&#10;avec $$\rtvector{q}''_{\text{cond}}\cdot \rtvector{n}_{12} = -k \; \left. \dfrac{\partial T}{\partial x} \right|_L\; \rtvector{e}_{x} \cdot \rtvector{n}_{12} =k \; \left. \dfrac{\partial T}{\partial x} \right|_L$$.&#10;Comme $&#10;T(x) = T_s + \frac{Q\;L^2}{2k}\left(1 - \frac{x^2}{L^2}\right)&#10;$, on a en $x=L$:&#10;$\rtvector{q}''_{\text{cond}}\cdot \rtvector{n}_{12} = k \; \left. \dfrac{\partial T}{\partial x} \right|_L = -Q\;L&#10;$.&#10;&#10;$$\rtvector{q}_{\text{conv}} \cdot \rtvector{n}_{21}  + \rtvector{q}_{\text{rad}} \cdot \rtvector{n}_{21} =&#10; h(T_s-T_\infty) + \epsilon \sigma (T_s^4-T_{sur}^4) &#10;$$&#10;&#10;Le bilan s'écrit finalement:&#10;\begin{equation*}&#10;\alpha_s \; G_S  + Q\; L - h(T_s - T_\infty) - \varepsilon\sigma (T_s^4 -T_{sur}^4) = 0&#10;\end{equation*}&#10;\end{document}"/>
  <p:tag name="IGUANATEXSIZE" val="18"/>
  <p:tag name="IGUANATEXCURSOR" val="1064"/>
  <p:tag name="TRANSPARENCY" val="Vrai"/>
  <p:tag name="FILENAME" val=""/>
  <p:tag name="LATEXENGINEID" val="0"/>
  <p:tag name="TEMPFOLDER" val="c:\temp\"/>
  <p:tag name="LATEXFORMHEIGHT" val="468.6"/>
  <p:tag name="LATEXFORMWIDTH" val="715.2"/>
  <p:tag name="LATEXFORMWRAP" val="Vrai"/>
  <p:tag name="BITMAPVECTOR" val="0"/>
</p:tagLst>
</file>

<file path=ppt/tags/tag34.xml><?xml version="1.0" encoding="utf-8"?>
<p:tagLst xmlns:a="http://schemas.openxmlformats.org/drawingml/2006/main" xmlns:r="http://schemas.openxmlformats.org/officeDocument/2006/relationships" xmlns:p="http://schemas.openxmlformats.org/presentationml/2006/main">
  <p:tag name="OUTPUTDPI" val="1200"/>
  <p:tag name="ORIGINALHEIGHT" val="74.24071"/>
  <p:tag name="ORIGINALWIDTH" val="555.6805"/>
  <p:tag name="OUTPUTTYPE" val="PNG"/>
  <p:tag name="IGUANATEXVERSION" val="160"/>
  <p:tag name="LATEXADDIN" val="\documentclass{article}&#10;\usepackage{amsmath}&#10;\pagestyle{empty}&#10;\begin{document}&#10;&#10;$n_{21}=n_{ext}$&#10;&#10;&#10;\end{document}"/>
  <p:tag name="IGUANATEXSIZE" val="20"/>
  <p:tag name="IGUANATEXCURSOR" val="96"/>
  <p:tag name="TRANSPARENCY" val="Vrai"/>
  <p:tag name="FILENAME" val=""/>
  <p:tag name="LATEXENGINEID" val="0"/>
  <p:tag name="TEMPFOLDER" val="c:\temp\"/>
  <p:tag name="LATEXFORMHEIGHT" val="320"/>
  <p:tag name="LATEXFORMWIDTH" val="385"/>
  <p:tag name="LATEXFORMWRAP" val="Vrai"/>
  <p:tag name="BITMAPVECTOR" val="0"/>
</p:tagLst>
</file>

<file path=ppt/tags/tag35.xml><?xml version="1.0" encoding="utf-8"?>
<p:tagLst xmlns:a="http://schemas.openxmlformats.org/drawingml/2006/main" xmlns:r="http://schemas.openxmlformats.org/officeDocument/2006/relationships" xmlns:p="http://schemas.openxmlformats.org/presentationml/2006/main">
  <p:tag name="OUTPUTDPI" val="1200"/>
  <p:tag name="ORIGINALHEIGHT" val="73.49078"/>
  <p:tag name="ORIGINALWIDTH" val="165.7293"/>
  <p:tag name="OUTPUTTYPE" val="PNG"/>
  <p:tag name="IGUANATEXVERSION" val="160"/>
  <p:tag name="LATEXADDIN" val="\documentclass{article}&#10;\usepackage{amsmath}&#10;\pagestyle{empty}&#10;\begin{document}&#10;&#10;$n_{12}$&#10;&#10;&#10;\end{document}"/>
  <p:tag name="IGUANATEXSIZE" val="20"/>
  <p:tag name="IGUANATEXCURSOR" val="88"/>
  <p:tag name="TRANSPARENCY" val="Vrai"/>
  <p:tag name="FILENAME" val=""/>
  <p:tag name="LATEXENGINEID" val="0"/>
  <p:tag name="TEMPFOLDER" val="c:\temp\"/>
  <p:tag name="LATEXFORMHEIGHT" val="320"/>
  <p:tag name="LATEXFORMWIDTH" val="385"/>
  <p:tag name="LATEXFORMWRAP" val="Vrai"/>
  <p:tag name="BITMAPVECTOR" val="0"/>
</p:tagLst>
</file>

<file path=ppt/tags/tag36.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86.23921"/>
  <p:tag name="OUTPUTTYPE" val="PNG"/>
  <p:tag name="IGUANATEXVERSION" val="160"/>
  <p:tag name="LATEXADDIN" val="\documentclass{article}&#10;\usepackage{amsmath}&#10;\pagestyle{empty}&#10;\begin{document}&#10;&#10;$$Q$$&#10;&#10;&#10;\end{document}"/>
  <p:tag name="IGUANATEXSIZE" val="18"/>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37.xml><?xml version="1.0" encoding="utf-8"?>
<p:tagLst xmlns:a="http://schemas.openxmlformats.org/drawingml/2006/main" xmlns:r="http://schemas.openxmlformats.org/officeDocument/2006/relationships" xmlns:p="http://schemas.openxmlformats.org/presentationml/2006/main">
  <p:tag name="OUTPUTDPI" val="1200"/>
  <p:tag name="ORIGINALHEIGHT" val="56.24299"/>
  <p:tag name="ORIGINALWIDTH" val="48.74394"/>
  <p:tag name="OUTPUTTYPE" val="PNG"/>
  <p:tag name="IGUANATEXVERSION" val="160"/>
  <p:tag name="LATEXADDIN" val="\documentclass{article}&#10;\usepackage{amsmath}&#10;\pagestyle{empty}&#10;\begin{document}&#10;&#10;$$e$$&#10;&#10;&#10;\end{document}"/>
  <p:tag name="IGUANATEXSIZE" val="18"/>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38.xml><?xml version="1.0" encoding="utf-8"?>
<p:tagLst xmlns:a="http://schemas.openxmlformats.org/drawingml/2006/main" xmlns:r="http://schemas.openxmlformats.org/officeDocument/2006/relationships" xmlns:p="http://schemas.openxmlformats.org/presentationml/2006/main">
  <p:tag name="OUTPUTDPI" val="1200"/>
  <p:tag name="ORIGINALHEIGHT" val="85.48929"/>
  <p:tag name="ORIGINALWIDTH" val="291.7135"/>
  <p:tag name="OUTPUTTYPE" val="PNG"/>
  <p:tag name="IGUANATEXVERSION" val="160"/>
  <p:tag name="LATEXADDIN" val="\documentclass{article}&#10;\usepackage{amsmath}&#10;\pagestyle{empty}&#10;\begin{document}&#10;&#10;&#10;$x=0$&#10;&#10;\end{document}"/>
  <p:tag name="IGUANATEXSIZE" val="18"/>
  <p:tag name="IGUANATEXCURSOR" val="87"/>
  <p:tag name="TRANSPARENCY" val="Vrai"/>
  <p:tag name="FILENAME" val=""/>
  <p:tag name="LATEXENGINEID" val="0"/>
  <p:tag name="TEMPFOLDER" val="c:\temp\"/>
  <p:tag name="LATEXFORMHEIGHT" val="320"/>
  <p:tag name="LATEXFORMWIDTH" val="385"/>
  <p:tag name="LATEXFORMWRAP" val="Vrai"/>
  <p:tag name="BITMAPVECTOR" val="0"/>
</p:tagLst>
</file>

<file path=ppt/tags/tag39.xml><?xml version="1.0" encoding="utf-8"?>
<p:tagLst xmlns:a="http://schemas.openxmlformats.org/drawingml/2006/main" xmlns:r="http://schemas.openxmlformats.org/officeDocument/2006/relationships" xmlns:p="http://schemas.openxmlformats.org/presentationml/2006/main">
  <p:tag name="OUTPUTDPI" val="1200"/>
  <p:tag name="ORIGINALHEIGHT" val="86.23921"/>
  <p:tag name="ORIGINALWIDTH" val="314.2107"/>
  <p:tag name="OUTPUTTYPE" val="PNG"/>
  <p:tag name="IGUANATEXVERSION" val="160"/>
  <p:tag name="LATEXADDIN" val="\documentclass{article}&#10;\usepackage{amsmath}&#10;\pagestyle{empty}&#10;\begin{document}&#10;&#10;&#10;$x=L$&#10;&#10;\end{document}"/>
  <p:tag name="IGUANATEXSIZE" val="18"/>
  <p:tag name="IGUANATEXCURSOR" val="86"/>
  <p:tag name="TRANSPARENCY" val="Vrai"/>
  <p:tag name="FILENAME" val=""/>
  <p:tag name="LATEXENGINEID" val="0"/>
  <p:tag name="TEMPFOLDER" val="c:\temp\"/>
  <p:tag name="LATEXFORMHEIGHT" val="320"/>
  <p:tag name="LATEXFORMWIDTH" val="385"/>
  <p:tag name="LATEXFORMWRAP" val="Vrai"/>
  <p:tag name="BITMAPVECTOR" val="0"/>
</p:tagLst>
</file>

<file path=ppt/tags/tag40.xml><?xml version="1.0" encoding="utf-8"?>
<p:tagLst xmlns:a="http://schemas.openxmlformats.org/drawingml/2006/main" xmlns:r="http://schemas.openxmlformats.org/officeDocument/2006/relationships" xmlns:p="http://schemas.openxmlformats.org/presentationml/2006/main">
  <p:tag name="OUTPUTDPI" val="1200"/>
  <p:tag name="ORIGINALHEIGHT" val="1892.763"/>
  <p:tag name="ORIGINALWIDTH" val="5691.789"/>
  <p:tag name="OUTPUTTYPE" val="PNG"/>
  <p:tag name="IGUANATEXVERSION" val="160"/>
  <p:tag name="LATEXADDIN" val="\documentclass{article}&#10;\usepackage{amsmath}&#10;\usepackage[paperwidth=23cm]{geometry}&#10;\pagestyle{empty}&#10;\begin{document}&#10;&#10;\begin{equation}&#10;Q\; L - h(T_s - T_\infty) + 0.95G_S - \varepsilon\sigma (T_s^4-T_{sur}^4) = 0&#10;\end{equation}&#10;&#10;Numériquement, on a:&#10;\begin{equation}&#10;10 \times 1\, - 8\,(T_s - 303) + 0.95 \times 500\, - 0.95 \times 5.67 \times 10^{-8}\,(T_s^4-293^4) = 0&#10;\end{equation}&#10;&#10;\begin{equation}&#10;T_s = 331.72\,\text{K} = 58.6^{\circ} \text{C}&#10;\end{equation}&#10;&#10;En $x=0$&#10;\begin{equation}&#10;T(0) = T_s + \frac{Q\;L^2}{2k} = 77.8^{\circ} \text{C}&#10;\end{equation}&#10;&#10;Sans prendre en compte $G_{sur}$, on sous-estime $T_s = = 305.20 K = 32.05^\circ C$&#10;L’effet est naturellement d'augmenter les valeurs de&#10;$T_s$ donc de $T(0)$ prédites par ce modèle.&#10;\end{document}"/>
  <p:tag name="IGUANATEXSIZE" val="18"/>
  <p:tag name="IGUANATEXCURSOR" val="716"/>
  <p:tag name="TRANSPARENCY" val="Vrai"/>
  <p:tag name="FILENAME" val=""/>
  <p:tag name="LATEXENGINEID" val="0"/>
  <p:tag name="TEMPFOLDER" val="c:\temp\"/>
  <p:tag name="LATEXFORMHEIGHT" val="320"/>
  <p:tag name="LATEXFORMWIDTH" val="630.6"/>
  <p:tag name="LATEXFORMWRAP" val="Vrai"/>
  <p:tag name="BITMAPVECTOR" val="0"/>
</p:tagLst>
</file>

<file path=ppt/tags/tag41.xml><?xml version="1.0" encoding="utf-8"?>
<p:tagLst xmlns:a="http://schemas.openxmlformats.org/drawingml/2006/main" xmlns:r="http://schemas.openxmlformats.org/officeDocument/2006/relationships" xmlns:p="http://schemas.openxmlformats.org/presentationml/2006/main">
  <p:tag name="OUTPUTDPI" val="1200"/>
  <p:tag name="ORIGINALHEIGHT" val="2941.882"/>
  <p:tag name="ORIGINALWIDTH" val="6189.726"/>
  <p:tag name="OUTPUTTYPE" val="PNG"/>
  <p:tag name="IGUANATEXVERSION" val="160"/>
  <p:tag name="LATEXADDIN" val="\documentclass{article}&#10;\usepackage{amsmath, amssymb}&#10;\usepackage{xcolor}&#10;\usepackage[paperwidth=25cm]{geometry}&#10;\pagestyle{empty}&#10;\begin{document}&#10;&#10;\section*{Exercice : équation de la chaleur en axisymétrie}&#10;&#10;Le but est d'écrire l'équation de diffusion de la chaleur en supposant que&#10;\begin{enumerate}&#10;    \item Milieu homogène.&#10;    \item La distribution de température est invariante selon $z$ et ne dépend que de $r$ : $T = T(r, t)$.&#10;    \item Régime transitoire.&#10;    \item Conductivité thermique dépendant de la température.&#10;\end{enumerate}&#10;&#10;Pour établir l'équation de diffusion de la chaleur en coordonnées cylindriques, considérons un élément de volume cylindrique de rayon $r$ et d'épaisseur $dr$.&#10;&#10;Le bilan énergétique sur cet élément s'écrit :&#10;\begin{equation}&#10;\dot{E}_{\text{in}} - \dot{E}_{\text{out}} + \dot{E}_{\text{g}} = \dot{E}_{\text{st}}&#10;\end{equation}&#10;&#10;En régime transitoire, $\dot{E}_{\text{st}} = \rho c_p \; V \frac{\partial T}{\partial t} = \rho c_p \; (2\pi r L \, dr) \frac{\partial T}{\partial t}$, donc :&#10;\begin{equation}&#10;q_r - q_{r+dr} + \dot{E}_{\text{g}} = \rho c_p \; (2\pi r L \, dr) \frac{\partial T}{\partial t}&#10;\end{equation}&#10;&#10;&#10;\end{document}&#10;"/>
  <p:tag name="IGUANATEXSIZE" val="18"/>
  <p:tag name="IGUANATEXCURSOR" val="1082"/>
  <p:tag name="TRANSPARENCY" val="Vrai"/>
  <p:tag name="FILENAME" val=""/>
  <p:tag name="LATEXENGINEID" val="0"/>
  <p:tag name="TEMPFOLDER" val="c:\temp\"/>
  <p:tag name="LATEXFORMHEIGHT" val="509.4"/>
  <p:tag name="LATEXFORMWIDTH" val="596.4"/>
  <p:tag name="LATEXFORMWRAP" val="Vrai"/>
  <p:tag name="BITMAPVECTOR" val="0"/>
</p:tagLst>
</file>

<file path=ppt/tags/tag42.xml><?xml version="1.0" encoding="utf-8"?>
<p:tagLst xmlns:a="http://schemas.openxmlformats.org/drawingml/2006/main" xmlns:r="http://schemas.openxmlformats.org/officeDocument/2006/relationships" xmlns:p="http://schemas.openxmlformats.org/presentationml/2006/main">
  <p:tag name="OUTPUTDPI" val="1200"/>
  <p:tag name="ORIGINALHEIGHT" val="2939.632"/>
  <p:tag name="ORIGINALWIDTH" val="6182.977"/>
  <p:tag name="OUTPUTTYPE" val="PNG"/>
  <p:tag name="IGUANATEXVERSION" val="160"/>
  <p:tag name="LATEXADDIN" val="\documentclass{article}&#10;\usepackage{amsmath, amssymb}&#10;\usepackage{xcolor}&#10;\usepackage[paperwidth=25cm]{geometry}&#10;\pagestyle{empty}&#10;\begin{document}&#10;&#10;\begin{equation}&#10;q_r - q_{r+dr} + \dot{E}_{\text{g}} = \rho c_p \; (2\pi r L \, dr) \frac{\partial T}{\partial t}&#10;\end{equation}&#10;&#10;où :&#10;\begin{itemize}&#10;    \item $q_r$ : flux de chaleur entrant à la position $r$&#10;    \item $q_{r+dr}$ : flux de chaleur sortant à la position $r + dr$&#10;    \item $\dot{E}_{\text{gen}}$ : génération de chaleur dans l'élément&#10;\end{itemize}&#10;&#10;Le flux de chaleur radial s'exprime par la loi de Fourier :&#10;\begin{equation}&#10;q_r = -kA_r\frac{dT}{dr} = -k(2\pi r L)\frac{dT}{dr}&#10;\end{equation}&#10;&#10;où $A_r = 2\pi r L$ est la surface cylindrique à la position $r$.&#10;&#10;Le flux à la position $r + dr$ est :&#10;\begin{equation}&#10;q_{r+dr} = q_r + \frac{dq_r}{dr}dr = -k(2\pi r L)\frac{dT}{dr} - (2\pi L)\frac{d}{dr}\left(k \; r\frac{dT}{dr}\right)dr&#10;\end{equation}&#10;en notant que $k(T(r))$ dépend implicitement de $r$.&#10;&#10;\end{document}&#10;"/>
  <p:tag name="IGUANATEXSIZE" val="18"/>
  <p:tag name="IGUANATEXCURSOR" val="199"/>
  <p:tag name="TRANSPARENCY" val="Vrai"/>
  <p:tag name="FILENAME" val=""/>
  <p:tag name="LATEXENGINEID" val="0"/>
  <p:tag name="TEMPFOLDER" val="c:\temp\"/>
  <p:tag name="LATEXFORMHEIGHT" val="509.4"/>
  <p:tag name="LATEXFORMWIDTH" val="596.4"/>
  <p:tag name="LATEXFORMWRAP" val="Vrai"/>
  <p:tag name="BITMAPVECTOR" val="0"/>
</p:tagLst>
</file>

<file path=ppt/tags/tag43.xml><?xml version="1.0" encoding="utf-8"?>
<p:tagLst xmlns:a="http://schemas.openxmlformats.org/drawingml/2006/main" xmlns:r="http://schemas.openxmlformats.org/officeDocument/2006/relationships" xmlns:p="http://schemas.openxmlformats.org/presentationml/2006/main">
  <p:tag name="OUTPUTDPI" val=" 1200"/>
  <p:tag name="ORIGINALHEIGHT" val=" 1653.543"/>
  <p:tag name="ORIGINALWIDTH" val=" 5995.5"/>
  <p:tag name="OUTPUTTYPE" val="PNG"/>
  <p:tag name="IGUANATEXVERSION" val="162"/>
  <p:tag name="LATEXADDIN" val="\documentclass{article}&#10;\usepackage{amsmath, amssymb}&#10;\usepackage{xcolor}&#10;\usepackage[paperwidth=25cm]{geometry}&#10;\pagestyle{empty}&#10;\begin{document}&#10;&#10;La génération de chaleur dans l'élément de volume $dV = 2\pi r L \, dr$ est :&#10;\begin{equation}&#10;\dot{E}_{\text{gen}} = Q\; (2\pi r L \, dr)&#10;\end{equation}&#10;&#10;En substituant dans le bilan énergétique :&#10;\begin{equation}&#10;-k(2\pi r L)\frac{\partial T}{\partial r} + (2\pi L)\frac{\partial}{\partial r}\left(k\; r\frac{\partial T}{\partial r}\right)dr + Q\; (2\pi r L \, dr) = \rho c_p \; (2\pi r L \, dr) \frac{\partial T}{\partial t}&#10;\end{equation}&#10;&#10;En divisant par $2\pi L \; r\; dr$ :&#10;\begin{equation}&#10;\frac{1}{r}\frac{\partial}{\partial r}\left(k\; r\frac{\partial T}{\partial r}\right) + Q = \rho c_p \; \frac{\partial T}{\partial t}&#10;\end{equation}&#10;&#10;\end{document}&#10;"/>
  <p:tag name="IGUANATEXSIZE" val="18"/>
  <p:tag name="IGUANATEXCURSOR" val="796"/>
  <p:tag name="TRANSPARENCY" val="Vrai"/>
  <p:tag name="CHOOSECOLOR" val="Faux"/>
  <p:tag name="COLORHEX" val="000000"/>
  <p:tag name="FILENAME" val=""/>
  <p:tag name="LATEXENGINEID" val="0"/>
  <p:tag name="TEMPFOLDER" val="c:\temp\"/>
  <p:tag name="LATEXFORMHEIGHT" val=" 509.4"/>
  <p:tag name="LATEXFORMWIDTH" val=" 596.4"/>
  <p:tag name="LATEXFORMWRAP" val="Vrai"/>
  <p:tag name="BITMAPVECTOR" val="0"/>
</p:tagLst>
</file>

<file path=ppt/tags/tag44.xml><?xml version="1.0" encoding="utf-8"?>
<p:tagLst xmlns:a="http://schemas.openxmlformats.org/drawingml/2006/main" xmlns:r="http://schemas.openxmlformats.org/officeDocument/2006/relationships" xmlns:p="http://schemas.openxmlformats.org/presentationml/2006/main">
  <p:tag name="OUTPUTDPI" val=" 1200"/>
  <p:tag name="ORIGINALHEIGHT" val=" 2572.178"/>
  <p:tag name="ORIGINALWIDTH" val=" 6191.976"/>
  <p:tag name="OUTPUTTYPE" val="PNG"/>
  <p:tag name="IGUANATEXVERSION" val="162"/>
  <p:tag name="LATEXADDIN" val="\documentclass{article}&#10;\usepackage{amsmath, amssymb}&#10;\usepackage{xcolor}&#10;\usepackage[paperwidth=25cm]{geometry}&#10;\pagestyle{empty}&#10;\begin{document}&#10;&#10;\section*{Exercice : équation de la chaleur en symétrie radiale}&#10;&#10;Le but est d'écrire l'équation de diffusion de la chaleur en supposant que&#10;\begin{enumerate}&#10;    \item Milieu homogène.&#10;    \item La distribution de température est invariante selon $z$ et ne dépend que de $r$ : $T = T(r, t)$.&#10;    \item Régime transitoire.&#10;    \item Conductivité thermique $k(T(r))$ dépendant de la température.&#10;\end{enumerate}&#10;&#10;Montrer qu'elle s'écrit :&#10;\begin{equation}&#10;\boxed{&#10;\frac{1}{r^2}\frac{\partial}{\partial r}\left(k\; r^2\frac{\partial T}{\partial r}\right) + Q = \rho c_p \; \frac{\partial T}{\partial t}&#10;}&#10;\end{equation}&#10;&#10;Indication : prendre une couronne sphérique de rayon $r$ et d'épaisseur $dr$ et écrire de nouveau l'équation bilan &#10;énergétique :&#10;\begin{equation}&#10;\dot{E}_{\text{in}} - \dot{E}_{\text{out}} + \dot{E}_{\text{gen}} = \dot{E}_{\text{st}}&#10;\end{equation}&#10;&#10;\end{document}&#10;"/>
  <p:tag name="IGUANATEXSIZE" val="18"/>
  <p:tag name="IGUANATEXCURSOR" val="515"/>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45.xml><?xml version="1.0" encoding="utf-8"?>
<p:tagLst xmlns:a="http://schemas.openxmlformats.org/drawingml/2006/main" xmlns:r="http://schemas.openxmlformats.org/officeDocument/2006/relationships" xmlns:p="http://schemas.openxmlformats.org/presentationml/2006/main">
  <p:tag name="OUTPUTDPI" val=" 1200"/>
  <p:tag name="ORIGINALHEIGHT" val=" 3610.049"/>
  <p:tag name="ORIGINALWIDTH" val=" 6193.476"/>
  <p:tag name="OUTPUTTYPE" val="PNG"/>
  <p:tag name="IGUANATEXVERSION" val="162"/>
  <p:tag name="LATEXADDIN" val="\documentclass{article}&#10;\usepackage{amsmath, amssymb}&#10;\usepackage{xcolor}&#10;\usepackage[paperwidth=25cm]{geometry}&#10;\pagestyle{empty}&#10;\begin{document}&#10;&#10;\subsection*{Exercice : distribution de température dans un système sphérique composite}&#10;&#10;Le système est composé d'une source de chaleur sphérique de rayon $R_i$&#10;entourée d'une coque sphérique isolante d'épaisseur constante $R_e-R_i$ de même centre.&#10;Les conductivités thermiques sont notées $k_1$ et $k_2$. &#10;La densité volumique de puissance thermique générée par la source&#10;est noté $Q$.&#10;&#10;L'extérieur de la couche isolante échange de la chaleur par convection avec un gaz à la température $T_\infty$.&#10;On note $h$ le coefficient d'échange.&#10;&#10;On se place à l'équilibre thermodynamique, quelles sont les hypothèses pour que la distribution de température&#10;soit solution de :&#10;\begin{equation}&#10;\frac{1}{r^2}\frac{\partial}{\partial r}\left(k(r)\; r^2\frac{\partial T}{\partial r}\right) + Q(r) = 0&#10;\end{equation}&#10;&#10;Ecrire les relations de continuité aux 2 interfaces.&#10;&#10;&#10;Déterminer analytiquement la distribution de température dans le cœur (D1 : $r \in [0, R_i[$ ) et dans la coque sphérique (D2 : $r \in [R_i, R_e[$ ). La solution analytique est de la forme : &#10;\begin{align}&#10;T(r) &amp;= a_1 r^2 + b_1 \quad \text{pour } r \in [0, R_i[ \\&#10;T(r) &amp;= -a_2 / r + b_2 \quad \text{pour } r \in [R_i, R_e[&#10;\end{align}&#10;Déterminer les expressions des coefficients $a_i$ et $b_i$.&#10;&#10;&#10;Montrer que l'expression de la température en surface est donnée par :&#10;\begin{equation}&#10;T(R_e) = T_\infty + \frac{Q}{3h} \frac{R_i^3}{R_e^2}&#10;\end{equation}&#10;où $R_i$ et $R_e$ sont les rayons des sphères de centre commun O.&#10;&#10;\end{document}&#10;"/>
  <p:tag name="IGUANATEXSIZE" val="18"/>
  <p:tag name="IGUANATEXCURSOR" val="1514"/>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46.xml><?xml version="1.0" encoding="utf-8"?>
<p:tagLst xmlns:a="http://schemas.openxmlformats.org/drawingml/2006/main" xmlns:r="http://schemas.openxmlformats.org/officeDocument/2006/relationships" xmlns:p="http://schemas.openxmlformats.org/presentationml/2006/main">
  <p:tag name="OUTPUTDPI" val=" 1200"/>
  <p:tag name="ORIGINALHEIGHT" val=" 3478.815"/>
  <p:tag name="ORIGINALWIDTH" val=" 6182.977"/>
  <p:tag name="OUTPUTTYPE" val="PNG"/>
  <p:tag name="IGUANATEXVERSION" val="162"/>
  <p:tag name="LATEXADDIN" val="\documentclass{article}&#10;\usepackage{amsmath, amssymb}&#10;\usepackage{xcolor}&#10;\usepackage[paperwidth=25cm]{geometry}&#10;\pagestyle{empty}&#10;\begin{document}&#10;&#10;\subsection*{Relations de continuité aux interfaces}&#10;&#10;\noindent&#10;Interface $r = R_i$ (cœur/coque):&#10;\begin{align}&#10;\text{Continuité de température : } &amp;\quad T_1(R_i) = T_2(R_i) \\&#10;\text{Continuité du flux thermique : } &amp;\quad -k_1 \left.\frac{dT_1}{dr}\right|_{r=R_i} = -k_2 \left.\frac{dT_2}{dr}\right|_{r=R_i}&#10;\end{align}&#10;&#10;\noindent&#10;Interface $r = R_e$ (coque/extérieur):&#10;\begin{equation}&#10;\text{Condition de convection : } \quad -k_2 \left.\frac{dT_2}{dr}\right|_{r=R_e} = h(T_2(R_e) - T_\infty)&#10;\end{equation}&#10;&#10;\subsection*{Domaine D1 : Cœur ($r \in [0, R_i[$)}&#10;&#10;Dans le cœur, $k(r) = k_1$ et $Q(r) = Q$ (constante). L'équation devient après développement :&#10;\begin{equation}&#10;\frac{d}{dr}\left(k_1 \; r^2\frac{dT_1}{dr}\right) = -Q r^2&#10;\end{equation}&#10;&#10;\noindent&#10;Première intégration :&#10;\begin{equation}&#10;r^2\frac{dT_1}{dr} = -\frac{Q}{k_1} \frac{r^3}{3} + C&#10;\end{equation}&#10;&#10;\noindent&#10;Pour que la température soit finie en $r = 0$, il faut $C = 0$.&#10;\end{document}&#10;"/>
  <p:tag name="IGUANATEXSIZE" val="18"/>
  <p:tag name="IGUANATEXCURSOR" val="643"/>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47.xml><?xml version="1.0" encoding="utf-8"?>
<p:tagLst xmlns:a="http://schemas.openxmlformats.org/drawingml/2006/main" xmlns:r="http://schemas.openxmlformats.org/officeDocument/2006/relationships" xmlns:p="http://schemas.openxmlformats.org/presentationml/2006/main">
  <p:tag name="OUTPUTDPI" val=" 1200"/>
  <p:tag name="ORIGINALHEIGHT" val=" 3538.058"/>
  <p:tag name="ORIGINALWIDTH" val=" 6182.228"/>
  <p:tag name="OUTPUTTYPE" val="PNG"/>
  <p:tag name="IGUANATEXVERSION" val="162"/>
  <p:tag name="LATEXADDIN" val="\documentclass{article}&#10;\usepackage{amsmath, amssymb}&#10;\usepackage{xcolor}&#10;\usepackage[paperwidth=25cm]{geometry}&#10;\pagestyle{empty}&#10;\begin{document}&#10;&#10;\noindent&#10;Donc :&#10;\begin{equation}&#10;\frac{dT_1}{dr} = -\frac{Q}{3k_1} r&#10;\end{equation}&#10;&#10;Deuxième intégration :&#10;\begin{equation}&#10;T_1(r) = -\frac{Q}{6k_1} r^2 + b_1&#10;\end{equation}&#10;&#10;En posant $a_1 = -\frac{Q}{6k_1}$, on obtient :&#10;\begin{equation}&#10;\boxed{T_1(r) = a_1 r^2 + b_1 \quad \text{avec } a_1 = -\frac{Q}{6k_1}}&#10;\end{equation}&#10;&#10;\subsection*{Domaine D2 : Coque ($r \in [R_i, R_e[$)}&#10;&#10;Dans la coque, $k(r) = k_2$ et $Q(r) = 0$. L'équation devient :&#10;\begin{equation}&#10;\frac{1}{r^2}\frac{d}{dr}\left(k_2 r^2\frac{dT_2}{dr}\right) = 0&#10;\end{equation}&#10;&#10;\begin{equation}&#10;\frac{d}{dr}\left(r^2\frac{dT_2}{dr}\right) = 0&#10;\end{equation}&#10;&#10;Première intégration :&#10;\begin{equation}&#10;r^2\frac{dT_2}{dr} = a_2&#10;\end{equation}&#10;&#10;\end{document}&#10;"/>
  <p:tag name="IGUANATEXSIZE" val="18"/>
  <p:tag name="IGUANATEXCURSOR" val="841"/>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48.xml><?xml version="1.0" encoding="utf-8"?>
<p:tagLst xmlns:a="http://schemas.openxmlformats.org/drawingml/2006/main" xmlns:r="http://schemas.openxmlformats.org/officeDocument/2006/relationships" xmlns:p="http://schemas.openxmlformats.org/presentationml/2006/main">
  <p:tag name="OUTPUTDPI" val=" 1200"/>
  <p:tag name="ORIGINALHEIGHT" val=" 3703.037"/>
  <p:tag name="ORIGINALWIDTH" val=" 6182.228"/>
  <p:tag name="OUTPUTTYPE" val="PNG"/>
  <p:tag name="IGUANATEXVERSION" val="162"/>
  <p:tag name="LATEXADDIN" val="\documentclass{article}&#10;\usepackage{amsmath, amssymb}&#10;\usepackage{xcolor}&#10;\usepackage[paperwidth=25cm]{geometry}&#10;\pagestyle{empty}&#10;\begin{document}&#10;&#10;\begin{equation}&#10;\frac{dT_2}{dr} = \frac{a_2}{r^2}&#10;\end{equation}&#10;&#10;Deuxième intégration :&#10;\begin{equation}&#10;T_2(r) = -\frac{a_2}{r} + b_2&#10;\end{equation}&#10;&#10;\subsection*{Application des conditions aux limites}&#10;&#10;\textbf{Condition 1 : Continuité de température en $r = R_i$}&#10;\begin{equation}&#10;a_1 R_i^2 + b_1 = -\frac{a_2}{R_i} + b_2 &#10;\end{equation}&#10;&#10;\noindent&#10;\textbf{Condition 2 : Continuité du flux en $r = R_i$}&#10;\begin{align}&#10;\frac{dT_1}{dr}\bigg|_{r=R_i} &amp;= 2a_1 R_i = -\frac{Q}{3k_1} R_i \\&#10;\frac{dT_2}{dr}\bigg|_{r=R_i} &amp;= \frac{a_2}{R_i^2}&#10;\end{align}&#10;&#10;\noindent&#10;La continuité du flux donne :&#10;\begin{equation}&#10;k_1 \left(-\frac{Q}{3k_1} R_i\right) = k_2 \frac{a_2}{R_i^2}&#10;\end{equation}&#10;&#10;\begin{equation}&#10;\boxed{a_2 = -\frac{Q R_i^3}{3k_2}} &#10;\end{equation}&#10;&#10;\end{document}&#10;"/>
  <p:tag name="IGUANATEXSIZE" val="18"/>
  <p:tag name="IGUANATEXCURSOR" val="712"/>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49.xml><?xml version="1.0" encoding="utf-8"?>
<p:tagLst xmlns:a="http://schemas.openxmlformats.org/drawingml/2006/main" xmlns:r="http://schemas.openxmlformats.org/officeDocument/2006/relationships" xmlns:p="http://schemas.openxmlformats.org/presentationml/2006/main">
  <p:tag name="OUTPUTDPI" val=" 1200"/>
  <p:tag name="ORIGINALHEIGHT" val=" 3421.073"/>
  <p:tag name="ORIGINALWIDTH" val=" 5995.5"/>
  <p:tag name="OUTPUTTYPE" val="PNG"/>
  <p:tag name="IGUANATEXVERSION" val="162"/>
  <p:tag name="LATEXADDIN" val="\documentclass{article}&#10;\usepackage{amsmath, amssymb}&#10;\usepackage{xcolor}&#10;\usepackage[paperwidth=25cm]{geometry}&#10;\pagestyle{empty}&#10;\begin{document}&#10;&#10;&#10;\textbf{Condition 3 : Convection en $r = R_e$}&#10;\begin{equation}&#10;-k_2 \frac{a_2}{R_e^2} = h\left(-\frac{a_2}{R_e} + b_2 - T_\infty\right)&#10;\end{equation}&#10;&#10;En substituant l'expression de $a_2$ :&#10;\begin{equation}&#10;-k_2 \left(-\frac{Q R_i^3}{3k_2 R_e^2}\right) = h\left(\frac{Q R_i^3}{3k_2 R_e} + b_2 - T_\infty\right)&#10;\end{equation}&#10;&#10;\begin{equation}&#10;\boxed{b_2 = T_\infty + \frac{Q R_i^3}{3h R_e^2} - \frac{Q R_i^3}{3k_2 R_e}} &#10;\end{equation}&#10;&#10;De l'équation (1) :&#10;\begin{equation}&#10;b_1 = -\frac{a_2}{R_i} + b_2 - a_1 R_i^2&#10;\end{equation}&#10;&#10;En substituant les valeurs :&#10;\begin{equation}&#10;b_1 = \frac{Q R_i^3}{3k_2 R_i} + T_\infty + \frac{Q R_i^3}{3h R_e^2} - \frac{Q R_i^3}{3k_2 R_e} + \frac{Q R_i^2}{6k_1}&#10;\end{equation}&#10;&#10;\begin{equation}&#10;\boxed{b_1 = T_\infty + \frac{Q R_i^3}{3h R_e^2} + \frac{Q R_i^2}{6k_1} + \frac{Q R_i^2}{3k_2}\left(1 - \frac{R_i}{R_e}\right)} &#10;\end{equation}&#10;\end{document}&#10;"/>
  <p:tag name="IGUANATEXSIZE" val="18"/>
  <p:tag name="IGUANATEXCURSOR" val="279"/>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50.xml><?xml version="1.0" encoding="utf-8"?>
<p:tagLst xmlns:a="http://schemas.openxmlformats.org/drawingml/2006/main" xmlns:r="http://schemas.openxmlformats.org/officeDocument/2006/relationships" xmlns:p="http://schemas.openxmlformats.org/presentationml/2006/main">
  <p:tag name="OUTPUTDPI" val=" 1200"/>
  <p:tag name="ORIGINALHEIGHT" val=" 3176.603"/>
  <p:tag name="ORIGINALWIDTH" val=" 6182.228"/>
  <p:tag name="OUTPUTTYPE" val="PNG"/>
  <p:tag name="IGUANATEXVERSION" val="162"/>
  <p:tag name="LATEXADDIN" val="\documentclass{article}&#10;\usepackage{amsmath, amssymb}&#10;\usepackage{esint} % Pour \oiint&#10;\usepackage{xcolor}&#10;\usepackage[paperwidth=25cm]{geometry}&#10;\pagestyle{empty}&#10;&#10;\newcommand{\gv}[1]{\ensuremath{\mbox{\boldmath$ #1 $}}} &#10;%\newcommand{\grad}[1]{\gv{\nabla} #1} % for gradient&#10;\let\divsymb=\div % rename builtin command \div to \divsymb&#10;%\renewcommand{\div}[1]{\gv{\nabla} \cdot #1} % for divergence&#10;&#10;%\newcommand{\grad}[1]{\mathbf{\mathrm{grad}} #1} % for gradient&#10;\newcommand{\grad}{\mathrm{grad} } % for gradient&#10;\renewcommand{\div}{\mathrm{div}} % for divergence&#10;\newcommand{\Tr}{\mathrm{Tr\; } } % for gradient&#10;&#10;\newcommand{\curl}[1]{\gv{\nabla} \times \bf{#1}\rm} % for curl&#10;\let\baraccent=\= % rename builtin command \= to \baraccent&#10;&#10;\newcommand*{\rtvector}[1]{\overline{#1}}&#10;\newcommand*{\rttensor}[1]{\overline{\overline{#1}}}&#10;\newcommand*{\rttensorthree}[1]{\overline{\overline{\overline{#1}}}}&#10;&#10;\newcommand*{\rttensortwo}[1]{\bar{\bar{#1}}}&#10;\newcommand{\tensorm}{%&#10;% Uncomment below to adjust the gap between the dots&#10;\setstackgap{S}{0.3ex}%&#10;\mathrel{\Shortstack{{.} {.} {.}}}}&#10;&#10;\begin{document}&#10;&#10;\subsection*{Température en surface}&#10;&#10;La température en surface ($r = R_e$) est :&#10;\begin{equation}&#10;T(R_e) = T_2(R_e) = -\frac{a_2}{R_e} + b_2&#10;\end{equation}&#10;&#10;\noindent&#10;En substituant les expressions de $a_2$ et $b_2$ :&#10;\begin{equation}&#10;T(R_e) = \frac{Q R_i^3}{3k_2 R_e} + T_\infty + \frac{Q R_i^3}{3h R_e^2} - \frac{Q R_i^3}{3k_2 R_e}&#10;\end{equation}&#10;&#10;\begin{equation}&#10;\boxed{T(R_e) = T_\infty + \frac{Q R_i^3}{3h R_e^2}}&#10;\end{equation}&#10;&#10;\subsection*{En utilisant le théorème de Gauss}&#10;&#10;En régime permanent, l'équation de la chaleur s'apparente à une équation de Poisson : $ \div (-k \nabla T) =Q$&#10;&#10;\begin{equation}&#10;\rtvector{q} = \oiint_{S_e} \rtvector{q}'' \cdot \rtvector{n} \; dS = &#10;h\; \left(T(R_e) - T_\infty \right) _; 4 \pi\; R_e^2 = \int_V d^3r \; Q = Q \;\dfrac{4 \pi}{3} R_i^3&#10;\end{equation}&#10;&#10;\noindent&#10;On en déduit l'expression de $T(R_e)$.&#10;\end{document}&#10;"/>
  <p:tag name="IGUANATEXSIZE" val="18"/>
  <p:tag name="IGUANATEXCURSOR" val="1845"/>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51.xml><?xml version="1.0" encoding="utf-8"?>
<p:tagLst xmlns:a="http://schemas.openxmlformats.org/drawingml/2006/main" xmlns:r="http://schemas.openxmlformats.org/officeDocument/2006/relationships" xmlns:p="http://schemas.openxmlformats.org/presentationml/2006/main">
  <p:tag name="OUTPUTDPI" val=" 1200"/>
  <p:tag name="ORIGINALHEIGHT" val=" 1334.083"/>
  <p:tag name="ORIGINALWIDTH" val=" 4128.234"/>
  <p:tag name="OUTPUTTYPE" val="PNG"/>
  <p:tag name="IGUANATEXVERSION" val="162"/>
  <p:tag name="LATEXADDIN" val="\documentclass{article}&#10;\usepackage{amsmath, amssymb}&#10;\usepackage{xcolor}&#10;\usepackage[paperwidth=25cm]{geometry}&#10;\usepackage{amsfonts}&#10;\usepackage{fancyhdr}&#10;\usepackage{graphicx}&#10;\usepackage{booktabs}&#10;\usepackage{array}&#10;\usepackage{siunitx}&#10;\usepackage{listings}&#10;\usepackage{xcolor}&#10;\usepackage{float}&#10;\pagestyle{empty}&#10;\begin{document}&#10;&#10;\begin{table}[h]&#10;\centering&#10;\label{tab:parametres}&#10;\begin{tabular}{lccc}&#10;\toprule&#10;\textbf{Paramètre} &amp; \textbf{Symbole} &amp; \textbf{Valeur} &amp; \textbf{Unité} \\&#10;\midrule&#10;Conductivité thermique du cœur &amp; $k_1$ &amp; 200 &amp; \si{\watt\per\meter\per\kelvin} \\&#10;Conductivité thermique de la coque &amp; $k_2$ &amp; 10 &amp; \si{\watt\per\meter\per\kelvin} \\&#10;Densité volumique de puissance &amp; $Q$ &amp; 1000 &amp; \si{\watt\per\meter\cubed} \\&#10;Coefficient d'échange convectif &amp; $h$ &amp; 10 &amp; \si{\watt\per\meter\squared\per\kelvin} \\&#10;Température ambiante &amp; $T_a$ &amp; 300 &amp; \si{\kelvin} \\&#10;Rayon intérieur &amp; $R_i$ &amp; 1 &amp; \si{\meter} \\&#10;Rayon extérieur &amp; $R_e$ &amp; 2 &amp; \si{\meter} \\&#10;\bottomrule&#10;\end{tabular}&#10;\end{table}&#10;&#10;&#10;\end{document}&#10;"/>
  <p:tag name="IGUANATEXSIZE" val="18"/>
  <p:tag name="IGUANATEXCURSOR" val="365"/>
  <p:tag name="TRANSPARENCY" val="Vrai"/>
  <p:tag name="CHOOSECOLOR" val="Faux"/>
  <p:tag name="COLORHEX" val="000000"/>
  <p:tag name="FILENAME" val=""/>
  <p:tag name="LATEXENGINEID" val="0"/>
  <p:tag name="TEMPFOLDER" val="c:\temp\"/>
  <p:tag name="LATEXFORMHEIGHT" val=" 509.4"/>
  <p:tag name="LATEXFORMWIDTH" val=" 767.4"/>
  <p:tag name="LATEXFORMWRAP" val="Vrai"/>
  <p:tag name="BITMAPVECTOR" val="0"/>
</p:tagLst>
</file>

<file path=ppt/tags/tag52.xml><?xml version="1.0" encoding="utf-8"?>
<p:tagLst xmlns:a="http://schemas.openxmlformats.org/drawingml/2006/main" xmlns:r="http://schemas.openxmlformats.org/officeDocument/2006/relationships" xmlns:p="http://schemas.openxmlformats.org/presentationml/2006/main">
  <p:tag name="OUTPUTDPI" val="1200"/>
  <p:tag name="ORIGINALHEIGHT" val="304.462"/>
  <p:tag name="ORIGINALWIDTH" val="1704.537"/>
  <p:tag name="OUTPUTTYPE" val="PNG"/>
  <p:tag name="IGUANATEXVERSION" val="160"/>
  <p:tag name="LATEXADDIN" val="\documentclass{article}&#10;\usepackage{amsmath}&#10;\pagestyle{empty}&#10;\begin{document}&#10;&#10;&#10;\begin{equation*}&#10;T(R_e) =  T_\infty + \frac{Q R_i^3}{3h R_e^2} = 308.3K\end{equation*}&#10;&#10;\end{document}"/>
  <p:tag name="IGUANATEXSIZE" val="18"/>
  <p:tag name="IGUANATEXCURSOR" val="168"/>
  <p:tag name="TRANSPARENCY" val="Vrai"/>
  <p:tag name="FILENAME" val=""/>
  <p:tag name="LATEXENGINEID" val="0"/>
  <p:tag name="TEMPFOLDER" val="c:\temp\"/>
  <p:tag name="LATEXFORMHEIGHT" val="320"/>
  <p:tag name="LATEXFORMWIDTH" val="385"/>
  <p:tag name="LATEXFORMWRAP" val="Vrai"/>
  <p:tag name="BITMAPVECTOR" val="0"/>
</p:tagLst>
</file>

<file path=ppt/tags/tag53.xml><?xml version="1.0" encoding="utf-8"?>
<p:tagLst xmlns:a="http://schemas.openxmlformats.org/drawingml/2006/main" xmlns:r="http://schemas.openxmlformats.org/officeDocument/2006/relationships" xmlns:p="http://schemas.openxmlformats.org/presentationml/2006/main">
  <p:tag name="OUTPUTDPI" val="1200"/>
  <p:tag name="ORIGINALHEIGHT" val="110.9861"/>
  <p:tag name="ORIGINALWIDTH" val="1213.348"/>
  <p:tag name="OUTPUTTYPE" val="PNG"/>
  <p:tag name="IGUANATEXVERSION" val="160"/>
  <p:tag name="LATEXADDIN" val="\documentclass{article}&#10;\usepackage{amsmath}&#10;\pagestyle{empty}&#10;\begin{document}&#10;&#10;sphère et couronne 3D&#10;&#10;&#10;\end{document}"/>
  <p:tag name="IGUANATEXSIZE" val="18"/>
  <p:tag name="IGUANATEXCURSOR" val="81"/>
  <p:tag name="TRANSPARENCY" val="Vrai"/>
  <p:tag name="FILENAME" val=""/>
  <p:tag name="LATEXENGINEID" val="0"/>
  <p:tag name="TEMPFOLDER" val="c:\temp\"/>
  <p:tag name="LATEXFORMHEIGHT" val="320"/>
  <p:tag name="LATEXFORMWIDTH" val="385"/>
  <p:tag name="LATEXFORMWRAP" val="Vrai"/>
  <p:tag name="BITMAPVECTOR" val="0"/>
</p:tagLst>
</file>

<file path=ppt/tags/tag54.xml><?xml version="1.0" encoding="utf-8"?>
<p:tagLst xmlns:a="http://schemas.openxmlformats.org/drawingml/2006/main" xmlns:r="http://schemas.openxmlformats.org/officeDocument/2006/relationships" xmlns:p="http://schemas.openxmlformats.org/presentationml/2006/main">
  <p:tag name="OUTPUTDPI" val="1200"/>
  <p:tag name="ORIGINALHEIGHT" val="3602.55"/>
  <p:tag name="ORIGINALWIDTH" val="6191.226"/>
  <p:tag name="OUTPUTTYPE" val="PNG"/>
  <p:tag name="IGUANATEXVERSION" val="160"/>
  <p:tag name="LATEXADDIN" val="\documentclass{article}&#10;\usepackage{amsmath, amssymb}&#10;\usepackage{xcolor}&#10;\usepackage{enumitem}&#10;\usepackage[paperwidth=25cm]{geometry}&#10;\pagestyle{empty}&#10;\begin{document}&#10;&#10;\subsection*{Exercice : solution analytique de l'équation de la chaleur sur un carré avec conditions aux limites mixtes}&#10;&#10;Soit un domaine carré $\Omega = [0,L] \times [0,L]$ de côté $L$. Nous cherchons à résoudre l'équation de la chaleur sans source en régime permanent :&#10;\begin{equation*}&#10;\Delta T = \frac{\partial^2 T}{\partial x^2} + \frac{\partial^2 T}{\partial y^2} = 0 \quad \text{dans } \Omega&#10;\end{equation*}&#10;avec les conditions aux limites suivantes :&#10;&#10;\begin{itemize}[itemsep=0pt, topsep=0pt, parsep=0pt, partopsep=0pt]&#10;\item \textbf{Condition de Dirichlet} sur le bord inférieur ($y = 0$) :&#10;$&#10;T(x,0) = T_0 \quad \text{pour } 0 \leq x \leq L&#10;$&#10;&#10;\item \textbf{Conditions de Robin} sur les trois autres côtés :&#10;\begin{align}&#10;\text{Côté droit } (x = L): \quad &amp;-k\frac{\partial T}{\partial x}\bigg|_{x=L} = h\; (T(L,y) - T_a) \\&#10;\text{Côté supérieur } (y = L): \quad &amp;-k\frac{\partial T}{\partial y}\bigg|_{y=L} = h\; (T(x,L) - T_a) \\&#10;\text{Côté gauche } (x = 0): \quad &amp;+k\frac{\partial T}{\partial x}\bigg|_{x=0} = h\;(T(0,y) - T_a)&#10;\end{align}&#10;\end{itemize}&#10;où :&#10;\begin{itemize}[itemsep=0pt, topsep=0pt, parsep=0pt, partopsep=0pt]&#10;\item $k$ est la conductivité thermique du matériau&#10;\item $h$ est le coefficient de transfert convectif&#10;\item $T_a$ est la température du fluide ambiant&#10;\item $T_0$ est la température imposée sur le bord inférieur&#10;\item $L$ est la dimension du côté du carré&#10;\end{itemize}&#10;\end{document}&#10;"/>
  <p:tag name="IGUANATEXSIZE" val="18"/>
  <p:tag name="IGUANATEXCURSOR" val="1196"/>
  <p:tag name="TRANSPARENCY" val="Vrai"/>
  <p:tag name="FILENAME" val=""/>
  <p:tag name="LATEXENGINEID" val="0"/>
  <p:tag name="TEMPFOLDER" val="c:\temp\"/>
  <p:tag name="LATEXFORMHEIGHT" val="509.4"/>
  <p:tag name="LATEXFORMWIDTH" val="767.4"/>
  <p:tag name="LATEXFORMWRAP" val="Vrai"/>
  <p:tag name="BITMAPVECTOR" val="0"/>
</p:tagLst>
</file>

<file path=ppt/tags/tag55.xml><?xml version="1.0" encoding="utf-8"?>
<p:tagLst xmlns:a="http://schemas.openxmlformats.org/drawingml/2006/main" xmlns:r="http://schemas.openxmlformats.org/officeDocument/2006/relationships" xmlns:p="http://schemas.openxmlformats.org/presentationml/2006/main">
  <p:tag name="OUTPUTDPI" val="1200"/>
  <p:tag name="ORIGINALHEIGHT" val="3610.799"/>
  <p:tag name="ORIGINALWIDTH" val="6182.228"/>
  <p:tag name="OUTPUTTYPE" val="PNG"/>
  <p:tag name="IGUANATEXVERSION" val="160"/>
  <p:tag name="LATEXADDIN" val="\documentclass{article}&#10;\usepackage{amsmath,amssymb,amsthm}&#10;\usepackage{xcolor}&#10;\usepackage{enumitem}&#10;\usepackage[paperwidth=25cm]{geometry}&#10;\pagestyle{empty}&#10;\begin{document}&#10;&#10;\subsection*{Adimensionnalisation}&#10;&#10;Pour traiter la géométrie carrée, introduisons les variables adimensionnelles suivantes :&#10;\begin{align}&#10;u &amp;= \frac{x}{L}, \quad v = \frac{y}{L} \\&#10;\theta &amp;= \frac{T - T_a}{T_0 - T_a} \\&#10;Bi &amp;= \frac{hL}{k} \quad \text{(nombre de Biot)}&#10;\end{align}&#10;&#10;L'équation de la chaleur sans source devient :&#10;\begin{equation}&#10;\frac{\partial^2 \theta}{\partial u^2} + \frac{\partial^2 \theta}{\partial v^2} = 0&#10;\end{equation}&#10;avec les conditions aux limites adimensionnelles :&#10;\begin{align}&#10;\theta(u,0) &amp;= 1 \quad \text{pour } 0 \leq u \leq 1 \\&#10;\frac{\partial \theta}{\partial u}\bigg|_{u=1} + Bi \cdot \theta(1,v) &amp;= 0 \quad \text{pour } 0 \leq v \leq 1 \\&#10;\frac{\partial \theta}{\partial v}\bigg|_{v=1} + Bi \cdot \theta(u,1) &amp;= 0 \quad \text{pour } 0 \leq u \leq 1 \\&#10;\frac{\partial \theta}{\partial u}\bigg|_{u=0} - Bi \cdot \theta(0,v) &amp;= 0 \quad \text{pour } 0 \leq v \leq 1&#10;\end{align}&#10;\end{document}"/>
  <p:tag name="IGUANATEXSIZE" val="18"/>
  <p:tag name="IGUANATEXCURSOR" val="303"/>
  <p:tag name="TRANSPARENCY" val="Vrai"/>
  <p:tag name="FILENAME" val=""/>
  <p:tag name="LATEXENGINEID" val="0"/>
  <p:tag name="TEMPFOLDER" val="c:\temp\"/>
  <p:tag name="LATEXFORMHEIGHT" val="509.4"/>
  <p:tag name="LATEXFORMWIDTH" val="767.4"/>
  <p:tag name="LATEXFORMWRAP" val="Vrai"/>
  <p:tag name="BITMAPVECTOR" val="0"/>
</p:tagLst>
</file>

<file path=ppt/tags/tag56.xml><?xml version="1.0" encoding="utf-8"?>
<p:tagLst xmlns:a="http://schemas.openxmlformats.org/drawingml/2006/main" xmlns:r="http://schemas.openxmlformats.org/officeDocument/2006/relationships" xmlns:p="http://schemas.openxmlformats.org/presentationml/2006/main">
  <p:tag name="OUTPUTDPI" val="1200"/>
  <p:tag name="ORIGINALHEIGHT" val="3463.067"/>
  <p:tag name="ORIGINALWIDTH" val="6191.226"/>
  <p:tag name="OUTPUTTYPE" val="PNG"/>
  <p:tag name="IGUANATEXVERSION" val="160"/>
  <p:tag name="LATEXADDIN" val="\documentclass{article}&#10;\usepackage{amsmath,amssymb,amsthm}&#10;\usepackage{xcolor}&#10;\usepackage{enumitem}&#10;\usepackage[paperwidth=25cm]{geometry}&#10;\pagestyle{empty}&#10;\begin{document}&#10;&#10;\subsection*{Séparation des variables}&#10;&#10;Cherchons les solutions de la forme $\theta(u,v) = X(u)Y(v)$ satisfaisant l'équation homogène et les conditions de Robin homogènes. La substitution dans l'équation adimensionnelle de la chaleur  donne :&#10;\begin{equation}&#10;\frac{X''(u)}{X(u)} + \frac{Y''(v)}{Y(v)} = 0&#10;\end{equation}&#10;En posant $\frac{X''}{X} = -\lambda^2$ et $\frac{Y''}{Y} = \lambda^2$, nous obtenons :&#10;\begin{align}&#10;X'' + \lambda^2 X &amp;= 0 \\&#10;Y'' - \lambda^2 Y &amp;= 0&#10;\end{align}&#10;\vspace{-1cm}&#10;\subsubsection*{Problème aux valeurs propres en $X(u)$}&#10;Le problème de Sturm-Liouville pour $X(u)$ est :&#10;\begin{align}&#10;X'' + \lambda^2 X &amp;= 0 \\&#10;X'(0) - Bi \cdot X(0) &amp;= 0 \\&#10;X'(1) + Bi \cdot X(1) &amp;= 0&#10;\end{align}&#10;\noindent&#10;L'équation transcendante pour les valeurs propres est :&#10;$&#10;\boxed{\tan(\lambda) = \frac{2Bi\lambda}{\lambda^2 - Bi^2}}&#10;$.\\&#10;Les valeurs propres $\lambda_n$ sont les racines {\color{red} strictement positives} de cette équation.&#10;\end{document}"/>
  <p:tag name="IGUANATEXSIZE" val="18"/>
  <p:tag name="IGUANATEXCURSOR" val="0"/>
  <p:tag name="TRANSPARENCY" val="Vrai"/>
  <p:tag name="FILENAME" val=""/>
  <p:tag name="LATEXENGINEID" val="0"/>
  <p:tag name="TEMPFOLDER" val="c:\temp\"/>
  <p:tag name="LATEXFORMHEIGHT" val="509.4"/>
  <p:tag name="LATEXFORMWIDTH" val="767.4"/>
  <p:tag name="LATEXFORMWRAP" val="Vrai"/>
  <p:tag name="BITMAPVECTOR" val="0"/>
</p:tagLst>
</file>

<file path=ppt/tags/tag57.xml><?xml version="1.0" encoding="utf-8"?>
<p:tagLst xmlns:a="http://schemas.openxmlformats.org/drawingml/2006/main" xmlns:r="http://schemas.openxmlformats.org/officeDocument/2006/relationships" xmlns:p="http://schemas.openxmlformats.org/presentationml/2006/main">
  <p:tag name="OUTPUTDPI" val="1200"/>
  <p:tag name="ORIGINALHEIGHT" val="3037.87"/>
  <p:tag name="ORIGINALWIDTH" val="6182.228"/>
  <p:tag name="OUTPUTTYPE" val="PNG"/>
  <p:tag name="IGUANATEXVERSION" val="160"/>
  <p:tag name="LATEXADDIN" val="\documentclass{article}&#10;\usepackage{amsmath,amssymb,amsthm}&#10;\usepackage{xcolor}&#10;\usepackage{enumitem}&#10;\usepackage[paperwidth=25cm]{geometry}&#10;\pagestyle{empty}&#10;\begin{document}&#10;&#10;\subsection*{Solutions}&#10;&#10;Pour chaque valeur propre $\lambda_n$, nous avons :&#10;\begin{equation}&#10;X_n(u) = \cos(\lambda_n u) + \frac{Bi}{\lambda_n}\sin(\lambda_n u)&#10;\end{equation}&#10;\noindent&#10;Pour $Y_n(v)$, la solution générale de $Y'' - \lambda_n^2 Y = 0$ est :&#10;\begin{equation}&#10;Y_n(v) = C_n \sinh(\lambda_n v) + D_n \cosh(\lambda_n v)&#10;\end{equation}&#10;\noindent&#10;La condition $Y'(1) + Bi \cdot Y(1) = 0$ donne :&#10;\begin{equation}&#10;\lambda_n C_n \cosh(\lambda_n) + \lambda_n D_n \sinh(\lambda_n) + Bi \left[C_n \sinh(\lambda_n) + D_n \cosh(\lambda_n)\right] = 0&#10;\end{equation}&#10;\noindent&#10;d'où :&#10;\begin{equation}&#10;D_n = -\frac{\lambda_n \cosh(\lambda_n) + Bi \sinh(\lambda_n)}{\lambda_n \sinh(\lambda_n) + Bi \cosh(\lambda_n)} C_n&#10;\end{equation}&#10;\noindent&#10;En normalisant par $C_n = 1$, nous obtenons :&#10;\begin{equation}&#10;Y_n(v) = \sinh(\lambda_n v) - \frac{\lambda_n \cosh(\lambda_n) + Bi \sinh(\lambda_n)}{\lambda_n \sinh(\lambda_n) + Bi \cosh(\lambda_n)} \cosh(\lambda_n v)&#10;\end{equation}&#10;&#10;\end{document}"/>
  <p:tag name="IGUANATEXSIZE" val="18"/>
  <p:tag name="IGUANATEXCURSOR" val="454"/>
  <p:tag name="TRANSPARENCY" val="Vrai"/>
  <p:tag name="FILENAME" val=""/>
  <p:tag name="LATEXENGINEID" val="0"/>
  <p:tag name="TEMPFOLDER" val="c:\temp\"/>
  <p:tag name="LATEXFORMHEIGHT" val="509.4"/>
  <p:tag name="LATEXFORMWIDTH" val="767.4"/>
  <p:tag name="LATEXFORMWRAP" val="Vrai"/>
  <p:tag name="BITMAPVECTOR" val="0"/>
</p:tagLst>
</file>

<file path=ppt/tags/tag58.xml><?xml version="1.0" encoding="utf-8"?>
<p:tagLst xmlns:a="http://schemas.openxmlformats.org/drawingml/2006/main" xmlns:r="http://schemas.openxmlformats.org/officeDocument/2006/relationships" xmlns:p="http://schemas.openxmlformats.org/presentationml/2006/main">
  <p:tag name="OUTPUTDPI" val="1200"/>
  <p:tag name="ORIGINALHEIGHT" val="2962.13"/>
  <p:tag name="ORIGINALWIDTH" val="6182.228"/>
  <p:tag name="OUTPUTTYPE" val="PNG"/>
  <p:tag name="IGUANATEXVERSION" val="160"/>
  <p:tag name="LATEXADDIN" val="\documentclass{article}&#10;\usepackage{amsmath,amssymb,amsthm}&#10;\usepackage{xcolor}&#10;\usepackage{enumitem}&#10;\usepackage[paperwidth=25cm]{geometry}&#10;\pagestyle{empty}&#10;\begin{document}&#10;&#10;\subsection*{Solution générale}&#10;&#10;La solution générale s'écrit comme une série infinie :&#10;\begin{equation}&#10;\boxed{\theta(u,v) = \sum_{n=1}^{\infty} A_n X_n(u) Y_n(v)}&#10;\end{equation}&#10;&#10;Les coefficients $A_n$ sont déterminés par la condition $\theta(u,0) = 1$ :&#10;\begin{equation}&#10;1 = \sum_{n=1}^{\infty} A_n X_n(u) Y_n(0)&#10;\end{equation}&#10;&#10;En utilisant l'orthogonalité des fonctions propres :&#10;\begin{equation}&#10;A_n = \frac{\int_0^1 X_n(u) du}{\int_0^1 X_n^2(u) du \cdot Y_n(0)}&#10;\end{equation}&#10;&#10;avec :&#10;\begin{equation}&#10;Y_n(0) = -\frac{\lambda_n \cosh(\lambda_n) + Bi \sinh(\lambda_n)}{\lambda_n \sinh(\lambda_n) + Bi \cosh(\lambda_n)}&#10;\end{equation}&#10;&#10;\end{document}"/>
  <p:tag name="IGUANATEXSIZE" val="18"/>
  <p:tag name="IGUANATEXCURSOR" val="176"/>
  <p:tag name="TRANSPARENCY" val="Vrai"/>
  <p:tag name="FILENAME" val=""/>
  <p:tag name="LATEXENGINEID" val="0"/>
  <p:tag name="TEMPFOLDER" val="c:\temp\"/>
  <p:tag name="LATEXFORMHEIGHT" val="509.4"/>
  <p:tag name="LATEXFORMWIDTH" val="767.4"/>
  <p:tag name="LATEXFORMWRAP" val="Vrai"/>
  <p:tag name="BITMAPVECTOR" val="0"/>
</p:tagLst>
</file>

<file path=ppt/tags/tag59.xml><?xml version="1.0" encoding="utf-8"?>
<p:tagLst xmlns:a="http://schemas.openxmlformats.org/drawingml/2006/main" xmlns:r="http://schemas.openxmlformats.org/officeDocument/2006/relationships" xmlns:p="http://schemas.openxmlformats.org/presentationml/2006/main">
  <p:tag name="OUTPUTDPI" val="1200"/>
  <p:tag name="ORIGINALHEIGHT" val="3414.323"/>
  <p:tag name="ORIGINALWIDTH" val="6182.977"/>
  <p:tag name="OUTPUTTYPE" val="PNG"/>
  <p:tag name="IGUANATEXVERSION" val="160"/>
  <p:tag name="LATEXADDIN" val="\documentclass{article}&#10;\usepackage{amsmath,amssymb,amsthm}&#10;\usepackage{xcolor}&#10;\usepackage{enumitem}&#10;\usepackage[paperwidth=25cm]{geometry}&#10;\pagestyle{empty}&#10;\begin{document}&#10;&#10;\subsection*{Intégrale de $X_n(u)$}&#10;\begin{equation}&#10;\int_0^1 X_n(u) du = \int_0^1 \left[\cos(\lambda_n u) + \frac{Bi}{\lambda_n}\sin(\lambda_n u)\right] du = \frac{\sin(\lambda_n)}{\lambda_n} + \frac{Bi}{\lambda_n^2}[1-\cos(\lambda_n)]&#10;\end{equation}&#10;&#10;\subsection*{Intégrale de $X_n^2(u)$}&#10;$$&#10;\int_0^1 X_n^2(u) du = \frac{1}{2}\left[1 + \frac{Bi^2}{\lambda_n^2}\right] + \frac{\sin(2\lambda_n)}{4\lambda_n}\left[1 - \frac{Bi^2}{\lambda_n^2}\right] + \frac{Bi}{\lambda_n} \cdot \frac{\sin^2(\lambda_n)}{\lambda_n}&#10;$$&#10;&#10;\subsection*{Solution complète}&#10;&#10;La température adimensionnelle est donnée par :&#10;\begin{equation}&#10;\boxed{\theta(u,v) = \sum_{n=1}^{\infty} A_n X_n(u) Y_n(v)}&#10;\end{equation}&#10;où $n$ est le numéro de la racine strictement positive $\lambda_n$ de l'équation transcendante.&#10;&#10;\noindent&#10;La température dimensionnelle correspondante est :&#10;\begin{equation}&#10;\boxed{T(x,y) = T_a + (T_0 - T_a) \sum_{n=1}^{\infty} A_n X_n\left(\frac{x}{L}\right) Y_n\left(\frac{y}{L}\right)}&#10;\end{equation}&#10;&#10;\end{document}"/>
  <p:tag name="IGUANATEXSIZE" val="18"/>
  <p:tag name="IGUANATEXCURSOR" val="934"/>
  <p:tag name="TRANSPARENCY" val="Vrai"/>
  <p:tag name="FILENAME" val=""/>
  <p:tag name="LATEXENGINEID" val="0"/>
  <p:tag name="TEMPFOLDER" val="c:\temp\"/>
  <p:tag name="LATEXFORMHEIGHT" val="509.4"/>
  <p:tag name="LATEXFORMWIDTH" val="767.4"/>
  <p:tag name="LATEXFORMWRAP" val="Vrai"/>
  <p:tag name="BITMAPVECTOR" val="0"/>
</p:tagLst>
</file>

<file path=ppt/tags/tag60.xml><?xml version="1.0" encoding="utf-8"?>
<p:tagLst xmlns:a="http://schemas.openxmlformats.org/drawingml/2006/main" xmlns:r="http://schemas.openxmlformats.org/officeDocument/2006/relationships" xmlns:p="http://schemas.openxmlformats.org/presentationml/2006/main">
  <p:tag name="OUTPUTDPI" val="1200"/>
  <p:tag name="ORIGINALHEIGHT" val="104.237"/>
  <p:tag name="ORIGINALWIDTH" val="789.6512"/>
  <p:tag name="OUTPUTTYPE" val="PNG"/>
  <p:tag name="IGUANATEXVERSION" val="160"/>
  <p:tag name="LATEXADDIN" val="\documentclass{article}&#10;\usepackage{amsmath}&#10;\pagestyle{empty}&#10;\begin{document}&#10;&#10;\subsection*{Isothermes}&#10;&#10;&#10;\end{document}"/>
  <p:tag name="IGUANATEXSIZE" val="20"/>
  <p:tag name="IGUANATEXCURSOR" val="105"/>
  <p:tag name="TRANSPARENCY" val="Vrai"/>
  <p:tag name="FILENAME" val=""/>
  <p:tag name="LATEXENGINEID" val="0"/>
  <p:tag name="TEMPFOLDER" val="c:\temp\"/>
  <p:tag name="LATEXFORMHEIGHT" val="320"/>
  <p:tag name="LATEXFORMWIDTH" val="385"/>
  <p:tag name="LATEXFORMWRAP" val="Vrai"/>
  <p:tag name="BITMAPVECTOR" val="0"/>
</p:tagLst>
</file>

<file path=ppt/tags/tag61.xml><?xml version="1.0" encoding="utf-8"?>
<p:tagLst xmlns:a="http://schemas.openxmlformats.org/drawingml/2006/main" xmlns:r="http://schemas.openxmlformats.org/officeDocument/2006/relationships" xmlns:p="http://schemas.openxmlformats.org/presentationml/2006/main">
  <p:tag name="OUTPUTDPI" val="1200"/>
  <p:tag name="ORIGINALHEIGHT" val="3027.372"/>
  <p:tag name="ORIGINALWIDTH" val="6188.977"/>
  <p:tag name="OUTPUTTYPE" val="PNG"/>
  <p:tag name="IGUANATEXVERSION" val="160"/>
  <p:tag name="LATEXADDIN" val="\documentclass{article}&#10;\usepackage{amsmath,amssymb,amsthm}&#10;\usepackage{xcolor}&#10;\usepackage{enumitem}&#10;\usepackage[paperwidth=25cm]{geometry}&#10;\pagestyle{empty}&#10;\begin{document}&#10;&#10;\subsection*{Avantages de cette approche}&#10;&#10;\begin{itemize}[itemsep=0pt, topsep=2pt, parsep=0pt, partopsep=0pt]&#10;\item Méthode de séparation des variables : cadre théorique solide pour résoudre les équations aux dérivées partielles linéaires. &#10;\item Solution exacte malgré la nécessité de résoudre numériquement l'équation transcendantale.&#10;\item La combinaison de conditions de Dirichlet et de Robin permet de modéliser des situations physiques réalistes, notamment les échanges convectifs aux frontières.&#10;\item Chaque terme de la série correspond à un mode propre du système, facilitant l'interprétation physique des phénomènes de diffusion.&#10;\end{itemize}&#10;&#10;\subsection*{ Inconvénients et limitations}&#10;&#10;\begin{itemize}[itemsep=0pt, topsep=2pt, parsep=0pt, partopsep=0pt]&#10;\item La résolution de l'équation transcendantale nécessite des méthodes numériques itératives, souvent coûteuses en temps de calcul, particulièrement pour déterminer un grand nombre de valeurs propres.&#10;\item Convergence lente de la série, nécessite de nombreux termes pour obtenir une précision satisfaisante.&#10;\item La méthode de séparation des variables n'est applicable qu'à des domaines de géométrie simple (rectangulaires, cylindriques, sphériques). Elle ne s'étend pas facilement à des géométries complexes ou irrégulières.&#10;\item Conditions aux limites restrictives : Bien que les conditions mixtes soient plus flexibles que les conditions homogènes, la méthode reste limitée aux conditions aux limites linéaires et homogènes.&#10;\item Difficulté d'extension : l'adaptation à des problèmes non linéaires ou avec des coefficients variables demeure problématique avec cette approche classique.&#10;\end{itemize}&#10;\end{document}"/>
  <p:tag name="IGUANATEXSIZE" val="18"/>
  <p:tag name="IGUANATEXCURSOR" val="1711"/>
  <p:tag name="TRANSPARENCY" val="Vrai"/>
  <p:tag name="FILENAME" val=""/>
  <p:tag name="LATEXENGINEID" val="0"/>
  <p:tag name="TEMPFOLDER" val="c:\temp\"/>
  <p:tag name="LATEXFORMHEIGHT" val="509.4"/>
  <p:tag name="LATEXFORMWIDTH" val="767.4"/>
  <p:tag name="LATEXFORMWRAP" val="Vrai"/>
  <p:tag name="BITMAPVECTOR" val="0"/>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1504</TotalTime>
  <Words>137</Words>
  <Application>Microsoft Office PowerPoint</Application>
  <PresentationFormat>Grand écran</PresentationFormat>
  <Paragraphs>77</Paragraphs>
  <Slides>32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Arial</vt:lpstr>
      <vt:lpstr>Calibri</vt:lpstr>
      <vt:lpstr>Calibri Light</vt:lpstr>
      <vt:lpstr>Euclid</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toussaij</dc:creator>
  <cp:lastModifiedBy>toussaij</cp:lastModifiedBy>
  <cp:revision>162</cp:revision>
  <cp:lastPrinted>2025-07-22T13:09:33Z</cp:lastPrinted>
  <dcterms:created xsi:type="dcterms:W3CDTF">2025-06-16T06:26:42Z</dcterms:created>
  <dcterms:modified xsi:type="dcterms:W3CDTF">2025-09-11T07:47:12Z</dcterms:modified>
</cp:coreProperties>
</file>