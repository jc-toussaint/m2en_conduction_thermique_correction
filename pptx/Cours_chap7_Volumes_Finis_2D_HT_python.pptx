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68" r:id="rId3"/>
    <p:sldId id="269" r:id="rId4"/>
    <p:sldId id="292" r:id="rId5"/>
    <p:sldId id="293" r:id="rId6"/>
    <p:sldId id="285" r:id="rId7"/>
    <p:sldId id="284" r:id="rId8"/>
    <p:sldId id="314" r:id="rId9"/>
    <p:sldId id="271" r:id="rId10"/>
    <p:sldId id="273" r:id="rId11"/>
    <p:sldId id="326" r:id="rId12"/>
    <p:sldId id="327" r:id="rId13"/>
    <p:sldId id="296" r:id="rId14"/>
    <p:sldId id="302" r:id="rId15"/>
    <p:sldId id="316" r:id="rId16"/>
    <p:sldId id="317" r:id="rId17"/>
    <p:sldId id="276" r:id="rId18"/>
    <p:sldId id="289" r:id="rId19"/>
    <p:sldId id="290" r:id="rId20"/>
    <p:sldId id="288" r:id="rId21"/>
    <p:sldId id="309" r:id="rId22"/>
    <p:sldId id="318" r:id="rId23"/>
    <p:sldId id="320" r:id="rId24"/>
    <p:sldId id="310" r:id="rId25"/>
    <p:sldId id="311" r:id="rId26"/>
    <p:sldId id="283" r:id="rId27"/>
    <p:sldId id="299" r:id="rId28"/>
    <p:sldId id="321" r:id="rId29"/>
    <p:sldId id="282" r:id="rId30"/>
    <p:sldId id="300" r:id="rId31"/>
    <p:sldId id="322" r:id="rId32"/>
    <p:sldId id="323" r:id="rId33"/>
    <p:sldId id="313" r:id="rId34"/>
    <p:sldId id="295" r:id="rId35"/>
    <p:sldId id="281" r:id="rId36"/>
    <p:sldId id="306" r:id="rId37"/>
    <p:sldId id="307" r:id="rId38"/>
    <p:sldId id="324" r:id="rId39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5B3C"/>
    <a:srgbClr val="FFC000"/>
    <a:srgbClr val="FF0000"/>
    <a:srgbClr val="FBC235"/>
    <a:srgbClr val="FF99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26" autoAdjust="0"/>
    <p:restoredTop sz="94660"/>
  </p:normalViewPr>
  <p:slideViewPr>
    <p:cSldViewPr snapToGrid="0">
      <p:cViewPr varScale="1">
        <p:scale>
          <a:sx n="87" d="100"/>
          <a:sy n="87" d="100"/>
        </p:scale>
        <p:origin x="7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C66B3F-B7A9-486F-B790-37B4C7FA2CB4}" type="datetimeFigureOut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CE78C-13D6-4A18-BEC4-E2F02C41EFD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74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AD2C-F4F6-48AD-AC95-B316F1133ABF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343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95A8A-123F-4DD1-B35E-639FCF532F1B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5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7E8A3-5A0D-4B3E-96FB-943172EF3AF6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43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9505C-4D9A-4470-8BC3-EF2CDDA3A689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192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C5770-BC6E-4285-B70A-52A7073785E9}" type="datetime1">
              <a:rPr lang="fr-FR" smtClean="0"/>
              <a:t>01/09/2025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22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AE2F-4FE8-4BE4-BF4E-52A1B3A6153A}" type="datetime1">
              <a:rPr lang="fr-FR" smtClean="0"/>
              <a:t>01/09/2025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205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633D-7A71-4071-B775-BD7678DD6E54}" type="datetime1">
              <a:rPr lang="fr-FR" smtClean="0"/>
              <a:t>01/09/2025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03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809F0-AFAD-490D-9E2C-9642C8F51D94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633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D4BF9-0709-4686-975F-F590FD6B7DA9}" type="datetime1">
              <a:rPr lang="fr-FR" smtClean="0"/>
              <a:t>01/09/2025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65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4A5E1-3D02-4C35-BD66-4C669DE6FB21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244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8AC75-9094-4769-9793-501D2A4DC424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670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D133E-A6F2-47E3-80AC-3D9A35E5127D}" type="datetime1">
              <a:rPr lang="fr-FR" smtClean="0"/>
              <a:t>01/09/2025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95D3C-87B7-42DD-97F8-1F43ACE143A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855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Relationship Id="rId1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9.xml"/><Relationship Id="rId7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8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4" Type="http://schemas.openxmlformats.org/officeDocument/2006/relationships/tags" Target="../tags/tag10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11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7.png"/><Relationship Id="rId17" Type="http://schemas.openxmlformats.org/officeDocument/2006/relationships/image" Target="../media/image15.png"/><Relationship Id="rId2" Type="http://schemas.openxmlformats.org/officeDocument/2006/relationships/tags" Target="../tags/tag12.xml"/><Relationship Id="rId16" Type="http://schemas.openxmlformats.org/officeDocument/2006/relationships/image" Target="../media/image1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6.png"/><Relationship Id="rId5" Type="http://schemas.openxmlformats.org/officeDocument/2006/relationships/tags" Target="../tags/tag15.xml"/><Relationship Id="rId1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tags" Target="../tags/tag14.xml"/><Relationship Id="rId9" Type="http://schemas.openxmlformats.org/officeDocument/2006/relationships/image" Target="../media/image4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0.xml"/><Relationship Id="rId7" Type="http://schemas.openxmlformats.org/officeDocument/2006/relationships/image" Target="../media/image12.png"/><Relationship Id="rId12" Type="http://schemas.openxmlformats.org/officeDocument/2006/relationships/image" Target="../media/image1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7.png"/><Relationship Id="rId5" Type="http://schemas.openxmlformats.org/officeDocument/2006/relationships/tags" Target="../tags/tag22.xml"/><Relationship Id="rId10" Type="http://schemas.openxmlformats.org/officeDocument/2006/relationships/image" Target="../media/image16.png"/><Relationship Id="rId4" Type="http://schemas.openxmlformats.org/officeDocument/2006/relationships/tags" Target="../tags/tag21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tags" Target="../tags/tag25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3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22.png"/><Relationship Id="rId5" Type="http://schemas.openxmlformats.org/officeDocument/2006/relationships/tags" Target="../tags/tag27.xml"/><Relationship Id="rId10" Type="http://schemas.openxmlformats.org/officeDocument/2006/relationships/image" Target="../media/image21.png"/><Relationship Id="rId4" Type="http://schemas.openxmlformats.org/officeDocument/2006/relationships/tags" Target="../tags/tag26.xml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31.xml"/><Relationship Id="rId7" Type="http://schemas.openxmlformats.org/officeDocument/2006/relationships/image" Target="../media/image26.png"/><Relationship Id="rId12" Type="http://schemas.openxmlformats.org/officeDocument/2006/relationships/image" Target="../media/image2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27.png"/><Relationship Id="rId5" Type="http://schemas.openxmlformats.org/officeDocument/2006/relationships/tags" Target="../tags/tag33.xml"/><Relationship Id="rId10" Type="http://schemas.openxmlformats.org/officeDocument/2006/relationships/image" Target="../media/image23.png"/><Relationship Id="rId4" Type="http://schemas.openxmlformats.org/officeDocument/2006/relationships/tags" Target="../tags/tag32.xml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5.png"/><Relationship Id="rId3" Type="http://schemas.openxmlformats.org/officeDocument/2006/relationships/tags" Target="../tags/tag36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23.png"/><Relationship Id="rId5" Type="http://schemas.openxmlformats.org/officeDocument/2006/relationships/tags" Target="../tags/tag38.xml"/><Relationship Id="rId10" Type="http://schemas.openxmlformats.org/officeDocument/2006/relationships/image" Target="../media/image30.png"/><Relationship Id="rId4" Type="http://schemas.openxmlformats.org/officeDocument/2006/relationships/tags" Target="../tags/tag37.xml"/><Relationship Id="rId9" Type="http://schemas.openxmlformats.org/officeDocument/2006/relationships/image" Target="../media/image19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42.xml"/><Relationship Id="rId7" Type="http://schemas.openxmlformats.org/officeDocument/2006/relationships/image" Target="../media/image33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5" Type="http://schemas.openxmlformats.org/officeDocument/2006/relationships/tags" Target="../tags/tag44.xml"/><Relationship Id="rId10" Type="http://schemas.openxmlformats.org/officeDocument/2006/relationships/image" Target="../media/image13.png"/><Relationship Id="rId4" Type="http://schemas.openxmlformats.org/officeDocument/2006/relationships/tags" Target="../tags/tag43.xml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image" Target="../media/image6.png"/><Relationship Id="rId18" Type="http://schemas.openxmlformats.org/officeDocument/2006/relationships/image" Target="../media/image39.png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image" Target="../media/image5.png"/><Relationship Id="rId17" Type="http://schemas.openxmlformats.org/officeDocument/2006/relationships/image" Target="../media/image38.png"/><Relationship Id="rId2" Type="http://schemas.openxmlformats.org/officeDocument/2006/relationships/tags" Target="../tags/tag46.xml"/><Relationship Id="rId16" Type="http://schemas.openxmlformats.org/officeDocument/2006/relationships/image" Target="../media/image37.png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image" Target="../media/image4.png"/><Relationship Id="rId5" Type="http://schemas.openxmlformats.org/officeDocument/2006/relationships/tags" Target="../tags/tag49.xml"/><Relationship Id="rId15" Type="http://schemas.openxmlformats.org/officeDocument/2006/relationships/image" Target="../media/image11.png"/><Relationship Id="rId10" Type="http://schemas.openxmlformats.org/officeDocument/2006/relationships/image" Target="../media/image36.png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14.png"/><Relationship Id="rId18" Type="http://schemas.openxmlformats.org/officeDocument/2006/relationships/image" Target="../media/image46.pn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41.png"/><Relationship Id="rId17" Type="http://schemas.openxmlformats.org/officeDocument/2006/relationships/image" Target="../media/image45.png"/><Relationship Id="rId2" Type="http://schemas.openxmlformats.org/officeDocument/2006/relationships/tags" Target="../tags/tag54.xml"/><Relationship Id="rId16" Type="http://schemas.openxmlformats.org/officeDocument/2006/relationships/image" Target="../media/image44.png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image" Target="../media/image40.png"/><Relationship Id="rId5" Type="http://schemas.openxmlformats.org/officeDocument/2006/relationships/tags" Target="../tags/tag57.xml"/><Relationship Id="rId15" Type="http://schemas.openxmlformats.org/officeDocument/2006/relationships/image" Target="../media/image43.png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13" Type="http://schemas.openxmlformats.org/officeDocument/2006/relationships/image" Target="../media/image42.png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14.png"/><Relationship Id="rId2" Type="http://schemas.openxmlformats.org/officeDocument/2006/relationships/tags" Target="../tags/tag63.xml"/><Relationship Id="rId16" Type="http://schemas.openxmlformats.org/officeDocument/2006/relationships/image" Target="../media/image49.png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image" Target="../media/image41.png"/><Relationship Id="rId5" Type="http://schemas.openxmlformats.org/officeDocument/2006/relationships/tags" Target="../tags/tag66.xml"/><Relationship Id="rId15" Type="http://schemas.openxmlformats.org/officeDocument/2006/relationships/image" Target="../media/image44.png"/><Relationship Id="rId10" Type="http://schemas.openxmlformats.org/officeDocument/2006/relationships/image" Target="../media/image47.png"/><Relationship Id="rId4" Type="http://schemas.openxmlformats.org/officeDocument/2006/relationships/tags" Target="../tags/tag65.xml"/><Relationship Id="rId9" Type="http://schemas.openxmlformats.org/officeDocument/2006/relationships/slideLayout" Target="../slideLayouts/slideLayout7.xml"/><Relationship Id="rId1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3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tags" Target="../tags/tag74.xml"/><Relationship Id="rId21" Type="http://schemas.openxmlformats.org/officeDocument/2006/relationships/image" Target="../media/image65.png"/><Relationship Id="rId7" Type="http://schemas.openxmlformats.org/officeDocument/2006/relationships/tags" Target="../tags/tag78.xml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tags" Target="../tags/tag73.xml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image" Target="../media/image55.png"/><Relationship Id="rId5" Type="http://schemas.openxmlformats.org/officeDocument/2006/relationships/tags" Target="../tags/tag76.xml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tags" Target="../tags/tag75.xml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tags" Target="../tags/tag85.xml"/><Relationship Id="rId7" Type="http://schemas.openxmlformats.org/officeDocument/2006/relationships/image" Target="../media/image7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75.png"/><Relationship Id="rId5" Type="http://schemas.openxmlformats.org/officeDocument/2006/relationships/tags" Target="../tags/tag87.xml"/><Relationship Id="rId10" Type="http://schemas.openxmlformats.org/officeDocument/2006/relationships/image" Target="../media/image74.png"/><Relationship Id="rId4" Type="http://schemas.openxmlformats.org/officeDocument/2006/relationships/tags" Target="../tags/tag86.xml"/><Relationship Id="rId9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90.xml"/><Relationship Id="rId7" Type="http://schemas.openxmlformats.org/officeDocument/2006/relationships/image" Target="../media/image77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image" Target="../media/image76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75.png"/><Relationship Id="rId4" Type="http://schemas.openxmlformats.org/officeDocument/2006/relationships/tags" Target="../tags/tag91.xml"/><Relationship Id="rId9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tags" Target="../tags/tag94.xml"/><Relationship Id="rId7" Type="http://schemas.openxmlformats.org/officeDocument/2006/relationships/image" Target="../media/image73.png"/><Relationship Id="rId12" Type="http://schemas.openxmlformats.org/officeDocument/2006/relationships/image" Target="../media/image8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81.png"/><Relationship Id="rId5" Type="http://schemas.openxmlformats.org/officeDocument/2006/relationships/tags" Target="../tags/tag96.xml"/><Relationship Id="rId10" Type="http://schemas.openxmlformats.org/officeDocument/2006/relationships/image" Target="../media/image80.png"/><Relationship Id="rId4" Type="http://schemas.openxmlformats.org/officeDocument/2006/relationships/tags" Target="../tags/tag95.xml"/><Relationship Id="rId9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99.xml"/><Relationship Id="rId7" Type="http://schemas.openxmlformats.org/officeDocument/2006/relationships/image" Target="../media/image83.png"/><Relationship Id="rId12" Type="http://schemas.openxmlformats.org/officeDocument/2006/relationships/image" Target="../media/image81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80.png"/><Relationship Id="rId5" Type="http://schemas.openxmlformats.org/officeDocument/2006/relationships/tags" Target="../tags/tag101.xml"/><Relationship Id="rId10" Type="http://schemas.openxmlformats.org/officeDocument/2006/relationships/image" Target="../media/image79.png"/><Relationship Id="rId4" Type="http://schemas.openxmlformats.org/officeDocument/2006/relationships/tags" Target="../tags/tag100.xml"/><Relationship Id="rId9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tags" Target="../tags/tag104.xml"/><Relationship Id="rId7" Type="http://schemas.openxmlformats.org/officeDocument/2006/relationships/image" Target="../media/image13.png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image" Target="../media/image51.png"/><Relationship Id="rId5" Type="http://schemas.openxmlformats.org/officeDocument/2006/relationships/image" Target="../media/image87.png"/><Relationship Id="rId4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6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1.png"/><Relationship Id="rId3" Type="http://schemas.openxmlformats.org/officeDocument/2006/relationships/tags" Target="../tags/tag109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90.pn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image" Target="../media/image23.png"/><Relationship Id="rId5" Type="http://schemas.openxmlformats.org/officeDocument/2006/relationships/tags" Target="../tags/tag111.xml"/><Relationship Id="rId10" Type="http://schemas.openxmlformats.org/officeDocument/2006/relationships/image" Target="../media/image22.png"/><Relationship Id="rId4" Type="http://schemas.openxmlformats.org/officeDocument/2006/relationships/tags" Target="../tags/tag110.xml"/><Relationship Id="rId9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3.xml"/><Relationship Id="rId4" Type="http://schemas.openxmlformats.org/officeDocument/2006/relationships/image" Target="../media/image9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4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5.xml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801329"/>
          </a:xfrm>
        </p:spPr>
        <p:txBody>
          <a:bodyPr>
            <a:normAutofit/>
          </a:bodyPr>
          <a:lstStyle/>
          <a:p>
            <a:r>
              <a:rPr lang="fr-FR" dirty="0"/>
              <a:t>Méthode des volumes finis</a:t>
            </a:r>
            <a:br>
              <a:rPr lang="fr-FR" dirty="0"/>
            </a:br>
            <a:r>
              <a:rPr lang="fr-FR" dirty="0"/>
              <a:t/>
            </a:r>
            <a:br>
              <a:rPr lang="fr-FR" dirty="0"/>
            </a:br>
            <a:r>
              <a:rPr lang="fr-FR" sz="4000" dirty="0"/>
              <a:t>J.-C. TOUSSAINT – G.  GHIGLIOTTI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7DDD-9E75-4A7E-942A-669389740A0F}" type="datetime1">
              <a:rPr lang="fr-FR" smtClean="0"/>
              <a:t>01/09/2025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548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50679" y="170327"/>
            <a:ext cx="10978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>
                <a:latin typeface="Euclid" panose="02020503060505020303" pitchFamily="18" charset="0"/>
              </a:rPr>
              <a:t>Forme intégrale de l’équation de la chaleur </a:t>
            </a:r>
            <a:r>
              <a:rPr lang="fr-FR" sz="2800" b="1" dirty="0" smtClean="0">
                <a:latin typeface="Euclid" panose="02020503060505020303" pitchFamily="18" charset="0"/>
              </a:rPr>
              <a:t>stationnaire en 2D et 3D</a:t>
            </a:r>
            <a:endParaRPr lang="fr-FR" sz="2800" b="1" dirty="0">
              <a:latin typeface="Euclid" panose="02020503060505020303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032" y="3679505"/>
            <a:ext cx="8713138" cy="141256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53" y="5140921"/>
            <a:ext cx="6009903" cy="74057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7C1C5AA-6384-A901-3C7B-7D0859A3881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98" y="898389"/>
            <a:ext cx="8713217" cy="2314445"/>
          </a:xfrm>
          <a:prstGeom prst="rect">
            <a:avLst/>
          </a:prstGeom>
        </p:spPr>
      </p:pic>
      <p:grpSp>
        <p:nvGrpSpPr>
          <p:cNvPr id="17" name="Groupe 16"/>
          <p:cNvGrpSpPr/>
          <p:nvPr/>
        </p:nvGrpSpPr>
        <p:grpSpPr>
          <a:xfrm>
            <a:off x="7851935" y="2480466"/>
            <a:ext cx="3501865" cy="3591612"/>
            <a:chOff x="7851935" y="2212018"/>
            <a:chExt cx="3501865" cy="3591612"/>
          </a:xfrm>
        </p:grpSpPr>
        <p:grpSp>
          <p:nvGrpSpPr>
            <p:cNvPr id="51" name="Groupe 50"/>
            <p:cNvGrpSpPr/>
            <p:nvPr/>
          </p:nvGrpSpPr>
          <p:grpSpPr>
            <a:xfrm>
              <a:off x="7851935" y="2212018"/>
              <a:ext cx="3501865" cy="3591612"/>
              <a:chOff x="7047680" y="2255979"/>
              <a:chExt cx="3501865" cy="3591612"/>
            </a:xfrm>
          </p:grpSpPr>
          <p:grpSp>
            <p:nvGrpSpPr>
              <p:cNvPr id="49" name="Groupe 48"/>
              <p:cNvGrpSpPr/>
              <p:nvPr/>
            </p:nvGrpSpPr>
            <p:grpSpPr>
              <a:xfrm>
                <a:off x="7047680" y="2255979"/>
                <a:ext cx="3501865" cy="3591612"/>
                <a:chOff x="7448307" y="1846384"/>
                <a:chExt cx="4361326" cy="4444173"/>
              </a:xfrm>
            </p:grpSpPr>
            <p:pic>
              <p:nvPicPr>
                <p:cNvPr id="31" name="Image 30"/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48307" y="1846384"/>
                  <a:ext cx="4361326" cy="4444173"/>
                </a:xfrm>
                <a:prstGeom prst="rect">
                  <a:avLst/>
                </a:prstGeom>
              </p:spPr>
            </p:pic>
            <p:sp>
              <p:nvSpPr>
                <p:cNvPr id="42" name="Ellipse 41"/>
                <p:cNvSpPr>
                  <a:spLocks noChangeAspect="1"/>
                </p:cNvSpPr>
                <p:nvPr/>
              </p:nvSpPr>
              <p:spPr>
                <a:xfrm>
                  <a:off x="9330625" y="3713921"/>
                  <a:ext cx="124178" cy="135467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52" name="Image 51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29376" y="3344915"/>
                  <a:ext cx="437333" cy="222476"/>
                </a:xfrm>
                <a:prstGeom prst="rect">
                  <a:avLst/>
                </a:prstGeom>
              </p:spPr>
            </p:pic>
            <p:pic>
              <p:nvPicPr>
                <p:cNvPr id="54" name="Image 53"/>
                <p:cNvPicPr>
                  <a:picLocks noChangeAspect="1"/>
                </p:cNvPicPr>
                <p:nvPr>
                  <p:custDataLst>
                    <p:tags r:id="rId6"/>
                  </p:custDataLst>
                </p:nvPr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079045" y="3961803"/>
                  <a:ext cx="283428" cy="213333"/>
                </a:xfrm>
                <a:prstGeom prst="rect">
                  <a:avLst/>
                </a:prstGeom>
              </p:spPr>
            </p:pic>
            <p:sp>
              <p:nvSpPr>
                <p:cNvPr id="21" name="ZoneTexte 20"/>
                <p:cNvSpPr txBox="1"/>
                <p:nvPr/>
              </p:nvSpPr>
              <p:spPr>
                <a:xfrm>
                  <a:off x="9365397" y="3452717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C</a:t>
                  </a:r>
                </a:p>
              </p:txBody>
            </p:sp>
            <p:cxnSp>
              <p:nvCxnSpPr>
                <p:cNvPr id="40" name="Connecteur droit 39"/>
                <p:cNvCxnSpPr/>
                <p:nvPr/>
              </p:nvCxnSpPr>
              <p:spPr>
                <a:xfrm flipV="1">
                  <a:off x="8915616" y="3868615"/>
                  <a:ext cx="1223673" cy="52370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necteur droit 45"/>
                <p:cNvCxnSpPr/>
                <p:nvPr/>
              </p:nvCxnSpPr>
              <p:spPr>
                <a:xfrm>
                  <a:off x="9233682" y="3191608"/>
                  <a:ext cx="914400" cy="677007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cteur droit 47"/>
                <p:cNvCxnSpPr/>
                <p:nvPr/>
              </p:nvCxnSpPr>
              <p:spPr>
                <a:xfrm flipV="1">
                  <a:off x="8915616" y="3209192"/>
                  <a:ext cx="326858" cy="118312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ZoneTexte 40"/>
                <p:cNvSpPr txBox="1"/>
                <p:nvPr/>
              </p:nvSpPr>
              <p:spPr>
                <a:xfrm>
                  <a:off x="11254079" y="1943512"/>
                  <a:ext cx="44435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fr-FR" dirty="0"/>
                    <a:t>2D</a:t>
                  </a:r>
                </a:p>
              </p:txBody>
            </p:sp>
          </p:grpSp>
          <p:grpSp>
            <p:nvGrpSpPr>
              <p:cNvPr id="53" name="Groupe 52"/>
              <p:cNvGrpSpPr/>
              <p:nvPr/>
            </p:nvGrpSpPr>
            <p:grpSpPr>
              <a:xfrm rot="3688043">
                <a:off x="8662323" y="4196749"/>
                <a:ext cx="329538" cy="97953"/>
                <a:chOff x="237392" y="1787964"/>
                <a:chExt cx="896815" cy="269436"/>
              </a:xfrm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57" name="Connecteur droit avec flèche 56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0" name="Image 49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43886" y="3056074"/>
                <a:ext cx="140350" cy="138858"/>
              </a:xfrm>
              <a:prstGeom prst="rect">
                <a:avLst/>
              </a:prstGeom>
              <a:solidFill>
                <a:schemeClr val="bg1"/>
              </a:solidFill>
            </p:spPr>
          </p:pic>
          <p:grpSp>
            <p:nvGrpSpPr>
              <p:cNvPr id="59" name="Groupe 58"/>
              <p:cNvGrpSpPr/>
              <p:nvPr/>
            </p:nvGrpSpPr>
            <p:grpSpPr>
              <a:xfrm rot="11920314">
                <a:off x="8067403" y="3671865"/>
                <a:ext cx="329538" cy="97953"/>
                <a:chOff x="237392" y="1787964"/>
                <a:chExt cx="896815" cy="269436"/>
              </a:xfrm>
            </p:grpSpPr>
            <p:sp>
              <p:nvSpPr>
                <p:cNvPr id="60" name="Rectangle 59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1" name="Connecteur droit avec flèche 60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2" name="Groupe 61"/>
              <p:cNvGrpSpPr/>
              <p:nvPr/>
            </p:nvGrpSpPr>
            <p:grpSpPr>
              <a:xfrm rot="18747552">
                <a:off x="8688369" y="3354739"/>
                <a:ext cx="329538" cy="97953"/>
                <a:chOff x="237392" y="1787964"/>
                <a:chExt cx="896815" cy="269436"/>
              </a:xfrm>
            </p:grpSpPr>
            <p:sp>
              <p:nvSpPr>
                <p:cNvPr id="63" name="Rectangle 62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64" name="Connecteur droit avec flèche 63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" name="Groupe 14"/>
            <p:cNvGrpSpPr/>
            <p:nvPr/>
          </p:nvGrpSpPr>
          <p:grpSpPr>
            <a:xfrm>
              <a:off x="9595671" y="4724400"/>
              <a:ext cx="1097729" cy="876300"/>
              <a:chOff x="9595671" y="4724400"/>
              <a:chExt cx="1097729" cy="876300"/>
            </a:xfrm>
          </p:grpSpPr>
          <p:cxnSp>
            <p:nvCxnSpPr>
              <p:cNvPr id="5" name="Connecteur droit 4"/>
              <p:cNvCxnSpPr/>
              <p:nvPr/>
            </p:nvCxnSpPr>
            <p:spPr>
              <a:xfrm>
                <a:off x="9906000" y="4724400"/>
                <a:ext cx="787400" cy="416521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eur droit 8"/>
              <p:cNvCxnSpPr/>
              <p:nvPr/>
            </p:nvCxnSpPr>
            <p:spPr>
              <a:xfrm flipH="1">
                <a:off x="9595671" y="4743450"/>
                <a:ext cx="303979" cy="85725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eur droit 11"/>
              <p:cNvCxnSpPr/>
              <p:nvPr/>
            </p:nvCxnSpPr>
            <p:spPr>
              <a:xfrm flipV="1">
                <a:off x="9595671" y="5140922"/>
                <a:ext cx="1097729" cy="459778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78727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</a:t>
            </a:fld>
            <a:endParaRPr lang="fr-FR"/>
          </a:p>
        </p:txBody>
      </p:sp>
      <p:grpSp>
        <p:nvGrpSpPr>
          <p:cNvPr id="6" name="Groupe 5"/>
          <p:cNvGrpSpPr/>
          <p:nvPr/>
        </p:nvGrpSpPr>
        <p:grpSpPr>
          <a:xfrm>
            <a:off x="8197889" y="228600"/>
            <a:ext cx="3747926" cy="3908125"/>
            <a:chOff x="7704048" y="233052"/>
            <a:chExt cx="4801016" cy="4747671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04048" y="233052"/>
              <a:ext cx="4801016" cy="4747671"/>
            </a:xfrm>
            <a:prstGeom prst="rect">
              <a:avLst/>
            </a:prstGeom>
          </p:spPr>
        </p:pic>
        <p:pic>
          <p:nvPicPr>
            <p:cNvPr id="52" name="Image 51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1154" y="1384308"/>
              <a:ext cx="437333" cy="222476"/>
            </a:xfrm>
            <a:prstGeom prst="rect">
              <a:avLst/>
            </a:prstGeom>
          </p:spPr>
        </p:pic>
        <p:pic>
          <p:nvPicPr>
            <p:cNvPr id="54" name="Image 5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8886" y="2602979"/>
              <a:ext cx="283428" cy="213333"/>
            </a:xfrm>
            <a:prstGeom prst="rect">
              <a:avLst/>
            </a:prstGeom>
          </p:spPr>
        </p:pic>
      </p:grpSp>
      <p:pic>
        <p:nvPicPr>
          <p:cNvPr id="5" name="Imag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78" y="754385"/>
            <a:ext cx="7183229" cy="1484190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46" y="3823264"/>
            <a:ext cx="8711615" cy="176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20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4</a:t>
            </a:fld>
            <a:endParaRPr lang="fr-FR"/>
          </a:p>
        </p:txBody>
      </p:sp>
      <p:grpSp>
        <p:nvGrpSpPr>
          <p:cNvPr id="12" name="Groupe 11"/>
          <p:cNvGrpSpPr/>
          <p:nvPr/>
        </p:nvGrpSpPr>
        <p:grpSpPr>
          <a:xfrm>
            <a:off x="9178839" y="113155"/>
            <a:ext cx="2878345" cy="2897692"/>
            <a:chOff x="9179956" y="2808567"/>
            <a:chExt cx="2828520" cy="2864050"/>
          </a:xfrm>
        </p:grpSpPr>
        <p:grpSp>
          <p:nvGrpSpPr>
            <p:cNvPr id="13" name="Groupe 12"/>
            <p:cNvGrpSpPr/>
            <p:nvPr/>
          </p:nvGrpSpPr>
          <p:grpSpPr>
            <a:xfrm>
              <a:off x="9179956" y="2808567"/>
              <a:ext cx="2828520" cy="2864050"/>
              <a:chOff x="7851935" y="2212018"/>
              <a:chExt cx="3501865" cy="3591612"/>
            </a:xfrm>
          </p:grpSpPr>
          <p:grpSp>
            <p:nvGrpSpPr>
              <p:cNvPr id="22" name="Groupe 21"/>
              <p:cNvGrpSpPr/>
              <p:nvPr/>
            </p:nvGrpSpPr>
            <p:grpSpPr>
              <a:xfrm>
                <a:off x="7851935" y="2212018"/>
                <a:ext cx="3501865" cy="3591612"/>
                <a:chOff x="7047680" y="2255979"/>
                <a:chExt cx="3501865" cy="3591612"/>
              </a:xfrm>
            </p:grpSpPr>
            <p:grpSp>
              <p:nvGrpSpPr>
                <p:cNvPr id="27" name="Groupe 26"/>
                <p:cNvGrpSpPr/>
                <p:nvPr/>
              </p:nvGrpSpPr>
              <p:grpSpPr>
                <a:xfrm>
                  <a:off x="7047680" y="2255979"/>
                  <a:ext cx="3501865" cy="3591612"/>
                  <a:chOff x="7448307" y="1846384"/>
                  <a:chExt cx="4361326" cy="4444173"/>
                </a:xfrm>
              </p:grpSpPr>
              <p:pic>
                <p:nvPicPr>
                  <p:cNvPr id="38" name="Image 37"/>
                  <p:cNvPicPr>
                    <a:picLocks noChangeAspect="1"/>
                  </p:cNvPicPr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448307" y="1846384"/>
                    <a:ext cx="4361326" cy="4444173"/>
                  </a:xfrm>
                  <a:prstGeom prst="rect">
                    <a:avLst/>
                  </a:prstGeom>
                </p:spPr>
              </p:pic>
              <p:sp>
                <p:nvSpPr>
                  <p:cNvPr id="39" name="Ellipse 38"/>
                  <p:cNvSpPr>
                    <a:spLocks noChangeAspect="1"/>
                  </p:cNvSpPr>
                  <p:nvPr/>
                </p:nvSpPr>
                <p:spPr>
                  <a:xfrm>
                    <a:off x="9330625" y="3713921"/>
                    <a:ext cx="124178" cy="135467"/>
                  </a:xfrm>
                  <a:prstGeom prst="ellipse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pic>
                <p:nvPicPr>
                  <p:cNvPr id="40" name="Image 39"/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10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729376" y="3344915"/>
                    <a:ext cx="437333" cy="222476"/>
                  </a:xfrm>
                  <a:prstGeom prst="rect">
                    <a:avLst/>
                  </a:prstGeom>
                </p:spPr>
              </p:pic>
              <p:pic>
                <p:nvPicPr>
                  <p:cNvPr id="41" name="Image 40"/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11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079045" y="3961803"/>
                    <a:ext cx="283428" cy="213333"/>
                  </a:xfrm>
                  <a:prstGeom prst="rect">
                    <a:avLst/>
                  </a:prstGeom>
                </p:spPr>
              </p:pic>
              <p:sp>
                <p:nvSpPr>
                  <p:cNvPr id="42" name="ZoneTexte 41"/>
                  <p:cNvSpPr txBox="1"/>
                  <p:nvPr/>
                </p:nvSpPr>
                <p:spPr>
                  <a:xfrm>
                    <a:off x="9365397" y="3452717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dirty="0"/>
                      <a:t>C</a:t>
                    </a:r>
                  </a:p>
                </p:txBody>
              </p:sp>
              <p:cxnSp>
                <p:nvCxnSpPr>
                  <p:cNvPr id="43" name="Connecteur droit 42"/>
                  <p:cNvCxnSpPr/>
                  <p:nvPr/>
                </p:nvCxnSpPr>
                <p:spPr>
                  <a:xfrm flipV="1">
                    <a:off x="8915616" y="3868615"/>
                    <a:ext cx="1223673" cy="523700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Connecteur droit 43"/>
                  <p:cNvCxnSpPr/>
                  <p:nvPr/>
                </p:nvCxnSpPr>
                <p:spPr>
                  <a:xfrm>
                    <a:off x="9233682" y="3191608"/>
                    <a:ext cx="914400" cy="677007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Connecteur droit 44"/>
                  <p:cNvCxnSpPr/>
                  <p:nvPr/>
                </p:nvCxnSpPr>
                <p:spPr>
                  <a:xfrm flipV="1">
                    <a:off x="8915616" y="3209192"/>
                    <a:ext cx="326858" cy="1183123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6" name="ZoneTexte 45"/>
                  <p:cNvSpPr txBox="1"/>
                  <p:nvPr/>
                </p:nvSpPr>
                <p:spPr>
                  <a:xfrm>
                    <a:off x="11254079" y="1943512"/>
                    <a:ext cx="44435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fr-FR" dirty="0"/>
                      <a:t>2D</a:t>
                    </a:r>
                  </a:p>
                </p:txBody>
              </p:sp>
            </p:grpSp>
            <p:grpSp>
              <p:nvGrpSpPr>
                <p:cNvPr id="28" name="Groupe 27"/>
                <p:cNvGrpSpPr/>
                <p:nvPr/>
              </p:nvGrpSpPr>
              <p:grpSpPr>
                <a:xfrm rot="3688043">
                  <a:off x="8662323" y="4196749"/>
                  <a:ext cx="329538" cy="97953"/>
                  <a:chOff x="237392" y="1787964"/>
                  <a:chExt cx="896815" cy="269436"/>
                </a:xfrm>
              </p:grpSpPr>
              <p:cxnSp>
                <p:nvCxnSpPr>
                  <p:cNvPr id="37" name="Connecteur droit avec flèche 36"/>
                  <p:cNvCxnSpPr/>
                  <p:nvPr/>
                </p:nvCxnSpPr>
                <p:spPr>
                  <a:xfrm>
                    <a:off x="237392" y="1787964"/>
                    <a:ext cx="89681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 35"/>
                  <p:cNvSpPr/>
                  <p:nvPr/>
                </p:nvSpPr>
                <p:spPr>
                  <a:xfrm>
                    <a:off x="246185" y="1787964"/>
                    <a:ext cx="290146" cy="269436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pic>
              <p:nvPicPr>
                <p:cNvPr id="29" name="Image 28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43886" y="3056074"/>
                  <a:ext cx="140350" cy="13885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grpSp>
              <p:nvGrpSpPr>
                <p:cNvPr id="30" name="Groupe 29"/>
                <p:cNvGrpSpPr/>
                <p:nvPr/>
              </p:nvGrpSpPr>
              <p:grpSpPr>
                <a:xfrm rot="11920314">
                  <a:off x="8067403" y="3671865"/>
                  <a:ext cx="329538" cy="97953"/>
                  <a:chOff x="237392" y="1787964"/>
                  <a:chExt cx="896815" cy="269436"/>
                </a:xfrm>
              </p:grpSpPr>
              <p:sp>
                <p:nvSpPr>
                  <p:cNvPr id="34" name="Rectangle 33"/>
                  <p:cNvSpPr/>
                  <p:nvPr/>
                </p:nvSpPr>
                <p:spPr>
                  <a:xfrm>
                    <a:off x="246185" y="1787964"/>
                    <a:ext cx="290146" cy="269436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cxnSp>
                <p:nvCxnSpPr>
                  <p:cNvPr id="35" name="Connecteur droit avec flèche 34"/>
                  <p:cNvCxnSpPr/>
                  <p:nvPr/>
                </p:nvCxnSpPr>
                <p:spPr>
                  <a:xfrm>
                    <a:off x="237392" y="1787964"/>
                    <a:ext cx="89681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Groupe 30"/>
                <p:cNvGrpSpPr/>
                <p:nvPr/>
              </p:nvGrpSpPr>
              <p:grpSpPr>
                <a:xfrm rot="18747552">
                  <a:off x="8688369" y="3354739"/>
                  <a:ext cx="329538" cy="97953"/>
                  <a:chOff x="237392" y="1787964"/>
                  <a:chExt cx="896815" cy="269436"/>
                </a:xfrm>
              </p:grpSpPr>
              <p:sp>
                <p:nvSpPr>
                  <p:cNvPr id="32" name="Rectangle 31"/>
                  <p:cNvSpPr/>
                  <p:nvPr/>
                </p:nvSpPr>
                <p:spPr>
                  <a:xfrm>
                    <a:off x="246185" y="1787964"/>
                    <a:ext cx="290146" cy="269436"/>
                  </a:xfrm>
                  <a:prstGeom prst="rect">
                    <a:avLst/>
                  </a:prstGeom>
                  <a:noFill/>
                  <a:ln w="28575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cxnSp>
                <p:nvCxnSpPr>
                  <p:cNvPr id="33" name="Connecteur droit avec flèche 32"/>
                  <p:cNvCxnSpPr/>
                  <p:nvPr/>
                </p:nvCxnSpPr>
                <p:spPr>
                  <a:xfrm>
                    <a:off x="237392" y="1787964"/>
                    <a:ext cx="896815" cy="0"/>
                  </a:xfrm>
                  <a:prstGeom prst="straightConnector1">
                    <a:avLst/>
                  </a:prstGeom>
                  <a:ln w="2857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3" name="Groupe 22"/>
              <p:cNvGrpSpPr/>
              <p:nvPr/>
            </p:nvGrpSpPr>
            <p:grpSpPr>
              <a:xfrm>
                <a:off x="9595671" y="4724400"/>
                <a:ext cx="1097729" cy="876300"/>
                <a:chOff x="9595671" y="4724400"/>
                <a:chExt cx="1097729" cy="876300"/>
              </a:xfrm>
            </p:grpSpPr>
            <p:cxnSp>
              <p:nvCxnSpPr>
                <p:cNvPr id="24" name="Connecteur droit 23"/>
                <p:cNvCxnSpPr/>
                <p:nvPr/>
              </p:nvCxnSpPr>
              <p:spPr>
                <a:xfrm>
                  <a:off x="9906000" y="4724400"/>
                  <a:ext cx="787400" cy="416521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necteur droit 24"/>
                <p:cNvCxnSpPr/>
                <p:nvPr/>
              </p:nvCxnSpPr>
              <p:spPr>
                <a:xfrm flipH="1">
                  <a:off x="9595671" y="4743450"/>
                  <a:ext cx="303979" cy="8572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necteur droit 25"/>
                <p:cNvCxnSpPr/>
                <p:nvPr/>
              </p:nvCxnSpPr>
              <p:spPr>
                <a:xfrm flipV="1">
                  <a:off x="9595671" y="5140922"/>
                  <a:ext cx="1097729" cy="459778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4" name="Image 1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14462" y="5204914"/>
              <a:ext cx="342857" cy="187429"/>
            </a:xfrm>
            <a:prstGeom prst="rect">
              <a:avLst/>
            </a:prstGeom>
          </p:spPr>
        </p:pic>
        <p:cxnSp>
          <p:nvCxnSpPr>
            <p:cNvPr id="15" name="Connecteur droit 14"/>
            <p:cNvCxnSpPr/>
            <p:nvPr/>
          </p:nvCxnSpPr>
          <p:spPr>
            <a:xfrm flipV="1">
              <a:off x="11474543" y="4240591"/>
              <a:ext cx="397297" cy="90356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flipV="1">
              <a:off x="9300462" y="3341850"/>
              <a:ext cx="397297" cy="903563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flipV="1">
              <a:off x="9691255" y="2990169"/>
              <a:ext cx="897148" cy="355704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10601262" y="2997841"/>
              <a:ext cx="904800" cy="344009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 flipV="1">
              <a:off x="9310565" y="4240592"/>
              <a:ext cx="386936" cy="903562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flipH="1" flipV="1">
              <a:off x="11480684" y="3339441"/>
              <a:ext cx="383225" cy="883461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flipH="1" flipV="1">
              <a:off x="9688449" y="5140838"/>
              <a:ext cx="900764" cy="369957"/>
            </a:xfrm>
            <a:prstGeom prst="line">
              <a:avLst/>
            </a:prstGeom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e 63"/>
          <p:cNvGrpSpPr/>
          <p:nvPr/>
        </p:nvGrpSpPr>
        <p:grpSpPr>
          <a:xfrm>
            <a:off x="8808162" y="2998714"/>
            <a:ext cx="3249021" cy="3478628"/>
            <a:chOff x="8610600" y="2886998"/>
            <a:chExt cx="3249021" cy="3478628"/>
          </a:xfrm>
        </p:grpSpPr>
        <p:grpSp>
          <p:nvGrpSpPr>
            <p:cNvPr id="47" name="Groupe 46"/>
            <p:cNvGrpSpPr/>
            <p:nvPr/>
          </p:nvGrpSpPr>
          <p:grpSpPr>
            <a:xfrm>
              <a:off x="8610600" y="2886998"/>
              <a:ext cx="3249021" cy="3478628"/>
              <a:chOff x="8172187" y="1787964"/>
              <a:chExt cx="3823454" cy="3833610"/>
            </a:xfrm>
          </p:grpSpPr>
          <p:pic>
            <p:nvPicPr>
              <p:cNvPr id="48" name="Image 47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72187" y="1787964"/>
                <a:ext cx="3823454" cy="3833610"/>
              </a:xfrm>
              <a:prstGeom prst="rect">
                <a:avLst/>
              </a:prstGeom>
            </p:spPr>
          </p:pic>
          <p:grpSp>
            <p:nvGrpSpPr>
              <p:cNvPr id="49" name="Groupe 48"/>
              <p:cNvGrpSpPr/>
              <p:nvPr/>
            </p:nvGrpSpPr>
            <p:grpSpPr>
              <a:xfrm rot="20689993">
                <a:off x="10226339" y="4149330"/>
                <a:ext cx="896815" cy="269436"/>
                <a:chOff x="237392" y="1787964"/>
                <a:chExt cx="896815" cy="269436"/>
              </a:xfrm>
            </p:grpSpPr>
            <p:sp>
              <p:nvSpPr>
                <p:cNvPr id="54" name="Rectangle 53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55" name="Connecteur droit avec flèche 54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50" name="Image 49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74235" y="4223948"/>
                <a:ext cx="505905" cy="222476"/>
              </a:xfrm>
              <a:prstGeom prst="rect">
                <a:avLst/>
              </a:prstGeom>
              <a:solidFill>
                <a:schemeClr val="bg1"/>
              </a:solidFill>
            </p:spPr>
          </p:pic>
          <p:cxnSp>
            <p:nvCxnSpPr>
              <p:cNvPr id="51" name="Connecteur droit 50"/>
              <p:cNvCxnSpPr/>
              <p:nvPr/>
            </p:nvCxnSpPr>
            <p:spPr>
              <a:xfrm>
                <a:off x="9153840" y="2656153"/>
                <a:ext cx="203271" cy="68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51"/>
              <p:cNvCxnSpPr/>
              <p:nvPr/>
            </p:nvCxnSpPr>
            <p:spPr>
              <a:xfrm>
                <a:off x="8610600" y="3548987"/>
                <a:ext cx="203271" cy="68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3" name="Image 52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686" y="3179671"/>
                <a:ext cx="461714" cy="184381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cxnSp>
          <p:nvCxnSpPr>
            <p:cNvPr id="63" name="Connecteur droit avec flèche 62"/>
            <p:cNvCxnSpPr/>
            <p:nvPr/>
          </p:nvCxnSpPr>
          <p:spPr>
            <a:xfrm>
              <a:off x="9726929" y="4756638"/>
              <a:ext cx="9646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Imag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38" y="304653"/>
            <a:ext cx="8719239" cy="365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2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8733693" y="1374721"/>
            <a:ext cx="3249021" cy="3478628"/>
            <a:chOff x="8610600" y="2886998"/>
            <a:chExt cx="3249021" cy="3478628"/>
          </a:xfrm>
        </p:grpSpPr>
        <p:grpSp>
          <p:nvGrpSpPr>
            <p:cNvPr id="15" name="Groupe 14"/>
            <p:cNvGrpSpPr/>
            <p:nvPr/>
          </p:nvGrpSpPr>
          <p:grpSpPr>
            <a:xfrm>
              <a:off x="8610600" y="2886998"/>
              <a:ext cx="3249021" cy="3478628"/>
              <a:chOff x="8172187" y="1787964"/>
              <a:chExt cx="3823454" cy="3833610"/>
            </a:xfrm>
          </p:grpSpPr>
          <p:pic>
            <p:nvPicPr>
              <p:cNvPr id="17" name="Image 1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72187" y="1787964"/>
                <a:ext cx="3823454" cy="3833610"/>
              </a:xfrm>
              <a:prstGeom prst="rect">
                <a:avLst/>
              </a:prstGeom>
            </p:spPr>
          </p:pic>
          <p:grpSp>
            <p:nvGrpSpPr>
              <p:cNvPr id="18" name="Groupe 17"/>
              <p:cNvGrpSpPr/>
              <p:nvPr/>
            </p:nvGrpSpPr>
            <p:grpSpPr>
              <a:xfrm rot="20689993">
                <a:off x="10226339" y="4149330"/>
                <a:ext cx="896815" cy="269436"/>
                <a:chOff x="237392" y="1787964"/>
                <a:chExt cx="896815" cy="269436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4" name="Connecteur droit avec flèche 23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" name="Image 18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674235" y="4223948"/>
                <a:ext cx="505905" cy="222476"/>
              </a:xfrm>
              <a:prstGeom prst="rect">
                <a:avLst/>
              </a:prstGeom>
              <a:solidFill>
                <a:schemeClr val="bg1"/>
              </a:solidFill>
            </p:spPr>
          </p:pic>
          <p:cxnSp>
            <p:nvCxnSpPr>
              <p:cNvPr id="20" name="Connecteur droit 19"/>
              <p:cNvCxnSpPr/>
              <p:nvPr/>
            </p:nvCxnSpPr>
            <p:spPr>
              <a:xfrm>
                <a:off x="9153840" y="2656153"/>
                <a:ext cx="203271" cy="68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eur droit 20"/>
              <p:cNvCxnSpPr/>
              <p:nvPr/>
            </p:nvCxnSpPr>
            <p:spPr>
              <a:xfrm>
                <a:off x="8610600" y="3548987"/>
                <a:ext cx="203271" cy="680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2" name="Image 21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940686" y="3179671"/>
                <a:ext cx="461714" cy="184381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cxnSp>
          <p:nvCxnSpPr>
            <p:cNvPr id="16" name="Connecteur droit avec flèche 15"/>
            <p:cNvCxnSpPr/>
            <p:nvPr/>
          </p:nvCxnSpPr>
          <p:spPr>
            <a:xfrm>
              <a:off x="9726929" y="4756638"/>
              <a:ext cx="96464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5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29" y="3114039"/>
            <a:ext cx="8714661" cy="343466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026E128-0EBC-0D3B-D41B-089B227B66D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998" y="397348"/>
            <a:ext cx="8714668" cy="20982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D9DE355B-3465-501F-72DD-C0B319D091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813" y="2637560"/>
            <a:ext cx="3114666" cy="44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0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6</a:t>
            </a:fld>
            <a:endParaRPr lang="fr-FR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 rotWithShape="1">
          <a:blip r:embed="rId8"/>
          <a:srcRect b="7137"/>
          <a:stretch/>
        </p:blipFill>
        <p:spPr>
          <a:xfrm>
            <a:off x="9057394" y="281923"/>
            <a:ext cx="3167205" cy="297724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562" y="1921039"/>
            <a:ext cx="862476" cy="2453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3" name="Imag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2" y="3878801"/>
            <a:ext cx="8207236" cy="2588948"/>
          </a:xfrm>
          <a:prstGeom prst="rect">
            <a:avLst/>
          </a:prstGeom>
        </p:spPr>
      </p:pic>
      <p:grpSp>
        <p:nvGrpSpPr>
          <p:cNvPr id="8" name="Groupe 7"/>
          <p:cNvGrpSpPr/>
          <p:nvPr/>
        </p:nvGrpSpPr>
        <p:grpSpPr>
          <a:xfrm>
            <a:off x="8963250" y="3379102"/>
            <a:ext cx="3167205" cy="2977248"/>
            <a:chOff x="8848949" y="-5450"/>
            <a:chExt cx="3167205" cy="2977248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 rotWithShape="1">
            <a:blip r:embed="rId8"/>
            <a:srcRect b="7137"/>
            <a:stretch/>
          </p:blipFill>
          <p:spPr>
            <a:xfrm>
              <a:off x="8848949" y="-5450"/>
              <a:ext cx="3167205" cy="2977248"/>
            </a:xfrm>
            <a:prstGeom prst="rect">
              <a:avLst/>
            </a:prstGeom>
          </p:spPr>
        </p:pic>
        <p:pic>
          <p:nvPicPr>
            <p:cNvPr id="10" name="Image 9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7237">
              <a:off x="10036709" y="1369650"/>
              <a:ext cx="2684952" cy="22704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1" name="Image 1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78812">
              <a:off x="10327839" y="1221154"/>
              <a:ext cx="397714" cy="249905"/>
            </a:xfrm>
            <a:prstGeom prst="rect">
              <a:avLst/>
            </a:prstGeom>
          </p:spPr>
        </p:pic>
      </p:grpSp>
      <p:pic>
        <p:nvPicPr>
          <p:cNvPr id="5" name="Imag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63" y="257260"/>
            <a:ext cx="9580192" cy="3193907"/>
          </a:xfrm>
          <a:prstGeom prst="rect">
            <a:avLst/>
          </a:prstGeom>
          <a:noFill/>
        </p:spPr>
      </p:pic>
      <p:pic>
        <p:nvPicPr>
          <p:cNvPr id="21" name="Imag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04" y="855137"/>
            <a:ext cx="5060570" cy="23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67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7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93" y="449333"/>
            <a:ext cx="8329146" cy="3833900"/>
          </a:xfrm>
          <a:prstGeom prst="rect">
            <a:avLst/>
          </a:prstGeom>
        </p:spPr>
      </p:pic>
      <p:grpSp>
        <p:nvGrpSpPr>
          <p:cNvPr id="6" name="Groupe 5"/>
          <p:cNvGrpSpPr/>
          <p:nvPr/>
        </p:nvGrpSpPr>
        <p:grpSpPr>
          <a:xfrm>
            <a:off x="8787403" y="1528812"/>
            <a:ext cx="3167205" cy="2977248"/>
            <a:chOff x="8848949" y="-5450"/>
            <a:chExt cx="3167205" cy="2977248"/>
          </a:xfrm>
        </p:grpSpPr>
        <p:pic>
          <p:nvPicPr>
            <p:cNvPr id="14" name="Image 13"/>
            <p:cNvPicPr>
              <a:picLocks noChangeAspect="1"/>
            </p:cNvPicPr>
            <p:nvPr/>
          </p:nvPicPr>
          <p:blipFill rotWithShape="1">
            <a:blip r:embed="rId8"/>
            <a:srcRect b="7137"/>
            <a:stretch/>
          </p:blipFill>
          <p:spPr>
            <a:xfrm>
              <a:off x="8848949" y="-5450"/>
              <a:ext cx="3167205" cy="2977248"/>
            </a:xfrm>
            <a:prstGeom prst="rect">
              <a:avLst/>
            </a:prstGeom>
          </p:spPr>
        </p:pic>
        <p:pic>
          <p:nvPicPr>
            <p:cNvPr id="3" name="Image 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7237">
              <a:off x="10036709" y="1369650"/>
              <a:ext cx="2684952" cy="22704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" name="Image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78812">
              <a:off x="10327839" y="1221154"/>
              <a:ext cx="397714" cy="249905"/>
            </a:xfrm>
            <a:prstGeom prst="rect">
              <a:avLst/>
            </a:prstGeom>
          </p:spPr>
        </p:pic>
      </p:grpSp>
      <p:pic>
        <p:nvPicPr>
          <p:cNvPr id="7" name="Imag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93" y="5197643"/>
            <a:ext cx="7632759" cy="107276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880" y="2455338"/>
            <a:ext cx="2977523" cy="48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74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8</a:t>
            </a:fld>
            <a:endParaRPr lang="fr-FR"/>
          </a:p>
        </p:txBody>
      </p:sp>
      <p:pic>
        <p:nvPicPr>
          <p:cNvPr id="30" name="Image 29" descr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n a en première approximation :&#10;&#10;$$&#10;- K \frac{T_f - T_C}{d_{Cf}} \cos(\theta_f) \approx h_r(T_f) \; (T_f - T_a) \quad \text{où} \; \cos(\theta_f) = \frac{h_{Cf}}{d_{Cf}}&#10;$$&#10;avec $h_{Cf} = \rtvector{Cf} \cdot \rtvector{n}_f$&#10;On en déduit que :&#10;$$&#10;T_f = \dfrac{\frac{K}{d_{Cf}} \cos(\theta_f) }{\frac{K}{d_{Cf}} \cos(\theta_f) + h_r(T_f)} \; T_C +&#10;\frac{h_r(T_f) }{\frac{K}{d_{Cf}} \cos(\theta_f) + h_r(T_f)} \; T_{sur}&#10;$$&#10;Dans la suite, on assimile $T_f = T_C + \vartheta(h_{Cf})$, pour simplifier les&#10;écritures.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886" y="2658534"/>
            <a:ext cx="7312457" cy="2866286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8787403" y="2036301"/>
            <a:ext cx="3167205" cy="2979714"/>
            <a:chOff x="8787403" y="1526346"/>
            <a:chExt cx="3167205" cy="2979714"/>
          </a:xfrm>
        </p:grpSpPr>
        <p:pic>
          <p:nvPicPr>
            <p:cNvPr id="14" name="Image 13"/>
            <p:cNvPicPr>
              <a:picLocks noChangeAspect="1"/>
            </p:cNvPicPr>
            <p:nvPr/>
          </p:nvPicPr>
          <p:blipFill rotWithShape="1">
            <a:blip r:embed="rId9"/>
            <a:srcRect b="7137"/>
            <a:stretch/>
          </p:blipFill>
          <p:spPr>
            <a:xfrm>
              <a:off x="8787403" y="1528812"/>
              <a:ext cx="3167205" cy="2977248"/>
            </a:xfrm>
            <a:prstGeom prst="rect">
              <a:avLst/>
            </a:prstGeom>
          </p:spPr>
        </p:pic>
        <p:pic>
          <p:nvPicPr>
            <p:cNvPr id="17" name="Image 16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Environnement à \\ la température $T_{sur}$}&#10;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7237">
              <a:off x="10194353" y="2394155"/>
              <a:ext cx="2264380" cy="52876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" name="Image 3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78812">
              <a:off x="10266293" y="2755416"/>
              <a:ext cx="397714" cy="249905"/>
            </a:xfrm>
            <a:prstGeom prst="rect">
              <a:avLst/>
            </a:prstGeom>
          </p:spPr>
        </p:pic>
      </p:grpSp>
      <p:pic>
        <p:nvPicPr>
          <p:cNvPr id="31" name="Image 30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Pour toute facette \( e \subset \partial D \cap \partial V_C \):&#10;$$&#10;\iint_{e} \; dS \; (-K\;\rtvector{n} \; \cdot \; \nabla T) &#10;{\approx |e| \; h_r(T_C)\; ( T_C + \vartheta(h_{Cf}) - T_{sur} ) }&#10;\approx |e| \; h_r(T_C)\; ( T_C - T_{sur} )&#10;$$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53" y="5755989"/>
            <a:ext cx="7887085" cy="965486"/>
          </a:xfrm>
          <a:prstGeom prst="rect">
            <a:avLst/>
          </a:prstGeom>
        </p:spPr>
      </p:pic>
      <p:pic>
        <p:nvPicPr>
          <p:cNvPr id="29" name="Image 28" descr="\documentclass{article}&#10;\usepackage{amsmath}&#10;\usepackage{xcolor}&#10;\pagestyle{empty}&#10;\begin{document}&#10;&#10;\textcolor{red}{&#10;\noindent Attention $f$ est le point milieu de la facette $e$.}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327" y="2399104"/>
            <a:ext cx="4554514" cy="209829"/>
          </a:xfrm>
          <a:prstGeom prst="rect">
            <a:avLst/>
          </a:prstGeom>
        </p:spPr>
      </p:pic>
      <p:pic>
        <p:nvPicPr>
          <p:cNvPr id="28" name="Image 27" descr="\documentclass{article}&#10;\usepackage{amsmath}&#10;\usepackage{esint}&#10;\usepackage{xcolor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nditions de rayonnement de Stefan}&#10;&#10;Pour toute facette \( e \subset \partial D \cap \partial V_C \):&#10;$$&#10;\iint_{e} \; dS \; (-K\;\rtvector{n} \; \cdot \; \nabla T) =&#10;\iint_{e \; \subset \; \partial D \cap \partial V_C} \; dS \; h_r(T)\; (T -T_{sur}) &#10;\approx |e| \; h_r(T_f)\; (T_f -T_{sur})&#10;$$&#10;avec $h_r ({\color{red} T_f})= \epsilon \sigma (T_f+T_{sur}) (T_f^2+T_{sur}^2)$,&#10;où $|e|$ désigne la surface de la facette $e$. \\&#10;Mais on ne connait pas $T_f$.&#10;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27" y="221448"/>
            <a:ext cx="9340799" cy="232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7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15" y="298910"/>
            <a:ext cx="9151996" cy="2831235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9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6" y="3383718"/>
            <a:ext cx="11762282" cy="2153143"/>
          </a:xfrm>
          <a:prstGeom prst="rect">
            <a:avLst/>
          </a:prstGeom>
        </p:spPr>
      </p:pic>
      <p:sp>
        <p:nvSpPr>
          <p:cNvPr id="32" name="ZoneTexte 31"/>
          <p:cNvSpPr txBox="1"/>
          <p:nvPr/>
        </p:nvSpPr>
        <p:spPr>
          <a:xfrm>
            <a:off x="2659556" y="2189284"/>
            <a:ext cx="102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Diffusion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5961600" y="2189284"/>
            <a:ext cx="1880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Condition au bord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8215362" y="2189284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Puissance dissipée</a:t>
            </a:r>
          </a:p>
        </p:txBody>
      </p:sp>
      <p:pic>
        <p:nvPicPr>
          <p:cNvPr id="46" name="Image 4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59" y="5371194"/>
            <a:ext cx="3541335" cy="3428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431" y="867508"/>
            <a:ext cx="3837354" cy="351692"/>
          </a:xfrm>
          <a:prstGeom prst="rect">
            <a:avLst/>
          </a:prstGeom>
          <a:solidFill>
            <a:srgbClr val="FFC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5" name="Groupe 44"/>
          <p:cNvGrpSpPr/>
          <p:nvPr/>
        </p:nvGrpSpPr>
        <p:grpSpPr>
          <a:xfrm>
            <a:off x="5457674" y="4542616"/>
            <a:ext cx="1959043" cy="1657156"/>
            <a:chOff x="4407808" y="5162625"/>
            <a:chExt cx="1959043" cy="1657156"/>
          </a:xfrm>
        </p:grpSpPr>
        <p:grpSp>
          <p:nvGrpSpPr>
            <p:cNvPr id="40" name="Groupe 39"/>
            <p:cNvGrpSpPr/>
            <p:nvPr/>
          </p:nvGrpSpPr>
          <p:grpSpPr>
            <a:xfrm>
              <a:off x="5556349" y="6252542"/>
              <a:ext cx="810502" cy="269583"/>
              <a:chOff x="6759104" y="6815523"/>
              <a:chExt cx="810502" cy="269583"/>
            </a:xfrm>
          </p:grpSpPr>
          <p:grpSp>
            <p:nvGrpSpPr>
              <p:cNvPr id="18" name="Groupe 17"/>
              <p:cNvGrpSpPr/>
              <p:nvPr/>
            </p:nvGrpSpPr>
            <p:grpSpPr>
              <a:xfrm rot="20689993">
                <a:off x="6759104" y="6815523"/>
                <a:ext cx="762078" cy="244487"/>
                <a:chOff x="237392" y="1787964"/>
                <a:chExt cx="896815" cy="269436"/>
              </a:xfrm>
            </p:grpSpPr>
            <p:sp>
              <p:nvSpPr>
                <p:cNvPr id="23" name="Rectangle 22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4" name="Connecteur droit avec flèche 23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" name="Image 18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9708" y="6883231"/>
                <a:ext cx="429898" cy="2018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pic>
          <p:nvPicPr>
            <p:cNvPr id="22" name="Image 2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034320">
              <a:off x="5274421" y="5641043"/>
              <a:ext cx="392346" cy="167308"/>
            </a:xfrm>
            <a:prstGeom prst="rect">
              <a:avLst/>
            </a:prstGeom>
            <a:solidFill>
              <a:schemeClr val="bg1"/>
            </a:solidFill>
          </p:spPr>
        </p:pic>
        <p:cxnSp>
          <p:nvCxnSpPr>
            <p:cNvPr id="16" name="Connecteur droit avec flèche 15"/>
            <p:cNvCxnSpPr/>
            <p:nvPr/>
          </p:nvCxnSpPr>
          <p:spPr>
            <a:xfrm flipV="1">
              <a:off x="5008011" y="6148560"/>
              <a:ext cx="747489" cy="539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>
              <a:off x="5189411" y="5166608"/>
              <a:ext cx="1132179" cy="11897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/>
            <p:cNvCxnSpPr/>
            <p:nvPr/>
          </p:nvCxnSpPr>
          <p:spPr>
            <a:xfrm flipH="1">
              <a:off x="4416499" y="5162625"/>
              <a:ext cx="772912" cy="13900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>
              <a:off x="4407808" y="6552634"/>
              <a:ext cx="1248297" cy="2540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 flipV="1">
              <a:off x="5656707" y="6338402"/>
              <a:ext cx="664883" cy="4682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>
              <a:off x="5189411" y="5162625"/>
              <a:ext cx="466694" cy="1657156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/>
            <p:cNvSpPr txBox="1"/>
            <p:nvPr/>
          </p:nvSpPr>
          <p:spPr>
            <a:xfrm>
              <a:off x="4853962" y="586288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C</a:t>
              </a:r>
              <a:endParaRPr lang="fr-FR" dirty="0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5614941" y="578622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676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n regroupant les termes, on obtient pour tout volume fini de centre C :&#10;$$&#10;\begin{aligned}&#10;\left(&#10;\sum_{\substack{e_{C, F} \subset \partial V_c &#10;\\ e_{C, F} = (C|F)}} &#10;\; \frac{K \; |e_{C, F}|}{d_{CF}} \cos(\theta_f) +&#10;\sum_{e \; \subset \; \partial D \cap \partial V_C}&#10;|e| \; h\;&#10;\right) \; T_C \;&#10;-&#10;\sum_{\substack{e_{C, F} \subset \partial V_c &#10;\\ e_{C, F} = (C|F)}} &#10;\; \frac{K \; |e_{C, F}|}{d_{CF}} \cos(\theta_f) \; T_F \; &#10;&amp;= \\&#10;Q_C \; V_C \; +&#10;&amp;\sum_{e \; \subset \; \partial D \cap \partial V_C}&#10;|e| \; h\; T_a&#10;\end{aligned}&#10;$$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41" y="135216"/>
            <a:ext cx="11867424" cy="2464001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10</a:t>
            </a:fld>
            <a:endParaRPr lang="fr-FR"/>
          </a:p>
        </p:txBody>
      </p:sp>
      <p:grpSp>
        <p:nvGrpSpPr>
          <p:cNvPr id="49" name="Groupe 48"/>
          <p:cNvGrpSpPr/>
          <p:nvPr/>
        </p:nvGrpSpPr>
        <p:grpSpPr>
          <a:xfrm>
            <a:off x="473170" y="3492300"/>
            <a:ext cx="2828520" cy="2864050"/>
            <a:chOff x="288532" y="2647987"/>
            <a:chExt cx="2828520" cy="2864050"/>
          </a:xfrm>
        </p:grpSpPr>
        <p:grpSp>
          <p:nvGrpSpPr>
            <p:cNvPr id="6" name="Groupe 5"/>
            <p:cNvGrpSpPr/>
            <p:nvPr/>
          </p:nvGrpSpPr>
          <p:grpSpPr>
            <a:xfrm>
              <a:off x="288532" y="2647987"/>
              <a:ext cx="2828520" cy="2864050"/>
              <a:chOff x="9179956" y="2808567"/>
              <a:chExt cx="2828520" cy="2864050"/>
            </a:xfrm>
          </p:grpSpPr>
          <p:grpSp>
            <p:nvGrpSpPr>
              <p:cNvPr id="7" name="Groupe 6"/>
              <p:cNvGrpSpPr/>
              <p:nvPr/>
            </p:nvGrpSpPr>
            <p:grpSpPr>
              <a:xfrm>
                <a:off x="9179956" y="2808567"/>
                <a:ext cx="2828520" cy="2864050"/>
                <a:chOff x="7851935" y="2212018"/>
                <a:chExt cx="3501865" cy="3591612"/>
              </a:xfrm>
            </p:grpSpPr>
            <p:grpSp>
              <p:nvGrpSpPr>
                <p:cNvPr id="17" name="Groupe 16"/>
                <p:cNvGrpSpPr/>
                <p:nvPr/>
              </p:nvGrpSpPr>
              <p:grpSpPr>
                <a:xfrm>
                  <a:off x="7851935" y="2212018"/>
                  <a:ext cx="3501865" cy="3591612"/>
                  <a:chOff x="7047680" y="2255979"/>
                  <a:chExt cx="3501865" cy="3591612"/>
                </a:xfrm>
              </p:grpSpPr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7047680" y="2255979"/>
                    <a:ext cx="3501865" cy="3591612"/>
                    <a:chOff x="7448307" y="1846384"/>
                    <a:chExt cx="4361326" cy="4444173"/>
                  </a:xfrm>
                </p:grpSpPr>
                <p:pic>
                  <p:nvPicPr>
                    <p:cNvPr id="33" name="Image 32"/>
                    <p:cNvPicPr>
                      <a:picLocks noChangeAspect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7448307" y="1846384"/>
                      <a:ext cx="4361326" cy="444417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4" name="Ellipse 33"/>
                    <p:cNvSpPr>
                      <a:spLocks noChangeAspect="1"/>
                    </p:cNvSpPr>
                    <p:nvPr/>
                  </p:nvSpPr>
                  <p:spPr>
                    <a:xfrm>
                      <a:off x="9330625" y="3713921"/>
                      <a:ext cx="124178" cy="135467"/>
                    </a:xfrm>
                    <a:prstGeom prst="ellipse">
                      <a:avLst/>
                    </a:prstGeom>
                    <a:noFill/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pic>
                  <p:nvPicPr>
                    <p:cNvPr id="35" name="Image 34"/>
                    <p:cNvPicPr>
                      <a:picLocks noChangeAspect="1"/>
                    </p:cNvPicPr>
                    <p:nvPr>
                      <p:custDataLst>
                        <p:tags r:id="rId7"/>
                      </p:custDataLst>
                    </p:nvPr>
                  </p:nvPicPr>
                  <p:blipFill>
                    <a:blip r:embed="rId1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729376" y="3344915"/>
                      <a:ext cx="437333" cy="222476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6" name="Image 35"/>
                    <p:cNvPicPr>
                      <a:picLocks noChangeAspect="1"/>
                    </p:cNvPicPr>
                    <p:nvPr>
                      <p:custDataLst>
                        <p:tags r:id="rId8"/>
                      </p:custDataLst>
                    </p:nvPr>
                  </p:nvPicPr>
                  <p:blipFill>
                    <a:blip r:embed="rId13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9079045" y="3961803"/>
                      <a:ext cx="283428" cy="21333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7" name="ZoneTexte 36"/>
                    <p:cNvSpPr txBox="1"/>
                    <p:nvPr/>
                  </p:nvSpPr>
                  <p:spPr>
                    <a:xfrm>
                      <a:off x="9365397" y="3452717"/>
                      <a:ext cx="30809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fr-FR" dirty="0"/>
                        <a:t>C</a:t>
                      </a:r>
                    </a:p>
                  </p:txBody>
                </p:sp>
                <p:cxnSp>
                  <p:nvCxnSpPr>
                    <p:cNvPr id="38" name="Connecteur droit 37"/>
                    <p:cNvCxnSpPr/>
                    <p:nvPr/>
                  </p:nvCxnSpPr>
                  <p:spPr>
                    <a:xfrm flipV="1">
                      <a:off x="8915616" y="3868615"/>
                      <a:ext cx="1223673" cy="523700"/>
                    </a:xfrm>
                    <a:prstGeom prst="line">
                      <a:avLst/>
                    </a:prstGeom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Connecteur droit 38"/>
                    <p:cNvCxnSpPr/>
                    <p:nvPr/>
                  </p:nvCxnSpPr>
                  <p:spPr>
                    <a:xfrm>
                      <a:off x="9233682" y="3191608"/>
                      <a:ext cx="914400" cy="677007"/>
                    </a:xfrm>
                    <a:prstGeom prst="line">
                      <a:avLst/>
                    </a:prstGeom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Connecteur droit 39"/>
                    <p:cNvCxnSpPr/>
                    <p:nvPr/>
                  </p:nvCxnSpPr>
                  <p:spPr>
                    <a:xfrm flipV="1">
                      <a:off x="8915616" y="3209192"/>
                      <a:ext cx="326858" cy="1183123"/>
                    </a:xfrm>
                    <a:prstGeom prst="line">
                      <a:avLst/>
                    </a:prstGeom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1" name="ZoneTexte 40"/>
                    <p:cNvSpPr txBox="1"/>
                    <p:nvPr/>
                  </p:nvSpPr>
                  <p:spPr>
                    <a:xfrm>
                      <a:off x="11254079" y="1943512"/>
                      <a:ext cx="44435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fr-FR" dirty="0"/>
                        <a:t>2D</a:t>
                      </a:r>
                    </a:p>
                  </p:txBody>
                </p:sp>
              </p:grpSp>
              <p:grpSp>
                <p:nvGrpSpPr>
                  <p:cNvPr id="23" name="Groupe 22"/>
                  <p:cNvGrpSpPr/>
                  <p:nvPr/>
                </p:nvGrpSpPr>
                <p:grpSpPr>
                  <a:xfrm rot="3688043">
                    <a:off x="8662323" y="4196749"/>
                    <a:ext cx="329538" cy="97953"/>
                    <a:chOff x="237392" y="1787964"/>
                    <a:chExt cx="896815" cy="269436"/>
                  </a:xfrm>
                </p:grpSpPr>
                <p:sp>
                  <p:nvSpPr>
                    <p:cNvPr id="31" name="Rectangle 30"/>
                    <p:cNvSpPr/>
                    <p:nvPr/>
                  </p:nvSpPr>
                  <p:spPr>
                    <a:xfrm>
                      <a:off x="246185" y="1787964"/>
                      <a:ext cx="290146" cy="2694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cxnSp>
                  <p:nvCxnSpPr>
                    <p:cNvPr id="32" name="Connecteur droit avec flèche 31"/>
                    <p:cNvCxnSpPr/>
                    <p:nvPr/>
                  </p:nvCxnSpPr>
                  <p:spPr>
                    <a:xfrm>
                      <a:off x="237392" y="1787964"/>
                      <a:ext cx="896815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pic>
                <p:nvPicPr>
                  <p:cNvPr id="24" name="Image 23"/>
                  <p:cNvPicPr>
                    <a:picLocks noChangeAspect="1"/>
                  </p:cNvPicPr>
                  <p:nvPr>
                    <p:custDataLst>
                      <p:tags r:id="rId6"/>
                    </p:custDataLst>
                  </p:nvPr>
                </p:nvPicPr>
                <p:blipFill>
                  <a:blip r:embed="rId14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43886" y="3056074"/>
                    <a:ext cx="140350" cy="138858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</p:pic>
              <p:grpSp>
                <p:nvGrpSpPr>
                  <p:cNvPr id="25" name="Groupe 24"/>
                  <p:cNvGrpSpPr/>
                  <p:nvPr/>
                </p:nvGrpSpPr>
                <p:grpSpPr>
                  <a:xfrm rot="11920314">
                    <a:off x="8067403" y="3671865"/>
                    <a:ext cx="329538" cy="97953"/>
                    <a:chOff x="237392" y="1787964"/>
                    <a:chExt cx="896815" cy="269436"/>
                  </a:xfrm>
                </p:grpSpPr>
                <p:sp>
                  <p:nvSpPr>
                    <p:cNvPr id="29" name="Rectangle 28"/>
                    <p:cNvSpPr/>
                    <p:nvPr/>
                  </p:nvSpPr>
                  <p:spPr>
                    <a:xfrm>
                      <a:off x="246185" y="1787964"/>
                      <a:ext cx="290146" cy="2694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cxnSp>
                  <p:nvCxnSpPr>
                    <p:cNvPr id="30" name="Connecteur droit avec flèche 29"/>
                    <p:cNvCxnSpPr/>
                    <p:nvPr/>
                  </p:nvCxnSpPr>
                  <p:spPr>
                    <a:xfrm>
                      <a:off x="237392" y="1787964"/>
                      <a:ext cx="896815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6" name="Groupe 25"/>
                  <p:cNvGrpSpPr/>
                  <p:nvPr/>
                </p:nvGrpSpPr>
                <p:grpSpPr>
                  <a:xfrm rot="18747552">
                    <a:off x="8688369" y="3354739"/>
                    <a:ext cx="329538" cy="97953"/>
                    <a:chOff x="237392" y="1787964"/>
                    <a:chExt cx="896815" cy="269436"/>
                  </a:xfrm>
                </p:grpSpPr>
                <p:sp>
                  <p:nvSpPr>
                    <p:cNvPr id="27" name="Rectangle 26"/>
                    <p:cNvSpPr/>
                    <p:nvPr/>
                  </p:nvSpPr>
                  <p:spPr>
                    <a:xfrm>
                      <a:off x="246185" y="1787964"/>
                      <a:ext cx="290146" cy="26943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cxnSp>
                  <p:nvCxnSpPr>
                    <p:cNvPr id="28" name="Connecteur droit avec flèche 27"/>
                    <p:cNvCxnSpPr/>
                    <p:nvPr/>
                  </p:nvCxnSpPr>
                  <p:spPr>
                    <a:xfrm>
                      <a:off x="237392" y="1787964"/>
                      <a:ext cx="896815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8" name="Groupe 17"/>
                <p:cNvGrpSpPr/>
                <p:nvPr/>
              </p:nvGrpSpPr>
              <p:grpSpPr>
                <a:xfrm>
                  <a:off x="9595671" y="4724400"/>
                  <a:ext cx="1097729" cy="876300"/>
                  <a:chOff x="9595671" y="4724400"/>
                  <a:chExt cx="1097729" cy="876300"/>
                </a:xfrm>
              </p:grpSpPr>
              <p:cxnSp>
                <p:nvCxnSpPr>
                  <p:cNvPr id="19" name="Connecteur droit 18"/>
                  <p:cNvCxnSpPr/>
                  <p:nvPr/>
                </p:nvCxnSpPr>
                <p:spPr>
                  <a:xfrm>
                    <a:off x="9906000" y="4724400"/>
                    <a:ext cx="787400" cy="416521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Connecteur droit 19"/>
                  <p:cNvCxnSpPr/>
                  <p:nvPr/>
                </p:nvCxnSpPr>
                <p:spPr>
                  <a:xfrm flipH="1">
                    <a:off x="9595671" y="4743450"/>
                    <a:ext cx="303979" cy="857250"/>
                  </a:xfrm>
                  <a:prstGeom prst="line">
                    <a:avLst/>
                  </a:prstGeom>
                  <a:ln w="28575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Connecteur droit 20"/>
                  <p:cNvCxnSpPr/>
                  <p:nvPr/>
                </p:nvCxnSpPr>
                <p:spPr>
                  <a:xfrm flipV="1">
                    <a:off x="9595671" y="5140922"/>
                    <a:ext cx="1097729" cy="459778"/>
                  </a:xfrm>
                  <a:prstGeom prst="line">
                    <a:avLst/>
                  </a:prstGeom>
                  <a:ln w="28575">
                    <a:solidFill>
                      <a:srgbClr val="00B05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pic>
            <p:nvPicPr>
              <p:cNvPr id="8" name="Image 7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4462" y="5204914"/>
                <a:ext cx="342857" cy="187429"/>
              </a:xfrm>
              <a:prstGeom prst="rect">
                <a:avLst/>
              </a:prstGeom>
            </p:spPr>
          </p:pic>
          <p:cxnSp>
            <p:nvCxnSpPr>
              <p:cNvPr id="9" name="Connecteur droit 8"/>
              <p:cNvCxnSpPr/>
              <p:nvPr/>
            </p:nvCxnSpPr>
            <p:spPr>
              <a:xfrm flipV="1">
                <a:off x="11474543" y="4240591"/>
                <a:ext cx="397297" cy="90356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eur droit 9"/>
              <p:cNvCxnSpPr/>
              <p:nvPr/>
            </p:nvCxnSpPr>
            <p:spPr>
              <a:xfrm flipV="1">
                <a:off x="9300462" y="3341850"/>
                <a:ext cx="397297" cy="903563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eur droit 10"/>
              <p:cNvCxnSpPr/>
              <p:nvPr/>
            </p:nvCxnSpPr>
            <p:spPr>
              <a:xfrm flipV="1">
                <a:off x="9691255" y="2990169"/>
                <a:ext cx="897148" cy="355704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eur droit 12"/>
              <p:cNvCxnSpPr/>
              <p:nvPr/>
            </p:nvCxnSpPr>
            <p:spPr>
              <a:xfrm>
                <a:off x="10601262" y="2997841"/>
                <a:ext cx="904800" cy="344009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eur droit 13"/>
              <p:cNvCxnSpPr/>
              <p:nvPr/>
            </p:nvCxnSpPr>
            <p:spPr>
              <a:xfrm flipH="1" flipV="1">
                <a:off x="9310565" y="4240592"/>
                <a:ext cx="386936" cy="903562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/>
              <p:cNvCxnSpPr/>
              <p:nvPr/>
            </p:nvCxnSpPr>
            <p:spPr>
              <a:xfrm flipH="1" flipV="1">
                <a:off x="11480684" y="3339441"/>
                <a:ext cx="383225" cy="883461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/>
              <p:cNvCxnSpPr/>
              <p:nvPr/>
            </p:nvCxnSpPr>
            <p:spPr>
              <a:xfrm flipH="1" flipV="1">
                <a:off x="9688449" y="5140838"/>
                <a:ext cx="900764" cy="369957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Ellipse 42"/>
            <p:cNvSpPr>
              <a:spLocks noChangeAspect="1"/>
            </p:cNvSpPr>
            <p:nvPr/>
          </p:nvSpPr>
          <p:spPr>
            <a:xfrm>
              <a:off x="1697920" y="4253720"/>
              <a:ext cx="1215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1462159" y="4202847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F</a:t>
              </a:r>
            </a:p>
          </p:txBody>
        </p:sp>
        <p:sp>
          <p:nvSpPr>
            <p:cNvPr id="45" name="ZoneTexte 44"/>
            <p:cNvSpPr txBox="1"/>
            <p:nvPr/>
          </p:nvSpPr>
          <p:spPr>
            <a:xfrm>
              <a:off x="1974712" y="3199986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F</a:t>
              </a:r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773385" y="3779421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F</a:t>
              </a:r>
            </a:p>
          </p:txBody>
        </p:sp>
        <p:sp>
          <p:nvSpPr>
            <p:cNvPr id="47" name="Ellipse 46"/>
            <p:cNvSpPr>
              <a:spLocks noChangeAspect="1"/>
            </p:cNvSpPr>
            <p:nvPr/>
          </p:nvSpPr>
          <p:spPr>
            <a:xfrm>
              <a:off x="2043755" y="3500511"/>
              <a:ext cx="1215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Ellipse 47"/>
            <p:cNvSpPr>
              <a:spLocks noChangeAspect="1"/>
            </p:cNvSpPr>
            <p:nvPr/>
          </p:nvSpPr>
          <p:spPr>
            <a:xfrm>
              <a:off x="974021" y="3934260"/>
              <a:ext cx="121500" cy="108000"/>
            </a:xfrm>
            <a:prstGeom prst="ellipse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63" name="Image 6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80" y="2306368"/>
            <a:ext cx="3919243" cy="603428"/>
          </a:xfrm>
          <a:prstGeom prst="rect">
            <a:avLst/>
          </a:prstGeom>
        </p:spPr>
      </p:pic>
      <p:cxnSp>
        <p:nvCxnSpPr>
          <p:cNvPr id="59" name="Connecteur droit 58"/>
          <p:cNvCxnSpPr/>
          <p:nvPr/>
        </p:nvCxnSpPr>
        <p:spPr>
          <a:xfrm flipH="1">
            <a:off x="3629772" y="2043868"/>
            <a:ext cx="8794" cy="41506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H="1" flipV="1">
            <a:off x="2346876" y="6009549"/>
            <a:ext cx="1290678" cy="1849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64694" y="1456233"/>
            <a:ext cx="1152709" cy="4858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3370106" y="1459209"/>
            <a:ext cx="1474456" cy="51127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6370606" y="1447559"/>
            <a:ext cx="1208360" cy="4858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9940893" y="2411719"/>
            <a:ext cx="1254640" cy="32078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4" name="Image 6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785" y="3028935"/>
            <a:ext cx="6797708" cy="1714286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5636" y="5308754"/>
            <a:ext cx="7834971" cy="92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13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86" descr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xaminons le terme de gauche, en notant $ \cos(\theta_f) = \rtvector{u}_{C, F} \cdot \rtvector{n}_{C, F} = \frac{h_{CF}}{d_{CF}}$:&#10;$$&#10;\left(&#10;\sum_{\substack{e_{C, F} \subset \partial V_c &#10;\\ e_{C, F} = (C|F)}} &#10;\; \frac{K \; |e_{C, F}|}{d_{CF}} \cos(\theta_f) +&#10;\sum_{e \; \subset \; \partial D \cap \partial V_C}&#10;|e| \; h\;&#10;\right) \; T_C \;&#10;+&#10;\sum_{\substack{e_{C, F} \subset \partial V_c &#10;\\ e_{C, F} = (C|F)}} &#10;\; \frac{-K \; |e_{C, F}|}{d_{CF}} \cos(\theta_f) \; T_F =&#10;\sum_{P} \rttensor{M\!D}_{C\!P}\; T_P&#10;$$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70" y="219257"/>
            <a:ext cx="11670852" cy="1849905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11</a:t>
            </a:fld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1676112" y="960699"/>
            <a:ext cx="1887118" cy="1088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7739575" y="778012"/>
            <a:ext cx="2052126" cy="127070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020120" y="960810"/>
            <a:ext cx="582925" cy="1088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8" name="Groupe 57"/>
          <p:cNvGrpSpPr/>
          <p:nvPr/>
        </p:nvGrpSpPr>
        <p:grpSpPr>
          <a:xfrm>
            <a:off x="458372" y="3122052"/>
            <a:ext cx="2316676" cy="2308328"/>
            <a:chOff x="6409592" y="3630497"/>
            <a:chExt cx="2316676" cy="2308328"/>
          </a:xfrm>
        </p:grpSpPr>
        <p:sp>
          <p:nvSpPr>
            <p:cNvPr id="9" name="Rectangle 8"/>
            <p:cNvSpPr>
              <a:spLocks noChangeAspect="1"/>
            </p:cNvSpPr>
            <p:nvPr/>
          </p:nvSpPr>
          <p:spPr>
            <a:xfrm>
              <a:off x="6409592" y="3780692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>
            <a:xfrm>
              <a:off x="7489592" y="3780692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/>
            <p:cNvSpPr>
              <a:spLocks noChangeAspect="1"/>
            </p:cNvSpPr>
            <p:nvPr/>
          </p:nvSpPr>
          <p:spPr>
            <a:xfrm>
              <a:off x="6409592" y="4858825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>
              <a:spLocks noChangeAspect="1"/>
            </p:cNvSpPr>
            <p:nvPr/>
          </p:nvSpPr>
          <p:spPr>
            <a:xfrm>
              <a:off x="7489592" y="4858825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3" name="Connecteur droit 22"/>
            <p:cNvCxnSpPr/>
            <p:nvPr/>
          </p:nvCxnSpPr>
          <p:spPr>
            <a:xfrm>
              <a:off x="6409592" y="4858825"/>
              <a:ext cx="2160000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/>
            <p:cNvCxnSpPr/>
            <p:nvPr/>
          </p:nvCxnSpPr>
          <p:spPr>
            <a:xfrm rot="5400000">
              <a:off x="6409592" y="4858825"/>
              <a:ext cx="2160000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e 27"/>
            <p:cNvGrpSpPr/>
            <p:nvPr/>
          </p:nvGrpSpPr>
          <p:grpSpPr>
            <a:xfrm>
              <a:off x="6877592" y="4244817"/>
              <a:ext cx="1224000" cy="146942"/>
              <a:chOff x="6877592" y="4244817"/>
              <a:chExt cx="1224000" cy="146942"/>
            </a:xfrm>
          </p:grpSpPr>
          <p:sp>
            <p:nvSpPr>
              <p:cNvPr id="24" name="Ellipse 23"/>
              <p:cNvSpPr>
                <a:spLocks noChangeAspect="1"/>
              </p:cNvSpPr>
              <p:nvPr/>
            </p:nvSpPr>
            <p:spPr>
              <a:xfrm>
                <a:off x="6877592" y="4247759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Ellipse 31"/>
              <p:cNvSpPr>
                <a:spLocks noChangeAspect="1"/>
              </p:cNvSpPr>
              <p:nvPr/>
            </p:nvSpPr>
            <p:spPr>
              <a:xfrm>
                <a:off x="7957592" y="4244817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4" name="Groupe 33"/>
            <p:cNvGrpSpPr/>
            <p:nvPr/>
          </p:nvGrpSpPr>
          <p:grpSpPr>
            <a:xfrm>
              <a:off x="6877592" y="5312913"/>
              <a:ext cx="1224000" cy="146942"/>
              <a:chOff x="6877592" y="4244817"/>
              <a:chExt cx="1224000" cy="146942"/>
            </a:xfrm>
          </p:grpSpPr>
          <p:sp>
            <p:nvSpPr>
              <p:cNvPr id="35" name="Ellipse 34"/>
              <p:cNvSpPr>
                <a:spLocks noChangeAspect="1"/>
              </p:cNvSpPr>
              <p:nvPr/>
            </p:nvSpPr>
            <p:spPr>
              <a:xfrm>
                <a:off x="6877592" y="4247759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6" name="Ellipse 35"/>
              <p:cNvSpPr>
                <a:spLocks noChangeAspect="1"/>
              </p:cNvSpPr>
              <p:nvPr/>
            </p:nvSpPr>
            <p:spPr>
              <a:xfrm>
                <a:off x="7957592" y="4244817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1" name="ZoneTexte 30"/>
            <p:cNvSpPr txBox="1"/>
            <p:nvPr/>
          </p:nvSpPr>
          <p:spPr>
            <a:xfrm>
              <a:off x="7968047" y="398420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C</a:t>
              </a:r>
              <a:endParaRPr lang="fr-FR" dirty="0"/>
            </a:p>
          </p:txBody>
        </p:sp>
        <p:sp>
          <p:nvSpPr>
            <p:cNvPr id="33" name="ZoneTexte 32"/>
            <p:cNvSpPr txBox="1"/>
            <p:nvPr/>
          </p:nvSpPr>
          <p:spPr>
            <a:xfrm>
              <a:off x="6905681" y="398420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F</a:t>
              </a:r>
              <a:endParaRPr lang="fr-FR" dirty="0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7988612" y="5062337"/>
              <a:ext cx="348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F’</a:t>
              </a:r>
              <a:endParaRPr lang="fr-FR" dirty="0"/>
            </a:p>
          </p:txBody>
        </p:sp>
        <p:pic>
          <p:nvPicPr>
            <p:cNvPr id="57" name="Image 56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 title="IguanaTex Bitmap Display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220" y="4232150"/>
              <a:ext cx="99048" cy="114286"/>
            </a:xfrm>
            <a:prstGeom prst="rect">
              <a:avLst/>
            </a:prstGeom>
          </p:spPr>
        </p:pic>
        <p:pic>
          <p:nvPicPr>
            <p:cNvPr id="48" name="Image 47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 title="IguanaTex Bitmap Display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3426" y="3630497"/>
              <a:ext cx="99048" cy="114286"/>
            </a:xfrm>
            <a:prstGeom prst="rect">
              <a:avLst/>
            </a:prstGeom>
          </p:spPr>
        </p:pic>
        <p:pic>
          <p:nvPicPr>
            <p:cNvPr id="46" name="Image 45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2569" y="4666812"/>
              <a:ext cx="461714" cy="184381"/>
            </a:xfrm>
            <a:prstGeom prst="rect">
              <a:avLst/>
            </a:prstGeom>
          </p:spPr>
        </p:pic>
        <p:pic>
          <p:nvPicPr>
            <p:cNvPr id="52" name="Image 51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 title="IguanaTex Bitmap Display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366780" y="4217702"/>
              <a:ext cx="461714" cy="184381"/>
            </a:xfrm>
            <a:prstGeom prst="rect">
              <a:avLst/>
            </a:prstGeom>
          </p:spPr>
        </p:pic>
        <p:cxnSp>
          <p:nvCxnSpPr>
            <p:cNvPr id="55" name="Connecteur droit 54"/>
            <p:cNvCxnSpPr/>
            <p:nvPr/>
          </p:nvCxnSpPr>
          <p:spPr>
            <a:xfrm>
              <a:off x="7490206" y="4851193"/>
              <a:ext cx="11051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/>
            <p:cNvCxnSpPr/>
            <p:nvPr/>
          </p:nvCxnSpPr>
          <p:spPr>
            <a:xfrm rot="16200000">
              <a:off x="6937015" y="4353536"/>
              <a:ext cx="11051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Connecteur droit avec flèche 62"/>
          <p:cNvCxnSpPr/>
          <p:nvPr/>
        </p:nvCxnSpPr>
        <p:spPr>
          <a:xfrm flipV="1">
            <a:off x="1538372" y="5603240"/>
            <a:ext cx="1080000" cy="76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Image 80" descr="\documentclass{article}&#10;\usepackage{amsmath}&#10;\pagestyle{empty}&#10;\begin{document}&#10;&#10;&#10;unité = a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744" y="5659385"/>
            <a:ext cx="836266" cy="143848"/>
          </a:xfrm>
          <a:prstGeom prst="rect">
            <a:avLst/>
          </a:prstGeom>
        </p:spPr>
      </p:pic>
      <p:pic>
        <p:nvPicPr>
          <p:cNvPr id="79" name="Image 78" descr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où $\rttensor{M\!D}$ est la matrice de diffusion-convection, de dimensions $N \times N$, où $N$ est le nombre de cellules.&#10;&#10;Considérons le maillage ci-dessous formé de 4 cellules décrivant un solide interagissant avec un gaz par convection.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42" y="2288653"/>
            <a:ext cx="10417371" cy="787200"/>
          </a:xfrm>
          <a:prstGeom prst="rect">
            <a:avLst/>
          </a:prstGeom>
        </p:spPr>
      </p:pic>
      <p:graphicFrame>
        <p:nvGraphicFramePr>
          <p:cNvPr id="80" name="Tableau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032020"/>
              </p:ext>
            </p:extLst>
          </p:nvPr>
        </p:nvGraphicFramePr>
        <p:xfrm>
          <a:off x="7439367" y="3117305"/>
          <a:ext cx="3686110" cy="27119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37222">
                  <a:extLst>
                    <a:ext uri="{9D8B030D-6E8A-4147-A177-3AD203B41FA5}">
                      <a16:colId xmlns:a16="http://schemas.microsoft.com/office/drawing/2014/main" val="388015019"/>
                    </a:ext>
                  </a:extLst>
                </a:gridCol>
                <a:gridCol w="737222">
                  <a:extLst>
                    <a:ext uri="{9D8B030D-6E8A-4147-A177-3AD203B41FA5}">
                      <a16:colId xmlns:a16="http://schemas.microsoft.com/office/drawing/2014/main" val="4223929096"/>
                    </a:ext>
                  </a:extLst>
                </a:gridCol>
                <a:gridCol w="737222">
                  <a:extLst>
                    <a:ext uri="{9D8B030D-6E8A-4147-A177-3AD203B41FA5}">
                      <a16:colId xmlns:a16="http://schemas.microsoft.com/office/drawing/2014/main" val="1545094219"/>
                    </a:ext>
                  </a:extLst>
                </a:gridCol>
                <a:gridCol w="737222">
                  <a:extLst>
                    <a:ext uri="{9D8B030D-6E8A-4147-A177-3AD203B41FA5}">
                      <a16:colId xmlns:a16="http://schemas.microsoft.com/office/drawing/2014/main" val="137180379"/>
                    </a:ext>
                  </a:extLst>
                </a:gridCol>
                <a:gridCol w="737222">
                  <a:extLst>
                    <a:ext uri="{9D8B030D-6E8A-4147-A177-3AD203B41FA5}">
                      <a16:colId xmlns:a16="http://schemas.microsoft.com/office/drawing/2014/main" val="3584748501"/>
                    </a:ext>
                  </a:extLst>
                </a:gridCol>
              </a:tblGrid>
              <a:tr h="355108"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0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2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3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28568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0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2K+2ah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1675084111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2K+2ah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endParaRPr lang="fr-FR" sz="1400"/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3673534472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2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endParaRPr lang="fr-FR" sz="1400"/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2K+2ah</a:t>
                      </a:r>
                      <a:endParaRPr lang="fr-FR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115361309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3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r>
                        <a:rPr lang="fr-FR" sz="1400" dirty="0" smtClean="0">
                          <a:solidFill>
                            <a:srgbClr val="00B050"/>
                          </a:solidFill>
                        </a:rPr>
                        <a:t>-K</a:t>
                      </a:r>
                      <a:endParaRPr lang="fr-F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81807" marR="81807" marT="40903" marB="40903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>
                          <a:solidFill>
                            <a:srgbClr val="FF0000"/>
                          </a:solidFill>
                        </a:rPr>
                        <a:t>2K+2ah</a:t>
                      </a:r>
                    </a:p>
                    <a:p>
                      <a:endParaRPr lang="fr-FR" sz="14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2173756722"/>
                  </a:ext>
                </a:extLst>
              </a:tr>
            </a:tbl>
          </a:graphicData>
        </a:graphic>
      </p:graphicFrame>
      <p:pic>
        <p:nvPicPr>
          <p:cNvPr id="82" name="Image 81"/>
          <p:cNvPicPr>
            <a:picLocks noChangeAspect="1"/>
          </p:cNvPicPr>
          <p:nvPr/>
        </p:nvPicPr>
        <p:blipFill rotWithShape="1">
          <a:blip r:embed="rId16"/>
          <a:srcRect t="1948"/>
          <a:stretch/>
        </p:blipFill>
        <p:spPr>
          <a:xfrm>
            <a:off x="2808500" y="3043594"/>
            <a:ext cx="3421616" cy="3020595"/>
          </a:xfrm>
          <a:prstGeom prst="rect">
            <a:avLst/>
          </a:prstGeom>
        </p:spPr>
      </p:pic>
      <p:pic>
        <p:nvPicPr>
          <p:cNvPr id="84" name="Image 83" descr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$\rttensor{M\!D}=$ 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0872" y="4396153"/>
            <a:ext cx="629486" cy="238629"/>
          </a:xfrm>
          <a:prstGeom prst="rect">
            <a:avLst/>
          </a:prstGeom>
        </p:spPr>
      </p:pic>
      <p:pic>
        <p:nvPicPr>
          <p:cNvPr id="86" name="Image 85" descr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La matrice&#10;$\rttensor{M\!D}=$ est diagonale dominante et définie positive.&#10;\end{document}" title="IguanaTex Bitmap Display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312" y="6071092"/>
            <a:ext cx="6149488" cy="28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01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xaminons le terme de droite, en notant $ \cos(\theta_f) = \rtvector{u}_{C, F} \cdot \rtvector{n}_{C, F} = \frac{h_{CF}}{d_{CF}}$:&#10;$$&#10;\rtvector{V\!D}=&#10;Q_C \; V_C \; +&#10;\sum_{e \; \subset \; \partial D \cap \partial V_C}&#10;|e| \; h\; T_a&#10;$$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70" y="219257"/>
            <a:ext cx="7762284" cy="1216000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12</a:t>
            </a:fld>
            <a:endParaRPr lang="fr-FR"/>
          </a:p>
        </p:txBody>
      </p:sp>
      <p:grpSp>
        <p:nvGrpSpPr>
          <p:cNvPr id="58" name="Groupe 57"/>
          <p:cNvGrpSpPr/>
          <p:nvPr/>
        </p:nvGrpSpPr>
        <p:grpSpPr>
          <a:xfrm>
            <a:off x="996852" y="2776612"/>
            <a:ext cx="2316676" cy="2308328"/>
            <a:chOff x="6409592" y="3630497"/>
            <a:chExt cx="2316676" cy="2308328"/>
          </a:xfrm>
        </p:grpSpPr>
        <p:sp>
          <p:nvSpPr>
            <p:cNvPr id="9" name="Rectangle 8"/>
            <p:cNvSpPr>
              <a:spLocks noChangeAspect="1"/>
            </p:cNvSpPr>
            <p:nvPr/>
          </p:nvSpPr>
          <p:spPr>
            <a:xfrm>
              <a:off x="6409592" y="3780692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>
            <a:xfrm>
              <a:off x="7489592" y="3780692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" name="Rectangle 25"/>
            <p:cNvSpPr>
              <a:spLocks noChangeAspect="1"/>
            </p:cNvSpPr>
            <p:nvPr/>
          </p:nvSpPr>
          <p:spPr>
            <a:xfrm>
              <a:off x="6409592" y="4858825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>
              <a:spLocks noChangeAspect="1"/>
            </p:cNvSpPr>
            <p:nvPr/>
          </p:nvSpPr>
          <p:spPr>
            <a:xfrm>
              <a:off x="7489592" y="4858825"/>
              <a:ext cx="1080000" cy="10800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3" name="Connecteur droit 22"/>
            <p:cNvCxnSpPr/>
            <p:nvPr/>
          </p:nvCxnSpPr>
          <p:spPr>
            <a:xfrm>
              <a:off x="6409592" y="4858825"/>
              <a:ext cx="2160000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/>
            <p:cNvCxnSpPr/>
            <p:nvPr/>
          </p:nvCxnSpPr>
          <p:spPr>
            <a:xfrm rot="5400000">
              <a:off x="6409592" y="4858825"/>
              <a:ext cx="2160000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" name="Groupe 27"/>
            <p:cNvGrpSpPr/>
            <p:nvPr/>
          </p:nvGrpSpPr>
          <p:grpSpPr>
            <a:xfrm>
              <a:off x="6877592" y="4244817"/>
              <a:ext cx="1224000" cy="146942"/>
              <a:chOff x="6877592" y="4244817"/>
              <a:chExt cx="1224000" cy="146942"/>
            </a:xfrm>
          </p:grpSpPr>
          <p:sp>
            <p:nvSpPr>
              <p:cNvPr id="24" name="Ellipse 23"/>
              <p:cNvSpPr>
                <a:spLocks noChangeAspect="1"/>
              </p:cNvSpPr>
              <p:nvPr/>
            </p:nvSpPr>
            <p:spPr>
              <a:xfrm>
                <a:off x="6877592" y="4247759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2" name="Ellipse 31"/>
              <p:cNvSpPr>
                <a:spLocks noChangeAspect="1"/>
              </p:cNvSpPr>
              <p:nvPr/>
            </p:nvSpPr>
            <p:spPr>
              <a:xfrm>
                <a:off x="7957592" y="4244817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4" name="Groupe 33"/>
            <p:cNvGrpSpPr/>
            <p:nvPr/>
          </p:nvGrpSpPr>
          <p:grpSpPr>
            <a:xfrm>
              <a:off x="6877592" y="5312913"/>
              <a:ext cx="1224000" cy="146942"/>
              <a:chOff x="6877592" y="4244817"/>
              <a:chExt cx="1224000" cy="146942"/>
            </a:xfrm>
          </p:grpSpPr>
          <p:sp>
            <p:nvSpPr>
              <p:cNvPr id="35" name="Ellipse 34"/>
              <p:cNvSpPr>
                <a:spLocks noChangeAspect="1"/>
              </p:cNvSpPr>
              <p:nvPr/>
            </p:nvSpPr>
            <p:spPr>
              <a:xfrm>
                <a:off x="6877592" y="4247759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6" name="Ellipse 35"/>
              <p:cNvSpPr>
                <a:spLocks noChangeAspect="1"/>
              </p:cNvSpPr>
              <p:nvPr/>
            </p:nvSpPr>
            <p:spPr>
              <a:xfrm>
                <a:off x="7957592" y="4244817"/>
                <a:ext cx="144000" cy="144000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1" name="ZoneTexte 30"/>
            <p:cNvSpPr txBox="1"/>
            <p:nvPr/>
          </p:nvSpPr>
          <p:spPr>
            <a:xfrm>
              <a:off x="7968047" y="3984204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C</a:t>
              </a:r>
              <a:endParaRPr lang="fr-FR" dirty="0"/>
            </a:p>
          </p:txBody>
        </p:sp>
        <p:sp>
          <p:nvSpPr>
            <p:cNvPr id="33" name="ZoneTexte 32"/>
            <p:cNvSpPr txBox="1"/>
            <p:nvPr/>
          </p:nvSpPr>
          <p:spPr>
            <a:xfrm>
              <a:off x="6905681" y="398420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F</a:t>
              </a:r>
              <a:endParaRPr lang="fr-FR" dirty="0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7988612" y="5062337"/>
              <a:ext cx="348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F’</a:t>
              </a:r>
              <a:endParaRPr lang="fr-FR" dirty="0"/>
            </a:p>
          </p:txBody>
        </p:sp>
        <p:pic>
          <p:nvPicPr>
            <p:cNvPr id="57" name="Image 56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7220" y="4232150"/>
              <a:ext cx="99048" cy="114286"/>
            </a:xfrm>
            <a:prstGeom prst="rect">
              <a:avLst/>
            </a:prstGeom>
          </p:spPr>
        </p:pic>
        <p:pic>
          <p:nvPicPr>
            <p:cNvPr id="48" name="Image 47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 title="IguanaTex Bitmap Display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23426" y="3630497"/>
              <a:ext cx="99048" cy="114286"/>
            </a:xfrm>
            <a:prstGeom prst="rect">
              <a:avLst/>
            </a:prstGeom>
          </p:spPr>
        </p:pic>
        <p:pic>
          <p:nvPicPr>
            <p:cNvPr id="46" name="Image 45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 title="IguanaTex Bitmap Display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2569" y="4666812"/>
              <a:ext cx="461714" cy="184381"/>
            </a:xfrm>
            <a:prstGeom prst="rect">
              <a:avLst/>
            </a:prstGeom>
          </p:spPr>
        </p:pic>
        <p:pic>
          <p:nvPicPr>
            <p:cNvPr id="52" name="Image 51" descr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 title="IguanaTex Bitmap Display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366780" y="4217702"/>
              <a:ext cx="461714" cy="184381"/>
            </a:xfrm>
            <a:prstGeom prst="rect">
              <a:avLst/>
            </a:prstGeom>
          </p:spPr>
        </p:pic>
        <p:cxnSp>
          <p:nvCxnSpPr>
            <p:cNvPr id="55" name="Connecteur droit 54"/>
            <p:cNvCxnSpPr/>
            <p:nvPr/>
          </p:nvCxnSpPr>
          <p:spPr>
            <a:xfrm>
              <a:off x="7490206" y="4851193"/>
              <a:ext cx="11051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/>
            <p:cNvCxnSpPr/>
            <p:nvPr/>
          </p:nvCxnSpPr>
          <p:spPr>
            <a:xfrm rot="16200000">
              <a:off x="6937015" y="4353536"/>
              <a:ext cx="110515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Connecteur droit avec flèche 62"/>
          <p:cNvCxnSpPr/>
          <p:nvPr/>
        </p:nvCxnSpPr>
        <p:spPr>
          <a:xfrm flipV="1">
            <a:off x="2076852" y="5257800"/>
            <a:ext cx="1080000" cy="76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Image 80" descr="\documentclass{article}&#10;\usepackage{amsmath}&#10;\pagestyle{empty}&#10;\begin{document}&#10;&#10;&#10;unité = a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224" y="5313945"/>
            <a:ext cx="836266" cy="143848"/>
          </a:xfrm>
          <a:prstGeom prst="rect">
            <a:avLst/>
          </a:prstGeom>
        </p:spPr>
      </p:pic>
      <p:pic>
        <p:nvPicPr>
          <p:cNvPr id="6" name="Image 5" descr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où $\rtvector{V\!D}$ est le vecteur source-convection, de dimension $N$, où $N$ est le nombre de cellules.&#10;&#10;Reprenons le même maillage que précédemment: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83" y="1586988"/>
            <a:ext cx="8794971" cy="511543"/>
          </a:xfrm>
          <a:prstGeom prst="rect">
            <a:avLst/>
          </a:prstGeom>
        </p:spPr>
      </p:pic>
      <p:graphicFrame>
        <p:nvGraphicFramePr>
          <p:cNvPr id="80" name="Tableau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466921"/>
              </p:ext>
            </p:extLst>
          </p:nvPr>
        </p:nvGraphicFramePr>
        <p:xfrm>
          <a:off x="7977845" y="2599145"/>
          <a:ext cx="2504734" cy="27119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52367">
                  <a:extLst>
                    <a:ext uri="{9D8B030D-6E8A-4147-A177-3AD203B41FA5}">
                      <a16:colId xmlns:a16="http://schemas.microsoft.com/office/drawing/2014/main" val="388015019"/>
                    </a:ext>
                  </a:extLst>
                </a:gridCol>
                <a:gridCol w="1252367">
                  <a:extLst>
                    <a:ext uri="{9D8B030D-6E8A-4147-A177-3AD203B41FA5}">
                      <a16:colId xmlns:a16="http://schemas.microsoft.com/office/drawing/2014/main" val="4223929096"/>
                    </a:ext>
                  </a:extLst>
                </a:gridCol>
              </a:tblGrid>
              <a:tr h="355108">
                <a:tc>
                  <a:txBody>
                    <a:bodyPr/>
                    <a:lstStyle/>
                    <a:p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0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0228568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0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Q</a:t>
                      </a:r>
                      <a:r>
                        <a:rPr lang="fr-FR" sz="1400" baseline="-25000" dirty="0" smtClean="0"/>
                        <a:t>0</a:t>
                      </a:r>
                      <a:r>
                        <a:rPr lang="fr-FR" sz="1400" baseline="0" dirty="0" smtClean="0"/>
                        <a:t> a</a:t>
                      </a:r>
                      <a:r>
                        <a:rPr lang="fr-FR" sz="1400" baseline="30000" dirty="0" smtClean="0"/>
                        <a:t>2</a:t>
                      </a:r>
                      <a:r>
                        <a:rPr lang="fr-FR" sz="1400" baseline="0" dirty="0" smtClean="0"/>
                        <a:t> + </a:t>
                      </a:r>
                      <a:r>
                        <a:rPr lang="fr-FR" sz="1400" baseline="0" dirty="0" smtClean="0"/>
                        <a:t>2h </a:t>
                      </a:r>
                      <a:r>
                        <a:rPr lang="fr-FR" sz="1400" baseline="0" dirty="0" smtClean="0"/>
                        <a:t>a T</a:t>
                      </a:r>
                      <a:r>
                        <a:rPr lang="fr-FR" sz="1400" baseline="-25000" dirty="0" smtClean="0"/>
                        <a:t>a</a:t>
                      </a:r>
                      <a:endParaRPr lang="fr-FR" sz="1400" baseline="-250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1675084111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1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Q</a:t>
                      </a:r>
                      <a:r>
                        <a:rPr lang="fr-FR" sz="1400" baseline="-25000" dirty="0" smtClean="0"/>
                        <a:t>1</a:t>
                      </a:r>
                      <a:r>
                        <a:rPr lang="fr-FR" sz="1400" baseline="0" dirty="0" smtClean="0"/>
                        <a:t> a</a:t>
                      </a:r>
                      <a:r>
                        <a:rPr lang="fr-FR" sz="1400" baseline="30000" dirty="0" smtClean="0"/>
                        <a:t>2</a:t>
                      </a:r>
                      <a:r>
                        <a:rPr lang="fr-FR" sz="1400" baseline="0" dirty="0" smtClean="0"/>
                        <a:t> + </a:t>
                      </a:r>
                      <a:r>
                        <a:rPr lang="fr-FR" sz="1400" baseline="0" dirty="0" smtClean="0"/>
                        <a:t>2h </a:t>
                      </a:r>
                      <a:r>
                        <a:rPr lang="fr-FR" sz="1400" baseline="0" dirty="0" smtClean="0"/>
                        <a:t>a T</a:t>
                      </a:r>
                      <a:r>
                        <a:rPr lang="fr-FR" sz="1400" baseline="-25000" dirty="0" smtClean="0"/>
                        <a:t>a</a:t>
                      </a:r>
                      <a:endParaRPr lang="fr-FR" sz="1400" baseline="-250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3673534472"/>
                  </a:ext>
                </a:extLst>
              </a:tr>
              <a:tr h="612926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2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Q</a:t>
                      </a:r>
                      <a:r>
                        <a:rPr lang="fr-FR" sz="1400" baseline="-25000" dirty="0" smtClean="0"/>
                        <a:t>2</a:t>
                      </a:r>
                      <a:r>
                        <a:rPr lang="fr-FR" sz="1400" baseline="0" dirty="0" smtClean="0"/>
                        <a:t> a</a:t>
                      </a:r>
                      <a:r>
                        <a:rPr lang="fr-FR" sz="1400" baseline="30000" dirty="0" smtClean="0"/>
                        <a:t>2</a:t>
                      </a:r>
                      <a:r>
                        <a:rPr lang="fr-FR" sz="1400" baseline="0" dirty="0" smtClean="0"/>
                        <a:t> + </a:t>
                      </a:r>
                      <a:r>
                        <a:rPr lang="fr-FR" sz="1400" baseline="0" dirty="0" smtClean="0"/>
                        <a:t>2h </a:t>
                      </a:r>
                      <a:r>
                        <a:rPr lang="fr-FR" sz="1400" baseline="0" dirty="0" smtClean="0"/>
                        <a:t>a T</a:t>
                      </a:r>
                      <a:r>
                        <a:rPr lang="fr-FR" sz="1400" baseline="-25000" dirty="0" smtClean="0"/>
                        <a:t>a</a:t>
                      </a:r>
                      <a:endParaRPr lang="fr-FR" sz="1400" baseline="-250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115361309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r>
                        <a:rPr lang="fr-FR" sz="1400" dirty="0" smtClean="0"/>
                        <a:t>3</a:t>
                      </a:r>
                      <a:endParaRPr lang="fr-FR" sz="1400" dirty="0"/>
                    </a:p>
                  </a:txBody>
                  <a:tcPr marL="81807" marR="81807" marT="40903" marB="40903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 smtClean="0"/>
                        <a:t>Q</a:t>
                      </a:r>
                      <a:r>
                        <a:rPr lang="fr-FR" sz="1400" baseline="-25000" dirty="0" smtClean="0"/>
                        <a:t>3</a:t>
                      </a:r>
                      <a:r>
                        <a:rPr lang="fr-FR" sz="1400" baseline="0" dirty="0" smtClean="0"/>
                        <a:t> a</a:t>
                      </a:r>
                      <a:r>
                        <a:rPr lang="fr-FR" sz="1400" baseline="30000" dirty="0" smtClean="0"/>
                        <a:t>2</a:t>
                      </a:r>
                      <a:r>
                        <a:rPr lang="fr-FR" sz="1400" baseline="0" dirty="0" smtClean="0"/>
                        <a:t> + </a:t>
                      </a:r>
                      <a:r>
                        <a:rPr lang="fr-FR" sz="1400" baseline="0" dirty="0" smtClean="0"/>
                        <a:t>2h </a:t>
                      </a:r>
                      <a:r>
                        <a:rPr lang="fr-FR" sz="1400" baseline="0" dirty="0" smtClean="0"/>
                        <a:t>a T</a:t>
                      </a:r>
                      <a:r>
                        <a:rPr lang="fr-FR" sz="1400" baseline="-25000" dirty="0" smtClean="0"/>
                        <a:t>a</a:t>
                      </a:r>
                    </a:p>
                    <a:p>
                      <a:endParaRPr lang="fr-FR" sz="1400" dirty="0"/>
                    </a:p>
                  </a:txBody>
                  <a:tcPr marL="81807" marR="81807" marT="40903" marB="40903"/>
                </a:tc>
                <a:extLst>
                  <a:ext uri="{0D108BD9-81ED-4DB2-BD59-A6C34878D82A}">
                    <a16:rowId xmlns:a16="http://schemas.microsoft.com/office/drawing/2014/main" val="2173756722"/>
                  </a:ext>
                </a:extLst>
              </a:tr>
            </a:tbl>
          </a:graphicData>
        </a:graphic>
      </p:graphicFrame>
      <p:pic>
        <p:nvPicPr>
          <p:cNvPr id="82" name="Image 81"/>
          <p:cNvPicPr>
            <a:picLocks noChangeAspect="1"/>
          </p:cNvPicPr>
          <p:nvPr/>
        </p:nvPicPr>
        <p:blipFill rotWithShape="1">
          <a:blip r:embed="rId15"/>
          <a:srcRect t="1948"/>
          <a:stretch/>
        </p:blipFill>
        <p:spPr>
          <a:xfrm>
            <a:off x="3346980" y="2698154"/>
            <a:ext cx="3421616" cy="3020595"/>
          </a:xfrm>
          <a:prstGeom prst="rect">
            <a:avLst/>
          </a:prstGeom>
        </p:spPr>
      </p:pic>
      <p:pic>
        <p:nvPicPr>
          <p:cNvPr id="7" name="Image 6" descr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$\rtvector{V\!D}=$ &#10;\end{document}" title="IguanaTex Bitmap Display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352" y="3877993"/>
            <a:ext cx="567772" cy="19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10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56689E6-CB54-177B-E333-D5DC67FD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13</a:t>
            </a:fld>
            <a:endParaRPr lang="fr-FR"/>
          </a:p>
        </p:txBody>
      </p:sp>
      <p:pic>
        <p:nvPicPr>
          <p:cNvPr id="48" name="Image 47" descr="\documentclass{article}&#10;\usepackage{amsmath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{&#10;\section*{Effet de la régularité du maillage}&#10;&#10;Notez que les expressions des flux ont été construites avec deux approximations :&#10;\begin{itemize}&#10;  \item on a négligé la composante orthogonale au vecteur $\rtvector{CF}$ ;&#10;  \item on a approché le gradient au point $f$ avec un schéma différences finies qui est d'ordre plus élevé (2) si les deux noeuds sont equidistants du point $f$.&#10;\end{itemize}&#10;&#10;Par conséquent, &#10;\begin{itemize}&#10;\item l'utilisation de grilles orthogonales rend exacte \\la première approximation,  &#10;\item l'utilisation de grilles à pas fixe rend la deuxième \\approximation plus précise.&#10;\end{itemize}&#10;&#10;\noindent&#10;Pour un maillage non structuré, les expressions des flux deviennent de plus en plus approximatives :&#10;\begin{itemize}&#10;  \item au fur et à mesure que l'angle entre $\rtvector{CF}$ et $\rtvector{n}_{CF}$ grandit ;&#10;  \item avec l'augmentation de la différence de taille de maille entre cellules voisines. &#10;\end{itemize}&#10;&#10;}&#10;&#10;&#10;%Notez que les expressions des flux sont exactes dans&#10;%le cas d'une grille orthogonale même à pas variable.&#10;%Pour un maillage non structuré, &#10;%elles deviennent de plus en plus approximatives au fur&#10;%et à mesure que l'angle entre $\rtvector{CF}$ et $\rtvector{n}_{CF}$ grandit. 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549" y="277378"/>
            <a:ext cx="7933715" cy="57833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CA47EF5-628C-F493-F325-50B490147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7312" y="23612"/>
            <a:ext cx="2656180" cy="23859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CA47E9D-5843-948D-7053-5A6A714B4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5920" y="2628700"/>
            <a:ext cx="2064662" cy="1684800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F36AAC2A-E9F1-B549-2B13-DF17A80495E2}"/>
              </a:ext>
            </a:extLst>
          </p:cNvPr>
          <p:cNvGrpSpPr/>
          <p:nvPr/>
        </p:nvGrpSpPr>
        <p:grpSpPr>
          <a:xfrm>
            <a:off x="10280521" y="1552067"/>
            <a:ext cx="810502" cy="269583"/>
            <a:chOff x="3467102" y="5522082"/>
            <a:chExt cx="810502" cy="269583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BA8AFEA2-A92F-D10F-81DB-E1A37C451BDA}"/>
                </a:ext>
              </a:extLst>
            </p:cNvPr>
            <p:cNvGrpSpPr/>
            <p:nvPr/>
          </p:nvGrpSpPr>
          <p:grpSpPr>
            <a:xfrm rot="20689993">
              <a:off x="3467102" y="5522082"/>
              <a:ext cx="762078" cy="244487"/>
              <a:chOff x="237392" y="1787964"/>
              <a:chExt cx="896815" cy="26943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DA81DF-4CAF-2AD7-2783-CCB5629B74C0}"/>
                  </a:ext>
                </a:extLst>
              </p:cNvPr>
              <p:cNvSpPr/>
              <p:nvPr/>
            </p:nvSpPr>
            <p:spPr>
              <a:xfrm>
                <a:off x="246185" y="1787964"/>
                <a:ext cx="290146" cy="26943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2" name="Connecteur droit avec flèche 11">
                <a:extLst>
                  <a:ext uri="{FF2B5EF4-FFF2-40B4-BE49-F238E27FC236}">
                    <a16:creationId xmlns:a16="http://schemas.microsoft.com/office/drawing/2014/main" id="{5F425A15-3A52-CC6D-2841-69D925BA14F4}"/>
                  </a:ext>
                </a:extLst>
              </p:cNvPr>
              <p:cNvCxnSpPr/>
              <p:nvPr/>
            </p:nvCxnSpPr>
            <p:spPr>
              <a:xfrm>
                <a:off x="237392" y="1787964"/>
                <a:ext cx="896815" cy="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92F6159A-79B3-B339-185B-9BE5C215852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7706" y="5589790"/>
              <a:ext cx="429898" cy="201875"/>
            </a:xfrm>
            <a:prstGeom prst="rect">
              <a:avLst/>
            </a:prstGeom>
            <a:solidFill>
              <a:schemeClr val="bg1"/>
            </a:solidFill>
          </p:spPr>
        </p:pic>
      </p:grpSp>
      <p:grpSp>
        <p:nvGrpSpPr>
          <p:cNvPr id="47" name="Groupe 46"/>
          <p:cNvGrpSpPr/>
          <p:nvPr/>
        </p:nvGrpSpPr>
        <p:grpSpPr>
          <a:xfrm>
            <a:off x="5874434" y="2646645"/>
            <a:ext cx="2275540" cy="748089"/>
            <a:chOff x="8791254" y="3005461"/>
            <a:chExt cx="2275540" cy="748089"/>
          </a:xfrm>
        </p:grpSpPr>
        <p:sp>
          <p:nvSpPr>
            <p:cNvPr id="16" name="Rectangle 15"/>
            <p:cNvSpPr/>
            <p:nvPr/>
          </p:nvSpPr>
          <p:spPr>
            <a:xfrm>
              <a:off x="9739604" y="3005461"/>
              <a:ext cx="1327190" cy="747346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2" name="Connecteur droit 21"/>
            <p:cNvCxnSpPr/>
            <p:nvPr/>
          </p:nvCxnSpPr>
          <p:spPr>
            <a:xfrm>
              <a:off x="9739604" y="3005461"/>
              <a:ext cx="1327190" cy="747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flipV="1">
              <a:off x="9739604" y="3005461"/>
              <a:ext cx="1327190" cy="7473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e 31"/>
            <p:cNvGrpSpPr/>
            <p:nvPr/>
          </p:nvGrpSpPr>
          <p:grpSpPr>
            <a:xfrm>
              <a:off x="8791254" y="3005461"/>
              <a:ext cx="948350" cy="748089"/>
              <a:chOff x="8791254" y="3005461"/>
              <a:chExt cx="948350" cy="74808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8791254" y="3006204"/>
                <a:ext cx="948350" cy="74734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8" name="Connecteur droit 17"/>
              <p:cNvCxnSpPr/>
              <p:nvPr/>
            </p:nvCxnSpPr>
            <p:spPr>
              <a:xfrm>
                <a:off x="8791254" y="3006204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eur droit 19"/>
              <p:cNvCxnSpPr/>
              <p:nvPr/>
            </p:nvCxnSpPr>
            <p:spPr>
              <a:xfrm flipV="1">
                <a:off x="8791254" y="3005461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Ellipse 24"/>
              <p:cNvSpPr/>
              <p:nvPr/>
            </p:nvSpPr>
            <p:spPr>
              <a:xfrm>
                <a:off x="9199389" y="3310554"/>
                <a:ext cx="132080" cy="13716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6" name="Ellipse 25"/>
            <p:cNvSpPr/>
            <p:nvPr/>
          </p:nvSpPr>
          <p:spPr>
            <a:xfrm>
              <a:off x="10331260" y="3310554"/>
              <a:ext cx="132080" cy="13716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1" name="Connecteur droit 30"/>
            <p:cNvCxnSpPr/>
            <p:nvPr/>
          </p:nvCxnSpPr>
          <p:spPr>
            <a:xfrm>
              <a:off x="9265429" y="3379134"/>
              <a:ext cx="11318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e 45"/>
          <p:cNvGrpSpPr/>
          <p:nvPr/>
        </p:nvGrpSpPr>
        <p:grpSpPr>
          <a:xfrm>
            <a:off x="5874434" y="3717427"/>
            <a:ext cx="1896700" cy="748832"/>
            <a:chOff x="8791254" y="3931330"/>
            <a:chExt cx="1896700" cy="748832"/>
          </a:xfrm>
        </p:grpSpPr>
        <p:grpSp>
          <p:nvGrpSpPr>
            <p:cNvPr id="33" name="Groupe 32"/>
            <p:cNvGrpSpPr/>
            <p:nvPr/>
          </p:nvGrpSpPr>
          <p:grpSpPr>
            <a:xfrm>
              <a:off x="8791254" y="3932073"/>
              <a:ext cx="948350" cy="748089"/>
              <a:chOff x="8791254" y="3005461"/>
              <a:chExt cx="948350" cy="748089"/>
            </a:xfrm>
          </p:grpSpPr>
          <p:sp>
            <p:nvSpPr>
              <p:cNvPr id="34" name="Rectangle 33"/>
              <p:cNvSpPr/>
              <p:nvPr/>
            </p:nvSpPr>
            <p:spPr>
              <a:xfrm>
                <a:off x="8791254" y="3006204"/>
                <a:ext cx="948350" cy="74734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5" name="Connecteur droit 34"/>
              <p:cNvCxnSpPr/>
              <p:nvPr/>
            </p:nvCxnSpPr>
            <p:spPr>
              <a:xfrm>
                <a:off x="8791254" y="3006204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/>
              <p:cNvCxnSpPr/>
              <p:nvPr/>
            </p:nvCxnSpPr>
            <p:spPr>
              <a:xfrm flipV="1">
                <a:off x="8791254" y="3005461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Ellipse 36"/>
              <p:cNvSpPr/>
              <p:nvPr/>
            </p:nvSpPr>
            <p:spPr>
              <a:xfrm>
                <a:off x="9199389" y="3310554"/>
                <a:ext cx="132080" cy="13716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38" name="Groupe 37"/>
            <p:cNvGrpSpPr/>
            <p:nvPr/>
          </p:nvGrpSpPr>
          <p:grpSpPr>
            <a:xfrm>
              <a:off x="9739604" y="3931330"/>
              <a:ext cx="948350" cy="748089"/>
              <a:chOff x="8791254" y="3005461"/>
              <a:chExt cx="948350" cy="748089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8791254" y="3006204"/>
                <a:ext cx="948350" cy="747346"/>
              </a:xfrm>
              <a:prstGeom prst="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40" name="Connecteur droit 39"/>
              <p:cNvCxnSpPr/>
              <p:nvPr/>
            </p:nvCxnSpPr>
            <p:spPr>
              <a:xfrm>
                <a:off x="8791254" y="3006204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cteur droit 40"/>
              <p:cNvCxnSpPr/>
              <p:nvPr/>
            </p:nvCxnSpPr>
            <p:spPr>
              <a:xfrm flipV="1">
                <a:off x="8791254" y="3005461"/>
                <a:ext cx="948350" cy="74734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Ellipse 41"/>
              <p:cNvSpPr/>
              <p:nvPr/>
            </p:nvSpPr>
            <p:spPr>
              <a:xfrm>
                <a:off x="9199389" y="3310554"/>
                <a:ext cx="132080" cy="13716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43" name="Connecteur droit 42"/>
            <p:cNvCxnSpPr/>
            <p:nvPr/>
          </p:nvCxnSpPr>
          <p:spPr>
            <a:xfrm>
              <a:off x="9265429" y="4320219"/>
              <a:ext cx="98137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781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14</a:t>
            </a:fld>
            <a:endParaRPr lang="fr-FR"/>
          </a:p>
        </p:txBody>
      </p:sp>
      <p:pic>
        <p:nvPicPr>
          <p:cNvPr id="3" name="Image 2" descr="\documentclass{article}&#10;\usepackage{amsmath}&#10;\usepackage{xcolor}&#10;\pagestyle{empty}&#10;\begin{document}&#10;&#10;\section*{Implémentation en Python}&#10;\subsection*{Arborescence d'un projet en volumes finis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3" y="152200"/>
            <a:ext cx="6279622" cy="92190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5547" y="2218081"/>
            <a:ext cx="1508891" cy="586791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5547" y="1758478"/>
            <a:ext cx="952583" cy="243861"/>
          </a:xfrm>
          <a:prstGeom prst="rect">
            <a:avLst/>
          </a:prstGeom>
        </p:spPr>
      </p:pic>
      <p:pic>
        <p:nvPicPr>
          <p:cNvPr id="8" name="Image 7" descr="\documentclass{article}&#10;\usepackage{amsmath}&#10;\usepackage{xcolor}&#10;\pagestyle{empty}&#10;\begin{document}&#10;&#10;{\bf FV\_lib} contient la bibliothèque \\&#10;des fonctions communes à tous les \\&#10;projets volumes finis.&#10;&#10;&#10;\end{document}" title="IguanaTex Bitmap Display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14" y="1909620"/>
            <a:ext cx="2722131" cy="584533"/>
          </a:xfrm>
          <a:prstGeom prst="rect">
            <a:avLst/>
          </a:prstGeom>
        </p:spPr>
      </p:pic>
      <p:pic>
        <p:nvPicPr>
          <p:cNvPr id="19" name="Image 18" descr="\documentclass{article}&#10;\usepackage{amsmath}&#10;\pagestyle{empty}&#10;\begin{document}&#10;&#10;{\bf n\_sim\_X} contient la géométrie, \\&#10; le maillage gmsh, et le programme \\ principal&#10;py\_FV\_main.py spécifique\\ à un problème donné.&#10;&#10;&#10;\end{document}" title="IguanaTex Bitmap Display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077" y="5360511"/>
            <a:ext cx="2714668" cy="794665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13" y="1779953"/>
            <a:ext cx="1925333" cy="375466"/>
          </a:xfrm>
          <a:prstGeom prst="rect">
            <a:avLst/>
          </a:prstGeom>
        </p:spPr>
      </p:pic>
      <p:cxnSp>
        <p:nvCxnSpPr>
          <p:cNvPr id="31" name="Connecteur en angle 30"/>
          <p:cNvCxnSpPr/>
          <p:nvPr/>
        </p:nvCxnSpPr>
        <p:spPr>
          <a:xfrm flipV="1">
            <a:off x="2758831" y="1486558"/>
            <a:ext cx="1419335" cy="1092519"/>
          </a:xfrm>
          <a:prstGeom prst="bentConnector3">
            <a:avLst>
              <a:gd name="adj1" fmla="val 186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en angle 32"/>
          <p:cNvCxnSpPr/>
          <p:nvPr/>
        </p:nvCxnSpPr>
        <p:spPr>
          <a:xfrm>
            <a:off x="2758831" y="2696132"/>
            <a:ext cx="1384492" cy="547253"/>
          </a:xfrm>
          <a:prstGeom prst="bentConnector3">
            <a:avLst>
              <a:gd name="adj1" fmla="val 189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ccolade ouvrante 39"/>
          <p:cNvSpPr/>
          <p:nvPr/>
        </p:nvSpPr>
        <p:spPr>
          <a:xfrm>
            <a:off x="6316789" y="1633344"/>
            <a:ext cx="486858" cy="36101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6" name="Image 4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4185" y="1800941"/>
            <a:ext cx="1658667" cy="158933"/>
          </a:xfrm>
          <a:prstGeom prst="rect">
            <a:avLst/>
          </a:prstGeom>
        </p:spPr>
      </p:pic>
      <p:pic>
        <p:nvPicPr>
          <p:cNvPr id="50" name="Image 4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2820" y="2335225"/>
            <a:ext cx="1796267" cy="372266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348" y="2218081"/>
            <a:ext cx="1806097" cy="126503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11382" y="1178764"/>
            <a:ext cx="1104996" cy="624894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56528" y="2675293"/>
            <a:ext cx="2019475" cy="256816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1692" y="1758478"/>
            <a:ext cx="1463167" cy="2110923"/>
          </a:xfrm>
          <a:prstGeom prst="rect">
            <a:avLst/>
          </a:prstGeom>
        </p:spPr>
      </p:pic>
      <p:pic>
        <p:nvPicPr>
          <p:cNvPr id="22" name="Image 21" descr="\documentclass{article}&#10;\usepackage{amsmath}&#10;\usepackage[paperwidth=10cm]{geometry}&#10;\pagestyle{empty}&#10;\begin{document}&#10;&#10;Le programme principal implémente un solveur de diffusion thermique 2D utilisant la méthode des volumes finis avec support des conditions aux limites de Dirichlet et Robin.&#10;&#10;\end{document}" title="IguanaTex Bitmap Display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5491" y="4085143"/>
            <a:ext cx="4920685" cy="98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15</a:t>
            </a:fld>
            <a:endParaRPr lang="fr-FR"/>
          </a:p>
        </p:txBody>
      </p:sp>
      <p:pic>
        <p:nvPicPr>
          <p:cNvPr id="8" name="Image 7" descr="\documentclass{article}&#10;\usepackage{amsmath}&#10;\pagestyle{empty}&#10;\begin{document}&#10;&#10;&#10;\section*{Fonctions définies dans le programme py\_FV\_main.py}&#10;&#10;\begin{itemize}&#10;  \item \texttt{build\_diffusion\_matrix(cfd)} : Construit la matrice de diffusion creuse pour la méthode des volumes finis en calculant les coefficients entre cellules adjacentes.&#10;  \item \texttt{build\_source\_vector(cfd)} : Construit le vecteur source en multipliant les termes sources par la surface de chaque cellule.&#10;  \item \texttt{assign\_properties(cfd)} : Assigne les propriétés des matériaux (conductivité thermique $K$, source $Q$) aux différentes régions du maillage.&#10;  \item \texttt{assign\_BCs(cfd)} : Configure et assigne les conditions aux limites de Dirichlet et Robin aux différentes frontières du domaine.&#10;  \item \texttt{apply\_BCs\_to\_diffusion(cfd)} : Applique les conditions aux limites (Dirichlet et Robin) à la matrice de diffusion et au vecteur du membre de droite.&#10;  \item \texttt{solve\_linear\_system(cfd)} : Résout le système linéaire $M_D \, T = V_D + V_Q$ pour obtenir la solution de température.&#10;\end{itemize}&#10;&#10;&#10;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23" y="438642"/>
            <a:ext cx="9353147" cy="551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83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16</a:t>
            </a:fld>
            <a:endParaRPr lang="fr-FR"/>
          </a:p>
        </p:txBody>
      </p:sp>
      <p:pic>
        <p:nvPicPr>
          <p:cNvPr id="6" name="Image 5" descr="\documentclass{article}&#10;\usepackage{amsmath}&#10;\pagestyle{empty}&#10;\begin{document}&#10;&#10;&#10;&#10;\section*{Fonctions de la bibliothèque FV\_lib}&#10;&#10;\begin{itemize}&#10;  \item \texttt{select\_file()} : Permet de sélectionner interactivement un fichier de maillage.&#10;  \item \texttt{read\_gmsh\_msh(cfd)} : Lit un fichier de maillage au format GMSH et remplit la structure CFD.&#10;  \item \texttt{charac\_mesh(cfd)} : Caractérise le maillage en calculant les propriétés géométriques.&#10;  \item \texttt{cutline(cfd, ...)} : Trace un profil de la solution le long d'une ligne définie.&#10;  \item \texttt{plot\_raw\_sol(cfd)} : Affiche la solution brute sur le maillage.&#10;  \item \texttt{plot\_smoothed\_sol(cfd)} : Affiche la solution lissée avec les isovaleurs.&#10;  \item \texttt{plot\_regions(cfd)} : Affiche les différentes régions du maillage.&#10;  \item \texttt{plot\_cells(cfd)} : Affiche les cellules du maillage.&#10;  \item \texttt{plot\_mesh\_extended(cfd)} : Affiche le maillage complet avec numérotation et normales.&#10;\end{itemize}&#10;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83" y="297962"/>
            <a:ext cx="8781716" cy="637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86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7896571" y="1360439"/>
            <a:ext cx="3726860" cy="3937514"/>
            <a:chOff x="7896571" y="999954"/>
            <a:chExt cx="3726860" cy="3937514"/>
          </a:xfrm>
        </p:grpSpPr>
        <p:grpSp>
          <p:nvGrpSpPr>
            <p:cNvPr id="27" name="Groupe 26"/>
            <p:cNvGrpSpPr/>
            <p:nvPr/>
          </p:nvGrpSpPr>
          <p:grpSpPr>
            <a:xfrm>
              <a:off x="7896571" y="999954"/>
              <a:ext cx="3726860" cy="3605572"/>
              <a:chOff x="7914155" y="1720923"/>
              <a:chExt cx="3726860" cy="3605572"/>
            </a:xfrm>
          </p:grpSpPr>
          <p:pic>
            <p:nvPicPr>
              <p:cNvPr id="3" name="Image 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4155" y="1720923"/>
                <a:ext cx="3726860" cy="3605572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>
              <a:xfrm>
                <a:off x="8071338" y="1881554"/>
                <a:ext cx="448408" cy="48357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pic>
          <p:nvPicPr>
            <p:cNvPr id="7" name="Image 6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3812" y="4404135"/>
              <a:ext cx="3559619" cy="533333"/>
            </a:xfrm>
            <a:prstGeom prst="rect">
              <a:avLst/>
            </a:prstGeom>
          </p:spPr>
        </p:pic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17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77" y="515580"/>
            <a:ext cx="8716197" cy="584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3966" y="3605552"/>
            <a:ext cx="2608739" cy="2585855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18</a:t>
            </a:fld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63" y="553646"/>
            <a:ext cx="8711624" cy="4288007"/>
          </a:xfrm>
          <a:prstGeom prst="rect">
            <a:avLst/>
          </a:prstGeom>
        </p:spPr>
      </p:pic>
      <p:grpSp>
        <p:nvGrpSpPr>
          <p:cNvPr id="7" name="Groupe 6"/>
          <p:cNvGrpSpPr/>
          <p:nvPr/>
        </p:nvGrpSpPr>
        <p:grpSpPr>
          <a:xfrm>
            <a:off x="9303550" y="553644"/>
            <a:ext cx="2787681" cy="2756912"/>
            <a:chOff x="9303550" y="553644"/>
            <a:chExt cx="2787681" cy="2756912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303550" y="553644"/>
              <a:ext cx="2787681" cy="2756912"/>
            </a:xfrm>
            <a:prstGeom prst="rect">
              <a:avLst/>
            </a:prstGeom>
          </p:spPr>
        </p:pic>
        <p:pic>
          <p:nvPicPr>
            <p:cNvPr id="10" name="Image 9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7476" y="553644"/>
              <a:ext cx="344381" cy="187429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45180" y="1756861"/>
              <a:ext cx="412952" cy="152381"/>
            </a:xfrm>
            <a:prstGeom prst="rect">
              <a:avLst/>
            </a:prstGeom>
          </p:spPr>
        </p:pic>
      </p:grpSp>
      <p:grpSp>
        <p:nvGrpSpPr>
          <p:cNvPr id="18" name="Groupe 17"/>
          <p:cNvGrpSpPr/>
          <p:nvPr/>
        </p:nvGrpSpPr>
        <p:grpSpPr>
          <a:xfrm>
            <a:off x="9686598" y="3757249"/>
            <a:ext cx="2016600" cy="1214280"/>
            <a:chOff x="5178669" y="3796691"/>
            <a:chExt cx="2307997" cy="1428851"/>
          </a:xfrm>
        </p:grpSpPr>
        <p:pic>
          <p:nvPicPr>
            <p:cNvPr id="16" name="Image 1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2285" y="3796691"/>
              <a:ext cx="344381" cy="187429"/>
            </a:xfrm>
            <a:prstGeom prst="rect">
              <a:avLst/>
            </a:prstGeom>
          </p:spPr>
        </p:pic>
        <p:pic>
          <p:nvPicPr>
            <p:cNvPr id="17" name="Image 16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78669" y="5073161"/>
              <a:ext cx="412952" cy="15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432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19</a:t>
            </a:fld>
            <a:endParaRPr lang="fr-FR"/>
          </a:p>
        </p:txBody>
      </p:sp>
      <p:pic>
        <p:nvPicPr>
          <p:cNvPr id="3" name="Image 2" descr="\documentclass{article}&#10;\usepackage{amsmath}&#10;\pagestyle{empty}&#10;\begin{document}&#10;&#10;\subsection*{Caractéristiques d'un maillage}&#10;&#10;Prenons le cas du maillage à 4 cellules précédent:&#10;\begin{itemize}&#10;\item Pour sélectionner le maillage : \\  cfd.mesh\_name = select\_file()&#10;\item Pour lire le maillage :\\cfd = read\_gmsh\_msh(cfd)&#10;\item Pour afficher les régions physiques : \\ print\_regions(cfd)&#10;\end{itemize}&#10;\end{document}" title="IguanaTex Bitmap Display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24" y="368298"/>
            <a:ext cx="5426281" cy="3172571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17" y="5793443"/>
            <a:ext cx="7065903" cy="545524"/>
          </a:xfrm>
          <a:prstGeom prst="rect">
            <a:avLst/>
          </a:prstGeom>
        </p:spPr>
      </p:pic>
      <p:grpSp>
        <p:nvGrpSpPr>
          <p:cNvPr id="17" name="Groupe 16"/>
          <p:cNvGrpSpPr/>
          <p:nvPr/>
        </p:nvGrpSpPr>
        <p:grpSpPr>
          <a:xfrm>
            <a:off x="2230281" y="3768138"/>
            <a:ext cx="4617973" cy="1477328"/>
            <a:chOff x="2435469" y="3062463"/>
            <a:chExt cx="4617973" cy="1477328"/>
          </a:xfrm>
        </p:grpSpPr>
        <p:sp>
          <p:nvSpPr>
            <p:cNvPr id="10" name="ZoneTexte 9"/>
            <p:cNvSpPr txBox="1"/>
            <p:nvPr/>
          </p:nvSpPr>
          <p:spPr>
            <a:xfrm>
              <a:off x="3656999" y="3062463"/>
              <a:ext cx="3396443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Region number: 17, Name: square</a:t>
              </a:r>
            </a:p>
            <a:p>
              <a:r>
                <a:rPr lang="en-US" dirty="0"/>
                <a:t>Region number: 18, Name: top</a:t>
              </a:r>
            </a:p>
            <a:p>
              <a:r>
                <a:rPr lang="en-US" dirty="0"/>
                <a:t>Region number: 19, Name: down</a:t>
              </a:r>
            </a:p>
            <a:p>
              <a:r>
                <a:rPr lang="en-US" dirty="0"/>
                <a:t>Region number: 20, Name: left</a:t>
              </a:r>
            </a:p>
            <a:p>
              <a:r>
                <a:rPr lang="en-US" dirty="0"/>
                <a:t>Region number: 21, Name: right</a:t>
              </a:r>
              <a:endParaRPr lang="fr-FR" dirty="0"/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2435469" y="3062463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Output:</a:t>
              </a:r>
            </a:p>
          </p:txBody>
        </p:sp>
      </p:grpSp>
      <p:grpSp>
        <p:nvGrpSpPr>
          <p:cNvPr id="28" name="Groupe 27"/>
          <p:cNvGrpSpPr/>
          <p:nvPr/>
        </p:nvGrpSpPr>
        <p:grpSpPr>
          <a:xfrm>
            <a:off x="8692984" y="2987056"/>
            <a:ext cx="2807498" cy="2859878"/>
            <a:chOff x="8692984" y="2987056"/>
            <a:chExt cx="2807498" cy="2859878"/>
          </a:xfrm>
        </p:grpSpPr>
        <p:sp>
          <p:nvSpPr>
            <p:cNvPr id="22" name="Rectangle 21"/>
            <p:cNvSpPr/>
            <p:nvPr/>
          </p:nvSpPr>
          <p:spPr>
            <a:xfrm>
              <a:off x="9000858" y="3277994"/>
              <a:ext cx="2191750" cy="2199609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9755610" y="4193132"/>
              <a:ext cx="821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square</a:t>
              </a: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9882015" y="2987056"/>
              <a:ext cx="503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top</a:t>
              </a: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9930769" y="5477602"/>
              <a:ext cx="714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down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 rot="16200000">
              <a:off x="11004128" y="4198681"/>
              <a:ext cx="623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right</a:t>
              </a:r>
            </a:p>
          </p:txBody>
        </p:sp>
        <p:sp>
          <p:nvSpPr>
            <p:cNvPr id="27" name="ZoneTexte 26"/>
            <p:cNvSpPr txBox="1"/>
            <p:nvPr/>
          </p:nvSpPr>
          <p:spPr>
            <a:xfrm rot="16200000">
              <a:off x="8628447" y="4269187"/>
              <a:ext cx="4984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left</a:t>
              </a:r>
              <a:endParaRPr lang="fr-FR" dirty="0"/>
            </a:p>
          </p:txBody>
        </p:sp>
      </p:grpSp>
      <p:sp>
        <p:nvSpPr>
          <p:cNvPr id="5" name="ZoneTexte 4"/>
          <p:cNvSpPr txBox="1"/>
          <p:nvPr/>
        </p:nvSpPr>
        <p:spPr>
          <a:xfrm>
            <a:off x="4886325" y="1609186"/>
            <a:ext cx="3589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solidFill>
                  <a:srgbClr val="FF0000"/>
                </a:solidFill>
              </a:rPr>
              <a:t>FV_Heat_Transfer</a:t>
            </a:r>
            <a:r>
              <a:rPr lang="fr-FR" smtClean="0">
                <a:solidFill>
                  <a:srgbClr val="FF0000"/>
                </a:solidFill>
              </a:rPr>
              <a:t>\1_sim_square_v1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868972" y="2029693"/>
            <a:ext cx="2734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…\</a:t>
            </a:r>
            <a:r>
              <a:rPr lang="fr-FR" dirty="0" err="1" smtClean="0">
                <a:solidFill>
                  <a:srgbClr val="FF0000"/>
                </a:solidFill>
              </a:rPr>
              <a:t>msh</a:t>
            </a:r>
            <a:r>
              <a:rPr lang="fr-FR" dirty="0" smtClean="0">
                <a:solidFill>
                  <a:srgbClr val="FF0000"/>
                </a:solidFill>
              </a:rPr>
              <a:t>\</a:t>
            </a:r>
            <a:r>
              <a:rPr lang="fr-FR" dirty="0" err="1" smtClean="0">
                <a:solidFill>
                  <a:srgbClr val="FF0000"/>
                </a:solidFill>
              </a:rPr>
              <a:t>square_coarse.msh</a:t>
            </a:r>
            <a:endParaRPr lang="fr-FR" dirty="0">
              <a:solidFill>
                <a:srgbClr val="FF0000"/>
              </a:solidFill>
            </a:endParaRPr>
          </a:p>
        </p:txBody>
      </p:sp>
      <p:grpSp>
        <p:nvGrpSpPr>
          <p:cNvPr id="31" name="Groupe 30"/>
          <p:cNvGrpSpPr/>
          <p:nvPr/>
        </p:nvGrpSpPr>
        <p:grpSpPr>
          <a:xfrm>
            <a:off x="8772394" y="236414"/>
            <a:ext cx="2684619" cy="2654988"/>
            <a:chOff x="9303550" y="553644"/>
            <a:chExt cx="2787681" cy="2756912"/>
          </a:xfrm>
        </p:grpSpPr>
        <p:pic>
          <p:nvPicPr>
            <p:cNvPr id="32" name="Image 3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303550" y="553644"/>
              <a:ext cx="2787681" cy="2756912"/>
            </a:xfrm>
            <a:prstGeom prst="rect">
              <a:avLst/>
            </a:prstGeom>
          </p:spPr>
        </p:pic>
        <p:pic>
          <p:nvPicPr>
            <p:cNvPr id="33" name="Image 32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67476" y="553644"/>
              <a:ext cx="344381" cy="187429"/>
            </a:xfrm>
            <a:prstGeom prst="rect">
              <a:avLst/>
            </a:prstGeom>
          </p:spPr>
        </p:pic>
        <p:pic>
          <p:nvPicPr>
            <p:cNvPr id="34" name="Image 33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45180" y="1756861"/>
              <a:ext cx="412952" cy="1523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905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e 29"/>
          <p:cNvGrpSpPr/>
          <p:nvPr/>
        </p:nvGrpSpPr>
        <p:grpSpPr>
          <a:xfrm>
            <a:off x="9198880" y="724751"/>
            <a:ext cx="3022919" cy="3581375"/>
            <a:chOff x="9198880" y="724751"/>
            <a:chExt cx="3022919" cy="3581375"/>
          </a:xfrm>
        </p:grpSpPr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48346" y="1416008"/>
              <a:ext cx="2684619" cy="2654988"/>
            </a:xfrm>
            <a:prstGeom prst="rect">
              <a:avLst/>
            </a:prstGeom>
          </p:spPr>
        </p:pic>
        <p:pic>
          <p:nvPicPr>
            <p:cNvPr id="27" name="Image 26" descr="\documentclass{article}&#10;\usepackage{amsmath}&#10;\pagestyle{empty}&#10;\begin{document}&#10;&#10;$nseg=1$&#10;&#10;&#10;\end{document}" title="IguanaTex Bitmap Display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3964" y="2761086"/>
              <a:ext cx="764343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6" name="Image 25" descr="\documentclass{article}&#10;\usepackage{amsmath}&#10;\pagestyle{empty}&#10;\begin{document}&#10;&#10;$nseg=0$&#10;&#10;&#10;\end{document}" title="IguanaTex Bitmap Displa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224021" y="3416426"/>
              <a:ext cx="772876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8" name="Image 27" descr="\documentclass{article}&#10;\usepackage{amsmath}&#10;\pagestyle{empty}&#10;\begin{document}&#10;&#10;$nseg=2$&#10;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4986" y="2761086"/>
              <a:ext cx="770438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29" name="Image 28" descr="\documentclass{article}&#10;\usepackage{amsmath}&#10;\pagestyle{empty}&#10;\begin{document}&#10;&#10;$nseg=3$&#10;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227253" y="2271629"/>
              <a:ext cx="771657" cy="175543"/>
            </a:xfrm>
            <a:prstGeom prst="rect">
              <a:avLst/>
            </a:prstGeom>
            <a:solidFill>
              <a:srgbClr val="FFFFFF"/>
            </a:solidFill>
          </p:spPr>
        </p:pic>
        <p:sp>
          <p:nvSpPr>
            <p:cNvPr id="4" name="ZoneTexte 3"/>
            <p:cNvSpPr txBox="1"/>
            <p:nvPr/>
          </p:nvSpPr>
          <p:spPr>
            <a:xfrm>
              <a:off x="9198880" y="3927844"/>
              <a:ext cx="81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(-1, -1)</a:t>
              </a:r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11480891" y="3936794"/>
              <a:ext cx="7409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(1, -1)</a:t>
              </a: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11512055" y="1311786"/>
              <a:ext cx="6703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(1, 1)</a:t>
              </a:r>
            </a:p>
          </p:txBody>
        </p:sp>
        <p:sp>
          <p:nvSpPr>
            <p:cNvPr id="8" name="Légende à une bordure 2 7"/>
            <p:cNvSpPr/>
            <p:nvPr/>
          </p:nvSpPr>
          <p:spPr>
            <a:xfrm>
              <a:off x="9932577" y="724751"/>
              <a:ext cx="752448" cy="474784"/>
            </a:xfrm>
            <a:prstGeom prst="accent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195834"/>
                <a:gd name="adj6" fmla="val -4761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(-1, 1)</a:t>
              </a:r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20</a:t>
            </a:fld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360618"/>
            <a:ext cx="1232762" cy="227048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75850" y="392205"/>
            <a:ext cx="10110460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CELLS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nrg:17,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reg:square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C:[ 0.5  0.5  0],  S:1.000,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:[2 3]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nrg:17,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reg:square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C:[ 0.5 -0.5  0],  S:1.000,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:[1 2]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nrg:17,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reg:square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C:[-0.5  0.5  0],  S:1.000,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:[3 4]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nrg:17,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reg:square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C:[-0.5 -0.5  0],  S:1.000, 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:[1 4]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</a:t>
            </a: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INNER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EDGES (Attention pas de doublons)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f:[ 0   -0.5 0]  own:2 ngh:4  normal:[-1 0 0]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f:[ 0.5  0   0]  own:1 ngh:2  normal:[0 -1 0]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f:[ 0    0.5 0]  own:1 ngh:3  normal:[-1 0 0]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3: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f:[-0.5  0   0]  own:3 ngh:4  normal:[0 -1 0]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</a:t>
            </a:r>
          </a:p>
          <a:p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BND EDGES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0: nrg:19,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reg:down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f:[-0.5 -1   0],  own:4, normal:[ 0 -1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1: nrg:20,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reg:left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f:[-1   -0.5 0],  own:4, normal:[-1  0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2: nrg:19,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reg:down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f:[ 0.5 -1   0],  own:2, normal:[ 0 -1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3: nrg:21,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reg:right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f:[ 1   -0.5 0],  own:2, normal:[ 1  0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4: nrg:21,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reg:right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f:[ 1    0.5 0],  own:1, normal:[ 1  0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5: nrg:18,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reg:top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 f:[ 0.5  1   0],  own:1, normal:[ 0  1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6: nrg:18,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reg:top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 f:[-0.5  1   0],  own:3, normal:[ 0  1 0]</a:t>
            </a:r>
          </a:p>
          <a:p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bnd_edge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7: nrg:20, </a:t>
            </a:r>
            <a:r>
              <a:rPr lang="fr-FR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reg:left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 f:[-1    0.5 0],  own:3, normal:[-1  0 0]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39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21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858312" y="4628536"/>
            <a:ext cx="109376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INNER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EDGES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f:[ 0   -0.5 0] 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own:1 ngh:3 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normal:[-1 0 0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own:3 ngh:1  </a:t>
            </a:r>
            <a:r>
              <a:rPr lang="fr-F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normal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:[+1 </a:t>
            </a:r>
            <a:r>
              <a:rPr lang="fr-F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après échange </a:t>
            </a:r>
            <a:r>
              <a:rPr lang="fr-FR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et </a:t>
            </a:r>
            <a:r>
              <a:rPr lang="fr-FR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ngh</a:t>
            </a:r>
            <a:endParaRPr lang="fr-FR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edge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1: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f:[-0.5  0   0] 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own:2 ngh:3  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normal:[0 -1 0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own:3 </a:t>
            </a:r>
            <a:r>
              <a:rPr lang="fr-FR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ngh</a:t>
            </a:r>
            <a:r>
              <a:rPr lang="fr-FR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=2  normal:[0 +1 0] </a:t>
            </a:r>
            <a:r>
              <a:rPr lang="fr-F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après échange </a:t>
            </a:r>
            <a:r>
              <a:rPr lang="fr-FR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</a:t>
            </a:r>
            <a:r>
              <a:rPr lang="fr-FR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et </a:t>
            </a:r>
            <a:r>
              <a:rPr lang="fr-FR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ngh</a:t>
            </a:r>
            <a:endParaRPr lang="fr-FR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4" name="Image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2" y="208552"/>
            <a:ext cx="8713143" cy="1993144"/>
          </a:xfrm>
          <a:prstGeom prst="rect">
            <a:avLst/>
          </a:prstGeom>
        </p:spPr>
      </p:pic>
      <p:grpSp>
        <p:nvGrpSpPr>
          <p:cNvPr id="4" name="Groupe 3"/>
          <p:cNvGrpSpPr/>
          <p:nvPr/>
        </p:nvGrpSpPr>
        <p:grpSpPr>
          <a:xfrm>
            <a:off x="3981126" y="2434815"/>
            <a:ext cx="2187914" cy="2193721"/>
            <a:chOff x="9584986" y="1696915"/>
            <a:chExt cx="2187914" cy="2193721"/>
          </a:xfrm>
        </p:grpSpPr>
        <p:pic>
          <p:nvPicPr>
            <p:cNvPr id="28" name="Image 27"/>
            <p:cNvPicPr>
              <a:picLocks noChangeAspect="1"/>
            </p:cNvPicPr>
            <p:nvPr/>
          </p:nvPicPr>
          <p:blipFill rotWithShape="1">
            <a:blip r:embed="rId8"/>
            <a:srcRect l="10074" t="10581" r="9687" b="13252"/>
            <a:stretch/>
          </p:blipFill>
          <p:spPr>
            <a:xfrm>
              <a:off x="9618785" y="1696915"/>
              <a:ext cx="2154115" cy="2022232"/>
            </a:xfrm>
            <a:prstGeom prst="rect">
              <a:avLst/>
            </a:prstGeom>
          </p:spPr>
        </p:pic>
        <p:pic>
          <p:nvPicPr>
            <p:cNvPr id="29" name="Image 28" descr="\documentclass{article}&#10;\usepackage{amsmath}&#10;\pagestyle{empty}&#10;\begin{document}&#10;&#10;$nseg=1$&#10;&#10;&#10;\end{document}" title="IguanaTex Bitmap Display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3964" y="2761086"/>
              <a:ext cx="764343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0" name="Image 29" descr="\documentclass{article}&#10;\usepackage{amsmath}&#10;\pagestyle{empty}&#10;\begin{document}&#10;&#10;$nseg=0$&#10;&#10;&#10;\end{document}" title="IguanaTex Bitmap Display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224021" y="3416426"/>
              <a:ext cx="772876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1" name="Image 30" descr="\documentclass{article}&#10;\usepackage{amsmath}&#10;\pagestyle{empty}&#10;\begin{document}&#10;&#10;$nseg=2$&#10;&#10;&#10;\end{document}" title="IguanaTex Bitmap Display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4986" y="2761086"/>
              <a:ext cx="770438" cy="175543"/>
            </a:xfrm>
            <a:prstGeom prst="rect">
              <a:avLst/>
            </a:prstGeom>
            <a:solidFill>
              <a:srgbClr val="FFFFFF"/>
            </a:solidFill>
          </p:spPr>
        </p:pic>
        <p:pic>
          <p:nvPicPr>
            <p:cNvPr id="32" name="Image 31" descr="\documentclass{article}&#10;\usepackage{amsmath}&#10;\pagestyle{empty}&#10;\begin{document}&#10;&#10;$nseg=3$&#10;&#10;&#10;\end{document}" title="IguanaTex Bitmap Display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227253" y="2271629"/>
              <a:ext cx="771657" cy="175543"/>
            </a:xfrm>
            <a:prstGeom prst="rect">
              <a:avLst/>
            </a:prstGeom>
            <a:solidFill>
              <a:srgbClr val="FFFFFF"/>
            </a:solidFill>
          </p:spPr>
        </p:pic>
      </p:grpSp>
    </p:spTree>
    <p:extLst>
      <p:ext uri="{BB962C8B-B14F-4D97-AF65-F5344CB8AC3E}">
        <p14:creationId xmlns:p14="http://schemas.microsoft.com/office/powerpoint/2010/main" val="30434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22</a:t>
            </a:fld>
            <a:endParaRPr lang="fr-FR"/>
          </a:p>
        </p:txBody>
      </p:sp>
      <p:sp>
        <p:nvSpPr>
          <p:cNvPr id="16" name="ZoneTexte 15"/>
          <p:cNvSpPr txBox="1"/>
          <p:nvPr/>
        </p:nvSpPr>
        <p:spPr>
          <a:xfrm>
            <a:off x="8610600" y="83820"/>
            <a:ext cx="3531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 smtClean="0"/>
              <a:t>py_FV_main</a:t>
            </a:r>
            <a:r>
              <a:rPr lang="fr-FR" sz="3600" dirty="0" smtClean="0"/>
              <a:t> (1/2)</a:t>
            </a:r>
            <a:endParaRPr lang="fr-FR" sz="3600" dirty="0"/>
          </a:p>
        </p:txBody>
      </p:sp>
      <p:sp>
        <p:nvSpPr>
          <p:cNvPr id="3" name="ZoneTexte 2"/>
          <p:cNvSpPr txBox="1"/>
          <p:nvPr/>
        </p:nvSpPr>
        <p:spPr>
          <a:xfrm>
            <a:off x="325315" y="190500"/>
            <a:ext cx="1118126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__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__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"__main__"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 Exemple d'utilisation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   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 smtClean="0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.mesh_name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select_file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 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read_gmsh_msh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"Maillage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lu avec succès:"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Nombre de nœuds: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.node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Nombre de cellules: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Nombre d'arêtes internes: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.edge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Nombre d'arêtes de bord: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.bnd_edge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Domaine: [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.xmin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:.3f}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.xmax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:.3f}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] x [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.ymin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:.3f}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.ymax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:.3f}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]"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 Affiche les groupes physiques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sz="1600" dirty="0" smtClean="0">
                <a:solidFill>
                  <a:srgbClr val="EE0000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 err="1" smtClean="0">
                <a:solidFill>
                  <a:srgbClr val="EE0000"/>
                </a:solidFill>
                <a:latin typeface="Consolas" panose="020B0609020204030204" pitchFamily="49" charset="0"/>
              </a:rPr>
              <a:t>n</a:t>
            </a:r>
            <a:r>
              <a:rPr lang="fr-FR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Groupes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physiques:"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smtClean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tag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smtClean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.physicalNames.items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  - 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.name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 (</a:t>
            </a:r>
            <a:r>
              <a:rPr lang="fr-FR" sz="16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dim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=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info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.dim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, tag=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tag</a:t>
            </a:r>
            <a:r>
              <a:rPr lang="fr-FR" sz="16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)"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 Caractérise le maillage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charac_mesh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 Dessine les cellules, leur numéro et les normales aux arêtes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plot_mesh_extended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Affiche le maillage et les régions surfaciques    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plot_regions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  </a:t>
            </a:r>
          </a:p>
        </p:txBody>
      </p:sp>
    </p:spTree>
    <p:extLst>
      <p:ext uri="{BB962C8B-B14F-4D97-AF65-F5344CB8AC3E}">
        <p14:creationId xmlns:p14="http://schemas.microsoft.com/office/powerpoint/2010/main" val="160537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23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346799" y="117693"/>
            <a:ext cx="8263801" cy="67403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     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# Définit les propriétés physiques par région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assign_properties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Définit les conditions aux limites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assign_BCs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Construit la matrice de diffusion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build_diffusion_matrix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Construit le vecteur source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build_source_vector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Applique les conditions aux limites Dirichlet ou Robin        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apply_BCs_to_diffusion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Résout le système linéaire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solve_linear_system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Représente les données brutes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plot_raw_sol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Représente les données lissés et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isovaleurs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plot_smoothed_sol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Trace le profil de température de [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xmin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0] à [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xmax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0]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cutline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.xmin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.xmax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>
                <a:solidFill>
                  <a:srgbClr val="CD3131"/>
                </a:solidFill>
                <a:latin typeface="Consolas" panose="020B0609020204030204" pitchFamily="49" charset="0"/>
              </a:rPr>
              <a:t>;</a:t>
            </a:r>
            <a:endParaRPr lang="fr-F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610600" y="83820"/>
            <a:ext cx="3531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 err="1" smtClean="0"/>
              <a:t>py_FV_main</a:t>
            </a:r>
            <a:r>
              <a:rPr lang="fr-FR" sz="3600" dirty="0" smtClean="0"/>
              <a:t> (2/2)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47124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24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b="44957"/>
          <a:stretch/>
        </p:blipFill>
        <p:spPr>
          <a:xfrm>
            <a:off x="531751" y="276014"/>
            <a:ext cx="2141406" cy="658559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1010744" y="605292"/>
            <a:ext cx="2255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/>
          <a:srcRect b="76079"/>
          <a:stretch/>
        </p:blipFill>
        <p:spPr>
          <a:xfrm>
            <a:off x="3266244" y="301771"/>
            <a:ext cx="1981372" cy="60704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/>
          <a:srcRect r="58585"/>
          <a:stretch/>
        </p:blipFill>
        <p:spPr>
          <a:xfrm>
            <a:off x="5932958" y="182505"/>
            <a:ext cx="1972552" cy="990686"/>
          </a:xfrm>
          <a:prstGeom prst="rect">
            <a:avLst/>
          </a:prstGeom>
        </p:spPr>
      </p:pic>
      <p:cxnSp>
        <p:nvCxnSpPr>
          <p:cNvPr id="9" name="Connecteur droit avec flèche 8"/>
          <p:cNvCxnSpPr/>
          <p:nvPr/>
        </p:nvCxnSpPr>
        <p:spPr>
          <a:xfrm>
            <a:off x="3677457" y="599658"/>
            <a:ext cx="22555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404092" y="1173191"/>
            <a:ext cx="1183529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assign_BCs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ASSIGN_BCS - Assigne les conditions aux limites de Dirichlet et de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robinn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Dictionnaire pour les conditions de Dirichlet : clé = nom de région, valeur = scalaire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.dirichlet_map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{}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Exemples de conditions de Dirichlet (commentés comme dans l'original)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cfd.dirichlet_map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['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left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'] =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(Td = lambda x, y: 300)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cfd.dirichlet_map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['down'] =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(Td = lambda x, y: (1-x))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cfd.dirichlet_map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['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left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'] =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(Td = 300)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cfd.dirichlet_map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['right'] =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(Td = 500)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Dictionnaire pour les conditions de Robin : </a:t>
            </a:r>
            <a:endParaRPr lang="fr-FR" dirty="0" smtClean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{}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left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 =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Ta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300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'right'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Ta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500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9858789" y="2647704"/>
            <a:ext cx="1930386" cy="1920625"/>
            <a:chOff x="9754614" y="1142996"/>
            <a:chExt cx="1930386" cy="1920625"/>
          </a:xfrm>
        </p:grpSpPr>
        <p:sp>
          <p:nvSpPr>
            <p:cNvPr id="12" name="Rectangle 11"/>
            <p:cNvSpPr/>
            <p:nvPr/>
          </p:nvSpPr>
          <p:spPr>
            <a:xfrm>
              <a:off x="10072915" y="1439491"/>
              <a:ext cx="1413527" cy="1418595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10559678" y="2029691"/>
              <a:ext cx="529649" cy="238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square</a:t>
              </a:r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10499690" y="1142996"/>
              <a:ext cx="324415" cy="238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top</a:t>
              </a:r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10531133" y="2825427"/>
              <a:ext cx="460715" cy="238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down</a:t>
              </a:r>
            </a:p>
          </p:txBody>
        </p:sp>
        <p:sp>
          <p:nvSpPr>
            <p:cNvPr id="16" name="ZoneTexte 15"/>
            <p:cNvSpPr txBox="1"/>
            <p:nvPr/>
          </p:nvSpPr>
          <p:spPr>
            <a:xfrm rot="16200000">
              <a:off x="11364886" y="2033270"/>
              <a:ext cx="402034" cy="238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right</a:t>
              </a:r>
            </a:p>
          </p:txBody>
        </p:sp>
        <p:sp>
          <p:nvSpPr>
            <p:cNvPr id="17" name="ZoneTexte 16"/>
            <p:cNvSpPr txBox="1"/>
            <p:nvPr/>
          </p:nvSpPr>
          <p:spPr>
            <a:xfrm rot="16200000">
              <a:off x="9712992" y="2078742"/>
              <a:ext cx="321437" cy="2381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left</a:t>
              </a:r>
              <a:endParaRPr lang="fr-FR" dirty="0"/>
            </a:p>
          </p:txBody>
        </p:sp>
      </p:grpSp>
    </p:spTree>
    <p:extLst>
      <p:ext uri="{BB962C8B-B14F-4D97-AF65-F5344CB8AC3E}">
        <p14:creationId xmlns:p14="http://schemas.microsoft.com/office/powerpoint/2010/main" val="294139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25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780701" y="0"/>
            <a:ext cx="11405686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assign_properties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Assigne les propriétés des matériaux aux régions du maillage CFD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Dictionnaire pour les propriétés : clé = nom de région, valeur =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dict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 des propriétés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{}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Définition des propriétés par région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'square'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Struct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'square'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].K = 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200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'square'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].Q = 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lambda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Assigner les propriétés aux régions numérotées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{}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keys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try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Récupérer le numéro de région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.regionNumber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.regionNumber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'Attention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: Région inconnue "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" - non trouvée dans </a:t>
            </a:r>
            <a:r>
              <a:rPr lang="fr-F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regionNumber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AF00DB"/>
                </a:solidFill>
                <a:latin typeface="Consolas" panose="020B0609020204030204" pitchFamily="49" charset="0"/>
              </a:rPr>
              <a:t>except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as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'Attention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: Région inconnue "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region_name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" : 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str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18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26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69" y="4436"/>
            <a:ext cx="7854171" cy="13205486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8610600" y="1069460"/>
            <a:ext cx="2656180" cy="2385939"/>
            <a:chOff x="7562373" y="1237100"/>
            <a:chExt cx="2656180" cy="2385939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562373" y="1237100"/>
              <a:ext cx="2656180" cy="2385939"/>
            </a:xfrm>
            <a:prstGeom prst="rect">
              <a:avLst/>
            </a:prstGeom>
          </p:spPr>
        </p:pic>
        <p:grpSp>
          <p:nvGrpSpPr>
            <p:cNvPr id="6" name="Groupe 5"/>
            <p:cNvGrpSpPr/>
            <p:nvPr/>
          </p:nvGrpSpPr>
          <p:grpSpPr>
            <a:xfrm>
              <a:off x="9032669" y="2787573"/>
              <a:ext cx="810502" cy="269583"/>
              <a:chOff x="3467102" y="5522082"/>
              <a:chExt cx="810502" cy="269583"/>
            </a:xfrm>
          </p:grpSpPr>
          <p:grpSp>
            <p:nvGrpSpPr>
              <p:cNvPr id="7" name="Groupe 6"/>
              <p:cNvGrpSpPr/>
              <p:nvPr/>
            </p:nvGrpSpPr>
            <p:grpSpPr>
              <a:xfrm rot="20689993">
                <a:off x="3467102" y="5522082"/>
                <a:ext cx="762078" cy="244487"/>
                <a:chOff x="237392" y="1787964"/>
                <a:chExt cx="896815" cy="269436"/>
              </a:xfrm>
            </p:grpSpPr>
            <p:sp>
              <p:nvSpPr>
                <p:cNvPr id="9" name="Rectangle 8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10" name="Connecteur droit avec flèche 9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8" name="Image 7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7706" y="5589790"/>
                <a:ext cx="429898" cy="2018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sp>
        <p:nvSpPr>
          <p:cNvPr id="3" name="ZoneTexte 2"/>
          <p:cNvSpPr txBox="1"/>
          <p:nvPr/>
        </p:nvSpPr>
        <p:spPr>
          <a:xfrm>
            <a:off x="7862068" y="346499"/>
            <a:ext cx="42402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>
                <a:solidFill>
                  <a:srgbClr val="00B050"/>
                </a:solidFill>
                <a:latin typeface="Courier New" panose="02070309020205020404" pitchFamily="49" charset="0"/>
              </a:rPr>
              <a:t>build_diffusion_matrix</a:t>
            </a:r>
            <a:endParaRPr lang="fr-FR" sz="2400" dirty="0">
              <a:solidFill>
                <a:srgbClr val="00B050"/>
              </a:solidFill>
              <a:latin typeface="Courier New" panose="02070309020205020404" pitchFamily="49" charset="0"/>
            </a:endParaRPr>
          </a:p>
        </p:txBody>
      </p:sp>
      <p:pic>
        <p:nvPicPr>
          <p:cNvPr id="13" name="Image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41" y="5297362"/>
            <a:ext cx="6334171" cy="986209"/>
          </a:xfrm>
          <a:prstGeom prst="rect">
            <a:avLst/>
          </a:prstGeo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7515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27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294004" y="0"/>
            <a:ext cx="10956846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build_diffusion_matrix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Construit la matrice de diffusion pour la méthode des volumes finis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"""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NV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Initialiser les listes pour la matrice creuse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nseg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267F99"/>
                </a:solidFill>
                <a:latin typeface="Consolas" panose="020B0609020204030204" pitchFamily="49" charset="0"/>
              </a:rPr>
              <a:t>range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.edge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)):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chaque segment est partagé par deux cellules adjacentes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.edge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nseg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seg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.ncell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propriétaire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voisin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Obtenir les propriétés des matériaux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nrg_own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nrg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nrg_ngh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nrg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K_own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nrg_own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].K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K_ngh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nrg_ngh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].K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seg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point milieu du segment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].C)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centre de la cellule propriétaire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].C)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centre de la cellule voisine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seg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.normal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fr-FR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845665" y="73901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>
                <a:latin typeface="Courier New" panose="02070309020205020404" pitchFamily="49" charset="0"/>
              </a:rPr>
              <a:t>build_diffusion_matrix</a:t>
            </a:r>
            <a:r>
              <a:rPr lang="fr-FR" sz="2400" b="1" dirty="0" smtClean="0">
                <a:latin typeface="Courier New" panose="02070309020205020404" pitchFamily="49" charset="0"/>
              </a:rPr>
              <a:t> (1/2)</a:t>
            </a:r>
            <a:endParaRPr lang="fr-FR" sz="2400" dirty="0">
              <a:latin typeface="Courier New" panose="02070309020205020404" pitchFamily="49" charset="0"/>
            </a:endParaRPr>
          </a:p>
        </p:txBody>
      </p:sp>
      <p:grpSp>
        <p:nvGrpSpPr>
          <p:cNvPr id="15" name="Groupe 14"/>
          <p:cNvGrpSpPr/>
          <p:nvPr/>
        </p:nvGrpSpPr>
        <p:grpSpPr>
          <a:xfrm>
            <a:off x="8509256" y="3103132"/>
            <a:ext cx="2656180" cy="2385939"/>
            <a:chOff x="7562373" y="1237100"/>
            <a:chExt cx="2656180" cy="2385939"/>
          </a:xfrm>
        </p:grpSpPr>
        <p:pic>
          <p:nvPicPr>
            <p:cNvPr id="16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2373" y="1237100"/>
              <a:ext cx="2656180" cy="2385939"/>
            </a:xfrm>
            <a:prstGeom prst="rect">
              <a:avLst/>
            </a:prstGeom>
          </p:spPr>
        </p:pic>
        <p:grpSp>
          <p:nvGrpSpPr>
            <p:cNvPr id="17" name="Groupe 16"/>
            <p:cNvGrpSpPr/>
            <p:nvPr/>
          </p:nvGrpSpPr>
          <p:grpSpPr>
            <a:xfrm>
              <a:off x="9032669" y="2787573"/>
              <a:ext cx="810502" cy="269583"/>
              <a:chOff x="3467102" y="5522082"/>
              <a:chExt cx="810502" cy="269583"/>
            </a:xfrm>
          </p:grpSpPr>
          <p:grpSp>
            <p:nvGrpSpPr>
              <p:cNvPr id="18" name="Groupe 17"/>
              <p:cNvGrpSpPr/>
              <p:nvPr/>
            </p:nvGrpSpPr>
            <p:grpSpPr>
              <a:xfrm rot="20689993">
                <a:off x="3467102" y="5522082"/>
                <a:ext cx="762078" cy="244487"/>
                <a:chOff x="237392" y="1787964"/>
                <a:chExt cx="896815" cy="269436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1" name="Connecteur droit avec flèche 20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" name="Image 18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7706" y="5589790"/>
                <a:ext cx="429898" cy="2018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</p:spTree>
    <p:extLst>
      <p:ext uri="{BB962C8B-B14F-4D97-AF65-F5344CB8AC3E}">
        <p14:creationId xmlns:p14="http://schemas.microsoft.com/office/powerpoint/2010/main" val="1400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28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-754639" y="346387"/>
            <a:ext cx="9498113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linalg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norm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distance entre centres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abs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dot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distance projetée le long de la normale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abs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dot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distance projetée C-&gt;f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distance projetée f-&gt;F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Coefficient de diffusion effectif (moyenne harmonique)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K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/ 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K_own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K_ngh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cos_tf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cos(</a:t>
            </a:r>
            <a:r>
              <a:rPr lang="el-GR" sz="1600" dirty="0">
                <a:solidFill>
                  <a:srgbClr val="008000"/>
                </a:solidFill>
                <a:latin typeface="Consolas" panose="020B0609020204030204" pitchFamily="49" charset="0"/>
              </a:rPr>
              <a:t>θ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f)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Coefficient de diffusion pour cette arête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diff_coeff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K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seg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cos_tf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Ajouter les contributions à la matrice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Diagonal (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diff_coeff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Off-diagonal (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diff_coeff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6868615" y="89995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 smtClean="0">
                <a:latin typeface="Courier New" panose="02070309020205020404" pitchFamily="49" charset="0"/>
              </a:rPr>
              <a:t>build_diffusion_matrix</a:t>
            </a:r>
            <a:r>
              <a:rPr lang="fr-FR" sz="2400" b="1" dirty="0" smtClean="0">
                <a:latin typeface="Courier New" panose="02070309020205020404" pitchFamily="49" charset="0"/>
              </a:rPr>
              <a:t> (2/2)</a:t>
            </a:r>
            <a:endParaRPr lang="fr-FR" sz="2400" dirty="0">
              <a:latin typeface="Courier New" panose="02070309020205020404" pitchFamily="49" charset="0"/>
            </a:endParaRPr>
          </a:p>
        </p:txBody>
      </p:sp>
      <p:grpSp>
        <p:nvGrpSpPr>
          <p:cNvPr id="15" name="Groupe 14"/>
          <p:cNvGrpSpPr/>
          <p:nvPr/>
        </p:nvGrpSpPr>
        <p:grpSpPr>
          <a:xfrm>
            <a:off x="9095118" y="786652"/>
            <a:ext cx="2656180" cy="2385939"/>
            <a:chOff x="7562373" y="1237100"/>
            <a:chExt cx="2656180" cy="2385939"/>
          </a:xfrm>
        </p:grpSpPr>
        <p:pic>
          <p:nvPicPr>
            <p:cNvPr id="16" name="Imag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2373" y="1237100"/>
              <a:ext cx="2656180" cy="2385939"/>
            </a:xfrm>
            <a:prstGeom prst="rect">
              <a:avLst/>
            </a:prstGeom>
          </p:spPr>
        </p:pic>
        <p:grpSp>
          <p:nvGrpSpPr>
            <p:cNvPr id="17" name="Groupe 16"/>
            <p:cNvGrpSpPr/>
            <p:nvPr/>
          </p:nvGrpSpPr>
          <p:grpSpPr>
            <a:xfrm>
              <a:off x="9032669" y="2787573"/>
              <a:ext cx="810502" cy="269583"/>
              <a:chOff x="3467102" y="5522082"/>
              <a:chExt cx="810502" cy="269583"/>
            </a:xfrm>
          </p:grpSpPr>
          <p:grpSp>
            <p:nvGrpSpPr>
              <p:cNvPr id="18" name="Groupe 17"/>
              <p:cNvGrpSpPr/>
              <p:nvPr/>
            </p:nvGrpSpPr>
            <p:grpSpPr>
              <a:xfrm rot="20689993">
                <a:off x="3467102" y="5522082"/>
                <a:ext cx="762078" cy="244487"/>
                <a:chOff x="237392" y="1787964"/>
                <a:chExt cx="896815" cy="269436"/>
              </a:xfrm>
            </p:grpSpPr>
            <p:sp>
              <p:nvSpPr>
                <p:cNvPr id="20" name="Rectangle 19"/>
                <p:cNvSpPr/>
                <p:nvPr/>
              </p:nvSpPr>
              <p:spPr>
                <a:xfrm>
                  <a:off x="246185" y="1787964"/>
                  <a:ext cx="290146" cy="269436"/>
                </a:xfrm>
                <a:prstGeom prst="rect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cxnSp>
              <p:nvCxnSpPr>
                <p:cNvPr id="21" name="Connecteur droit avec flèche 20"/>
                <p:cNvCxnSpPr/>
                <p:nvPr/>
              </p:nvCxnSpPr>
              <p:spPr>
                <a:xfrm>
                  <a:off x="237392" y="1787964"/>
                  <a:ext cx="896815" cy="0"/>
                </a:xfrm>
                <a:prstGeom prst="straightConnector1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9" name="Image 18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47706" y="5589790"/>
                <a:ext cx="429898" cy="201875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</p:grpSp>
      <p:sp>
        <p:nvSpPr>
          <p:cNvPr id="12" name="ZoneTexte 11"/>
          <p:cNvSpPr txBox="1"/>
          <p:nvPr/>
        </p:nvSpPr>
        <p:spPr>
          <a:xfrm>
            <a:off x="5137368" y="2810978"/>
            <a:ext cx="7029488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Symétrique: diagonal (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diff_coeff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Symétrique: off-diagonal (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ngh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append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diff_coeff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Créer la matrice creuse et sommer les contributions </a:t>
            </a:r>
            <a:endParaRPr lang="fr-FR" sz="16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.MD = </a:t>
            </a:r>
            <a:r>
              <a:rPr lang="fr-FR" sz="1600" dirty="0" err="1" smtClean="0">
                <a:solidFill>
                  <a:srgbClr val="267F99"/>
                </a:solidFill>
                <a:latin typeface="Consolas" panose="020B0609020204030204" pitchFamily="49" charset="0"/>
              </a:rPr>
              <a:t>csr_matrix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row_indices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col_indices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)), \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shape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=(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NV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NV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.MD.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sum_duplicates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()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Sommer les entrées dupliquées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5416421" y="2161592"/>
            <a:ext cx="0" cy="4699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447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29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0"/>
            <a:ext cx="6923145" cy="1164011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432560" y="2971798"/>
            <a:ext cx="6507480" cy="18745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1432560" y="4884420"/>
            <a:ext cx="6507480" cy="16544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 rot="16200000">
            <a:off x="-353852" y="3554249"/>
            <a:ext cx="1688124" cy="52322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2800" dirty="0"/>
              <a:t>DIRICHLET</a:t>
            </a:r>
          </a:p>
        </p:txBody>
      </p:sp>
      <p:sp>
        <p:nvSpPr>
          <p:cNvPr id="7" name="ZoneTexte 6"/>
          <p:cNvSpPr txBox="1"/>
          <p:nvPr/>
        </p:nvSpPr>
        <p:spPr>
          <a:xfrm rot="16200000">
            <a:off x="-411641" y="5509551"/>
            <a:ext cx="1803699" cy="52322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fr-FR" sz="2800" dirty="0"/>
              <a:t>NEUMANN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9"/>
          <a:srcRect b="7137"/>
          <a:stretch/>
        </p:blipFill>
        <p:spPr>
          <a:xfrm>
            <a:off x="9454464" y="-5450"/>
            <a:ext cx="2737536" cy="2573349"/>
          </a:xfrm>
          <a:prstGeom prst="rect">
            <a:avLst/>
          </a:prstGeom>
        </p:spPr>
      </p:pic>
      <p:grpSp>
        <p:nvGrpSpPr>
          <p:cNvPr id="9" name="Groupe 8"/>
          <p:cNvGrpSpPr/>
          <p:nvPr/>
        </p:nvGrpSpPr>
        <p:grpSpPr>
          <a:xfrm>
            <a:off x="9223864" y="2606185"/>
            <a:ext cx="2740922" cy="2699965"/>
            <a:chOff x="8848949" y="-5450"/>
            <a:chExt cx="3167205" cy="2977248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 rotWithShape="1">
            <a:blip r:embed="rId9"/>
            <a:srcRect b="7137"/>
            <a:stretch/>
          </p:blipFill>
          <p:spPr>
            <a:xfrm>
              <a:off x="8848949" y="-5450"/>
              <a:ext cx="3167205" cy="2977248"/>
            </a:xfrm>
            <a:prstGeom prst="rect">
              <a:avLst/>
            </a:prstGeom>
          </p:spPr>
        </p:pic>
        <p:pic>
          <p:nvPicPr>
            <p:cNvPr id="11" name="Image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3787237">
              <a:off x="10036709" y="1369650"/>
              <a:ext cx="2684952" cy="227047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2" name="Image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78812">
              <a:off x="10327839" y="1221154"/>
              <a:ext cx="397714" cy="249905"/>
            </a:xfrm>
            <a:prstGeom prst="rect">
              <a:avLst/>
            </a:prstGeom>
          </p:spPr>
        </p:pic>
      </p:grpSp>
      <p:pic>
        <p:nvPicPr>
          <p:cNvPr id="4" name="Imag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254" y="1058420"/>
            <a:ext cx="649143" cy="173714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5182" y="4321233"/>
            <a:ext cx="649143" cy="173714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910" y="5379846"/>
            <a:ext cx="6020876" cy="993524"/>
          </a:xfrm>
          <a:prstGeom prst="rect">
            <a:avLst/>
          </a:prstGeo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231990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30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74346" y="227390"/>
            <a:ext cx="11075468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apply_BCs_to_diffusion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APPLY_BCS_TO_DIFFUSION - Applique les conditions aux limites au terme de diffusion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"""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NV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.VD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zeros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NV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nbnd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267F99"/>
                </a:solidFill>
                <a:latin typeface="Consolas" panose="020B0609020204030204" pitchFamily="49" charset="0"/>
              </a:rPr>
              <a:t>range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.bnd_edge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.bnd_edge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nbnd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.nrg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== -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continue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région non nommée -&gt; condition </a:t>
            </a:r>
            <a:r>
              <a:rPr lang="fr-FR" dirty="0" smtClean="0">
                <a:solidFill>
                  <a:srgbClr val="008000"/>
                </a:solidFill>
                <a:latin typeface="Consolas" panose="020B0609020204030204" pitchFamily="49" charset="0"/>
              </a:rPr>
              <a:t>robin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nulle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.physicalNames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]).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physicalNames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 est un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dict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'NAME 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.ncell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 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Premier élément (indexation Python 0-based)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].C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.f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xf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yf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.normal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19224" y="270933"/>
            <a:ext cx="3887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 smtClean="0"/>
              <a:t>apply_BCs_to_diffusion</a:t>
            </a:r>
            <a:r>
              <a:rPr lang="fr-FR" sz="2400" dirty="0" smtClean="0"/>
              <a:t>  (1/3)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76012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31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-529752" y="501765"/>
            <a:ext cx="1272175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Vérifier si c'est une condition de Dirichlet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.dirichlet_map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f_array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linalg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norm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f_array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abs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dot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f_array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))  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distance projetée le long de la normale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cos_tf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cos_θf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.dirichlet_map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Vérifier si Td est une fonction ou une valeur constante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bc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.Td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xf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yf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callable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bc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.Td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r-FR" dirty="0" err="1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bc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.Td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nrg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nrg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K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.properties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nrg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].K  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properties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 est un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dict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.MD[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+= 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K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cos_tf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.VD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     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+=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K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/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dCf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cos_tf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19224" y="270933"/>
            <a:ext cx="3887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 smtClean="0"/>
              <a:t>apply_BCs_to_diffusion</a:t>
            </a:r>
            <a:r>
              <a:rPr lang="fr-FR" sz="2400" dirty="0" smtClean="0"/>
              <a:t>  (2/3)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1360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32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06400" y="844358"/>
            <a:ext cx="7529625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Vérifier si c'est une condition de </a:t>
            </a:r>
            <a:r>
              <a:rPr lang="fr-FR" dirty="0" err="1">
                <a:solidFill>
                  <a:srgbClr val="008000"/>
                </a:solidFill>
                <a:latin typeface="Consolas" panose="020B0609020204030204" pitchFamily="49" charset="0"/>
              </a:rPr>
              <a:t>robinn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'DEBUG robin '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f_array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endParaRPr lang="fr-F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 smtClean="0">
                <a:solidFill>
                  <a:srgbClr val="008000"/>
                </a:solidFill>
                <a:latin typeface="Consolas" panose="020B0609020204030204" pitchFamily="49" charset="0"/>
              </a:rPr>
              <a:t>	 #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distance projetée le long de la </a:t>
            </a:r>
            <a:r>
              <a:rPr lang="fr-FR" dirty="0" smtClean="0">
                <a:solidFill>
                  <a:srgbClr val="008000"/>
                </a:solidFill>
                <a:latin typeface="Consolas" panose="020B0609020204030204" pitchFamily="49" charset="0"/>
              </a:rPr>
              <a:t>normale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abs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267F99"/>
                </a:solidFill>
                <a:latin typeface="Consolas" panose="020B0609020204030204" pitchFamily="49" charset="0"/>
              </a:rPr>
              <a:t>np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dot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f_array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-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C_array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normal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))  </a:t>
            </a:r>
            <a:endParaRPr lang="fr-FR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hcv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Ta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].Ta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.MD[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+=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.VD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     </a:t>
            </a:r>
            <a:r>
              <a:rPr lang="fr-FR" dirty="0">
                <a:solidFill>
                  <a:srgbClr val="795E26"/>
                </a:solidFill>
                <a:latin typeface="Consolas" panose="020B0609020204030204" pitchFamily="49" charset="0"/>
              </a:rPr>
              <a:t>+=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Ta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19224" y="270933"/>
            <a:ext cx="38879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 smtClean="0"/>
              <a:t>apply_BCs_to_diffusion</a:t>
            </a:r>
            <a:r>
              <a:rPr lang="fr-FR" sz="2400" dirty="0" smtClean="0"/>
              <a:t>  (3/3)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25851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33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331925" y="428828"/>
            <a:ext cx="1145538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solve_linear_system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Résout le système linéaire et stocke la solution dans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cfd.T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Parameters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: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- Structure contenant la matrice de diffusion MD,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                   le vecteur source VQ, et le vecteur des conditions aux limites VD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Returns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: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: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Struct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- Structure mise à jour avec la solution stockée dans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cfd.T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    """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dirty="0">
                <a:solidFill>
                  <a:srgbClr val="EE0000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EE0000"/>
                </a:solidFill>
                <a:latin typeface="Consolas" panose="020B0609020204030204" pitchFamily="49" charset="0"/>
              </a:rPr>
              <a:t>n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Matrice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 de diffusion construite:"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  - Taille: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.MD.shape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  - Éléments non-nuls: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.MD.nnz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"  - </a:t>
            </a:r>
            <a:r>
              <a:rPr lang="fr-FR" dirty="0" err="1">
                <a:solidFill>
                  <a:srgbClr val="A31515"/>
                </a:solidFill>
                <a:latin typeface="Consolas" panose="020B0609020204030204" pitchFamily="49" charset="0"/>
              </a:rPr>
              <a:t>Sparsité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: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.MD.nnz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/ (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.MD.shape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.MD.shape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]) * </a:t>
            </a:r>
            <a:r>
              <a:rPr lang="fr-FR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:.2f}</a:t>
            </a:r>
            <a:r>
              <a:rPr lang="fr-FR" dirty="0">
                <a:solidFill>
                  <a:srgbClr val="A31515"/>
                </a:solidFill>
                <a:latin typeface="Consolas" panose="020B0609020204030204" pitchFamily="49" charset="0"/>
              </a:rPr>
              <a:t>%"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008000"/>
                </a:solidFill>
                <a:latin typeface="Consolas" panose="020B0609020204030204" pitchFamily="49" charset="0"/>
              </a:rPr>
              <a:t># Résolution du système linéaire</a:t>
            </a:r>
            <a:endParaRPr lang="fr-FR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scipy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sparse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267F99"/>
                </a:solidFill>
                <a:latin typeface="Consolas" panose="020B0609020204030204" pitchFamily="49" charset="0"/>
              </a:rPr>
              <a:t>linalg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r-FR" dirty="0" err="1">
                <a:solidFill>
                  <a:srgbClr val="795E26"/>
                </a:solidFill>
                <a:latin typeface="Consolas" panose="020B0609020204030204" pitchFamily="49" charset="0"/>
              </a:rPr>
              <a:t>spsolve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.MD,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.VD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.VQ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0710899" y="0"/>
            <a:ext cx="1285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smtClean="0"/>
              <a:t>SOLVER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88402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34</a:t>
            </a:fld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565" y="213286"/>
            <a:ext cx="8212114" cy="6163200"/>
          </a:xfrm>
          <a:prstGeom prst="rect">
            <a:avLst/>
          </a:prstGeom>
        </p:spPr>
      </p:pic>
      <p:pic>
        <p:nvPicPr>
          <p:cNvPr id="4" name="Image 3" descr="drawing_therm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493" y="213286"/>
            <a:ext cx="2265045" cy="21583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230915"/>
              </p:ext>
            </p:extLst>
          </p:nvPr>
        </p:nvGraphicFramePr>
        <p:xfrm>
          <a:off x="8820906" y="2697935"/>
          <a:ext cx="3190632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544">
                  <a:extLst>
                    <a:ext uri="{9D8B030D-6E8A-4147-A177-3AD203B41FA5}">
                      <a16:colId xmlns:a16="http://schemas.microsoft.com/office/drawing/2014/main" val="3523501132"/>
                    </a:ext>
                  </a:extLst>
                </a:gridCol>
                <a:gridCol w="1063544">
                  <a:extLst>
                    <a:ext uri="{9D8B030D-6E8A-4147-A177-3AD203B41FA5}">
                      <a16:colId xmlns:a16="http://schemas.microsoft.com/office/drawing/2014/main" val="16778357"/>
                    </a:ext>
                  </a:extLst>
                </a:gridCol>
                <a:gridCol w="1063544">
                  <a:extLst>
                    <a:ext uri="{9D8B030D-6E8A-4147-A177-3AD203B41FA5}">
                      <a16:colId xmlns:a16="http://schemas.microsoft.com/office/drawing/2014/main" val="3845859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K (W/m/K)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 (J/m3)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13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37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isolant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10840"/>
                  </a:ext>
                </a:extLst>
              </a:tr>
            </a:tbl>
          </a:graphicData>
        </a:graphic>
      </p:graphicFrame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481965"/>
              </p:ext>
            </p:extLst>
          </p:nvPr>
        </p:nvGraphicFramePr>
        <p:xfrm>
          <a:off x="8820906" y="4405979"/>
          <a:ext cx="31906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544">
                  <a:extLst>
                    <a:ext uri="{9D8B030D-6E8A-4147-A177-3AD203B41FA5}">
                      <a16:colId xmlns:a16="http://schemas.microsoft.com/office/drawing/2014/main" val="3523501132"/>
                    </a:ext>
                  </a:extLst>
                </a:gridCol>
                <a:gridCol w="1063544">
                  <a:extLst>
                    <a:ext uri="{9D8B030D-6E8A-4147-A177-3AD203B41FA5}">
                      <a16:colId xmlns:a16="http://schemas.microsoft.com/office/drawing/2014/main" val="16778357"/>
                    </a:ext>
                  </a:extLst>
                </a:gridCol>
                <a:gridCol w="1063544">
                  <a:extLst>
                    <a:ext uri="{9D8B030D-6E8A-4147-A177-3AD203B41FA5}">
                      <a16:colId xmlns:a16="http://schemas.microsoft.com/office/drawing/2014/main" val="3845859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h</a:t>
                      </a:r>
                      <a:r>
                        <a:rPr lang="fr-FR" baseline="0" dirty="0"/>
                        <a:t> </a:t>
                      </a:r>
                      <a:r>
                        <a:rPr lang="fr-FR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Ta (K)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13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left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3798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71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13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245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53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544" y="3308202"/>
            <a:ext cx="3793822" cy="2930236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9401480" y="6356350"/>
            <a:ext cx="2743200" cy="365125"/>
          </a:xfrm>
        </p:spPr>
        <p:txBody>
          <a:bodyPr/>
          <a:lstStyle/>
          <a:p>
            <a:fld id="{1CB95D3C-87B7-42DD-97F8-1F43ACE143A3}" type="slidenum">
              <a:rPr lang="fr-FR" smtClean="0"/>
              <a:t>35</a:t>
            </a:fld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015" y="3317849"/>
            <a:ext cx="3684526" cy="292058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518" y="3257434"/>
            <a:ext cx="3351112" cy="2920588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769931" y="2950703"/>
            <a:ext cx="147687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>
                <a:latin typeface="Euclid" panose="02020503060505020303" pitchFamily="18" charset="0"/>
              </a:rPr>
              <a:t>FV </a:t>
            </a:r>
            <a:r>
              <a:rPr lang="fr-FR" dirty="0" err="1">
                <a:latin typeface="Euclid" panose="02020503060505020303" pitchFamily="18" charset="0"/>
              </a:rPr>
              <a:t>raw</a:t>
            </a:r>
            <a:r>
              <a:rPr lang="fr-FR" dirty="0">
                <a:latin typeface="Euclid" panose="02020503060505020303" pitchFamily="18" charset="0"/>
              </a:rPr>
              <a:t> data</a:t>
            </a:r>
          </a:p>
        </p:txBody>
      </p:sp>
      <p:pic>
        <p:nvPicPr>
          <p:cNvPr id="25" name="Image 2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18" y="523433"/>
            <a:ext cx="8403805" cy="1723426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5485344" y="2992461"/>
            <a:ext cx="250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Euclid" panose="02020503060505020303" pitchFamily="18" charset="0"/>
              </a:rPr>
              <a:t>Filtre spatial passe-bas</a:t>
            </a:r>
            <a:endParaRPr lang="fr-FR" dirty="0">
              <a:latin typeface="Euclid" panose="02020503060505020303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0146587" y="2725040"/>
            <a:ext cx="199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>
                <a:latin typeface="Euclid" panose="02020503060505020303" pitchFamily="18" charset="0"/>
              </a:rPr>
              <a:t>Cutline</a:t>
            </a:r>
            <a:r>
              <a:rPr lang="fr-FR" dirty="0" smtClean="0">
                <a:latin typeface="Euclid" panose="02020503060505020303" pitchFamily="18" charset="0"/>
              </a:rPr>
              <a:t> avec filtre</a:t>
            </a:r>
          </a:p>
          <a:p>
            <a:r>
              <a:rPr lang="fr-FR" b="1" dirty="0" err="1" smtClean="0">
                <a:latin typeface="Euclid" panose="02020503060505020303" pitchFamily="18" charset="0"/>
              </a:rPr>
              <a:t>Savitzky-Golay</a:t>
            </a:r>
            <a:endParaRPr lang="fr-FR" dirty="0">
              <a:latin typeface="Euclid" panose="02020503060505020303" pitchFamily="18" charset="0"/>
            </a:endParaRPr>
          </a:p>
        </p:txBody>
      </p:sp>
      <p:grpSp>
        <p:nvGrpSpPr>
          <p:cNvPr id="20" name="Group 63"/>
          <p:cNvGrpSpPr>
            <a:grpSpLocks/>
          </p:cNvGrpSpPr>
          <p:nvPr/>
        </p:nvGrpSpPr>
        <p:grpSpPr bwMode="auto">
          <a:xfrm>
            <a:off x="9586538" y="485084"/>
            <a:ext cx="1443038" cy="1331913"/>
            <a:chOff x="383" y="434"/>
            <a:chExt cx="1248" cy="1152"/>
          </a:xfrm>
        </p:grpSpPr>
        <p:sp>
          <p:nvSpPr>
            <p:cNvPr id="21" name="Rectangle 7"/>
            <p:cNvSpPr>
              <a:spLocks noChangeArrowheads="1"/>
            </p:cNvSpPr>
            <p:nvPr/>
          </p:nvSpPr>
          <p:spPr bwMode="auto">
            <a:xfrm>
              <a:off x="431" y="482"/>
              <a:ext cx="1152" cy="105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" name="Oval 8"/>
            <p:cNvSpPr>
              <a:spLocks noChangeArrowheads="1"/>
            </p:cNvSpPr>
            <p:nvPr/>
          </p:nvSpPr>
          <p:spPr bwMode="auto">
            <a:xfrm>
              <a:off x="767" y="770"/>
              <a:ext cx="480" cy="48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383" y="434"/>
              <a:ext cx="1248" cy="1152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24993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177" y="64470"/>
            <a:ext cx="4227361" cy="3265089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9586538" y="6356350"/>
            <a:ext cx="2743200" cy="365125"/>
          </a:xfrm>
        </p:spPr>
        <p:txBody>
          <a:bodyPr/>
          <a:lstStyle/>
          <a:p>
            <a:fld id="{1CB95D3C-87B7-42DD-97F8-1F43ACE143A3}" type="slidenum">
              <a:rPr lang="fr-FR" smtClean="0"/>
              <a:t>36</a:t>
            </a:fld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329" y="-54466"/>
            <a:ext cx="4203349" cy="333184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985" y="3419527"/>
            <a:ext cx="4298395" cy="349290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177" y="3569677"/>
            <a:ext cx="4263429" cy="3151798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952101" y="3807069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FEM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9319272" y="3562588"/>
            <a:ext cx="59984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FEM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1952101" y="235977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FV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9497206" y="189246"/>
            <a:ext cx="42191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FV</a:t>
            </a:r>
          </a:p>
        </p:txBody>
      </p:sp>
    </p:spTree>
    <p:extLst>
      <p:ext uri="{BB962C8B-B14F-4D97-AF65-F5344CB8AC3E}">
        <p14:creationId xmlns:p14="http://schemas.microsoft.com/office/powerpoint/2010/main" val="684097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37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52" y="429844"/>
            <a:ext cx="8929524" cy="4490666"/>
          </a:xfrm>
          <a:prstGeom prst="rect">
            <a:avLst/>
          </a:prstGeom>
        </p:spPr>
      </p:pic>
      <p:pic>
        <p:nvPicPr>
          <p:cNvPr id="8" name="Image 7" descr="drawing_therm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6493" y="213286"/>
            <a:ext cx="2265045" cy="21583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694108"/>
              </p:ext>
            </p:extLst>
          </p:nvPr>
        </p:nvGraphicFramePr>
        <p:xfrm>
          <a:off x="9746493" y="2596335"/>
          <a:ext cx="212708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544">
                  <a:extLst>
                    <a:ext uri="{9D8B030D-6E8A-4147-A177-3AD203B41FA5}">
                      <a16:colId xmlns:a16="http://schemas.microsoft.com/office/drawing/2014/main" val="3523501132"/>
                    </a:ext>
                  </a:extLst>
                </a:gridCol>
                <a:gridCol w="1063544">
                  <a:extLst>
                    <a:ext uri="{9D8B030D-6E8A-4147-A177-3AD203B41FA5}">
                      <a16:colId xmlns:a16="http://schemas.microsoft.com/office/drawing/2014/main" val="3845859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Région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Q (J/m3)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138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379854"/>
                  </a:ext>
                </a:extLst>
              </a:tr>
            </a:tbl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10738338" y="1844431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Euclid" panose="02020503060505020303" pitchFamily="18" charset="0"/>
              </a:rPr>
              <a:t>R=0.5m</a:t>
            </a:r>
            <a:endParaRPr lang="fr-FR" dirty="0">
              <a:latin typeface="Euclid" panose="0202050306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1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95D3C-87B7-42DD-97F8-1F43ACE143A3}" type="slidenum">
              <a:rPr lang="fr-FR" smtClean="0"/>
              <a:t>38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454026" y="0"/>
            <a:ext cx="8376011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smtClean="0">
                <a:solidFill>
                  <a:srgbClr val="795E26"/>
                </a:solidFill>
                <a:latin typeface="Consolas" panose="020B0609020204030204" pitchFamily="49" charset="0"/>
              </a:rPr>
              <a:t>flux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"""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FLUX – Calcule le flux en surface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    """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q = 0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nbnd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267F99"/>
                </a:solidFill>
                <a:latin typeface="Consolas" panose="020B0609020204030204" pitchFamily="49" charset="0"/>
              </a:rPr>
              <a:t>range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.bnd_edge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)):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.bnd_edge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nbnd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.nrg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-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continue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région non nommée -&gt; condition </a:t>
            </a:r>
            <a:r>
              <a:rPr lang="fr-FR" sz="16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robin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nulle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.physicalNames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reg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]).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physicalNames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 est un </a:t>
            </a:r>
            <a:r>
              <a:rPr lang="fr-FR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dict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'NAME 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  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Premier élément (indexation Python 0-based)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70C1"/>
                </a:solidFill>
                <a:latin typeface="Consolas" panose="020B0609020204030204" pitchFamily="49" charset="0"/>
              </a:rPr>
              <a:t>C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.cell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fr-FR" sz="1600" dirty="0" smtClean="0">
                <a:solidFill>
                  <a:srgbClr val="0070C1"/>
                </a:solidFill>
                <a:latin typeface="Consolas" panose="020B0609020204030204" pitchFamily="49" charset="0"/>
              </a:rPr>
              <a:t>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= 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.T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own</a:t>
            </a:r>
            <a:r>
              <a:rPr lang="fr-FR" sz="16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008000"/>
                </a:solidFill>
                <a:latin typeface="Consolas" panose="020B0609020204030204" pitchFamily="49" charset="0"/>
              </a:rPr>
              <a:t># Vérifier si c'est une condition de robin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 panose="020B0609020204030204" pitchFamily="49" charset="0"/>
              </a:rPr>
              <a:t>'DEBUG robin '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hcv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>
                <a:solidFill>
                  <a:srgbClr val="001080"/>
                </a:solidFill>
                <a:latin typeface="Consolas" panose="020B0609020204030204" pitchFamily="49" charset="0"/>
              </a:rPr>
              <a:t>Ta</a:t>
            </a:r>
            <a:r>
              <a:rPr lang="fr-FR" sz="16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.robin_map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].Ta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q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95E26"/>
                </a:solidFill>
                <a:latin typeface="Consolas" panose="020B0609020204030204" pitchFamily="49" charset="0"/>
              </a:rPr>
              <a:t>+=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bnd</a:t>
            </a:r>
            <a:r>
              <a:rPr lang="fr-F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.length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hcv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* (T – </a:t>
            </a:r>
            <a:r>
              <a:rPr lang="fr-FR" sz="1600" dirty="0">
                <a:solidFill>
                  <a:srgbClr val="001080"/>
                </a:solidFill>
                <a:latin typeface="Consolas" panose="020B0609020204030204" pitchFamily="49" charset="0"/>
              </a:rPr>
              <a:t>Ta)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cfd</a:t>
            </a:r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fr-FR" sz="1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1236744" y="227390"/>
            <a:ext cx="644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flux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745001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95.1631"/>
  <p:tag name="ORIGINALWIDTH" val="4287.964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n veut générer autant d'équations que de volumes de controle.&#10;On intègre l’équation sur un volume de contrôle $V_c$ :&#10;$$&#10;\int_{V_C} \; d^3r \; \div(-K\; \nabla T) = &#10;\int_{V_C} \; d^3r \; Q&#10;$$&#10;&#10;&#10;\end{document}"/>
  <p:tag name="IGUANATEXSIZE" val="20"/>
  <p:tag name="IGUANATEXCURSOR" val="1177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4.4544"/>
  <p:tag name="ORIGINALWIDTH" val="2957.63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u encore&#10;$$&#10;\oiint_{\partial V_C} \; dS \; \left( -K\;\rtvector{n} \cdot \nabla T \right) =&#10;\int_{V_C} \; d^3r \; Q&#10;$$&#10;&#10;&#10;\end{document}"/>
  <p:tag name="IGUANATEXSIZE" val="20"/>
  <p:tag name="IGUANATEXCURSOR" val="107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139"/>
  <p:tag name="ORIGINALWIDTH" val=" 4288"/>
  <p:tag name="OUTPUTTYPE" val="PNG"/>
  <p:tag name="IGUANATEXVERSION" val="162"/>
  <p:tag name="LATEXADDIN" val="\documentclass{article}&#10;\usepackage{amsmath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Notre but est d'estimer la distribution de température &#10;dans un milieu homogène (fluide ou solide) caractérisé par une&#10;conductivité thermique constante $k$. &#10;Le système comporte une source de chaleur modélisée par une densité volumique $Q(\rtvector{r})$.&#10;%{\color{blue} Par endroits, il est à contact avec une source de chaleur isotherme, ailleurs}&#10;Il échange de la chaleur par convection avec un gaz caractérisé par un coefficient&#10;d'échange $h$ et une température $T_a$ constante.&#10;&#10;La forme forte de l'équation de la chaleur s'écrit :&#10;$$&#10;\div(-K\; \nabla T(\rtvector{r})) = Q(\rtvector{r})&#10;$$&#10;&#10; &#10;&#10;\end{document}"/>
  <p:tag name="IGUANATEXSIZE" val="20"/>
  <p:tag name="IGUANATEXCURSOR" val="1377"/>
  <p:tag name="TRANSPARENCY" val="Vrai"/>
  <p:tag name="CHOOSECOLOR" val="Faux"/>
  <p:tag name="COLORHEX" val="000000"/>
  <p:tag name="LATEXENGINEID" val="0"/>
  <p:tag name="TEMPFOLDER" val="/Users/Giovanni/Library/Containers/com.microsoft.Powerpoint/Data/tmp/TemporaryItems/"/>
  <p:tag name="LATEXFORMHEIGHT" val=" 923"/>
  <p:tag name="LATEXFORMWIDTH" val=" 1056"/>
  <p:tag name="LATEXFORMWRAP" val="Vrai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74.99063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 &#10;}&#10;$$&#10;&#10;&#10;\end{document}"/>
  <p:tag name="IGUANATEXSIZE" val="20"/>
  <p:tag name="IGUANATEXCURSOR" val="1077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15.2231"/>
  <p:tag name="OUTPUTTYPE" val="PNG"/>
  <p:tag name="IGUANATEXVERSION" val="161"/>
  <p:tag name="LATEXADDIN" val="\documentclass{article}&#10;\usepackage{amsmath}&#10;\pagestyle{empty}&#10;\begin{document}&#10;&#10;$\partial V_C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39.4826"/>
  <p:tag name="OUTPUTTYPE" val="PNG"/>
  <p:tag name="IGUANATEXVERSION" val="161"/>
  <p:tag name="LATEXADDIN" val="\documentclass{article}&#10;\usepackage{amsmath}&#10;\pagestyle{empty}&#10;\begin{document}&#10;&#10;$V_C$&#10;&#10;&#10;\end{document}"/>
  <p:tag name="IGUANATEXSIZE" val="20"/>
  <p:tag name="IGUANATEXCURSOR" val="8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0.4087"/>
  <p:tag name="ORIGINALWIDTH" val="3535.058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begin{minipage}{10cm}&#10;&#10;On intègre l'équation de la chaleur sur un volume fini $V_C$ de centre de gravité $C$:&#10;$$&#10;\sum_{e \subset \partial V_c} &#10;\iint_{e} \; dS \; (-K\;\rtvector{n} \; \cdot \; \nabla T) =&#10;\int_{V_C} \; d^3r \; Q&#10;$$&#10;&#10;\end{minipage}&#10;&#10;\end{document}"/>
  <p:tag name="IGUANATEXSIZE" val="20"/>
  <p:tag name="IGUANATEXCURSOR" val="119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0.6412"/>
  <p:tag name="ORIGINALWIDTH" val="4287.214"/>
  <p:tag name="OUTPUTTYPE" val="PNG"/>
  <p:tag name="IGUANATEXVERSION" val="161"/>
  <p:tag name="LATEXADDIN" val="\documentclass{article}&#10;\usepackage{amsmath}&#10;\pagestyle{empty}&#10;\begin{document}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ubsection*{Estimation de la puissance dissipée dans $V_c$:}&#10;$$&#10;\int_{V_c} d^3r' Q(\rtvector{r}') =&#10;\int_{V_c} d^3r' \Big( Q_C +(\rtvector{r}'-\rtvector{r}_C) \cdot \left . \nabla Q \right|_C &#10;+ \vartheta((\rtvector{r}'-\rtvector{r}_C)^2)\Big) \approx  Q_C \; V_C&#10;$$&#10;qui intégre exactement toute variation linéaire de $Q$ car le noeud $C$&#10;coïncide avec le barycentre donc le premier point d'intégration de Gauss.&#10;\end{document}"/>
  <p:tag name="IGUANATEXSIZE" val="20"/>
  <p:tag name="IGUANATEXCURSOR" val="1067"/>
  <p:tag name="TRANSPARENCY" val="Vrai"/>
  <p:tag name="FILENAME" val=""/>
  <p:tag name="LATEXENGINEID" val="0"/>
  <p:tag name="TEMPFOLDER" val="c:\temp\"/>
  <p:tag name="LATEXFORMHEIGHT" val="459"/>
  <p:tag name="LATEXFORMWIDTH" val="552"/>
  <p:tag name="LATEXFORMWRAP" val="Vrai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15.2231"/>
  <p:tag name="OUTPUTTYPE" val="PNG"/>
  <p:tag name="IGUANATEXVERSION" val="161"/>
  <p:tag name="LATEXADDIN" val="\documentclass{article}&#10;\usepackage{amsmath}&#10;\pagestyle{empty}&#10;\begin{document}&#10;&#10;$\partial V_C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39.4826"/>
  <p:tag name="OUTPUTTYPE" val="PNG"/>
  <p:tag name="IGUANATEXVERSION" val="161"/>
  <p:tag name="LATEXADDIN" val="\documentclass{article}&#10;\usepackage{amsmath}&#10;\pagestyle{empty}&#10;\begin{document}&#10;&#10;$V_C$&#10;&#10;&#10;\end{document}"/>
  <p:tag name="IGUANATEXSIZE" val="20"/>
  <p:tag name="IGUANATEXCURSOR" val="8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00.525"/>
  <p:tag name="ORIGINALWIDTH" val="4290.964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Estimation des flux}&#10;&#10;Pour toute facette intérieure $e=(C|F)$ à l'interface des volumes de contrôle $C$ et $F$, le flux diffusif s'écrit:&#10;$$&#10;\iint_{e} \; dS \; (-K\;\rtvector{n} \; \cdot \; \nabla T) =&#10;\iint_{e_{C, F}=(C|F)} \; dS \; (-K\;\rtvector{n}_{C, F} \; \cdot \; \nabla T)&#10;$$&#10;$$&#10;{\approx -K\; |e_{C,F}| \; \nabla T|_f \; \cdot \; \rtvector{n}_{C,F} }&#10;$$&#10;{où dans la dernière égalité on a utilisé {\color{red}le premier point d'intégration de Gauss}&#10;($f$ est le point milieu de la facette $e$) et $|e_{C, F}| $ désigne la surface de la facette à l'interface $(C|F)$.}&#10;&#10;\end{document}"/>
  <p:tag name="IGUANATEXSIZE" val="20"/>
  <p:tag name="IGUANATEXCURSOR" val="1461"/>
  <p:tag name="TRANSPARENCY" val="Vrai"/>
  <p:tag name="FILENAME" val=""/>
  <p:tag name="LATEXENGINEID" val="0"/>
  <p:tag name="TEMPFOLDER" val="c:\temp\"/>
  <p:tag name="LATEXFORMHEIGHT" val="661.2"/>
  <p:tag name="LATEXFORMWIDTH" val="1119"/>
  <p:tag name="LATEXFORMWRAP" val="Vrai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1"/>
  <p:tag name="LATEXADDIN" val="\documentclass{article}&#10;\usepackage{amsmath}&#10;\usepackage{esint}&#10;\usepackage{xcolor}&#10;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 \textcolor{red}{&#10;e_{C, F} &#10;}&#10;$$&#10;&#10;&#10;\end{document}"/>
  <p:tag name="IGUANATEXSIZE" val="20"/>
  <p:tag name="IGUANATEXCURSOR" val="1078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168.7289"/>
  <p:tag name="OUTPUTTYPE" val="PNG"/>
  <p:tag name="IGUANATEXVERSION" val="161"/>
  <p:tag name="LATEXADDIN" val="\documentclass{article}&#10;\usepackage{amsmath}&#10;\pagestyle{empty}&#10;\begin{document}&#10;&#10;&#10;$$&#10;\partial D&#10;$$&#10;&#10;\end{document}"/>
  <p:tag name="IGUANATEXSIZE" val="20"/>
  <p:tag name="IGUANATEXCURSOR" val="98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74.99063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 &#10;}&#10;$$&#10;&#10;&#10;\end{document}"/>
  <p:tag name="IGUANATEXSIZE" val="20"/>
  <p:tag name="IGUANATEXCURSOR" val="1077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15.2231"/>
  <p:tag name="OUTPUTTYPE" val="PNG"/>
  <p:tag name="IGUANATEXVERSION" val="161"/>
  <p:tag name="LATEXADDIN" val="\documentclass{article}&#10;\usepackage{amsmath}&#10;\pagestyle{empty}&#10;\begin{document}&#10;&#10;$\partial V_C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39.4826"/>
  <p:tag name="OUTPUTTYPE" val="PNG"/>
  <p:tag name="IGUANATEXVERSION" val="161"/>
  <p:tag name="LATEXADDIN" val="\documentclass{article}&#10;\usepackage{amsmath}&#10;\pagestyle{empty}&#10;\begin{document}&#10;&#10;$V_C$&#10;&#10;&#10;\end{document}"/>
  <p:tag name="IGUANATEXSIZE" val="20"/>
  <p:tag name="IGUANATEXCURSOR" val="8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90.289"/>
  <p:tag name="ORIGINALWIDTH" val="4288.714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ubsection*{Flux diffusif}&#10;&#10;A l'interface des volumes de contrôle $C$ et $F$, en première approximation, on assimile : &#10;$$ {\nabla T|_f \; \cdot \; \rtvector{n}_{C,F} = } \left . \frac{\partial T}{\partial n} \right|_f =&#10;\left( \left .\nabla T \right|_f \cdot \rtvector{u}_{C, F} \right) \; &#10;\left(\rtvector{u}_{C, F} \cdot \rtvector{n}_{C, F} \right)&#10; $$&#10;On note $ \cos(\theta_f) = \rtvector{u}_{C, F} \cdot \rtvector{n}_{C, F} = \frac{h_{CF}}{d_{CF}}$,&#10;{&#10;avec $ d_{CF} = |\rtvector{CF}| \quad \text{et} \quad h_{CF} = \rtvector{CF} \cdot \rtvector{n}_{C, F}$.&#10;}&#10;$$ &#10;\text{Flux}= \iint_{e_{C, F}} \; dS \; \left( -K\;\rtvector{n}_{C, F} \; \cdot \; \nabla T \right)&#10;\approx -K\; |e_{C, F}| \; \frac{T_F-T_C}{ d_{CF} } \cos(\theta_f)&#10;$$&#10;%La notation $|e_{C, F}| $ désigne la surface de la facette à l'interface $C|F$.&#10;\end{document}"/>
  <p:tag name="IGUANATEXSIZE" val="20"/>
  <p:tag name="IGUANATEXCURSOR" val="1413"/>
  <p:tag name="TRANSPARENCY" val="Vrai"/>
  <p:tag name="FILENAME" val=""/>
  <p:tag name="LATEXENGINEID" val="0"/>
  <p:tag name="TEMPFOLDER" val="c:\temp\"/>
  <p:tag name="LATEXFORMHEIGHT" val="661.2"/>
  <p:tag name="LATEXFORMWIDTH" val="1052"/>
  <p:tag name="LATEXFORMWRAP" val="Vrai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32.621"/>
  <p:tag name="ORIGINALWIDTH" val="4288.714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ubsection*{Gradient de température à l'interface des cellules C et F}&#10;&#10;On note $\rtvector{u}_{C,F} = \dfrac{\rtvector{CF}}{|\rtvector{CF}|}$.&#10;Pour toute facette intérieure $e=(C|F)$ à l'interface des volumes de contrôle $C$ et $F$, on a l'identité suivante:&#10;$$&#10;\left .\nabla T \right|_f =&#10;\left( \left .\nabla T \right|_f \cdot \rtvector{u}_{C, F} \right) \; \rtvector{u}_{C, F} +&#10;\textcolor{red}{\left(&#10;\left .\nabla T \right|_f &#10;-\left( \left .\nabla T \right|_f \cdot \rtvector{u}_{C, F} \right) \; \rtvector{u}_{C, F}&#10;\right)}&#10;$$&#10;&#10;&#10;\end{document}"/>
  <p:tag name="IGUANATEXSIZE" val="20"/>
  <p:tag name="IGUANATEXCURSOR" val="1578"/>
  <p:tag name="TRANSPARENCY" val="Vrai"/>
  <p:tag name="FILENAME" val=""/>
  <p:tag name="LATEXENGINEID" val="0"/>
  <p:tag name="TEMPFOLDER" val="c:\temp\"/>
  <p:tag name="LATEXFORMHEIGHT" val="414.6"/>
  <p:tag name="LATEXFORMWIDTH" val="779.4"/>
  <p:tag name="LATEXFORMWRAP" val="Vrai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2.9659"/>
  <p:tag name="ORIGINALWIDTH" val="1916.01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terme correctif si le gradient est \\&#10;principalement le long de $\rtvector{u}_{C, F}$}&#10;&#10;\end{document}"/>
  <p:tag name="IGUANATEXSIZE" val="16"/>
  <p:tag name="IGUANATEXCURSOR" val="1092"/>
  <p:tag name="TRANSPARENCY" val="Vrai"/>
  <p:tag name="FILENAME" val=""/>
  <p:tag name="LATEXENGINEID" val="0"/>
  <p:tag name="TEMPFOLDER" val="c:\temp\"/>
  <p:tag name="LATEXFORMHEIGHT" val="414.6"/>
  <p:tag name="LATEXFORMWIDTH" val="779.4"/>
  <p:tag name="LATEXFORMWRAP" val="Vrai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1"/>
  <p:tag name="LATEXADDIN" val="\documentclass{article}&#10;\usepackage{amsmath}&#10;\usepackage{esint}&#10;\usepackage{xcolor}&#10;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 \textcolor{red}{&#10;e_{C, F} &#10;}&#10;$$&#10;&#10;&#10;\end{document}"/>
  <p:tag name="IGUANATEXSIZE" val="20"/>
  <p:tag name="IGUANATEXCURSOR" val="1078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0.7349"/>
  <p:tag name="ORIGINALWIDTH" val="424.446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T_f = T_d&#10;}&#10;$$&#10;&#10;&#10;\end{document}"/>
  <p:tag name="IGUANATEXSIZE" val="20"/>
  <p:tag name="IGUANATEXCURSOR" val="1074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4.091"/>
  <p:tag name="ORIGINALWIDTH" val="4038.995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nditions de Robin (convection)}&#10;&#10;Pour toute facette \( e \subset \partial D \cap \partial V_C \):&#10;$$&#10;\iint_{e} \; dS \; (-K\;\rtvector{n} \; \cdot \; \nabla T) =&#10;\iint_{e \; \subset \; \partial D \cap \partial V_C} \; dS \; h\; (T -T_a) &#10;\approx |e| \; h\; (T_f -T_a)&#10;$$&#10;où $|e|$ désigne la surface de la facette $e$. \\&#10;Mais on ne connait pas $T_f$.&#10;&#10;\end{document}"/>
  <p:tag name="IGUANATEXSIZE" val="20"/>
  <p:tag name="IGUANATEXCURSOR" val="1068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71.803"/>
  <p:tag name="ORIGINALWIDTH" val="4714.661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nditions de Dirichlet}&#10;&#10;Pour toute facette \( e \subset \partial D \cap \partial V_C \):&#10;$$&#10;\iint_{e} \; dS \; (-K\;\rtvector{n} \; \cdot \; \nabla T) \approx&#10;\iint_{e \; \subset \; \partial D \cap \partial V_C} \; dS \; (-K) \frac{T_d - T_C}{d_{Cf}} \cos(\theta_f)&#10;\approx |e| \; K \frac{T_C - T_d}{d_{Cf}} \cos(\theta_f)&#10;$$&#10;où $|e|$ désigne la surface de la facette $e$ et $\cos(\theta_f) = \frac{h_{Cf}}{d_{Cf}}$ avec $h_{Cf} = \rtvector{Cf} \cdot \rtvector{n}_f$.&#10;&#10;$$&#10;\iint_{e} \; dS \; (-K\;\rtvector{n} \; \cdot \; \nabla T) &#10;\approx |e| \; K \; \frac{\cos(\theta_f)}{d_{Cf}} T_C - |e| \; K \; \frac{\cos(\theta_f)}{d_{Cf}} T_d&#10;$$&#10;&#10;\end{document}"/>
  <p:tag name="IGUANATEXSIZE" val="20"/>
  <p:tag name="IGUANATEXCURSOR" val="1634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2490.439"/>
  <p:tag name="OUTPUTTYPE" val="PNG"/>
  <p:tag name="IGUANATEXVERSION" val="161"/>
  <p:tag name="LATEXADDIN" val="\documentclass{article}&#10;\usepackage{amsmath}&#10;\usepackage{xcolor}&#10;\pagestyle{empty}&#10;\begin{document}&#10;&#10;\textcolor{red}{&#10;Attention $f$ est le point milieu de la facette $e$.}&#10;&#10;\end{document}"/>
  <p:tag name="IGUANATEXSIZE" val="20"/>
  <p:tag name="IGUANATEXCURSOR" val="17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321.335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Gaz à la température $T_a$}&#10;&#10;&#10;\end{document}"/>
  <p:tag name="IGUANATEXSIZE" val="20"/>
  <p:tag name="IGUANATEXCURSOR" val="108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95.7255"/>
  <p:tag name="OUTPUTTYPE" val="PNG"/>
  <p:tag name="IGUANATEXVERSION" val="161"/>
  <p:tag name="LATEXADDIN" val="\documentclass{article}&#10;\usepackage{amsmath}&#10;\pagestyle{empty}&#10;\begin{document}&#10;&#10;&#10;$h_{Cf}$&#10;&#10;\end{document}"/>
  <p:tag name="IGUANATEXSIZE" val="2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86.764"/>
  <p:tag name="ORIGINALWIDTH" val="4098.988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nditions de Robin (suite)}&#10;&#10;D’après la condition de Robin, on a également en première approximation :&#10;&#10;$$&#10;- K \frac{T_f - T_C}{d_{Cf}} \cos(\theta_f) \approx h \; (T_f - T_a) \quad \text{où} \; \cos(\theta_f) = \frac{h_{Cf}}{d_{Cf}}&#10;$$&#10;avec $h_{Cf} = \rtvector{Cf} \cdot \rtvector{n}_f$&#10;On en déduit que :&#10;$$&#10;T_f = \frac{\frac{K}{d_{Cf}} \cos(\theta_f) }{\frac{K}{d_{Cf}} \cos(\theta_f) + h} \; T_C +&#10;\frac{h }{\frac{K}{d_{Cf}} \cos(\theta_f) + h} \; T_a&#10;$$&#10;Dans la suite, on assimile $T_f = T_C + \vartheta(h_{Cf})$, pour simplifier les&#10;écritures.&#10;&#10;\end{document}"/>
  <p:tag name="IGUANATEXSIZE" val="20"/>
  <p:tag name="IGUANATEXCURSOR" val="109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7.934"/>
  <p:tag name="ORIGINALWIDTH" val="3756.28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Pour toute facette \( e \subset \partial D \cap \partial V_C \):&#10;$$&#10;\iint_{e} \; dS \; (-K\;\rtvector{n} \; \cdot \; \nabla T) &#10;{\approx |e| \; h\; ( T_C + \vartheta(h_{Cf}) - T_a ) }&#10;\approx |e| \; h\; ( T_C - T_a )&#10;$$&#10;&#10;\end{document}"/>
  <p:tag name="IGUANATEXSIZE" val="20"/>
  <p:tag name="IGUANATEXCURSOR" val="1175"/>
  <p:tag name="TRANSPARENCY" val="Vrai"/>
  <p:tag name="FILENAME" val=""/>
  <p:tag name="LATEXENGINEID" val="0"/>
  <p:tag name="TEMPFOLDER" val="c:\temp\"/>
  <p:tag name="LATEXFORMHEIGHT" val="554"/>
  <p:tag name="LATEXFORMWIDTH" val="907"/>
  <p:tag name="LATEXFORMWRAP" val="Vrai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9.97"/>
  <p:tag name="ORIGINALWIDTH" val="1465.317"/>
  <p:tag name="OUTPUTTYPE" val="PNG"/>
  <p:tag name="IGUANATEXVERSION" val="161"/>
  <p:tag name="LATEXADDIN" val="\documentclass{article}&#10;\usepackage{amsmath}&#10;\usepackage{xcolor}&#10;\pagestyle{empty}&#10;\begin{document}&#10;&#10;\textcolor{red}{&#10;\noindent Attention $f$ est le point \\ milieu de la facette $e$.}&#10;&#10;\end{document}"/>
  <p:tag name="IGUANATEXSIZE" val="20"/>
  <p:tag name="IGUANATEXCURSOR" val="128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321.335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Gaz à la température $T_a$}&#10;&#10;&#10;\end{document}"/>
  <p:tag name="IGUANATEXSIZE" val="20"/>
  <p:tag name="IGUANATEXCURSOR" val="108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95.7255"/>
  <p:tag name="OUTPUTTYPE" val="PNG"/>
  <p:tag name="IGUANATEXVERSION" val="161"/>
  <p:tag name="LATEXADDIN" val="\documentclass{article}&#10;\usepackage{amsmath}&#10;\pagestyle{empty}&#10;\begin{document}&#10;&#10;&#10;$h_{Cf}$&#10;&#10;\end{document}"/>
  <p:tag name="IGUANATEXSIZE" val="2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7.304"/>
  <p:tag name="ORIGINALWIDTH" val="3998.5"/>
  <p:tag name="OUTPUTTYPE" val="PNG"/>
  <p:tag name="IGUANATEXVERSION" val="160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n a en première approximation :&#10;&#10;$$&#10;- K \frac{T_f - T_C}{d_{Cf}} \cos(\theta_f) \approx h_r(T_f) \; (T_f - T_a) \quad \text{où} \; \cos(\theta_f) = \frac{h_{Cf}}{d_{Cf}}&#10;$$&#10;avec $h_{Cf} = \rtvector{Cf} \cdot \rtvector{n}_f$&#10;On en déduit que :&#10;$$&#10;T_f = \dfrac{\frac{K}{d_{Cf}} \cos(\theta_f) }{\frac{K}{d_{Cf}} \cos(\theta_f) + h_r(T_f)} \; T_C +&#10;\frac{h_r(T_f) }{\frac{K}{d_{Cf}} \cos(\theta_f) + h_r(T_f)} \; T_{sur}&#10;$$&#10;Dans la suite, on assimile $T_f = T_C + \vartheta(h_{Cf})$, pour simplifier les&#10;écritures.&#10;&#10;\end{document}"/>
  <p:tag name="IGUANATEXSIZE" val="18"/>
  <p:tag name="IGUANATEXCURSOR" val="1540"/>
  <p:tag name="TRANSPARENCY" val="Vrai"/>
  <p:tag name="FILENAME" val=""/>
  <p:tag name="LATEXENGINEID" val="0"/>
  <p:tag name="TEMPFOLDER" val="c:\temp\"/>
  <p:tag name="LATEXFORMHEIGHT" val="414.6"/>
  <p:tag name="LATEXFORMWIDTH" val="795"/>
  <p:tag name="LATEXFORMWRAP" val="Vrai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7.934"/>
  <p:tag name="ORIGINALWIDTH" val="4312.711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Pour toute facette \( e \subset \partial D \cap \partial V_C \):&#10;$$&#10;\iint_{e} \; dS \; (-K\;\rtvector{n} \; \cdot \; \nabla T) &#10;{\approx |e| \; h_r(T_C)\; ( T_C + \vartheta(h_{Cf}) - T_{sur} ) }&#10;\approx |e| \; h_r(T_C)\; ( T_C - T_{sur} )&#10;$$&#10;&#10;\end{document}"/>
  <p:tag name="IGUANATEXSIZE" val="18"/>
  <p:tag name="IGUANATEXCURSOR" val="1197"/>
  <p:tag name="TRANSPARENCY" val="Vrai"/>
  <p:tag name="FILENAME" val=""/>
  <p:tag name="LATEXENGINEID" val="0"/>
  <p:tag name="TEMPFOLDER" val="c:\temp\"/>
  <p:tag name="LATEXFORMHEIGHT" val="554"/>
  <p:tag name="LATEXFORMWIDTH" val="907"/>
  <p:tag name="LATEXFORMWRAP" val="Vrai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2490.439"/>
  <p:tag name="OUTPUTTYPE" val="PNG"/>
  <p:tag name="IGUANATEXVERSION" val="160"/>
  <p:tag name="LATEXADDIN" val="\documentclass{article}&#10;\usepackage{amsmath}&#10;\usepackage{xcolor}&#10;\pagestyle{empty}&#10;\begin{document}&#10;&#10;\textcolor{red}{&#10;\noindent Attention $f$ est le point milieu de la facette $e$.}&#10;&#10;\end{document}"/>
  <p:tag name="IGUANATEXSIZE" val="18"/>
  <p:tag name="IGUANATEXCURSOR" val="15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73.341"/>
  <p:tag name="ORIGINALWIDTH" val="5107.611"/>
  <p:tag name="OUTPUTTYPE" val="PNG"/>
  <p:tag name="IGUANATEXVERSION" val="160"/>
  <p:tag name="LATEXADDIN" val="\documentclass{article}&#10;\usepackage{amsmath}&#10;\usepackage{esint}&#10;\usepackage{xcolor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nditions de rayonnement de Stefan}&#10;&#10;Pour toute facette \( e \subset \partial D \cap \partial V_C \):&#10;$$&#10;\iint_{e} \; dS \; (-K\;\rtvector{n} \; \cdot \; \nabla T) =&#10;\iint_{e \; \subset \; \partial D \cap \partial V_C} \; dS \; h_r(T)\; (T -T_{sur}) &#10;\approx |e| \; h_r(T_f)\; (T_f -T_{sur})&#10;$$&#10;avec $h_r ({\color{red} T_f})= \epsilon \sigma (T_f+T_{sur}) (T_f^2+T_{sur}^2)$,&#10;où $|e|$ désigne la surface de la facette $e$. \\&#10;Mais on ne connait pas $T_f$.&#10;&#10;\end{document}"/>
  <p:tag name="IGUANATEXSIZE" val="18"/>
  <p:tag name="IGUANATEXCURSOR" val="10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.2175"/>
  <p:tag name="ORIGINALWIDTH" val="1114.361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Environnement à \\ la température $T_{sur}$}&#10;&#10;&#10;\end{document}"/>
  <p:tag name="IGUANATEXSIZE" val="20"/>
  <p:tag name="IGUANATEXCURSOR" val="1080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95.7255"/>
  <p:tag name="OUTPUTTYPE" val="PNG"/>
  <p:tag name="IGUANATEXVERSION" val="161"/>
  <p:tag name="LATEXADDIN" val="\documentclass{article}&#10;\usepackage{amsmath}&#10;\pagestyle{empty}&#10;\begin{document}&#10;&#10;&#10;$h_{Cf}$&#10;&#10;\end{document}"/>
  <p:tag name="IGUANATEXSIZE" val="2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93.326"/>
  <p:tag name="ORIGINALWIDTH" val="4503.937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Assemblage}&#10;&#10;Pour tout volume fini de centre $C$, on a :&#10;$$&#10;\sum_{\substack{e_{C, F} \subset \partial V_c &#10;\\ e_{C, F} = (C|F)}} &#10;\iint_{e_{C, F}} \; dS \; \left( -K\;\rtvector{n}_{C, F} \; \cdot \; \nabla T \right)\;+&#10;\sum_{e \; \subset \; \partial D \cap \partial V_C}&#10;\iint_{e} \; dS \; h\; (T -T_a)&#10;=&#10;\int_{V_C} \; d^3r \; Q&#10;$$&#10;où la première somme est restreinte aux facettes intérieures du domaine $D$&#10;et la seconde est restreinte aux facettes du bord décrivant $\partial D$.&#10;\end{document}"/>
  <p:tag name="IGUANATEXSIZE" val="20"/>
  <p:tag name="IGUANATEXCURSOR" val="1201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59.618"/>
  <p:tag name="ORIGINALWIDTH" val="5788.527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Plus précisément :&#10;$$&#10;\begin{aligned}&#10;\sum_{\substack{e_{C, F} \subset \partial V_c &#10;\\ e_{C, F} = (C|F)}} &#10;\; \frac{K \; |e_{C, F}|}{d_{CF}} \cos(\theta_f) \; T_C \;&#10;-&#10;\sum_{\substack{e_{C, F} \subset \partial V_c &#10;\\ e_{C, F} = (C|F)}} &#10;\; \frac{K \; |e_{C, F}|}{d_{CF}} \cos(\theta_f) \; T_F \;&#10;+&#10;\sum_{e \; \subset \; \partial D \cap \partial V_C}&#10;|e| \; h\; T_C &#10;&amp;= \\&#10;Q_C \; V_C \; +&#10;&amp;\sum_{e \; \subset \; \partial D \cap \partial V_C}&#10;|e| \; h\; T_a&#10;\end{aligned}&#10;$$&#10;&#10;\end{document}"/>
  <p:tag name="IGUANATEXSIZE" val="20"/>
  <p:tag name="IGUANATEXCURSOR" val="1042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.7289"/>
  <p:tag name="ORIGINALWIDTH" val="1742.782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ù $ \cos(\theta_f)  = \rtvector{u}_{C, F} \cdot \rtvector{n}_{C, F} = \frac{h_{CF}}{d_{CF}}$.&#10;\end{document}"/>
  <p:tag name="IGUANATEXSIZE" val="20"/>
  <p:tag name="IGUANATEXCURSOR" val="109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1"/>
  <p:tag name="LATEXADDIN" val="\documentclass{article}&#10;\usepackage{amsmath}&#10;\usepackage{esint}&#10;\usepackage{xcolor}&#10;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 \textcolor{red}{&#10;e_{C, F} &#10;}&#10;$$&#10;&#10;&#10;\end{document}"/>
  <p:tag name="IGUANATEXSIZE" val="20"/>
  <p:tag name="IGUANATEXCURSOR" val="1078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12.598"/>
  <p:tag name="ORIGINALWIDTH" val="5840.27"/>
  <p:tag name="OUTPUTTYPE" val="PNG"/>
  <p:tag name="IGUANATEXVERSION" val="160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n regroupant les termes, on obtient pour tout volume fini de centre C :&#10;$$&#10;\begin{aligned}&#10;\left(&#10;\sum_{\substack{e_{C, F} \subset \partial V_c &#10;\\ e_{C, F} = (C|F)}} &#10;\; \frac{K \; |e_{C, F}|}{d_{CF}} \cos(\theta_f) +&#10;\sum_{e \; \subset \; \partial D \cap \partial V_C}&#10;|e| \; h\;&#10;\right) \; T_C \;&#10;-&#10;\sum_{\substack{e_{C, F} \subset \partial V_c &#10;\\ e_{C, F} = (C|F)}} &#10;\; \frac{K \; |e_{C, F}|}{d_{CF}} \cos(\theta_f) \; T_F \; &#10;&amp;= \\&#10;Q_C \; V_C \; +&#10;&amp;\sum_{e \; \subset \; \partial D \cap \partial V_C}&#10;|e| \; h\; T_a&#10;\end{aligned}&#10;$$&#10;&#10;\end{document}"/>
  <p:tag name="IGUANATEXSIZE" val="20"/>
  <p:tag name="IGUANATEXCURSOR" val="103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6.9629"/>
  <p:tag name="ORIGINALWIDTH" val="1928.759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où $ \cos(\theta_f) = \rtvector{u}_{C, F} \cdot \rtvector{n}_{C, F} = \frac{h_{CF}}{d_{CF}}$.\\&#10;Notez que $e_{C, F} \not\subset \partial D$.&#10;&#10;\end{document}"/>
  <p:tag name="IGUANATEXSIZE" val="20"/>
  <p:tag name="IGUANATEXCURSOR" val="1030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3.6446"/>
  <p:tag name="ORIGINALWIDTH" val="3345.332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Les sommes telles que $e_{C, F} \subset \partial V_c$ et $e_{C, F} = (C|F)$ \\&#10;sont restreintes aux arêtes intérieures, à l'interface du volume \\ de contrôle C et de ses premiers voisins de centre F. \\&#10;&#10;Les sommes telles que $e \; \subset \; \partial D \cap \partial V_C$ sont restreintes \\&#10;aux arêtes du bord $\partial D$.&#10;&#10;\end{document}"/>
  <p:tag name="IGUANATEXSIZE" val="20"/>
  <p:tag name="IGUANATEXCURSOR" val="122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07.6865"/>
  <p:tag name="ORIGINALWIDTH" val="4284.214"/>
  <p:tag name="OUTPUTTYPE" val="PNG"/>
  <p:tag name="IGUANATEXVERSION" val="161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ubsection*{Exercice:}&#10;Que devient l'équation discrétisée en tenant compte des conditions de Dirichlet?&#10;Pourquoi obtient-on dans le cas présent, un système d'équations linéaires ?&#10;\end{document}"/>
  <p:tag name="IGUANATEXSIZE" val="18"/>
  <p:tag name="IGUANATEXCURSOR" val="102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168.7289"/>
  <p:tag name="OUTPUTTYPE" val="PNG"/>
  <p:tag name="IGUANATEXVERSION" val="161"/>
  <p:tag name="LATEXADDIN" val="\documentclass{article}&#10;\usepackage{amsmath}&#10;\pagestyle{empty}&#10;\begin{document}&#10;&#10;&#10;$$&#10;\partial D&#10;$$&#10;&#10;\end{document}"/>
  <p:tag name="IGUANATEXSIZE" val="20"/>
  <p:tag name="IGUANATEXCURSOR" val="98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74.99063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 &#10;}&#10;$$&#10;&#10;&#10;\end{document}"/>
  <p:tag name="IGUANATEXSIZE" val="20"/>
  <p:tag name="IGUANATEXCURSOR" val="1077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15.2231"/>
  <p:tag name="OUTPUTTYPE" val="PNG"/>
  <p:tag name="IGUANATEXVERSION" val="161"/>
  <p:tag name="LATEXADDIN" val="\documentclass{article}&#10;\usepackage{amsmath}&#10;\pagestyle{empty}&#10;\begin{document}&#10;&#10;$\partial V_C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39.4826"/>
  <p:tag name="OUTPUTTYPE" val="PNG"/>
  <p:tag name="IGUANATEXVERSION" val="161"/>
  <p:tag name="LATEXADDIN" val="\documentclass{article}&#10;\usepackage{amsmath}&#10;\pagestyle{empty}&#10;\begin{document}&#10;&#10;$V_C$&#10;&#10;&#10;\end{document}"/>
  <p:tag name="IGUANATEXSIZE" val="20"/>
  <p:tag name="IGUANATEXCURSOR" val="8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10.3862"/>
  <p:tag name="ORIGINALWIDTH" val="5743.532"/>
  <p:tag name="OUTPUTTYPE" val="PNG"/>
  <p:tag name="IGUANATEXVERSION" val="160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xaminons le terme de gauche, en notant $ \cos(\theta_f) = \rtvector{u}_{C, F} \cdot \rtvector{n}_{C, F} = \frac{h_{CF}}{d_{CF}}$:&#10;$$&#10;\left(&#10;\sum_{\substack{e_{C, F} \subset \partial V_c &#10;\\ e_{C, F} = (C|F)}} &#10;\; \frac{K \; |e_{C, F}|}{d_{CF}} \cos(\theta_f) +&#10;\sum_{e \; \subset \; \partial D \cap \partial V_C}&#10;|e| \; h\;&#10;\right) \; T_C \;&#10;+&#10;\sum_{\substack{e_{C, F} \subset \partial V_c &#10;\\ e_{C, F} = (C|F)}} &#10;\; \frac{-K \; |e_{C, F}|}{d_{CF}} \cos(\theta_f) \; T_F =&#10;\sum_{P} \rttensor{M\!D}_{C\!P}\; T_P&#10;$$&#10;\end{document}"/>
  <p:tag name="IGUANATEXSIZE" val="20"/>
  <p:tag name="IGUANATEXCURSOR" val="152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514.4357"/>
  <p:tag name="OUTPUTTYPE" val="PNG"/>
  <p:tag name="IGUANATEXVERSION" val="160"/>
  <p:tag name="LATEXADDIN" val="\documentclass{article}&#10;\usepackage{amsmath}&#10;\pagestyle{empty}&#10;\begin{document}&#10;&#10;&#10;unité = a&#10;&#10;\end{document}"/>
  <p:tag name="IGUANATEXSIZE" val="16"/>
  <p:tag name="IGUANATEXCURSOR" val="9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0.4462"/>
  <p:tag name="ORIGINALWIDTH" val="5696.288"/>
  <p:tag name="OUTPUTTYPE" val="PNG"/>
  <p:tag name="IGUANATEXVERSION" val="160"/>
  <p:tag name="LATEXADDIN" val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où $\rttensor{M\!D}$ est la matrice de diffusion-convection, de dimensions $N \times N$, où $N$ est le nombre de cellules.&#10;&#10;Considérons le maillage ci-dessous formé de 4 cellules décrivant un solide interagissant avec un gaz par convection.&#10;\end{document}"/>
  <p:tag name="IGUANATEXSIZE" val="18"/>
  <p:tag name="IGUANATEXCURSOR" val="1074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0.4837"/>
  <p:tag name="ORIGINALWIDTH" val="344.207"/>
  <p:tag name="OUTPUTTYPE" val="PNG"/>
  <p:tag name="IGUANATEXVERSION" val="160"/>
  <p:tag name="LATEXADDIN" val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$\rttensor{M\!D}=$ &#10;\end{document}"/>
  <p:tag name="IGUANATEXSIZE" val="18"/>
  <p:tag name="IGUANATEXCURSOR" val="109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5.9805"/>
  <p:tag name="ORIGINALWIDTH" val="3362.58"/>
  <p:tag name="OUTPUTTYPE" val="PNG"/>
  <p:tag name="IGUANATEXVERSION" val="160"/>
  <p:tag name="LATEXADDIN" val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La matrice&#10;$\rttensor{M\!D}=$ est diagonale dominante et définie positive.&#10;\end{document}"/>
  <p:tag name="IGUANATEXSIZE" val="18"/>
  <p:tag name="IGUANATEXCURSOR" val="114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8.74394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/>
  <p:tag name="IGUANATEXSIZE" val="20"/>
  <p:tag name="IGUANATEXCURSOR" val="106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8.74394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/>
  <p:tag name="IGUANATEXSIZE" val="20"/>
  <p:tag name="IGUANATEXCURSOR" val="106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/>
  <p:tag name="IGUANATEXSIZE" val="20"/>
  <p:tag name="IGUANATEXCURSOR" val="1071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/>
  <p:tag name="IGUANATEXSIZE" val="20"/>
  <p:tag name="IGUANATEXCURSOR" val="1071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8.4252"/>
  <p:tag name="ORIGINALWIDTH" val="3820.022"/>
  <p:tag name="OUTPUTTYPE" val="PNG"/>
  <p:tag name="IGUANATEXVERSION" val="160"/>
  <p:tag name="LATEXADDIN" val="\documentclass{article}&#10;\usepackage{amsmath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Examinons le terme de droite, en notant $ \cos(\theta_f) = \rtvector{u}_{C, F} \cdot \rtvector{n}_{C, F} = \frac{h_{CF}}{d_{CF}}$:&#10;$$&#10;\rtvector{V\!D}=&#10;Q_C \; V_C \; +&#10;\sum_{e \; \subset \; \partial D \cap \partial V_C}&#10;|e| \; h\; T_a&#10;$$&#10;\end{document}"/>
  <p:tag name="IGUANATEXSIZE" val="20"/>
  <p:tag name="IGUANATEXCURSOR" val="1170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.48898"/>
  <p:tag name="ORIGINALWIDTH" val="514.4357"/>
  <p:tag name="OUTPUTTYPE" val="PNG"/>
  <p:tag name="IGUANATEXVERSION" val="160"/>
  <p:tag name="LATEXADDIN" val="\documentclass{article}&#10;\usepackage{amsmath}&#10;\pagestyle{empty}&#10;\begin{document}&#10;&#10;&#10;unité = a&#10;&#10;\end{document}"/>
  <p:tag name="IGUANATEXSIZE" val="16"/>
  <p:tag name="IGUANATEXCURSOR" val="9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9.715"/>
  <p:tag name="ORIGINALWIDTH" val="4809.149"/>
  <p:tag name="OUTPUTTYPE" val="PNG"/>
  <p:tag name="IGUANATEXVERSION" val="160"/>
  <p:tag name="LATEXADDIN" val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où $\rtvector{V\!D}$ est le vecteur source-convection, de dimension $N$, où $N$ est le nombre de cellules.&#10;&#10;Reprenons le même maillage que précédemment:&#10;\end{document}"/>
  <p:tag name="IGUANATEXSIZE" val="18"/>
  <p:tag name="IGUANATEXCURSOR" val="1227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310.4612"/>
  <p:tag name="OUTPUTTYPE" val="PNG"/>
  <p:tag name="IGUANATEXVERSION" val="160"/>
  <p:tag name="LATEXADDIN" val="\documentclass{article}&#10;\usepackage{amsmath}&#10;\usepackage{esint}&#10;\usepackage[paperwidth=23cm]{geometry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noindent&#10;$\rtvector{V\!D}=$ &#10;\end{document}"/>
  <p:tag name="IGUANATEXSIZE" val="18"/>
  <p:tag name="IGUANATEXCURSOR" val="108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8.74394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/>
  <p:tag name="IGUANATEXSIZE" val="20"/>
  <p:tag name="IGUANATEXCURSOR" val="106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48.74394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blue}&#10;$$&#10;e &#10;$$&#10;&#10;\end{document}"/>
  <p:tag name="IGUANATEXSIZE" val="20"/>
  <p:tag name="IGUANATEXCURSOR" val="1065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/>
  <p:tag name="IGUANATEXSIZE" val="20"/>
  <p:tag name="IGUANATEXCURSOR" val="1071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227.2216"/>
  <p:tag name="OUTPUTTYPE" val="PNG"/>
  <p:tag name="IGUANATEXVERSION" val="160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color{red}&#10;$$&#10;e_{C, F} &#10;$$&#10;&#10;\end{document}"/>
  <p:tag name="IGUANATEXSIZE" val="20"/>
  <p:tag name="IGUANATEXCURSOR" val="1071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62.355"/>
  <p:tag name="ORIGINALWIDTH" val="4338.208"/>
  <p:tag name="OUTPUTTYPE" val="PNG"/>
  <p:tag name="IGUANATEXVERSION" val="160"/>
  <p:tag name="LATEXADDIN" val="\documentclass{article}&#10;\usepackage{amsmath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{&#10;\section*{Effet de la régularité du maillage}&#10;&#10;Notez que les expressions des flux ont été construites avec deux approximations :&#10;\begin{itemize}&#10;  \item on a négligé la composante orthogonale au vecteur $\rtvector{CF}$ ;&#10;  \item on a approché le gradient au point $f$ avec un schéma différences finies qui est d'ordre plus élevé (2) si les deux noeuds sont equidistants du point $f$.&#10;\end{itemize}&#10;&#10;Par conséquent, &#10;\begin{itemize}&#10;\item l'utilisation de grilles orthogonales rend exacte \\la première approximation,  &#10;\item l'utilisation de grilles à pas fixe rend la deuxième \\approximation plus précise.&#10;\end{itemize}&#10;&#10;\noindent&#10;Pour un maillage non structuré, les expressions des flux deviennent de plus en plus approximatives :&#10;\begin{itemize}&#10;  \item au fur et à mesure que l'angle entre $\rtvector{CF}$ et $\rtvector{n}_{CF}$ grandit ;&#10;  \item avec l'augmentation de la différence de taille de maille entre cellules voisines. &#10;\end{itemize}&#10;&#10;}&#10;&#10;&#10;%Notez que les expressions des flux sont exactes dans&#10;%le cas d'une grille orthogonale même à pas variable.&#10;%Pour un maillage non structuré, &#10;%elles deviennent de plus en plus approximatives au fur&#10;%et à mesure que l'angle entre $\rtvector{CF}$ et $\rtvector{n}_{CF}$ grandit. &#10;\end{document}"/>
  <p:tag name="IGUANATEXSIZE" val="18"/>
  <p:tag name="IGUANATEXCURSOR" val="1609"/>
  <p:tag name="TRANSPARENCY" val="Vrai"/>
  <p:tag name="FILENAME" val=""/>
  <p:tag name="LATEXENGINEID" val="0"/>
  <p:tag name="TEMPFOLDER" val="c:\temp\"/>
  <p:tag name="LATEXFORMHEIGHT" val="661.2"/>
  <p:tag name="LATEXFORMWIDTH" val="996"/>
  <p:tag name="LATEXFORMWRAP" val="Vrai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3.6933"/>
  <p:tag name="ORIGINALWIDTH" val="3090.364"/>
  <p:tag name="OUTPUTTYPE" val="PNG"/>
  <p:tag name="IGUANATEXVERSION" val="160"/>
  <p:tag name="LATEXADDIN" val="\documentclass{article}&#10;\usepackage{amsmath}&#10;\usepackage{xcolor}&#10;\pagestyle{empty}&#10;\begin{document}&#10;&#10;\section*{Implémentation en Python}&#10;\subsection*{Arborescence d'un projet en volumes finis}&#10;&#10;\end{document}"/>
  <p:tag name="IGUANATEXSIZE" val="20"/>
  <p:tag name="IGUANATEXCURSOR" val="135"/>
  <p:tag name="TRANSPARENCY" val="Vrai"/>
  <p:tag name="FILENAME" val=""/>
  <p:tag name="LATEXENGINEID" val="0"/>
  <p:tag name="TEMPFOLDER" val="c:\temp\"/>
  <p:tag name="LATEXFORMHEIGHT" val="320"/>
  <p:tag name="LATEXFORMWIDTH" val="538.8"/>
  <p:tag name="LATEXFORMWRAP" val="Vrai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0.9487"/>
  <p:tag name="ORIGINALWIDTH" val="1913.761"/>
  <p:tag name="OUTPUTTYPE" val="PNG"/>
  <p:tag name="IGUANATEXVERSION" val="160"/>
  <p:tag name="LATEXADDIN" val="\documentclass{article}&#10;\usepackage{amsmath}&#10;\usepackage{xcolor}&#10;\pagestyle{empty}&#10;\begin{document}&#10;&#10;{\bf FV\_lib} contient la bibliothèque \\&#10;des fonctions communes à tous les \\&#10;projets volumes finis.&#10;&#10;&#10;\end{document}"/>
  <p:tag name="IGUANATEXSIZE" val="14"/>
  <p:tag name="IGUANATEXCURSOR" val="18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8.6802"/>
  <p:tag name="ORIGINALWIDTH" val="1908.511"/>
  <p:tag name="OUTPUTTYPE" val="PNG"/>
  <p:tag name="IGUANATEXVERSION" val="160"/>
  <p:tag name="LATEXADDIN" val="\documentclass{article}&#10;\usepackage{amsmath}&#10;\pagestyle{empty}&#10;\begin{document}&#10;&#10;{\bf n\_sim\_X} contient la géométrie, \\&#10; le maillage gmsh, et le programme \\ principal&#10;py\_FV\_main.py spécifique\\ à un problème donné.&#10;&#10;&#10;\end{document}"/>
  <p:tag name="IGUANATEXSIZE" val="14"/>
  <p:tag name="IGUANATEXCURSOR" val="19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3.967"/>
  <p:tag name="ORIGINALWIDTH" val="1353.581"/>
  <p:tag name="OUTPUTTYPE" val="PNG"/>
  <p:tag name="IGUANATEXVERSION" val="161"/>
  <p:tag name="LATEXADDIN" val="\documentclass{article}&#10;\usepackage{amsmath}&#10;\usepackage{xcolor}&#10;\pagestyle{empty}&#10;\begin{document}&#10;&#10;Autant de répertoires \\que de type d'équations.&#10;&#10;\end{document}"/>
  <p:tag name="IGUANATEXSIZE" val="14"/>
  <p:tag name="IGUANATEXCURSOR" val="101"/>
  <p:tag name="TRANSPARENCY" val="Vrai"/>
  <p:tag name="FILENAME" val=""/>
  <p:tag name="LATEXENGINEID" val="0"/>
  <p:tag name="TEMPFOLDER" val="c:\temp\"/>
  <p:tag name="LATEXFORMHEIGHT" val="320"/>
  <p:tag name="LATEXFORMWIDTH" val="538.8"/>
  <p:tag name="LATEXFORMWRAP" val="Vrai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166.104"/>
  <p:tag name="OUTPUTTYPE" val="PNG"/>
  <p:tag name="IGUANATEXVERSION" val="161"/>
  <p:tag name="LATEXADDIN" val="\documentclass{article}&#10;\usepackage{amsmath}&#10;\pagestyle{empty}&#10;\begin{document}&#10;&#10;script geo pour gmsh.&#10;&#10;&#10;\end{document}"/>
  <p:tag name="IGUANATEXSIZE" val="14"/>
  <p:tag name="IGUANATEXCURSOR" val="10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1.7173"/>
  <p:tag name="ORIGINALWIDTH" val="1262.842"/>
  <p:tag name="OUTPUTTYPE" val="PNG"/>
  <p:tag name="IGUANATEXVERSION" val="161"/>
  <p:tag name="LATEXADDIN" val="\documentclass{article}&#10;\usepackage{amsmath}&#10;\pagestyle{empty}&#10;\begin{document}&#10;&#10;\noindent&#10;maillage gmsh généré à \\&#10;partir d'un script geo.&#10;&#10;&#10;\end{document}"/>
  <p:tag name="IGUANATEXSIZE" val="14"/>
  <p:tag name="IGUANATEXCURSOR" val="9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8.4327"/>
  <p:tag name="ORIGINALWIDTH" val="2690.664"/>
  <p:tag name="OUTPUTTYPE" val="PNG"/>
  <p:tag name="IGUANATEXVERSION" val="160"/>
  <p:tag name="LATEXADDIN" val="\documentclass{article}&#10;\usepackage{amsmath}&#10;\usepackage[paperwidth=10cm]{geometry}&#10;\pagestyle{empty}&#10;\begin{document}&#10;&#10;Le programme principal implémente un solveur de diffusion thermique 2D utilisant la méthode des volumes finis avec support des conditions aux limites de Dirichlet et Robin.&#10;&#10;\end{document}"/>
  <p:tag name="IGUANATEXSIZE" val="18"/>
  <p:tag name="IGUANATEXCURSOR" val="7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13.161"/>
  <p:tag name="ORIGINALWIDTH" val="4602.925"/>
  <p:tag name="OUTPUTTYPE" val="PNG"/>
  <p:tag name="IGUANATEXVERSION" val="160"/>
  <p:tag name="LATEXADDIN" val="\documentclass{article}&#10;\usepackage{amsmath}&#10;\pagestyle{empty}&#10;\begin{document}&#10;&#10;&#10;\section*{Fonctions définies dans le programme py\_FV\_main.py}&#10;&#10;\begin{itemize}&#10;  \item \texttt{build\_diffusion\_matrix(cfd)} : Construit la matrice de diffusion creuse pour la méthode des volumes finis en calculant les coefficients entre cellules adjacentes.&#10;  \item \texttt{build\_source\_vector(cfd)} : Construit le vecteur source en multipliant les termes sources par la surface de chaque cellule.&#10;  \item \texttt{assign\_properties(cfd)} : Assigne les propriétés des matériaux (conductivité thermique $K$, source $Q$) aux différentes régions du maillage.&#10;  \item \texttt{assign\_BCs(cfd)} : Configure et assigne les conditions aux limites de Dirichlet et Robin aux différentes frontières du domaine.&#10;  \item \texttt{apply\_BCs\_to\_diffusion(cfd)} : Applique les conditions aux limites (Dirichlet et Robin) à la matrice de diffusion et au vecteur du membre de droite.&#10;  \item \texttt{solve\_linear\_system(cfd)} : Résout le système linéaire $M_D \, T = V_D + V_Q$ pour obtenir la solution de température.&#10;\end{itemize}&#10;&#10;&#10;&#10;&#10;\end{document}"/>
  <p:tag name="IGUANATEXSIZE" val="20"/>
  <p:tag name="IGUANATEXCURSOR" val="144"/>
  <p:tag name="TRANSPARENCY" val="Vrai"/>
  <p:tag name="FILENAME" val=""/>
  <p:tag name="LATEXENGINEID" val="0"/>
  <p:tag name="TEMPFOLDER" val="c:\temp\"/>
  <p:tag name="LATEXFORMHEIGHT" val="440.4"/>
  <p:tag name="LATEXFORMWIDTH" val="583.8"/>
  <p:tag name="LATEXFORMWRAP" val="Vrai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8.358"/>
  <p:tag name="ORIGINALWIDTH" val="4321.709"/>
  <p:tag name="OUTPUTTYPE" val="PNG"/>
  <p:tag name="IGUANATEXVERSION" val="160"/>
  <p:tag name="LATEXADDIN" val="\documentclass{article}&#10;\usepackage{amsmath}&#10;\pagestyle{empty}&#10;\begin{document}&#10;&#10;&#10;&#10;\section*{Fonctions de la bibliothèque FV\_lib}&#10;&#10;\begin{itemize}&#10;  \item \texttt{select\_file()} : Permet de sélectionner interactivement un fichier de maillage.&#10;  \item \texttt{read\_gmsh\_msh(cfd)} : Lit un fichier de maillage au format GMSH et remplit la structure CFD.&#10;  \item \texttt{charac\_mesh(cfd)} : Caractérise le maillage en calculant les propriétés géométriques.&#10;  \item \texttt{cutline(cfd, ...)} : Trace un profil de la solution le long d'une ligne définie.&#10;  \item \texttt{plot\_raw\_sol(cfd)} : Affiche la solution brute sur le maillage.&#10;  \item \texttt{plot\_smoothed\_sol(cfd)} : Affiche la solution lissée avec les isovaleurs.&#10;  \item \texttt{plot\_regions(cfd)} : Affiche les différentes régions du maillage.&#10;  \item \texttt{plot\_cells(cfd)} : Affiche les cellules du maillage.&#10;  \item \texttt{plot\_mesh\_extended(cfd)} : Affiche le maillage complet avec numérotation et normales.&#10;\end{itemize}&#10;&#10;\end{document}"/>
  <p:tag name="IGUANATEXSIZE" val="20"/>
  <p:tag name="IGUANATEXCURSOR" val="1001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74.391"/>
  <p:tag name="ORIGINALWIDTH" val="4289.464"/>
  <p:tag name="OUTPUTTYPE" val="PNG"/>
  <p:tag name="IGUANATEXVERSION" val="161"/>
  <p:tag name="LATEXADDIN" val="\documentclass{article}&#10;\usepackage{amsmath}&#10;\usepackage{xcolor}&#10;\pagestyle{empty}&#10;\begin{document}&#10;&#10;\subsection*{Structure de données}&#10;&#10;La structure {\bf cfd} contient toutes les données et résultats de la simulation&#10;par volumes finis. Elle contient la liste des cellules, celle des segments&#10;intérieurs, celle des segments de la frontière&#10;extérieure.&#10;&#10;\begin{itemize}&#10;\item {\bf cfd.cell(nvc)} (cellules) contient les données membres :&#10;      \begin{itemize}&#10;      \item nrg : le numéro de la région surfacique&#10;      \item C : les coordonnées du centre de la cellule&#10;      \item S : la surface de la cellule&#10;      \item nedge : la liste des numéros des arêtes&#10;      \end{itemize}&#10;\item {\bf cfd.edge(nseg)} (segments intérieurs) contient :&#10;      \begin{itemize}&#10;      \item f : les coordonnées du point milieu&#10;      \item own : numéro de la cellule à laquelle le segment est attaché&#10;      \item ngh : numéro de la cellule $ngh$ voisine de $own$. Notez que \textcolor{red}{$ngh&gt;own$}. &#10;      \item normal : vecteur normal au segment \textcolor{red}{toujours dirigé de $own$ vers $ngh$}&#10;      \end{itemize}&#10;\end{itemize}&#10;&#10;&#10;&#10;&#10;\end{document}"/>
  <p:tag name="IGUANATEXSIZE" val="20"/>
  <p:tag name="IGUANATEXCURSOR" val="100"/>
  <p:tag name="TRANSPARENCY" val="Vrai"/>
  <p:tag name="FILENAME" val=""/>
  <p:tag name="LATEXENGINEID" val="0"/>
  <p:tag name="TEMPFOLDER" val="c:\temp\"/>
  <p:tag name="LATEXFORMHEIGHT" val="320"/>
  <p:tag name="LATEXFORMWIDTH" val="538.8"/>
  <p:tag name="LATEXFORMWRAP" val="Vrai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4672"/>
  <p:tag name="ORIGINALWIDTH" val="1751.781"/>
  <p:tag name="OUTPUTTYPE" val="PNG"/>
  <p:tag name="IGUANATEXVERSION" val="161"/>
  <p:tag name="LATEXADDIN" val="\documentclass{article}&#10;\usepackage{amsmath}&#10;\usepackage{xcolor}&#10;\pagestyle{empty}&#10;\begin{document}&#10;&#10;\textcolor{red}{&#10;\noindent Un seul segment à l'interface\\ de deux cellules adjacentes}&#10;&#10;&#10;\end{document}"/>
  <p:tag name="IGUANATEXSIZE" val="20"/>
  <p:tag name="IGUANATEXCURSOR" val="12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10.236"/>
  <p:tag name="ORIGINALWIDTH" val="4287.214"/>
  <p:tag name="OUTPUTTYPE" val="PNG"/>
  <p:tag name="IGUANATEXVERSION" val="161"/>
  <p:tag name="LATEXADDIN" val="\documentclass{article}&#10;\usepackage{amsmath}&#10;\pagestyle{empty}&#10;\begin{document}&#10;&#10;\subsection*{Structure de données (suite)}&#10;&#10;La structure {\bf cfd} contient aussi la liste des segments de la frontière&#10;extérieure.&#10;&#10;\begin{itemize}&#10;\item {\bf cfd.bnd\_edge(nbnd)} (segments sur $\partial D$) contient les données membres :&#10;      \begin{itemize}&#10;      \item nrg : numéro de région&#10;      \item f : les coordonnées du point milieu&#10;      \item own : numéro de la cellule à laquelle le segment est attaché &#10;      \item normal : vecteur normal au segment toujours dirigé vers l'extérieur&#10;      \end{itemize}&#10;\item {\bf cfd} contient le vecteur solution :&#10;      \begin{itemize}&#10;      \item T(nvc) : valeur de l'inconnue après résolution, au centre de chaque cellule nvc.&#10;      \end{itemize}&#10;\end{itemize}&#10;&#10;&#10;&#10;&#10;\end{document}"/>
  <p:tag name="IGUANATEXSIZE" val="20"/>
  <p:tag name="IGUANATEXCURSOR" val="646"/>
  <p:tag name="TRANSPARENCY" val="Vrai"/>
  <p:tag name="FILENAME" val=""/>
  <p:tag name="LATEXENGINEID" val="0"/>
  <p:tag name="TEMPFOLDER" val="c:\temp\"/>
  <p:tag name="LATEXFORMHEIGHT" val="438"/>
  <p:tag name="LATEXFORMWIDTH" val="538.8"/>
  <p:tag name="LATEXFORMWRAP" val="Vrai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169.4788"/>
  <p:tag name="OUTPUTTYPE" val="PNG"/>
  <p:tag name="IGUANATEXVERSION" val="161"/>
  <p:tag name="LATEXADDIN" val="\documentclass{article}&#10;\usepackage{amsmath}&#10;\pagestyle{empty}&#10;\begin{document}&#10;&#10;$\partial D$&#10;&#10;&#10;\end{document}"/>
  <p:tag name="IGUANATEXSIZE" val="20"/>
  <p:tag name="IGUANATEXCURSOR" val="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03.2246"/>
  <p:tag name="OUTPUTTYPE" val="PNG"/>
  <p:tag name="IGUANATEXVERSION" val="161"/>
  <p:tag name="LATEXADDIN" val="\documentclass{article}&#10;\usepackage{amsmath}&#10;\pagestyle{empty}&#10;\begin{document}&#10;&#10;&#10;$e_{CF}$&#10;&#10;\end{document}"/>
  <p:tag name="IGUANATEXSIZE" val="20"/>
  <p:tag name="IGUANATEXCURSOR" val="8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169.4788"/>
  <p:tag name="OUTPUTTYPE" val="PNG"/>
  <p:tag name="IGUANATEXVERSION" val="161"/>
  <p:tag name="LATEXADDIN" val="\documentclass{article}&#10;\usepackage{amsmath}&#10;\pagestyle{empty}&#10;\begin{document}&#10;&#10;$\partial D$&#10;&#10;&#10;\end{document}"/>
  <p:tag name="IGUANATEXSIZE" val="20"/>
  <p:tag name="IGUANATEXCURSOR" val="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03.2246"/>
  <p:tag name="OUTPUTTYPE" val="PNG"/>
  <p:tag name="IGUANATEXVERSION" val="161"/>
  <p:tag name="LATEXADDIN" val="\documentclass{article}&#10;\usepackage{amsmath}&#10;\pagestyle{empty}&#10;\begin{document}&#10;&#10;&#10;$e_{CF}$&#10;&#10;\end{document}"/>
  <p:tag name="IGUANATEXSIZE" val="20"/>
  <p:tag name="IGUANATEXCURSOR" val="8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1.305"/>
  <p:tag name="ORIGINALWIDTH" val="2670.416"/>
  <p:tag name="OUTPUTTYPE" val="PNG"/>
  <p:tag name="IGUANATEXVERSION" val="160"/>
  <p:tag name="LATEXADDIN" val="\documentclass{article}&#10;\usepackage{amsmath}&#10;\pagestyle{empty}&#10;\begin{document}&#10;&#10;\subsection*{Caractéristiques d'un maillage}&#10;&#10;Prenons le cas du maillage à 4 cellules précédent:&#10;\begin{itemize}&#10;\item Pour sélectionner le maillage : \\  cfd.mesh\_name = select\_file()&#10;\item Pour lire le maillage :\\cfd = read\_gmsh\_msh(cfd)&#10;\item Pour afficher les régions physiques : \\ print\_regions(cfd)&#10;\end{itemize}&#10;\end{document}"/>
  <p:tag name="IGUANATEXSIZE" val="20"/>
  <p:tag name="IGUANATEXCURSOR" val="260"/>
  <p:tag name="TRANSPARENCY" val="Vrai"/>
  <p:tag name="FILENAME" val=""/>
  <p:tag name="LATEXENGINEID" val="0"/>
  <p:tag name="TEMPFOLDER" val="c:\temp\"/>
  <p:tag name="LATEXFORMHEIGHT" val="320"/>
  <p:tag name="LATEXFORMWIDTH" val="501"/>
  <p:tag name="LATEXFORMWRAP" val="Vrai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8.4665"/>
  <p:tag name="ORIGINALWIDTH" val="3477.315"/>
  <p:tag name="OUTPUTTYPE" val="PNG"/>
  <p:tag name="IGUANATEXVERSION" val="161"/>
  <p:tag name="LATEXADDIN" val="\documentclass{article}&#10;\usepackage{amsmath}&#10;\pagestyle{empty}&#10;\begin{document}&#10;&#10;\begin{itemize}&#10;\item Pour afficher les caractéristiques des cellules et des segments : \\ charac\_mesh(cfd);&#10;\end{itemize}&#10;\end{document}"/>
  <p:tag name="IGUANATEXSIZE" val="20"/>
  <p:tag name="IGUANATEXCURSOR" val="178"/>
  <p:tag name="TRANSPARENCY" val="Vrai"/>
  <p:tag name="FILENAME" val=""/>
  <p:tag name="LATEXENGINEID" val="0"/>
  <p:tag name="TEMPFOLDER" val="c:\temp\"/>
  <p:tag name="LATEXFORMHEIGHT" val="320"/>
  <p:tag name="LATEXFORMWIDTH" val="501"/>
  <p:tag name="LATEXFORMWRAP" val="Vrai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.2385"/>
  <p:tag name="ORIGINALWIDTH" val="169.4788"/>
  <p:tag name="OUTPUTTYPE" val="PNG"/>
  <p:tag name="IGUANATEXVERSION" val="161"/>
  <p:tag name="LATEXADDIN" val="\documentclass{article}&#10;\usepackage{amsmath}&#10;\pagestyle{empty}&#10;\begin{document}&#10;&#10;$\partial D$&#10;&#10;&#10;\end{document}"/>
  <p:tag name="IGUANATEXSIZE" val="20"/>
  <p:tag name="IGUANATEXCURSOR" val="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203.2246"/>
  <p:tag name="OUTPUTTYPE" val="PNG"/>
  <p:tag name="IGUANATEXVERSION" val="161"/>
  <p:tag name="LATEXADDIN" val="\documentclass{article}&#10;\usepackage{amsmath}&#10;\pagestyle{empty}&#10;\begin{document}&#10;&#10;&#10;$e_{CF}$&#10;&#10;\end{document}"/>
  <p:tag name="IGUANATEXSIZE" val="20"/>
  <p:tag name="IGUANATEXCURSOR" val="89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606.6742"/>
  <p:tag name="OUTPUTTYPE" val="PNG"/>
  <p:tag name="IGUANATEXVERSION" val="161"/>
  <p:tag name="LATEXADDIN" val="\documentclass{article}&#10;\usepackage{amsmath}&#10;\usepackage{xcolor}&#10;\pagestyle{empty}&#10;\begin{document}&#10;&#10;${\color{red} \text{edge} \in \text{own} }$&#10;&#10;&#10;\end{document}"/>
  <p:tag name="IGUANATEXSIZE" val="20"/>
  <p:tag name="IGUANATEXCURSOR" val="14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0.1913"/>
  <p:tag name="OUTPUTTYPE" val="PNG"/>
  <p:tag name="IGUANATEXVERSION" val="160"/>
  <p:tag name="LATEXADDIN" val="\documentclass{article}&#10;\usepackage{amsmath}&#10;\pagestyle{empty}&#10;\begin{document}&#10;&#10;$nseg=1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5.4406"/>
  <p:tag name="OUTPUTTYPE" val="PNG"/>
  <p:tag name="IGUANATEXVERSION" val="160"/>
  <p:tag name="LATEXADDIN" val="\documentclass{article}&#10;\usepackage{amsmath}&#10;\pagestyle{empty}&#10;\begin{document}&#10;&#10;$nseg=0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3.9408"/>
  <p:tag name="OUTPUTTYPE" val="PNG"/>
  <p:tag name="IGUANATEXVERSION" val="160"/>
  <p:tag name="LATEXADDIN" val="\documentclass{article}&#10;\usepackage{amsmath}&#10;\pagestyle{empty}&#10;\begin{document}&#10;&#10;$nseg=2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4.6906"/>
  <p:tag name="OUTPUTTYPE" val="PNG"/>
  <p:tag name="IGUANATEXVERSION" val="160"/>
  <p:tag name="LATEXADDIN" val="\documentclass{article}&#10;\usepackage{amsmath}&#10;\pagestyle{empty}&#10;\begin{document}&#10;&#10;$nseg=3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.8774"/>
  <p:tag name="ORIGINALWIDTH" val="4287.964"/>
  <p:tag name="OUTPUTTYPE" val="PNG"/>
  <p:tag name="IGUANATEXVERSION" val="161"/>
  <p:tag name="LATEXADDIN" val="\documentclass{article}&#10;\usepackage{amsmath}&#10;\pagestyle{empty}&#10;\begin{document}&#10;&#10;\subsection*{&#10;WARNING : conséquences du stockage optimisé des bords intérieurs}&#10;&#10;La méthode de stockage minimise la taille mémoire prise par le stockage des bords intérieurs en supprimant&#10;l'un des deux bords de deux cellules en contact.&#10;&#10;Par contre, il ne faudra pas oublier de reconstruire le bord non stocké lors de l'implémentation de la matrice de diffusion par exemple.&#10;&#10;\end{document}"/>
  <p:tag name="IGUANATEXSIZE" val="20"/>
  <p:tag name="IGUANATEXCURSOR" val="391"/>
  <p:tag name="TRANSPARENCY" val="Vrai"/>
  <p:tag name="FILENAME" val=""/>
  <p:tag name="LATEXENGINEID" val="0"/>
  <p:tag name="TEMPFOLDER" val="c:\temp\"/>
  <p:tag name="LATEXFORMHEIGHT" val="320"/>
  <p:tag name="LATEXFORMWIDTH" val="592.8"/>
  <p:tag name="LATEXFORMWRAP" val="Vrai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0.1913"/>
  <p:tag name="OUTPUTTYPE" val="PNG"/>
  <p:tag name="IGUANATEXVERSION" val="160"/>
  <p:tag name="LATEXADDIN" val="\documentclass{article}&#10;\usepackage{amsmath}&#10;\pagestyle{empty}&#10;\begin{document}&#10;&#10;$nseg=1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5.4406"/>
  <p:tag name="OUTPUTTYPE" val="PNG"/>
  <p:tag name="IGUANATEXVERSION" val="160"/>
  <p:tag name="LATEXADDIN" val="\documentclass{article}&#10;\usepackage{amsmath}&#10;\pagestyle{empty}&#10;\begin{document}&#10;&#10;$nseg=0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3.9408"/>
  <p:tag name="OUTPUTTYPE" val="PNG"/>
  <p:tag name="IGUANATEXVERSION" val="160"/>
  <p:tag name="LATEXADDIN" val="\documentclass{article}&#10;\usepackage{amsmath}&#10;\pagestyle{empty}&#10;\begin{document}&#10;&#10;$nseg=2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.9865"/>
  <p:tag name="ORIGINALWIDTH" val="474.6906"/>
  <p:tag name="OUTPUTTYPE" val="PNG"/>
  <p:tag name="IGUANATEXVERSION" val="160"/>
  <p:tag name="LATEXADDIN" val="\documentclass{article}&#10;\usepackage{amsmath}&#10;\pagestyle{empty}&#10;\begin{document}&#10;&#10;$nseg=3$&#10;&#10;&#10;\end{document}"/>
  <p:tag name="IGUANATEXSIZE" val="16"/>
  <p:tag name="IGUANATEXCURSOR" val="88"/>
  <p:tag name="TRANSPARENCY" val="Faux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0.847"/>
  <p:tag name="ORIGINALWIDTH" val="4294.713"/>
  <p:tag name="OUTPUTTYPE" val="PNG"/>
  <p:tag name="IGUANATEXVERSION" val="161"/>
  <p:tag name="LATEXADDIN" val="\documentclass{article}&#10;\usepackage{amsmath}&#10;\usepackage{algorithm}&#10;\usepackage{algpseudocode}&#10;&#10;\begin{document}&#10;&#10;\setcounter{algorithm}{1}&#10;\begin{algorithm}&#10;\caption{Assemblage de la matrice de diffusion pour les arêtes internes}&#10;\begin{algorithmic}[1]&#10;\State $NV \gets$ nombre de cellules&#10;\State Initialiser la matrice creuse $M\!D \text{\; de dimensions} {NV \times NV}$ à zéro&#10;\For{chaque segment intérieur $e$ dans \texttt{cfd.edge}}&#10;    \State $own \gets$ numéro de la cellule propriétaire&#10;    \State $ngh \gets$ numéro de la cellule voisine&#10;    \State $K_{\text{own}} \gets$ conductivité de la cellule propriétaire $own$&#10;    \State $K_{\text{ngh}} \gets$ conductivité de la cellule voisine $ngh$&#10;    &#10;    \State $C \gets$ centre de la cellule $own$&#10;    \State $F \gets$ centre de la cellule $ngh$&#10;    \State $f \gets$ point milieu du segment $e$&#10;    \State $n \gets$ vecteur normal au segment&#10;    \State $d_{CF} \gets |F - C|$&#10;    \State $h_{CF} \gets |(F - C) \cdot n|$ \Comment{Distance projetée entre centres le long de $n$}&#10;    \State $h_{Cf} \gets |(f - C) \cdot n|$ \Comment{Distance projetée entre point milieu et centre C}&#10;    \State $h_{fF} \gets h_{CF} - h_{Cf}$  \Comment{Distance projetée entre point milieu et centre F}&#10;    &#10;    \State $K_{\text{eff}} \gets \dfrac{h_{CF}}{h_{Cf}/K_{\text{own}} + h_{fF}/K_{\text{ngh}}}$ \Comment{Conductivité effective harmonique}&#10;&#10;    \State $D \gets K_{\text{eff}} \cdot \dfrac{|e|}{d_{CF}} \cdot \dfrac{h_{CF}}{d_{CF}}$&#10;&#10;    \State $M\!D[own, own] \mathrel{+}= D$&#10;    \State $M\!D[own, ngh] \mathrel{-}= D$&#10;&#10;    \State $M\!D[ngh, ngh] \mathrel{+}= D$&#10;    \State $M\!D[ngh, own] \mathrel{-}= D$&#10;\EndFor&#10;\end{algorithmic}&#10;\end{algorithm}&#10;&#10;\end{document}&#10;"/>
  <p:tag name="IGUANATEXSIZE" val="18"/>
  <p:tag name="IGUANATEXCURSOR" val="1357"/>
  <p:tag name="TRANSPARENCY" val="Vrai"/>
  <p:tag name="FILENAME" val=""/>
  <p:tag name="LATEXENGINEID" val="0"/>
  <p:tag name="TEMPFOLDER" val="c:\temp\"/>
  <p:tag name="LATEXFORMHEIGHT" val="420.6"/>
  <p:tag name="LATEXFORMWIDTH" val="634.2"/>
  <p:tag name="LATEXFORMWRAP" val="Vrai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6.6742"/>
  <p:tag name="ORIGINALWIDTH" val="3896.513"/>
  <p:tag name="OUTPUTTYPE" val="PNG"/>
  <p:tag name="IGUANATEXVERSION" val="161"/>
  <p:tag name="LATEXADDIN" val="\documentclass{article}&#10;\usepackage{amsmath}&#10;\pagestyle{empty}&#10;\begin{document}&#10;&#10;Exercice : &#10;\begin{enumerate}&#10;    \item Comprendre l'algorithme et retrouver les expressions mathématiques&#10;    \item Complémenter la fonction \texttt{build\_diffusion\_matrix}&#10;\end{enumerate}&#10;&#10;&#10;\end{document}"/>
  <p:tag name="IGUANATEXSIZE" val="16"/>
  <p:tag name="IGUANATEXCURSOR" val="92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9.4863"/>
  <p:tag name="ORIGINALWIDTH" val="248.9689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$$\textcolor{red}{&#10;\rtvector{n}_{C, F} &#10;}&#10;$$&#10;&#10;&#10;\end{document}"/>
  <p:tag name="IGUANATEXSIZE" val="20"/>
  <p:tag name="IGUANATEXCURSOR" val="8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220.847"/>
  <p:tag name="ORIGINALWIDTH" val="4294.713"/>
  <p:tag name="OUTPUTTYPE" val="PNG"/>
  <p:tag name="IGUANATEXVERSION" val="161"/>
  <p:tag name="LATEXADDIN" val="\documentclass{article}&#10;\usepackage{amsmath}&#10;\usepackage{algorithm}&#10;\usepackage{algpseudocode}&#10;&#10;\begin{document}&#10;&#10;\setcounter{algorithm}{2}&#10;\begin{algorithm}&#10;\caption{Traitement des conditions aux limites}&#10;\begin{algorithmic}[1]&#10;\State $NV \gets$ nombre de cellules&#10;\State Initialiser $V\!D[i] \gets 0$ pour $i = 1$ à $NV$&#10;\For{chaque arête de bord $e$ dans \texttt{cfd.bnd\_edge}}&#10;    \State $reg \gets e.nrg$&#10;    \State $name \gets$ nom de la région physique associée à $reg$&#10;    \State $own \gets$ numéro de la cellule adjacente à l’arête&#10;    \State $C \gets$ coordonnées du centre de la cellule $own$&#10;    \State $f \gets$ coordonnées du point milieu de l’arête&#10;    \State $normal \gets$ vecteur normal à la face&#10;    \State $d_{Cf} \gets |f - C|$&#10;    \State $h_{Cf} \gets |(f - C) \cdot \text{normal}|$ \Comment{distance projetée selon la normale}&#10;    \If{$name$ est une région linéique de Dirichlet}&#10;        &#10;        \State $value \gets$ température de dirichlet&#10;        \State $nrg \gets$ région de la cellule $own$&#10;        \State $K \gets$ conductivité thermique pour la région $nrg$&#10;        \State $M\!D[own, own] \mathrel{+}= K \cdot \dfrac{|e|}{d_{Cf}} \cdot \dfrac{h_{Cf}}{d_{Cf}}$&#10;        \State $V\!D[own] \mathrel{+}= K \cdot \dfrac{|e|}{d_{Cf}} \cdot \dfrac{h_{Cf}}{d_{Cf}} \cdot value$&#10;    \EndIf&#10;&#10;    \If{$name$ est une région linéique de Neuman}&#10;        \State $h_{cv} \gets$ coefficient d'échange thermique&#10;        \State $T_a \gets$ température ambiante&#10;        \State $M\!D[own, own] \mathrel{+}= |e| \cdot h_{cv}$&#10;        \State $V\!D[own] \mathrel{+}= |e| \cdot h_{cv} \cdot T_a$&#10;    \EndIf&#10;\EndFor&#10;\end{algorithmic}&#10;\end{algorithm}&#10;&#10;\end{document}&#10;"/>
  <p:tag name="IGUANATEXSIZE" val="16"/>
  <p:tag name="IGUANATEXCURSOR" val="138"/>
  <p:tag name="TRANSPARENCY" val="Vrai"/>
  <p:tag name="FILENAME" val=""/>
  <p:tag name="LATEXENGINEID" val="0"/>
  <p:tag name="TEMPFOLDER" val="c:\temp\"/>
  <p:tag name="LATEXFORMHEIGHT" val="419.4"/>
  <p:tag name="LATEXFORMWIDTH" val="630.6"/>
  <p:tag name="LATEXFORMWRAP" val="Vrai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212.9734"/>
  <p:tag name="OUTPUTTYPE" val="PNG"/>
  <p:tag name="IGUANATEXVERSION" val="161"/>
  <p:tag name="LATEXADDIN" val="\documentclass{article}&#10;\usepackage{amsmath}&#10;\pagestyle{empty}&#10;\begin{document}&#10;&#10;own&#10;&#10;&#10;\end{document}"/>
  <p:tag name="IGUANATEXSIZE" val="3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99291"/>
  <p:tag name="ORIGINALWIDTH" val="212.9734"/>
  <p:tag name="OUTPUTTYPE" val="PNG"/>
  <p:tag name="IGUANATEXVERSION" val="161"/>
  <p:tag name="LATEXADDIN" val="\documentclass{article}&#10;\usepackage{amsmath}&#10;\pagestyle{empty}&#10;\begin{document}&#10;&#10;own&#10;&#10;&#10;\end{document}"/>
  <p:tag name="IGUANATEXSIZE" val="3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1.1736"/>
  <p:tag name="ORIGINALWIDTH" val="3703.787"/>
  <p:tag name="OUTPUTTYPE" val="PNG"/>
  <p:tag name="IGUANATEXVERSION" val="161"/>
  <p:tag name="LATEXADDIN" val="\documentclass{article}&#10;\usepackage{amsmath}&#10;\pagestyle{empty}&#10;\begin{document}&#10;&#10;Exercice : &#10;\begin{enumerate}&#10;    \item Analyser l'algorithme et retrouver les expressions mathématiques&#10;    \item Complémenter la fonction \texttt{apply\_BCs\_to\_diffusion}&#10;\end{enumerate}&#10;&#10;&#10;\end{document}"/>
  <p:tag name="IGUANATEXSIZE" val="16"/>
  <p:tag name="IGUANATEXCURSOR" val="147"/>
  <p:tag name="TRANSPARENCY" val="Vrai"/>
  <p:tag name="FILENAME" val=""/>
  <p:tag name="LATEXENGINEID" val="0"/>
  <p:tag name="TEMPFOLDER" val="c:\temp\"/>
  <p:tag name="LATEXFORMHEIGHT" val="320"/>
  <p:tag name="LATEXFORMWIDTH" val="519.6"/>
  <p:tag name="LATEXFORMWRAP" val="Vrai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1.7361"/>
  <p:tag name="ORIGINALWIDTH" val="1321.335"/>
  <p:tag name="OUTPUTTYPE" val="PNG"/>
  <p:tag name="IGUANATEXVERSION" val="161"/>
  <p:tag name="LATEXADDIN" val="\documentclass{article}&#10;\usepackage{amsmath}&#10;\usepackage{esint}&#10;\usepackage{xcolor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textcolor{red}{Gaz à la température $T_a$}&#10;&#10;&#10;\end{document}"/>
  <p:tag name="IGUANATEXSIZE" val="20"/>
  <p:tag name="IGUANATEXCURSOR" val="1089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2.9846"/>
  <p:tag name="ORIGINALWIDTH" val="195.7255"/>
  <p:tag name="OUTPUTTYPE" val="PNG"/>
  <p:tag name="IGUANATEXVERSION" val="161"/>
  <p:tag name="LATEXADDIN" val="\documentclass{article}&#10;\usepackage{amsmath}&#10;\pagestyle{empty}&#10;\begin{document}&#10;&#10;&#10;$h_{Cf}$&#10;&#10;\end{document}"/>
  <p:tag name="IGUANATEXSIZE" val="20"/>
  <p:tag name="IGUANATEXCURSOR" val="84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370.079"/>
  <p:tag name="ORIGINALWIDTH" val="4490.439"/>
  <p:tag name="OUTPUTTYPE" val="PNG"/>
  <p:tag name="IGUANATEXVERSION" val="161"/>
  <p:tag name="LATEXADDIN" val="\documentclass{article}&#10;\usepackage{amsmath}&#10;\pagestyle{empty}&#10;\begin{document}&#10;&#10;&#10;\subsection*{Application}&#10;&#10;Le but de l’exercice est de déterminer la distribution de température à l’équilibre dans un système formé de plusieurs matériaux de conductivités thermiques différentes. On place une source de chaleur dans&#10;la région centrale. La surface extérieure est en contact soit avec un liquide soit avec un gaz.&#10;&#10;Les maillages à notre disposition, ont été générés&#10;par gmsh (mailleur éléments finis) à partir des scripts geo :&#10;\begin{itemize}&#10;\item cyl\_square\_triXXX.msh : maillage purement triangulaire.&#10;\item cyl\_square\_quadXXX.msh : maillage purement à base de quadrangles.&#10;\item cyl\_square\_mixXXX.msh : maillage mixte à base de triangles et de quadrangles.&#10;\end{itemize}&#10;&#10;\begin{itemize}&#10;\item Etudier la dépendance de la température au centre du système en fonction du maillage utilisé et en fonction de la prise en compte ou non de la correction de &quot;cross-diffusion&quot;.&#10;\item Ecrire une fonction &quot;average&quot; calculant la température moyenne sur l'ensemble du système.&#10;\item Ecrire une fonction &quot;flux&quot; pour calculer par une méthode intégrale, le flux de chaleur convectif et comparer avec sa valeur théorique. &#10;\end{itemize}&#10;\end{document}"/>
  <p:tag name="IGUANATEXSIZE" val="18"/>
  <p:tag name="IGUANATEXCURSOR" val="1080"/>
  <p:tag name="TRANSPARENCY" val="Vrai"/>
  <p:tag name="FILENAME" val=""/>
  <p:tag name="LATEXENGINEID" val="0"/>
  <p:tag name="TEMPFOLDER" val="c:\temp\"/>
  <p:tag name="LATEXFORMHEIGHT" val="320"/>
  <p:tag name="LATEXFORMWIDTH" val="385"/>
  <p:tag name="LATEXFORMWRAP" val="Vrai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8.1439"/>
  <p:tag name="ORIGINALWIDTH" val="4135.733"/>
  <p:tag name="OUTPUTTYPE" val="PNG"/>
  <p:tag name="IGUANATEXVERSION" val="161"/>
  <p:tag name="LATEXADDIN" val="\documentclass{article}&#10;\usepackage{amsmath}&#10;\usepackage{xcolor}&#10;\usepackage{esint}&#10;\pagestyle{empty}&#10;\begin{document}&#10;&#10;\newcommand{\gv}[1]{\ensuremath{\mbox{\boldmath$ #1 $}}} &#10;%\newcommand{\grad}[1]{\gv{\nabla} #1} % for gradient&#10;\let\divsymb=\div % rename builtin command \div to \divsymb&#10;%\renewcommand{\div}[1]{\gv{\nabla} \cdot #1} % for divergence&#10;&#10;%\newcommand{\grad}[1]{\mathbf{\mathrm{grad}} #1} % for gradient&#10;\newcommand{\grad}{\mathrm{grad} } % for gradient&#10;\renewcommand{\div}{\mathrm{div}} % for divergence&#10;\newcommand{\Tr}{\mathrm{Tr\; } } % for gradient&#10;&#10;\newcommand{\curl}[1]{\gv{\nabla} \times \bf{#1}\rm} % for curl&#10;\let\baraccent=\= % rename builtin command \= to \baraccent&#10;&#10;\newcommand*{\rtvector}[1]{\overline{#1}}&#10;\newcommand*{\rttensor}[1]{\overline{\overline{#1}}}&#10;\newcommand*{\rttensorthree}[1]{\overline{\overline{\overline{#1}}}}&#10;&#10;\newcommand*{\rttensortwo}[1]{\bar{\bar{#1}}}&#10;\newcommand{\tensorm}{%&#10;% Uncomment below to adjust the gap between the dots&#10;\setstackgap{S}{0.3ex}%&#10;\mathrel{\Shortstack{{.} {.} {.}}}}&#10;&#10;\section*{Comparaison des résultats FV et FEM}&#10;On traite le projet {\tt 3\_sim\_cyl\_square\_v1} avec le maillage triangulaire\\&#10;{\tt cylsquare\_tri2023.msh} avec 2023 noeuds.&#10;&#10;Exercice : identifier les conditions aux limites et les propriétés physiques \\ utilisées&#10;dans ce modèle.&#10;&#10;\end{document}"/>
  <p:tag name="IGUANATEXSIZE" val="20"/>
  <p:tag name="IGUANATEXCURSOR" val="1303"/>
  <p:tag name="TRANSPARENCY" val="Vrai"/>
  <p:tag name="FILENAME" val=""/>
  <p:tag name="LATEXENGINEID" val="0"/>
  <p:tag name="TEMPFOLDER" val="c:\temp\"/>
  <p:tag name="LATEXFORMHEIGHT" val="414.6"/>
  <p:tag name="LATEXFORMWIDTH" val="569.4"/>
  <p:tag name="LATEXFORMWRAP" val="Vrai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09.974"/>
  <p:tag name="ORIGINALWIDTH" val="4394.451"/>
  <p:tag name="OUTPUTTYPE" val="PNG"/>
  <p:tag name="IGUANATEXVERSION" val="161"/>
  <p:tag name="LATEXADDIN" val="\documentclass{article}&#10;\usepackage{amsmath}&#10;\pagestyle{empty}&#10;\begin{document}&#10;&#10;&#10;\subsection*{Calcul du flux thermique:}&#10;&#10;Exercice : &#10;\begin{itemize}&#10;\item Développer une fonction {\tt flux} qui calcule le flux thermique&#10;dissipé par convection :&#10;&#10;$$&#10;q = \int_{\partial D} dl \; h\; (T-T_a) \approx&#10;\sum_{e \; \subset \; \partial D \cap \partial V_C}&#10;|e| \; h\; (T_C-T_a)&#10;$$&#10;&#10;Examiner la fonction {\tt apply\_BCs\_to\_diffusion(cfd)} pour comprendre comment récupérer&#10;les valeurs du coefficient d'échange $h$ et de la température ambiante, stockées dans le dictionnaire {\tt cfd.neuman\_map}.&#10;&#10;\item Comparer cette valeur à celle attendue théoriquement en régime permanent.&#10;\end{itemize}&#10;\end{document}"/>
  <p:tag name="IGUANATEXSIZE" val="20"/>
  <p:tag name="IGUANATEXCURSOR" val="600"/>
  <p:tag name="TRANSPARENCY" val="Vrai"/>
  <p:tag name="FILENAME" val=""/>
  <p:tag name="LATEXENGINEID" val="0"/>
  <p:tag name="TEMPFOLDER" val="c:\temp\"/>
  <p:tag name="LATEXFORMHEIGHT" val="320"/>
  <p:tag name="LATEXFORMWIDTH" val="588"/>
  <p:tag name="LATEXFORMWRAP" val="Vrai"/>
  <p:tag name="BITMAPVECTOR" val="0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4317</TotalTime>
  <Words>737</Words>
  <Application>Microsoft Office PowerPoint</Application>
  <PresentationFormat>Grand écran</PresentationFormat>
  <Paragraphs>453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Consolas</vt:lpstr>
      <vt:lpstr>Courier New</vt:lpstr>
      <vt:lpstr>Euclid</vt:lpstr>
      <vt:lpstr>Thème Office</vt:lpstr>
      <vt:lpstr>Méthode des volumes finis  J.-C. TOUSSAINT – G.  GHIGLIOTTI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Méthode des volumes finis  Application à l’équation de diffusion advection</dc:title>
  <dc:creator>toussaij</dc:creator>
  <cp:lastModifiedBy>toussaij</cp:lastModifiedBy>
  <cp:revision>407</cp:revision>
  <cp:lastPrinted>2025-05-23T08:43:21Z</cp:lastPrinted>
  <dcterms:created xsi:type="dcterms:W3CDTF">2025-05-07T14:14:36Z</dcterms:created>
  <dcterms:modified xsi:type="dcterms:W3CDTF">2025-09-01T06:13:33Z</dcterms:modified>
</cp:coreProperties>
</file>