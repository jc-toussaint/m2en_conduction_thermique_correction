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75" r:id="rId3"/>
    <p:sldId id="310" r:id="rId4"/>
    <p:sldId id="261" r:id="rId5"/>
    <p:sldId id="297" r:id="rId6"/>
    <p:sldId id="298" r:id="rId7"/>
    <p:sldId id="299" r:id="rId8"/>
    <p:sldId id="300" r:id="rId9"/>
    <p:sldId id="301" r:id="rId10"/>
    <p:sldId id="311" r:id="rId11"/>
    <p:sldId id="302" r:id="rId12"/>
    <p:sldId id="303" r:id="rId13"/>
    <p:sldId id="313" r:id="rId14"/>
    <p:sldId id="304" r:id="rId15"/>
    <p:sldId id="309" r:id="rId16"/>
    <p:sldId id="306" r:id="rId17"/>
    <p:sldId id="312" r:id="rId18"/>
    <p:sldId id="314" r:id="rId19"/>
    <p:sldId id="308" r:id="rId20"/>
  </p:sldIdLst>
  <p:sldSz cx="12192000" cy="6858000"/>
  <p:notesSz cx="6797675" cy="9926638"/>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BC235"/>
    <a:srgbClr val="FF9900"/>
    <a:srgbClr val="E6E6E6"/>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16" autoAdjust="0"/>
    <p:restoredTop sz="94660"/>
  </p:normalViewPr>
  <p:slideViewPr>
    <p:cSldViewPr snapToGrid="0">
      <p:cViewPr varScale="1">
        <p:scale>
          <a:sx n="87" d="100"/>
          <a:sy n="87" d="100"/>
        </p:scale>
        <p:origin x="37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59C66B3F-B7A9-486F-B790-37B4C7FA2CB4}" type="datetimeFigureOut">
              <a:rPr lang="fr-FR" smtClean="0"/>
              <a:t>02/08/2025</a:t>
            </a:fld>
            <a:endParaRPr lang="fr-FR"/>
          </a:p>
        </p:txBody>
      </p:sp>
      <p:sp>
        <p:nvSpPr>
          <p:cNvPr id="4" name="Espace réservé de l'image des diapositives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3ECE78C-13D6-4A18-BEC4-E2F02C41EFDD}" type="slidenum">
              <a:rPr lang="fr-FR" smtClean="0"/>
              <a:t>‹N°›</a:t>
            </a:fld>
            <a:endParaRPr lang="fr-FR"/>
          </a:p>
        </p:txBody>
      </p:sp>
    </p:spTree>
    <p:extLst>
      <p:ext uri="{BB962C8B-B14F-4D97-AF65-F5344CB8AC3E}">
        <p14:creationId xmlns:p14="http://schemas.microsoft.com/office/powerpoint/2010/main" val="3268747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B9A0AD2C-F4F6-48AD-AC95-B316F1133ABF}" type="datetime1">
              <a:rPr lang="fr-FR" smtClean="0"/>
              <a:t>02/08/2025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CB95D3C-87B7-42DD-97F8-1F43ACE143A3}" type="slidenum">
              <a:rPr lang="fr-FR" smtClean="0"/>
              <a:t>‹N°›</a:t>
            </a:fld>
            <a:endParaRPr lang="fr-FR"/>
          </a:p>
        </p:txBody>
      </p:sp>
    </p:spTree>
    <p:extLst>
      <p:ext uri="{BB962C8B-B14F-4D97-AF65-F5344CB8AC3E}">
        <p14:creationId xmlns:p14="http://schemas.microsoft.com/office/powerpoint/2010/main" val="4208343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E0595A8A-123F-4DD1-B35E-639FCF532F1B}" type="datetime1">
              <a:rPr lang="fr-FR" smtClean="0"/>
              <a:t>02/08/2025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CB95D3C-87B7-42DD-97F8-1F43ACE143A3}" type="slidenum">
              <a:rPr lang="fr-FR" smtClean="0"/>
              <a:t>‹N°›</a:t>
            </a:fld>
            <a:endParaRPr lang="fr-FR"/>
          </a:p>
        </p:txBody>
      </p:sp>
    </p:spTree>
    <p:extLst>
      <p:ext uri="{BB962C8B-B14F-4D97-AF65-F5344CB8AC3E}">
        <p14:creationId xmlns:p14="http://schemas.microsoft.com/office/powerpoint/2010/main" val="12455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9627E8A3-5A0D-4B3E-96FB-943172EF3AF6}" type="datetime1">
              <a:rPr lang="fr-FR" smtClean="0"/>
              <a:t>02/08/2025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CB95D3C-87B7-42DD-97F8-1F43ACE143A3}" type="slidenum">
              <a:rPr lang="fr-FR" smtClean="0"/>
              <a:t>‹N°›</a:t>
            </a:fld>
            <a:endParaRPr lang="fr-FR"/>
          </a:p>
        </p:txBody>
      </p:sp>
    </p:spTree>
    <p:extLst>
      <p:ext uri="{BB962C8B-B14F-4D97-AF65-F5344CB8AC3E}">
        <p14:creationId xmlns:p14="http://schemas.microsoft.com/office/powerpoint/2010/main" val="1640434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BEB9505C-4D9A-4470-8BC3-EF2CDDA3A689}" type="datetime1">
              <a:rPr lang="fr-FR" smtClean="0"/>
              <a:t>02/08/2025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CB95D3C-87B7-42DD-97F8-1F43ACE143A3}" type="slidenum">
              <a:rPr lang="fr-FR" smtClean="0"/>
              <a:t>‹N°›</a:t>
            </a:fld>
            <a:endParaRPr lang="fr-FR"/>
          </a:p>
        </p:txBody>
      </p:sp>
    </p:spTree>
    <p:extLst>
      <p:ext uri="{BB962C8B-B14F-4D97-AF65-F5344CB8AC3E}">
        <p14:creationId xmlns:p14="http://schemas.microsoft.com/office/powerpoint/2010/main" val="1491928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582C5770-BC6E-4285-B70A-52A7073785E9}" type="datetime1">
              <a:rPr lang="fr-FR" smtClean="0"/>
              <a:t>02/08/2025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CB95D3C-87B7-42DD-97F8-1F43ACE143A3}" type="slidenum">
              <a:rPr lang="fr-FR" smtClean="0"/>
              <a:t>‹N°›</a:t>
            </a:fld>
            <a:endParaRPr lang="fr-FR"/>
          </a:p>
        </p:txBody>
      </p:sp>
    </p:spTree>
    <p:extLst>
      <p:ext uri="{BB962C8B-B14F-4D97-AF65-F5344CB8AC3E}">
        <p14:creationId xmlns:p14="http://schemas.microsoft.com/office/powerpoint/2010/main" val="135022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4362AE2F-4FE8-4BE4-BF4E-52A1B3A6153A}" type="datetime1">
              <a:rPr lang="fr-FR" smtClean="0"/>
              <a:t>02/08/2025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CB95D3C-87B7-42DD-97F8-1F43ACE143A3}" type="slidenum">
              <a:rPr lang="fr-FR" smtClean="0"/>
              <a:t>‹N°›</a:t>
            </a:fld>
            <a:endParaRPr lang="fr-FR"/>
          </a:p>
        </p:txBody>
      </p:sp>
    </p:spTree>
    <p:extLst>
      <p:ext uri="{BB962C8B-B14F-4D97-AF65-F5344CB8AC3E}">
        <p14:creationId xmlns:p14="http://schemas.microsoft.com/office/powerpoint/2010/main" val="4062053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5E00633D-7A71-4071-B775-BD7678DD6E54}" type="datetime1">
              <a:rPr lang="fr-FR" smtClean="0"/>
              <a:t>02/08/2025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CB95D3C-87B7-42DD-97F8-1F43ACE143A3}" type="slidenum">
              <a:rPr lang="fr-FR" smtClean="0"/>
              <a:t>‹N°›</a:t>
            </a:fld>
            <a:endParaRPr lang="fr-FR"/>
          </a:p>
        </p:txBody>
      </p:sp>
    </p:spTree>
    <p:extLst>
      <p:ext uri="{BB962C8B-B14F-4D97-AF65-F5344CB8AC3E}">
        <p14:creationId xmlns:p14="http://schemas.microsoft.com/office/powerpoint/2010/main" val="2024036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193809F0-AFAD-490D-9E2C-9642C8F51D94}" type="datetime1">
              <a:rPr lang="fr-FR" smtClean="0"/>
              <a:t>02/08/2025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CB95D3C-87B7-42DD-97F8-1F43ACE143A3}" type="slidenum">
              <a:rPr lang="fr-FR" smtClean="0"/>
              <a:t>‹N°›</a:t>
            </a:fld>
            <a:endParaRPr lang="fr-FR"/>
          </a:p>
        </p:txBody>
      </p:sp>
    </p:spTree>
    <p:extLst>
      <p:ext uri="{BB962C8B-B14F-4D97-AF65-F5344CB8AC3E}">
        <p14:creationId xmlns:p14="http://schemas.microsoft.com/office/powerpoint/2010/main" val="1346337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896D4BF9-0709-4686-975F-F590FD6B7DA9}" type="datetime1">
              <a:rPr lang="fr-FR" smtClean="0"/>
              <a:t>02/08/2025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CB95D3C-87B7-42DD-97F8-1F43ACE143A3}" type="slidenum">
              <a:rPr lang="fr-FR" smtClean="0"/>
              <a:t>‹N°›</a:t>
            </a:fld>
            <a:endParaRPr lang="fr-FR"/>
          </a:p>
        </p:txBody>
      </p:sp>
    </p:spTree>
    <p:extLst>
      <p:ext uri="{BB962C8B-B14F-4D97-AF65-F5344CB8AC3E}">
        <p14:creationId xmlns:p14="http://schemas.microsoft.com/office/powerpoint/2010/main" val="2970654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AF4A5E1-3D02-4C35-BD66-4C669DE6FB21}" type="datetime1">
              <a:rPr lang="fr-FR" smtClean="0"/>
              <a:t>02/08/2025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CB95D3C-87B7-42DD-97F8-1F43ACE143A3}" type="slidenum">
              <a:rPr lang="fr-FR" smtClean="0"/>
              <a:t>‹N°›</a:t>
            </a:fld>
            <a:endParaRPr lang="fr-FR"/>
          </a:p>
        </p:txBody>
      </p:sp>
    </p:spTree>
    <p:extLst>
      <p:ext uri="{BB962C8B-B14F-4D97-AF65-F5344CB8AC3E}">
        <p14:creationId xmlns:p14="http://schemas.microsoft.com/office/powerpoint/2010/main" val="4061244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2218AC75-9094-4769-9793-501D2A4DC424}" type="datetime1">
              <a:rPr lang="fr-FR" smtClean="0"/>
              <a:t>02/08/2025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CB95D3C-87B7-42DD-97F8-1F43ACE143A3}" type="slidenum">
              <a:rPr lang="fr-FR" smtClean="0"/>
              <a:t>‹N°›</a:t>
            </a:fld>
            <a:endParaRPr lang="fr-FR"/>
          </a:p>
        </p:txBody>
      </p:sp>
    </p:spTree>
    <p:extLst>
      <p:ext uri="{BB962C8B-B14F-4D97-AF65-F5344CB8AC3E}">
        <p14:creationId xmlns:p14="http://schemas.microsoft.com/office/powerpoint/2010/main" val="1096707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9D133E-A6F2-47E3-80AC-3D9A35E5127D}" type="datetime1">
              <a:rPr lang="fr-FR" smtClean="0"/>
              <a:t>02/08/2025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B95D3C-87B7-42DD-97F8-1F43ACE143A3}" type="slidenum">
              <a:rPr lang="fr-FR" smtClean="0"/>
              <a:t>‹N°›</a:t>
            </a:fld>
            <a:endParaRPr lang="fr-FR"/>
          </a:p>
        </p:txBody>
      </p:sp>
    </p:spTree>
    <p:extLst>
      <p:ext uri="{BB962C8B-B14F-4D97-AF65-F5344CB8AC3E}">
        <p14:creationId xmlns:p14="http://schemas.microsoft.com/office/powerpoint/2010/main" val="1388557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xml"/><Relationship Id="rId7" Type="http://schemas.openxmlformats.org/officeDocument/2006/relationships/image" Target="../media/image1.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2.xml"/><Relationship Id="rId11" Type="http://schemas.openxmlformats.org/officeDocument/2006/relationships/image" Target="../media/image5.png"/><Relationship Id="rId5" Type="http://schemas.openxmlformats.org/officeDocument/2006/relationships/tags" Target="../tags/tag5.xml"/><Relationship Id="rId10" Type="http://schemas.openxmlformats.org/officeDocument/2006/relationships/image" Target="../media/image4.png"/><Relationship Id="rId4" Type="http://schemas.openxmlformats.org/officeDocument/2006/relationships/tags" Target="../tags/tag4.xml"/><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image" Target="../media/image14.png"/><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image" Target="../media/image13.png"/><Relationship Id="rId2" Type="http://schemas.openxmlformats.org/officeDocument/2006/relationships/tags" Target="../tags/tag10.xml"/><Relationship Id="rId16" Type="http://schemas.openxmlformats.org/officeDocument/2006/relationships/image" Target="../media/image17.png"/><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image" Target="../media/image12.png"/><Relationship Id="rId5" Type="http://schemas.openxmlformats.org/officeDocument/2006/relationships/tags" Target="../tags/tag13.xml"/><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tags" Target="../tags/tag12.xml"/><Relationship Id="rId9" Type="http://schemas.openxmlformats.org/officeDocument/2006/relationships/image" Target="../media/image10.png"/><Relationship Id="rId1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18.xml"/><Relationship Id="rId7" Type="http://schemas.openxmlformats.org/officeDocument/2006/relationships/image" Target="../media/image18.png"/><Relationship Id="rId12" Type="http://schemas.openxmlformats.org/officeDocument/2006/relationships/image" Target="../media/image17.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Layout" Target="../slideLayouts/slideLayout7.xml"/><Relationship Id="rId11" Type="http://schemas.openxmlformats.org/officeDocument/2006/relationships/image" Target="../media/image13.png"/><Relationship Id="rId5" Type="http://schemas.openxmlformats.org/officeDocument/2006/relationships/tags" Target="../tags/tag20.xml"/><Relationship Id="rId10" Type="http://schemas.openxmlformats.org/officeDocument/2006/relationships/image" Target="../media/image12.png"/><Relationship Id="rId4" Type="http://schemas.openxmlformats.org/officeDocument/2006/relationships/tags" Target="../tags/tag19.xml"/><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23.xml"/><Relationship Id="rId7" Type="http://schemas.openxmlformats.org/officeDocument/2006/relationships/image" Target="../media/image11.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9.png"/><Relationship Id="rId5" Type="http://schemas.openxmlformats.org/officeDocument/2006/relationships/slideLayout" Target="../slideLayouts/slideLayout7.xml"/><Relationship Id="rId10" Type="http://schemas.openxmlformats.org/officeDocument/2006/relationships/image" Target="../media/image16.png"/><Relationship Id="rId4" Type="http://schemas.openxmlformats.org/officeDocument/2006/relationships/tags" Target="../tags/tag24.xml"/><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tags" Target="../tags/tag26.xml"/><Relationship Id="rId16" Type="http://schemas.openxmlformats.org/officeDocument/2006/relationships/image" Target="../media/image25.png"/><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image" Target="../media/image11.png"/><Relationship Id="rId5" Type="http://schemas.openxmlformats.org/officeDocument/2006/relationships/tags" Target="../tags/tag29.xml"/><Relationship Id="rId15" Type="http://schemas.openxmlformats.org/officeDocument/2006/relationships/image" Target="../media/image24.png"/><Relationship Id="rId10" Type="http://schemas.openxmlformats.org/officeDocument/2006/relationships/image" Target="../media/image20.png"/><Relationship Id="rId4" Type="http://schemas.openxmlformats.org/officeDocument/2006/relationships/tags" Target="../tags/tag28.xml"/><Relationship Id="rId9" Type="http://schemas.openxmlformats.org/officeDocument/2006/relationships/slideLayout" Target="../slideLayouts/slideLayout7.xml"/><Relationship Id="rId14"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2.png"/><Relationship Id="rId3" Type="http://schemas.openxmlformats.org/officeDocument/2006/relationships/tags" Target="../tags/tag35.xml"/><Relationship Id="rId7" Type="http://schemas.openxmlformats.org/officeDocument/2006/relationships/slideLayout" Target="../slideLayouts/slideLayout7.xml"/><Relationship Id="rId12" Type="http://schemas.openxmlformats.org/officeDocument/2006/relationships/image" Target="../media/image31.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image" Target="../media/image30.png"/><Relationship Id="rId5" Type="http://schemas.openxmlformats.org/officeDocument/2006/relationships/tags" Target="../tags/tag37.xml"/><Relationship Id="rId10" Type="http://schemas.openxmlformats.org/officeDocument/2006/relationships/image" Target="../media/image29.png"/><Relationship Id="rId4" Type="http://schemas.openxmlformats.org/officeDocument/2006/relationships/tags" Target="../tags/tag36.xml"/><Relationship Id="rId9" Type="http://schemas.openxmlformats.org/officeDocument/2006/relationships/image" Target="../media/image11.png"/><Relationship Id="rId14" Type="http://schemas.openxmlformats.org/officeDocument/2006/relationships/image" Target="../media/image33.png"/></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2.png"/><Relationship Id="rId3" Type="http://schemas.openxmlformats.org/officeDocument/2006/relationships/tags" Target="../tags/tag41.xml"/><Relationship Id="rId7" Type="http://schemas.openxmlformats.org/officeDocument/2006/relationships/slideLayout" Target="../slideLayouts/slideLayout7.xml"/><Relationship Id="rId12" Type="http://schemas.openxmlformats.org/officeDocument/2006/relationships/image" Target="../media/image31.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image" Target="../media/image30.png"/><Relationship Id="rId5" Type="http://schemas.openxmlformats.org/officeDocument/2006/relationships/tags" Target="../tags/tag43.xml"/><Relationship Id="rId10" Type="http://schemas.openxmlformats.org/officeDocument/2006/relationships/image" Target="../media/image29.png"/><Relationship Id="rId4" Type="http://schemas.openxmlformats.org/officeDocument/2006/relationships/tags" Target="../tags/tag42.xml"/><Relationship Id="rId9" Type="http://schemas.openxmlformats.org/officeDocument/2006/relationships/image" Target="../media/image11.png"/><Relationship Id="rId14" Type="http://schemas.openxmlformats.org/officeDocument/2006/relationships/image" Target="../media/image33.png"/></Relationships>
</file>

<file path=ppt/slides/_rels/slide11.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image" Target="../media/image30.png"/><Relationship Id="rId18" Type="http://schemas.openxmlformats.org/officeDocument/2006/relationships/image" Target="../media/image37.png"/><Relationship Id="rId3" Type="http://schemas.openxmlformats.org/officeDocument/2006/relationships/tags" Target="../tags/tag47.xml"/><Relationship Id="rId7" Type="http://schemas.openxmlformats.org/officeDocument/2006/relationships/tags" Target="../tags/tag51.xml"/><Relationship Id="rId12" Type="http://schemas.openxmlformats.org/officeDocument/2006/relationships/image" Target="../media/image29.png"/><Relationship Id="rId17" Type="http://schemas.openxmlformats.org/officeDocument/2006/relationships/image" Target="../media/image36.png"/><Relationship Id="rId2" Type="http://schemas.openxmlformats.org/officeDocument/2006/relationships/tags" Target="../tags/tag46.xml"/><Relationship Id="rId16" Type="http://schemas.openxmlformats.org/officeDocument/2006/relationships/image" Target="../media/image33.png"/><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image" Target="../media/image11.png"/><Relationship Id="rId5" Type="http://schemas.openxmlformats.org/officeDocument/2006/relationships/tags" Target="../tags/tag49.xml"/><Relationship Id="rId15" Type="http://schemas.openxmlformats.org/officeDocument/2006/relationships/image" Target="../media/image32.png"/><Relationship Id="rId10" Type="http://schemas.openxmlformats.org/officeDocument/2006/relationships/image" Target="../media/image35.png"/><Relationship Id="rId4" Type="http://schemas.openxmlformats.org/officeDocument/2006/relationships/tags" Target="../tags/tag48.xml"/><Relationship Id="rId9" Type="http://schemas.openxmlformats.org/officeDocument/2006/relationships/slideLayout" Target="../slideLayouts/slideLayout7.xml"/><Relationship Id="rId1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7.xml"/><Relationship Id="rId1" Type="http://schemas.openxmlformats.org/officeDocument/2006/relationships/tags" Target="../tags/tag53.xml"/></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7.xml"/><Relationship Id="rId1" Type="http://schemas.openxmlformats.org/officeDocument/2006/relationships/tags" Target="../tags/tag54.xml"/></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7.xml"/><Relationship Id="rId1" Type="http://schemas.openxmlformats.org/officeDocument/2006/relationships/tags" Target="../tags/tag55.xml"/></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image" Target="../media/image45.png"/><Relationship Id="rId3" Type="http://schemas.openxmlformats.org/officeDocument/2006/relationships/tags" Target="../tags/tag58.xml"/><Relationship Id="rId7" Type="http://schemas.openxmlformats.org/officeDocument/2006/relationships/tags" Target="../tags/tag62.xml"/><Relationship Id="rId12" Type="http://schemas.openxmlformats.org/officeDocument/2006/relationships/image" Target="../media/image44.png"/><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image" Target="../media/image43.png"/><Relationship Id="rId5" Type="http://schemas.openxmlformats.org/officeDocument/2006/relationships/tags" Target="../tags/tag60.xml"/><Relationship Id="rId15" Type="http://schemas.openxmlformats.org/officeDocument/2006/relationships/image" Target="../media/image47.png"/><Relationship Id="rId10" Type="http://schemas.openxmlformats.org/officeDocument/2006/relationships/image" Target="../media/image42.png"/><Relationship Id="rId4" Type="http://schemas.openxmlformats.org/officeDocument/2006/relationships/tags" Target="../tags/tag59.xml"/><Relationship Id="rId9" Type="http://schemas.openxmlformats.org/officeDocument/2006/relationships/image" Target="../media/image41.png"/><Relationship Id="rId14" Type="http://schemas.openxmlformats.org/officeDocument/2006/relationships/image" Target="../media/image46.png"/></Relationships>
</file>

<file path=ppt/slides/_rels/slide16.xml.rels><?xml version="1.0" encoding="UTF-8" standalone="yes"?>
<Relationships xmlns="http://schemas.openxmlformats.org/package/2006/relationships"><Relationship Id="rId8" Type="http://schemas.openxmlformats.org/officeDocument/2006/relationships/tags" Target="../tags/tag70.xml"/><Relationship Id="rId13" Type="http://schemas.openxmlformats.org/officeDocument/2006/relationships/image" Target="../media/image49.png"/><Relationship Id="rId18" Type="http://schemas.openxmlformats.org/officeDocument/2006/relationships/image" Target="../media/image50.png"/><Relationship Id="rId3" Type="http://schemas.openxmlformats.org/officeDocument/2006/relationships/tags" Target="../tags/tag65.xml"/><Relationship Id="rId21" Type="http://schemas.openxmlformats.org/officeDocument/2006/relationships/image" Target="../media/image53.png"/><Relationship Id="rId7" Type="http://schemas.openxmlformats.org/officeDocument/2006/relationships/tags" Target="../tags/tag69.xml"/><Relationship Id="rId12" Type="http://schemas.openxmlformats.org/officeDocument/2006/relationships/image" Target="../media/image48.png"/><Relationship Id="rId17" Type="http://schemas.openxmlformats.org/officeDocument/2006/relationships/image" Target="../media/image16.png"/><Relationship Id="rId2" Type="http://schemas.openxmlformats.org/officeDocument/2006/relationships/tags" Target="../tags/tag64.xml"/><Relationship Id="rId16" Type="http://schemas.openxmlformats.org/officeDocument/2006/relationships/image" Target="../media/image14.png"/><Relationship Id="rId20" Type="http://schemas.openxmlformats.org/officeDocument/2006/relationships/image" Target="../media/image52.png"/><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slideLayout" Target="../slideLayouts/slideLayout7.xml"/><Relationship Id="rId5" Type="http://schemas.openxmlformats.org/officeDocument/2006/relationships/tags" Target="../tags/tag67.xml"/><Relationship Id="rId15" Type="http://schemas.openxmlformats.org/officeDocument/2006/relationships/image" Target="../media/image13.png"/><Relationship Id="rId10" Type="http://schemas.openxmlformats.org/officeDocument/2006/relationships/tags" Target="../tags/tag72.xml"/><Relationship Id="rId19" Type="http://schemas.openxmlformats.org/officeDocument/2006/relationships/image" Target="../media/image51.png"/><Relationship Id="rId4" Type="http://schemas.openxmlformats.org/officeDocument/2006/relationships/tags" Target="../tags/tag66.xml"/><Relationship Id="rId9" Type="http://schemas.openxmlformats.org/officeDocument/2006/relationships/tags" Target="../tags/tag71.xml"/><Relationship Id="rId14" Type="http://schemas.openxmlformats.org/officeDocument/2006/relationships/image" Target="../media/image11.png"/><Relationship Id="rId22" Type="http://schemas.openxmlformats.org/officeDocument/2006/relationships/image" Target="../media/image54.png"/></Relationships>
</file>

<file path=ppt/slides/_rels/slide17.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tags" Target="../tags/tag85.xml"/><Relationship Id="rId18" Type="http://schemas.openxmlformats.org/officeDocument/2006/relationships/image" Target="../media/image58.png"/><Relationship Id="rId26" Type="http://schemas.openxmlformats.org/officeDocument/2006/relationships/image" Target="../media/image52.png"/><Relationship Id="rId3" Type="http://schemas.openxmlformats.org/officeDocument/2006/relationships/tags" Target="../tags/tag75.xml"/><Relationship Id="rId21" Type="http://schemas.openxmlformats.org/officeDocument/2006/relationships/image" Target="../media/image13.png"/><Relationship Id="rId7" Type="http://schemas.openxmlformats.org/officeDocument/2006/relationships/tags" Target="../tags/tag79.xml"/><Relationship Id="rId12" Type="http://schemas.openxmlformats.org/officeDocument/2006/relationships/tags" Target="../tags/tag84.xml"/><Relationship Id="rId17" Type="http://schemas.openxmlformats.org/officeDocument/2006/relationships/image" Target="../media/image57.png"/><Relationship Id="rId25" Type="http://schemas.openxmlformats.org/officeDocument/2006/relationships/image" Target="../media/image51.png"/><Relationship Id="rId2" Type="http://schemas.openxmlformats.org/officeDocument/2006/relationships/tags" Target="../tags/tag74.xml"/><Relationship Id="rId16" Type="http://schemas.openxmlformats.org/officeDocument/2006/relationships/image" Target="../media/image56.png"/><Relationship Id="rId20" Type="http://schemas.openxmlformats.org/officeDocument/2006/relationships/image" Target="../media/image11.png"/><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24" Type="http://schemas.openxmlformats.org/officeDocument/2006/relationships/image" Target="../media/image50.png"/><Relationship Id="rId5" Type="http://schemas.openxmlformats.org/officeDocument/2006/relationships/tags" Target="../tags/tag77.xml"/><Relationship Id="rId15" Type="http://schemas.openxmlformats.org/officeDocument/2006/relationships/image" Target="../media/image55.png"/><Relationship Id="rId23" Type="http://schemas.openxmlformats.org/officeDocument/2006/relationships/image" Target="../media/image16.png"/><Relationship Id="rId28" Type="http://schemas.openxmlformats.org/officeDocument/2006/relationships/image" Target="../media/image54.png"/><Relationship Id="rId10" Type="http://schemas.openxmlformats.org/officeDocument/2006/relationships/tags" Target="../tags/tag82.xml"/><Relationship Id="rId19" Type="http://schemas.openxmlformats.org/officeDocument/2006/relationships/image" Target="../media/image49.png"/><Relationship Id="rId4" Type="http://schemas.openxmlformats.org/officeDocument/2006/relationships/tags" Target="../tags/tag76.xml"/><Relationship Id="rId9" Type="http://schemas.openxmlformats.org/officeDocument/2006/relationships/tags" Target="../tags/tag81.xml"/><Relationship Id="rId14" Type="http://schemas.openxmlformats.org/officeDocument/2006/relationships/slideLayout" Target="../slideLayouts/slideLayout7.xml"/><Relationship Id="rId22" Type="http://schemas.openxmlformats.org/officeDocument/2006/relationships/image" Target="../media/image14.png"/><Relationship Id="rId27" Type="http://schemas.openxmlformats.org/officeDocument/2006/relationships/image" Target="../media/image53.png"/></Relationships>
</file>

<file path=ppt/slides/_rels/slide1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7.xml"/><Relationship Id="rId1" Type="http://schemas.openxmlformats.org/officeDocument/2006/relationships/tags" Target="../tags/tag86.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7.xml"/><Relationship Id="rId1" Type="http://schemas.openxmlformats.org/officeDocument/2006/relationships/tags" Target="../tags/tag8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2"/>
            <a:ext cx="9144000" cy="3801329"/>
          </a:xfrm>
        </p:spPr>
        <p:txBody>
          <a:bodyPr>
            <a:normAutofit/>
          </a:bodyPr>
          <a:lstStyle/>
          <a:p>
            <a:r>
              <a:rPr lang="fr-FR" dirty="0"/>
              <a:t>Méthode des volumes finis</a:t>
            </a:r>
            <a:br>
              <a:rPr lang="fr-FR" dirty="0"/>
            </a:br>
            <a:r>
              <a:rPr lang="fr-FR" dirty="0"/>
              <a:t/>
            </a:r>
            <a:br>
              <a:rPr lang="fr-FR" dirty="0"/>
            </a:br>
            <a:r>
              <a:rPr lang="fr-FR" sz="4000" dirty="0"/>
              <a:t>J.-C. </a:t>
            </a:r>
            <a:r>
              <a:rPr lang="fr-FR" sz="4000" dirty="0" smtClean="0"/>
              <a:t>TOUSSAINT,  G. </a:t>
            </a:r>
            <a:r>
              <a:rPr lang="fr-FR" sz="4000"/>
              <a:t>GHIGLIOTTI</a:t>
            </a:r>
            <a:endParaRPr lang="fr-FR" sz="4000" dirty="0"/>
          </a:p>
        </p:txBody>
      </p:sp>
      <p:sp>
        <p:nvSpPr>
          <p:cNvPr id="4" name="Espace réservé du numéro de diapositive 3"/>
          <p:cNvSpPr>
            <a:spLocks noGrp="1"/>
          </p:cNvSpPr>
          <p:nvPr>
            <p:ph type="sldNum" sz="quarter" idx="12"/>
          </p:nvPr>
        </p:nvSpPr>
        <p:spPr/>
        <p:txBody>
          <a:bodyPr/>
          <a:lstStyle/>
          <a:p>
            <a:fld id="{1CB95D3C-87B7-42DD-97F8-1F43ACE143A3}" type="slidenum">
              <a:rPr lang="fr-FR" smtClean="0"/>
              <a:t>1</a:t>
            </a:fld>
            <a:endParaRPr lang="fr-FR"/>
          </a:p>
        </p:txBody>
      </p:sp>
      <p:sp>
        <p:nvSpPr>
          <p:cNvPr id="3" name="Espace réservé de la date 2"/>
          <p:cNvSpPr>
            <a:spLocks noGrp="1"/>
          </p:cNvSpPr>
          <p:nvPr>
            <p:ph type="dt" sz="half" idx="10"/>
          </p:nvPr>
        </p:nvSpPr>
        <p:spPr/>
        <p:txBody>
          <a:bodyPr/>
          <a:lstStyle/>
          <a:p>
            <a:fld id="{5D767DDD-9E75-4A7E-942A-669389740A0F}" type="datetime1">
              <a:rPr lang="fr-FR" smtClean="0"/>
              <a:t>02/08/2025</a:t>
            </a:fld>
            <a:endParaRPr lang="fr-FR"/>
          </a:p>
        </p:txBody>
      </p:sp>
    </p:spTree>
    <p:extLst>
      <p:ext uri="{BB962C8B-B14F-4D97-AF65-F5344CB8AC3E}">
        <p14:creationId xmlns:p14="http://schemas.microsoft.com/office/powerpoint/2010/main" val="38354841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CB95D3C-87B7-42DD-97F8-1F43ACE143A3}" type="slidenum">
              <a:rPr lang="fr-FR" smtClean="0"/>
              <a:t>2</a:t>
            </a:fld>
            <a:endParaRPr lang="fr-FR"/>
          </a:p>
        </p:txBody>
      </p:sp>
      <p:pic>
        <p:nvPicPr>
          <p:cNvPr id="2" name="Image 1"/>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1142023" y="473812"/>
            <a:ext cx="8719240" cy="1718856"/>
          </a:xfrm>
          <a:prstGeom prst="rect">
            <a:avLst/>
          </a:prstGeom>
        </p:spPr>
      </p:pic>
      <p:pic>
        <p:nvPicPr>
          <p:cNvPr id="20" name="Image 19"/>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1138975" y="2387117"/>
            <a:ext cx="8716192" cy="1138285"/>
          </a:xfrm>
          <a:prstGeom prst="rect">
            <a:avLst/>
          </a:prstGeom>
        </p:spPr>
      </p:pic>
      <p:pic>
        <p:nvPicPr>
          <p:cNvPr id="17" name="Image 16"/>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1138975" y="4124885"/>
            <a:ext cx="8716193" cy="1089524"/>
          </a:xfrm>
          <a:prstGeom prst="rect">
            <a:avLst/>
          </a:prstGeom>
        </p:spPr>
      </p:pic>
      <p:pic>
        <p:nvPicPr>
          <p:cNvPr id="18" name="Image 17"/>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1140497" y="5537062"/>
            <a:ext cx="8714670" cy="835048"/>
          </a:xfrm>
          <a:prstGeom prst="rect">
            <a:avLst/>
          </a:prstGeom>
        </p:spPr>
      </p:pic>
      <p:pic>
        <p:nvPicPr>
          <p:cNvPr id="3" name="Image 2"/>
          <p:cNvPicPr>
            <a:picLocks noChangeAspect="1"/>
          </p:cNvPicPr>
          <p:nvPr>
            <p:custDataLst>
              <p:tags r:id="rId5"/>
            </p:custDataLst>
          </p:nvPr>
        </p:nvPicPr>
        <p:blipFill>
          <a:blip r:embed="rId11" cstate="print">
            <a:extLst>
              <a:ext uri="{28A0092B-C50C-407E-A947-70E740481C1C}">
                <a14:useLocalDpi xmlns:a14="http://schemas.microsoft.com/office/drawing/2010/main" val="0"/>
              </a:ext>
            </a:extLst>
          </a:blip>
          <a:stretch>
            <a:fillRect/>
          </a:stretch>
        </p:blipFill>
        <p:spPr>
          <a:xfrm>
            <a:off x="3727939" y="3350075"/>
            <a:ext cx="3664767" cy="607999"/>
          </a:xfrm>
          <a:prstGeom prst="rect">
            <a:avLst/>
          </a:prstGeom>
        </p:spPr>
      </p:pic>
    </p:spTree>
    <p:extLst>
      <p:ext uri="{BB962C8B-B14F-4D97-AF65-F5344CB8AC3E}">
        <p14:creationId xmlns:p14="http://schemas.microsoft.com/office/powerpoint/2010/main" val="3474435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D48E5B75-C283-BE59-2AF9-637A4DC572D0}"/>
              </a:ext>
            </a:extLst>
          </p:cNvPr>
          <p:cNvSpPr>
            <a:spLocks noGrp="1"/>
          </p:cNvSpPr>
          <p:nvPr>
            <p:ph type="sldNum" sz="quarter" idx="12"/>
          </p:nvPr>
        </p:nvSpPr>
        <p:spPr/>
        <p:txBody>
          <a:bodyPr/>
          <a:lstStyle/>
          <a:p>
            <a:fld id="{1CB95D3C-87B7-42DD-97F8-1F43ACE143A3}" type="slidenum">
              <a:rPr lang="fr-FR" smtClean="0"/>
              <a:t>3</a:t>
            </a:fld>
            <a:endParaRPr lang="fr-FR"/>
          </a:p>
        </p:txBody>
      </p:sp>
      <p:pic>
        <p:nvPicPr>
          <p:cNvPr id="2" name="Image 1"/>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18592" y="418587"/>
            <a:ext cx="11509333" cy="5903238"/>
          </a:xfrm>
          <a:prstGeom prst="rect">
            <a:avLst/>
          </a:prstGeom>
        </p:spPr>
      </p:pic>
    </p:spTree>
    <p:extLst>
      <p:ext uri="{BB962C8B-B14F-4D97-AF65-F5344CB8AC3E}">
        <p14:creationId xmlns:p14="http://schemas.microsoft.com/office/powerpoint/2010/main" val="24869716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1CB95D3C-87B7-42DD-97F8-1F43ACE143A3}" type="slidenum">
              <a:rPr lang="fr-FR" smtClean="0"/>
              <a:t>4</a:t>
            </a:fld>
            <a:endParaRPr lang="fr-FR"/>
          </a:p>
        </p:txBody>
      </p:sp>
      <p:grpSp>
        <p:nvGrpSpPr>
          <p:cNvPr id="5" name="Groupe 4"/>
          <p:cNvGrpSpPr/>
          <p:nvPr/>
        </p:nvGrpSpPr>
        <p:grpSpPr>
          <a:xfrm>
            <a:off x="2302329" y="2695156"/>
            <a:ext cx="2609469" cy="2136979"/>
            <a:chOff x="1230923" y="3589400"/>
            <a:chExt cx="3349093" cy="2742681"/>
          </a:xfrm>
        </p:grpSpPr>
        <p:grpSp>
          <p:nvGrpSpPr>
            <p:cNvPr id="34" name="Groupe 33"/>
            <p:cNvGrpSpPr/>
            <p:nvPr/>
          </p:nvGrpSpPr>
          <p:grpSpPr>
            <a:xfrm>
              <a:off x="1230923" y="3589400"/>
              <a:ext cx="3349093" cy="2742681"/>
              <a:chOff x="1230923" y="3228484"/>
              <a:chExt cx="3789810" cy="3103598"/>
            </a:xfrm>
          </p:grpSpPr>
          <p:pic>
            <p:nvPicPr>
              <p:cNvPr id="9" name="Image 8"/>
              <p:cNvPicPr>
                <a:picLocks noChangeAspect="1"/>
              </p:cNvPicPr>
              <p:nvPr/>
            </p:nvPicPr>
            <p:blipFill>
              <a:blip r:embed="rId4"/>
              <a:stretch>
                <a:fillRect/>
              </a:stretch>
            </p:blipFill>
            <p:spPr>
              <a:xfrm>
                <a:off x="1254767" y="3266537"/>
                <a:ext cx="3718882" cy="3063505"/>
              </a:xfrm>
              <a:prstGeom prst="rect">
                <a:avLst/>
              </a:prstGeom>
            </p:spPr>
          </p:pic>
          <p:sp>
            <p:nvSpPr>
              <p:cNvPr id="7" name="Rectangle 6"/>
              <p:cNvSpPr/>
              <p:nvPr/>
            </p:nvSpPr>
            <p:spPr>
              <a:xfrm>
                <a:off x="1230923" y="3228484"/>
                <a:ext cx="3789810" cy="310359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0" name="Connecteur droit avec flèche 19"/>
              <p:cNvCxnSpPr/>
              <p:nvPr/>
            </p:nvCxnSpPr>
            <p:spPr>
              <a:xfrm>
                <a:off x="2497015" y="4080163"/>
                <a:ext cx="474785" cy="1"/>
              </a:xfrm>
              <a:prstGeom prst="straightConnector1">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p:cNvCxnSpPr/>
              <p:nvPr/>
            </p:nvCxnSpPr>
            <p:spPr>
              <a:xfrm>
                <a:off x="3095359" y="4080162"/>
                <a:ext cx="474785" cy="1"/>
              </a:xfrm>
              <a:prstGeom prst="straightConnector1">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14" name="Rectangle 13"/>
            <p:cNvSpPr/>
            <p:nvPr/>
          </p:nvSpPr>
          <p:spPr>
            <a:xfrm>
              <a:off x="2349781" y="4671646"/>
              <a:ext cx="948335" cy="7854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ZoneTexte 58"/>
            <p:cNvSpPr txBox="1"/>
            <p:nvPr/>
          </p:nvSpPr>
          <p:spPr>
            <a:xfrm>
              <a:off x="2308172" y="5158926"/>
              <a:ext cx="437492" cy="369332"/>
            </a:xfrm>
            <a:prstGeom prst="rect">
              <a:avLst/>
            </a:prstGeom>
            <a:noFill/>
          </p:spPr>
          <p:txBody>
            <a:bodyPr wrap="none" rtlCol="0">
              <a:spAutoFit/>
            </a:bodyPr>
            <a:lstStyle/>
            <a:p>
              <a:r>
                <a:rPr lang="fr-FR" dirty="0"/>
                <a:t>VC</a:t>
              </a:r>
            </a:p>
          </p:txBody>
        </p:sp>
      </p:grpSp>
      <p:pic>
        <p:nvPicPr>
          <p:cNvPr id="3" name="Image 2"/>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469787" y="683859"/>
            <a:ext cx="11501719" cy="1784381"/>
          </a:xfrm>
          <a:prstGeom prst="rect">
            <a:avLst/>
          </a:prstGeom>
        </p:spPr>
      </p:pic>
      <p:grpSp>
        <p:nvGrpSpPr>
          <p:cNvPr id="11" name="Groupe 10"/>
          <p:cNvGrpSpPr/>
          <p:nvPr/>
        </p:nvGrpSpPr>
        <p:grpSpPr>
          <a:xfrm>
            <a:off x="6547757" y="2721357"/>
            <a:ext cx="3673270" cy="1918905"/>
            <a:chOff x="6361576" y="3351213"/>
            <a:chExt cx="4667715" cy="2438400"/>
          </a:xfrm>
        </p:grpSpPr>
        <p:grpSp>
          <p:nvGrpSpPr>
            <p:cNvPr id="63" name="Groupe 62"/>
            <p:cNvGrpSpPr/>
            <p:nvPr/>
          </p:nvGrpSpPr>
          <p:grpSpPr>
            <a:xfrm>
              <a:off x="6361576" y="3351213"/>
              <a:ext cx="3620624" cy="2438400"/>
              <a:chOff x="6361576" y="3351213"/>
              <a:chExt cx="3620624" cy="2438400"/>
            </a:xfrm>
          </p:grpSpPr>
          <p:cxnSp>
            <p:nvCxnSpPr>
              <p:cNvPr id="38" name="Connecteur droit 37"/>
              <p:cNvCxnSpPr/>
              <p:nvPr/>
            </p:nvCxnSpPr>
            <p:spPr>
              <a:xfrm flipV="1">
                <a:off x="6361576" y="4413250"/>
                <a:ext cx="809625" cy="985838"/>
              </a:xfrm>
              <a:prstGeom prst="line">
                <a:avLst/>
              </a:prstGeom>
              <a:noFill/>
            </p:spPr>
            <p:style>
              <a:lnRef idx="1">
                <a:schemeClr val="accent1"/>
              </a:lnRef>
              <a:fillRef idx="0">
                <a:schemeClr val="accent1"/>
              </a:fillRef>
              <a:effectRef idx="0">
                <a:schemeClr val="accent1"/>
              </a:effectRef>
              <a:fontRef idx="minor">
                <a:schemeClr val="tx1"/>
              </a:fontRef>
            </p:style>
          </p:cxnSp>
          <p:cxnSp>
            <p:nvCxnSpPr>
              <p:cNvPr id="39" name="Connecteur droit 38"/>
              <p:cNvCxnSpPr/>
              <p:nvPr/>
            </p:nvCxnSpPr>
            <p:spPr>
              <a:xfrm flipH="1" flipV="1">
                <a:off x="6361576" y="3809146"/>
                <a:ext cx="809625" cy="613629"/>
              </a:xfrm>
              <a:prstGeom prst="line">
                <a:avLst/>
              </a:prstGeom>
              <a:noFill/>
            </p:spPr>
            <p:style>
              <a:lnRef idx="1">
                <a:schemeClr val="accent1"/>
              </a:lnRef>
              <a:fillRef idx="0">
                <a:schemeClr val="accent1"/>
              </a:fillRef>
              <a:effectRef idx="0">
                <a:schemeClr val="accent1"/>
              </a:effectRef>
              <a:fontRef idx="minor">
                <a:schemeClr val="tx1"/>
              </a:fontRef>
            </p:style>
          </p:cxnSp>
          <p:cxnSp>
            <p:nvCxnSpPr>
              <p:cNvPr id="40" name="Connecteur droit 39"/>
              <p:cNvCxnSpPr/>
              <p:nvPr/>
            </p:nvCxnSpPr>
            <p:spPr>
              <a:xfrm>
                <a:off x="6361576" y="3809146"/>
                <a:ext cx="0" cy="1589942"/>
              </a:xfrm>
              <a:prstGeom prst="line">
                <a:avLst/>
              </a:prstGeom>
              <a:noFill/>
            </p:spPr>
            <p:style>
              <a:lnRef idx="1">
                <a:schemeClr val="accent1"/>
              </a:lnRef>
              <a:fillRef idx="0">
                <a:schemeClr val="accent1"/>
              </a:fillRef>
              <a:effectRef idx="0">
                <a:schemeClr val="accent1"/>
              </a:effectRef>
              <a:fontRef idx="minor">
                <a:schemeClr val="tx1"/>
              </a:fontRef>
            </p:style>
          </p:cxnSp>
          <p:cxnSp>
            <p:nvCxnSpPr>
              <p:cNvPr id="41" name="Connecteur droit 40"/>
              <p:cNvCxnSpPr/>
              <p:nvPr/>
            </p:nvCxnSpPr>
            <p:spPr>
              <a:xfrm>
                <a:off x="6361576" y="5399088"/>
                <a:ext cx="995362" cy="390525"/>
              </a:xfrm>
              <a:prstGeom prst="line">
                <a:avLst/>
              </a:prstGeom>
              <a:noFill/>
            </p:spPr>
            <p:style>
              <a:lnRef idx="1">
                <a:schemeClr val="accent1"/>
              </a:lnRef>
              <a:fillRef idx="0">
                <a:schemeClr val="accent1"/>
              </a:fillRef>
              <a:effectRef idx="0">
                <a:schemeClr val="accent1"/>
              </a:effectRef>
              <a:fontRef idx="minor">
                <a:schemeClr val="tx1"/>
              </a:fontRef>
            </p:style>
          </p:cxnSp>
          <p:cxnSp>
            <p:nvCxnSpPr>
              <p:cNvPr id="42" name="Connecteur droit 41"/>
              <p:cNvCxnSpPr/>
              <p:nvPr/>
            </p:nvCxnSpPr>
            <p:spPr>
              <a:xfrm flipH="1" flipV="1">
                <a:off x="7171202" y="4413250"/>
                <a:ext cx="180974" cy="1376363"/>
              </a:xfrm>
              <a:prstGeom prst="line">
                <a:avLst/>
              </a:prstGeom>
              <a:noFill/>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Connecteur droit 42"/>
              <p:cNvCxnSpPr/>
              <p:nvPr/>
            </p:nvCxnSpPr>
            <p:spPr>
              <a:xfrm flipV="1">
                <a:off x="6361576" y="3351213"/>
                <a:ext cx="1490662" cy="457933"/>
              </a:xfrm>
              <a:prstGeom prst="line">
                <a:avLst/>
              </a:prstGeom>
              <a:noFill/>
            </p:spPr>
            <p:style>
              <a:lnRef idx="1">
                <a:schemeClr val="accent1"/>
              </a:lnRef>
              <a:fillRef idx="0">
                <a:schemeClr val="accent1"/>
              </a:fillRef>
              <a:effectRef idx="0">
                <a:schemeClr val="accent1"/>
              </a:effectRef>
              <a:fontRef idx="minor">
                <a:schemeClr val="tx1"/>
              </a:fontRef>
            </p:style>
          </p:cxnSp>
          <p:cxnSp>
            <p:nvCxnSpPr>
              <p:cNvPr id="44" name="Connecteur droit 43"/>
              <p:cNvCxnSpPr/>
              <p:nvPr/>
            </p:nvCxnSpPr>
            <p:spPr>
              <a:xfrm flipV="1">
                <a:off x="7171201" y="3351213"/>
                <a:ext cx="681037" cy="1071563"/>
              </a:xfrm>
              <a:prstGeom prst="line">
                <a:avLst/>
              </a:prstGeom>
              <a:noFill/>
            </p:spPr>
            <p:style>
              <a:lnRef idx="1">
                <a:schemeClr val="accent1"/>
              </a:lnRef>
              <a:fillRef idx="0">
                <a:schemeClr val="accent1"/>
              </a:fillRef>
              <a:effectRef idx="0">
                <a:schemeClr val="accent1"/>
              </a:effectRef>
              <a:fontRef idx="minor">
                <a:schemeClr val="tx1"/>
              </a:fontRef>
            </p:style>
          </p:cxnSp>
          <p:cxnSp>
            <p:nvCxnSpPr>
              <p:cNvPr id="45" name="Connecteur droit 44"/>
              <p:cNvCxnSpPr/>
              <p:nvPr/>
            </p:nvCxnSpPr>
            <p:spPr>
              <a:xfrm>
                <a:off x="7852238" y="3351213"/>
                <a:ext cx="1419225" cy="28576"/>
              </a:xfrm>
              <a:prstGeom prst="line">
                <a:avLst/>
              </a:prstGeom>
              <a:noFill/>
            </p:spPr>
            <p:style>
              <a:lnRef idx="1">
                <a:schemeClr val="accent1"/>
              </a:lnRef>
              <a:fillRef idx="0">
                <a:schemeClr val="accent1"/>
              </a:fillRef>
              <a:effectRef idx="0">
                <a:schemeClr val="accent1"/>
              </a:effectRef>
              <a:fontRef idx="minor">
                <a:schemeClr val="tx1"/>
              </a:fontRef>
            </p:style>
          </p:cxnSp>
          <p:cxnSp>
            <p:nvCxnSpPr>
              <p:cNvPr id="46" name="Connecteur droit 45"/>
              <p:cNvCxnSpPr/>
              <p:nvPr/>
            </p:nvCxnSpPr>
            <p:spPr>
              <a:xfrm flipV="1">
                <a:off x="7171201" y="4165600"/>
                <a:ext cx="1328737" cy="247650"/>
              </a:xfrm>
              <a:prstGeom prst="line">
                <a:avLst/>
              </a:prstGeom>
              <a:noFill/>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Connecteur droit 46"/>
              <p:cNvCxnSpPr/>
              <p:nvPr/>
            </p:nvCxnSpPr>
            <p:spPr>
              <a:xfrm flipH="1" flipV="1">
                <a:off x="7852238" y="3351213"/>
                <a:ext cx="639300" cy="814387"/>
              </a:xfrm>
              <a:prstGeom prst="line">
                <a:avLst/>
              </a:prstGeom>
              <a:noFill/>
            </p:spPr>
            <p:style>
              <a:lnRef idx="1">
                <a:schemeClr val="accent1"/>
              </a:lnRef>
              <a:fillRef idx="0">
                <a:schemeClr val="accent1"/>
              </a:fillRef>
              <a:effectRef idx="0">
                <a:schemeClr val="accent1"/>
              </a:effectRef>
              <a:fontRef idx="minor">
                <a:schemeClr val="tx1"/>
              </a:fontRef>
            </p:style>
          </p:cxnSp>
          <p:cxnSp>
            <p:nvCxnSpPr>
              <p:cNvPr id="48" name="Connecteur droit 47"/>
              <p:cNvCxnSpPr/>
              <p:nvPr/>
            </p:nvCxnSpPr>
            <p:spPr>
              <a:xfrm flipV="1">
                <a:off x="8499938" y="3379434"/>
                <a:ext cx="771525" cy="786167"/>
              </a:xfrm>
              <a:prstGeom prst="line">
                <a:avLst/>
              </a:prstGeom>
              <a:noFill/>
            </p:spPr>
            <p:style>
              <a:lnRef idx="1">
                <a:schemeClr val="accent1"/>
              </a:lnRef>
              <a:fillRef idx="0">
                <a:schemeClr val="accent1"/>
              </a:fillRef>
              <a:effectRef idx="0">
                <a:schemeClr val="accent1"/>
              </a:effectRef>
              <a:fontRef idx="minor">
                <a:schemeClr val="tx1"/>
              </a:fontRef>
            </p:style>
          </p:cxnSp>
          <p:cxnSp>
            <p:nvCxnSpPr>
              <p:cNvPr id="49" name="Connecteur droit 48"/>
              <p:cNvCxnSpPr/>
              <p:nvPr/>
            </p:nvCxnSpPr>
            <p:spPr>
              <a:xfrm flipH="1">
                <a:off x="9176213" y="3379434"/>
                <a:ext cx="95250" cy="957616"/>
              </a:xfrm>
              <a:prstGeom prst="line">
                <a:avLst/>
              </a:prstGeom>
              <a:noFill/>
            </p:spPr>
            <p:style>
              <a:lnRef idx="1">
                <a:schemeClr val="accent1"/>
              </a:lnRef>
              <a:fillRef idx="0">
                <a:schemeClr val="accent1"/>
              </a:fillRef>
              <a:effectRef idx="0">
                <a:schemeClr val="accent1"/>
              </a:effectRef>
              <a:fontRef idx="minor">
                <a:schemeClr val="tx1"/>
              </a:fontRef>
            </p:style>
          </p:cxnSp>
          <p:cxnSp>
            <p:nvCxnSpPr>
              <p:cNvPr id="50" name="Connecteur droit 49"/>
              <p:cNvCxnSpPr/>
              <p:nvPr/>
            </p:nvCxnSpPr>
            <p:spPr>
              <a:xfrm>
                <a:off x="8491538" y="4165600"/>
                <a:ext cx="689437" cy="161925"/>
              </a:xfrm>
              <a:prstGeom prst="line">
                <a:avLst/>
              </a:prstGeom>
              <a:noFill/>
            </p:spPr>
            <p:style>
              <a:lnRef idx="1">
                <a:schemeClr val="accent1"/>
              </a:lnRef>
              <a:fillRef idx="0">
                <a:schemeClr val="accent1"/>
              </a:fillRef>
              <a:effectRef idx="0">
                <a:schemeClr val="accent1"/>
              </a:effectRef>
              <a:fontRef idx="minor">
                <a:schemeClr val="tx1"/>
              </a:fontRef>
            </p:style>
          </p:cxnSp>
          <p:cxnSp>
            <p:nvCxnSpPr>
              <p:cNvPr id="51" name="Connecteur droit 50"/>
              <p:cNvCxnSpPr/>
              <p:nvPr/>
            </p:nvCxnSpPr>
            <p:spPr>
              <a:xfrm flipV="1">
                <a:off x="7352176" y="5203825"/>
                <a:ext cx="1076325" cy="585788"/>
              </a:xfrm>
              <a:prstGeom prst="line">
                <a:avLst/>
              </a:prstGeom>
              <a:noFill/>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Connecteur droit 51"/>
              <p:cNvCxnSpPr/>
              <p:nvPr/>
            </p:nvCxnSpPr>
            <p:spPr>
              <a:xfrm flipV="1">
                <a:off x="8428501" y="4165600"/>
                <a:ext cx="63037" cy="1042986"/>
              </a:xfrm>
              <a:prstGeom prst="line">
                <a:avLst/>
              </a:prstGeom>
              <a:noFill/>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Connecteur droit 52"/>
              <p:cNvCxnSpPr/>
              <p:nvPr/>
            </p:nvCxnSpPr>
            <p:spPr>
              <a:xfrm flipV="1">
                <a:off x="8428501" y="5013325"/>
                <a:ext cx="900112" cy="190500"/>
              </a:xfrm>
              <a:prstGeom prst="line">
                <a:avLst/>
              </a:prstGeom>
              <a:noFill/>
            </p:spPr>
            <p:style>
              <a:lnRef idx="1">
                <a:schemeClr val="accent1"/>
              </a:lnRef>
              <a:fillRef idx="0">
                <a:schemeClr val="accent1"/>
              </a:fillRef>
              <a:effectRef idx="0">
                <a:schemeClr val="accent1"/>
              </a:effectRef>
              <a:fontRef idx="minor">
                <a:schemeClr val="tx1"/>
              </a:fontRef>
            </p:style>
          </p:cxnSp>
          <p:cxnSp>
            <p:nvCxnSpPr>
              <p:cNvPr id="54" name="Connecteur droit 53"/>
              <p:cNvCxnSpPr/>
              <p:nvPr/>
            </p:nvCxnSpPr>
            <p:spPr>
              <a:xfrm flipH="1" flipV="1">
                <a:off x="9176213" y="4337051"/>
                <a:ext cx="152400" cy="676274"/>
              </a:xfrm>
              <a:prstGeom prst="line">
                <a:avLst/>
              </a:prstGeom>
              <a:noFill/>
            </p:spPr>
            <p:style>
              <a:lnRef idx="1">
                <a:schemeClr val="accent1"/>
              </a:lnRef>
              <a:fillRef idx="0">
                <a:schemeClr val="accent1"/>
              </a:fillRef>
              <a:effectRef idx="0">
                <a:schemeClr val="accent1"/>
              </a:effectRef>
              <a:fontRef idx="minor">
                <a:schemeClr val="tx1"/>
              </a:fontRef>
            </p:style>
          </p:cxnSp>
          <p:cxnSp>
            <p:nvCxnSpPr>
              <p:cNvPr id="55" name="Connecteur droit 54"/>
              <p:cNvCxnSpPr/>
              <p:nvPr/>
            </p:nvCxnSpPr>
            <p:spPr>
              <a:xfrm flipV="1">
                <a:off x="9176213" y="4122738"/>
                <a:ext cx="805986" cy="204788"/>
              </a:xfrm>
              <a:prstGeom prst="line">
                <a:avLst/>
              </a:prstGeom>
              <a:noFill/>
            </p:spPr>
            <p:style>
              <a:lnRef idx="1">
                <a:schemeClr val="accent1"/>
              </a:lnRef>
              <a:fillRef idx="0">
                <a:schemeClr val="accent1"/>
              </a:fillRef>
              <a:effectRef idx="0">
                <a:schemeClr val="accent1"/>
              </a:effectRef>
              <a:fontRef idx="minor">
                <a:schemeClr val="tx1"/>
              </a:fontRef>
            </p:style>
          </p:cxnSp>
          <p:cxnSp>
            <p:nvCxnSpPr>
              <p:cNvPr id="56" name="Connecteur droit 55"/>
              <p:cNvCxnSpPr/>
              <p:nvPr/>
            </p:nvCxnSpPr>
            <p:spPr>
              <a:xfrm flipH="1" flipV="1">
                <a:off x="9271463" y="3379434"/>
                <a:ext cx="710737" cy="743304"/>
              </a:xfrm>
              <a:prstGeom prst="line">
                <a:avLst/>
              </a:prstGeom>
              <a:noFill/>
            </p:spPr>
            <p:style>
              <a:lnRef idx="1">
                <a:schemeClr val="accent1"/>
              </a:lnRef>
              <a:fillRef idx="0">
                <a:schemeClr val="accent1"/>
              </a:fillRef>
              <a:effectRef idx="0">
                <a:schemeClr val="accent1"/>
              </a:effectRef>
              <a:fontRef idx="minor">
                <a:schemeClr val="tx1"/>
              </a:fontRef>
            </p:style>
          </p:cxnSp>
          <p:cxnSp>
            <p:nvCxnSpPr>
              <p:cNvPr id="57" name="Connecteur droit 56"/>
              <p:cNvCxnSpPr/>
              <p:nvPr/>
            </p:nvCxnSpPr>
            <p:spPr>
              <a:xfrm flipV="1">
                <a:off x="9328613" y="4775200"/>
                <a:ext cx="552450" cy="238125"/>
              </a:xfrm>
              <a:prstGeom prst="line">
                <a:avLst/>
              </a:prstGeom>
              <a:noFill/>
            </p:spPr>
            <p:style>
              <a:lnRef idx="1">
                <a:schemeClr val="accent1"/>
              </a:lnRef>
              <a:fillRef idx="0">
                <a:schemeClr val="accent1"/>
              </a:fillRef>
              <a:effectRef idx="0">
                <a:schemeClr val="accent1"/>
              </a:effectRef>
              <a:fontRef idx="minor">
                <a:schemeClr val="tx1"/>
              </a:fontRef>
            </p:style>
          </p:cxnSp>
          <p:cxnSp>
            <p:nvCxnSpPr>
              <p:cNvPr id="58" name="Connecteur droit 57"/>
              <p:cNvCxnSpPr/>
              <p:nvPr/>
            </p:nvCxnSpPr>
            <p:spPr>
              <a:xfrm flipH="1">
                <a:off x="9881063" y="4122738"/>
                <a:ext cx="101136" cy="652462"/>
              </a:xfrm>
              <a:prstGeom prst="line">
                <a:avLst/>
              </a:prstGeom>
              <a:noFill/>
            </p:spPr>
            <p:style>
              <a:lnRef idx="1">
                <a:schemeClr val="accent1"/>
              </a:lnRef>
              <a:fillRef idx="0">
                <a:schemeClr val="accent1"/>
              </a:fillRef>
              <a:effectRef idx="0">
                <a:schemeClr val="accent1"/>
              </a:effectRef>
              <a:fontRef idx="minor">
                <a:schemeClr val="tx1"/>
              </a:fontRef>
            </p:style>
          </p:cxnSp>
          <p:cxnSp>
            <p:nvCxnSpPr>
              <p:cNvPr id="22" name="Connecteur droit 21"/>
              <p:cNvCxnSpPr/>
              <p:nvPr/>
            </p:nvCxnSpPr>
            <p:spPr>
              <a:xfrm flipH="1">
                <a:off x="6361576" y="4413250"/>
                <a:ext cx="809625" cy="16979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3" name="Connecteur droit 22"/>
              <p:cNvCxnSpPr/>
              <p:nvPr/>
            </p:nvCxnSpPr>
            <p:spPr>
              <a:xfrm>
                <a:off x="6361576" y="3809146"/>
                <a:ext cx="414751" cy="1098576"/>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4" name="Connecteur droit 23"/>
              <p:cNvCxnSpPr/>
              <p:nvPr/>
            </p:nvCxnSpPr>
            <p:spPr>
              <a:xfrm flipV="1">
                <a:off x="6361576" y="4122738"/>
                <a:ext cx="391560" cy="127635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5" name="Ellipse 24"/>
              <p:cNvSpPr>
                <a:spLocks noChangeAspect="1"/>
              </p:cNvSpPr>
              <p:nvPr/>
            </p:nvSpPr>
            <p:spPr>
              <a:xfrm>
                <a:off x="6577361" y="4449647"/>
                <a:ext cx="124178" cy="13546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llipse 25"/>
              <p:cNvSpPr>
                <a:spLocks noChangeAspect="1"/>
              </p:cNvSpPr>
              <p:nvPr/>
            </p:nvSpPr>
            <p:spPr>
              <a:xfrm>
                <a:off x="7054756" y="3861709"/>
                <a:ext cx="124178" cy="13546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Ellipse 26"/>
              <p:cNvSpPr>
                <a:spLocks noChangeAspect="1"/>
              </p:cNvSpPr>
              <p:nvPr/>
            </p:nvSpPr>
            <p:spPr>
              <a:xfrm>
                <a:off x="6884129" y="5091193"/>
                <a:ext cx="124178" cy="13546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llipse 27"/>
              <p:cNvSpPr>
                <a:spLocks noChangeAspect="1"/>
              </p:cNvSpPr>
              <p:nvPr/>
            </p:nvSpPr>
            <p:spPr>
              <a:xfrm>
                <a:off x="7785387" y="4807154"/>
                <a:ext cx="124178" cy="13546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llipse 29"/>
              <p:cNvSpPr>
                <a:spLocks noChangeAspect="1"/>
              </p:cNvSpPr>
              <p:nvPr/>
            </p:nvSpPr>
            <p:spPr>
              <a:xfrm>
                <a:off x="7785387" y="3897354"/>
                <a:ext cx="124178" cy="13546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Ellipse 30"/>
              <p:cNvSpPr>
                <a:spLocks noChangeAspect="1"/>
              </p:cNvSpPr>
              <p:nvPr/>
            </p:nvSpPr>
            <p:spPr>
              <a:xfrm>
                <a:off x="8442436" y="3589401"/>
                <a:ext cx="124178" cy="13546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Ellipse 31"/>
              <p:cNvSpPr>
                <a:spLocks noChangeAspect="1"/>
              </p:cNvSpPr>
              <p:nvPr/>
            </p:nvSpPr>
            <p:spPr>
              <a:xfrm>
                <a:off x="8796625" y="4630524"/>
                <a:ext cx="124178" cy="13546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Ellipse 34"/>
              <p:cNvSpPr>
                <a:spLocks noChangeAspect="1"/>
              </p:cNvSpPr>
              <p:nvPr/>
            </p:nvSpPr>
            <p:spPr>
              <a:xfrm>
                <a:off x="9530403" y="4479084"/>
                <a:ext cx="124178" cy="13546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Ellipse 35"/>
              <p:cNvSpPr>
                <a:spLocks noChangeAspect="1"/>
              </p:cNvSpPr>
              <p:nvPr/>
            </p:nvSpPr>
            <p:spPr>
              <a:xfrm>
                <a:off x="8915011" y="3931030"/>
                <a:ext cx="124178" cy="13546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Ellipse 36"/>
              <p:cNvSpPr>
                <a:spLocks noChangeAspect="1"/>
              </p:cNvSpPr>
              <p:nvPr/>
            </p:nvSpPr>
            <p:spPr>
              <a:xfrm>
                <a:off x="9408487" y="3897354"/>
                <a:ext cx="124178" cy="13546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1" name="Connecteur droit 60"/>
              <p:cNvCxnSpPr/>
              <p:nvPr/>
            </p:nvCxnSpPr>
            <p:spPr>
              <a:xfrm>
                <a:off x="7178934" y="4422775"/>
                <a:ext cx="13174" cy="8548"/>
              </a:xfrm>
              <a:prstGeom prst="line">
                <a:avLst/>
              </a:prstGeom>
            </p:spPr>
            <p:style>
              <a:lnRef idx="1">
                <a:schemeClr val="accent1"/>
              </a:lnRef>
              <a:fillRef idx="0">
                <a:schemeClr val="accent1"/>
              </a:fillRef>
              <a:effectRef idx="0">
                <a:schemeClr val="accent1"/>
              </a:effectRef>
              <a:fontRef idx="minor">
                <a:schemeClr val="tx1"/>
              </a:fontRef>
            </p:style>
          </p:cxnSp>
          <p:sp>
            <p:nvSpPr>
              <p:cNvPr id="62" name="ZoneTexte 61"/>
              <p:cNvSpPr txBox="1"/>
              <p:nvPr/>
            </p:nvSpPr>
            <p:spPr>
              <a:xfrm>
                <a:off x="7292973" y="5303009"/>
                <a:ext cx="437492" cy="369332"/>
              </a:xfrm>
              <a:prstGeom prst="rect">
                <a:avLst/>
              </a:prstGeom>
              <a:noFill/>
            </p:spPr>
            <p:txBody>
              <a:bodyPr wrap="none" rtlCol="0">
                <a:spAutoFit/>
              </a:bodyPr>
              <a:lstStyle/>
              <a:p>
                <a:r>
                  <a:rPr lang="fr-FR" dirty="0"/>
                  <a:t>VC</a:t>
                </a:r>
              </a:p>
            </p:txBody>
          </p:sp>
        </p:grpSp>
        <p:pic>
          <p:nvPicPr>
            <p:cNvPr id="10" name="Image 9"/>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10023577" y="4032821"/>
              <a:ext cx="1005714" cy="160000"/>
            </a:xfrm>
            <a:prstGeom prst="rect">
              <a:avLst/>
            </a:prstGeom>
          </p:spPr>
        </p:pic>
      </p:grpSp>
      <p:sp>
        <p:nvSpPr>
          <p:cNvPr id="64" name="ZoneTexte 63"/>
          <p:cNvSpPr txBox="1"/>
          <p:nvPr/>
        </p:nvSpPr>
        <p:spPr>
          <a:xfrm>
            <a:off x="267165" y="4926214"/>
            <a:ext cx="11402865" cy="1631216"/>
          </a:xfrm>
          <a:prstGeom prst="rect">
            <a:avLst/>
          </a:prstGeom>
          <a:noFill/>
        </p:spPr>
        <p:txBody>
          <a:bodyPr wrap="none" rtlCol="0">
            <a:spAutoFit/>
          </a:bodyPr>
          <a:lstStyle/>
          <a:p>
            <a:r>
              <a:rPr lang="fr-FR" sz="2000" dirty="0">
                <a:latin typeface="Euclid" panose="02020503060505020303" pitchFamily="18" charset="0"/>
                <a:cs typeface="Arial" panose="020B0604020202020204" pitchFamily="34" charset="0"/>
              </a:rPr>
              <a:t>La discrétisation en volumes finis nœuds centrés permet de mieux représenter la moyenne </a:t>
            </a:r>
          </a:p>
          <a:p>
            <a:r>
              <a:rPr lang="fr-FR" sz="2000" dirty="0">
                <a:latin typeface="Euclid" panose="02020503060505020303" pitchFamily="18" charset="0"/>
                <a:cs typeface="Arial" panose="020B0604020202020204" pitchFamily="34" charset="0"/>
              </a:rPr>
              <a:t>de la quantité dans le VC (précision d’ordre 2), car le nœud est au centre du </a:t>
            </a:r>
            <a:r>
              <a:rPr lang="fr-FR" sz="2000" dirty="0" smtClean="0">
                <a:latin typeface="Euclid" panose="02020503060505020303" pitchFamily="18" charset="0"/>
                <a:cs typeface="Arial" panose="020B0604020202020204" pitchFamily="34" charset="0"/>
              </a:rPr>
              <a:t>volume fini. </a:t>
            </a:r>
          </a:p>
          <a:p>
            <a:r>
              <a:rPr lang="fr-FR" sz="2000" dirty="0" smtClean="0">
                <a:latin typeface="Euclid" panose="02020503060505020303" pitchFamily="18" charset="0"/>
                <a:cs typeface="Arial" panose="020B0604020202020204" pitchFamily="34" charset="0"/>
              </a:rPr>
              <a:t>Cette </a:t>
            </a:r>
            <a:r>
              <a:rPr lang="fr-FR" sz="2000" dirty="0">
                <a:latin typeface="Euclid" panose="02020503060505020303" pitchFamily="18" charset="0"/>
                <a:cs typeface="Arial" panose="020B0604020202020204" pitchFamily="34" charset="0"/>
              </a:rPr>
              <a:t>méthode est plus couramment utilisée dans les logiciels de volumes finis comme Fluent</a:t>
            </a:r>
          </a:p>
          <a:p>
            <a:r>
              <a:rPr lang="fr-FR" sz="2000" dirty="0">
                <a:latin typeface="Euclid" panose="02020503060505020303" pitchFamily="18" charset="0"/>
                <a:cs typeface="Arial" panose="020B0604020202020204" pitchFamily="34" charset="0"/>
              </a:rPr>
              <a:t>et </a:t>
            </a:r>
            <a:r>
              <a:rPr lang="fr-FR" sz="2000" dirty="0" err="1">
                <a:latin typeface="Euclid" panose="02020503060505020303" pitchFamily="18" charset="0"/>
                <a:cs typeface="Arial" panose="020B0604020202020204" pitchFamily="34" charset="0"/>
              </a:rPr>
              <a:t>OpenFoam</a:t>
            </a:r>
            <a:r>
              <a:rPr lang="fr-FR" sz="2000" dirty="0">
                <a:latin typeface="Euclid" panose="02020503060505020303" pitchFamily="18" charset="0"/>
                <a:cs typeface="Arial" panose="020B0604020202020204" pitchFamily="34" charset="0"/>
              </a:rPr>
              <a:t>. C’est celle qui est adoptée dans le livre de référence de </a:t>
            </a:r>
            <a:r>
              <a:rPr lang="fr-FR" sz="2000" dirty="0" err="1">
                <a:latin typeface="Euclid" panose="02020503060505020303" pitchFamily="18" charset="0"/>
                <a:cs typeface="Arial" panose="020B0604020202020204" pitchFamily="34" charset="0"/>
              </a:rPr>
              <a:t>Ferziger</a:t>
            </a:r>
            <a:endParaRPr lang="fr-FR" sz="2000" dirty="0">
              <a:latin typeface="Euclid" panose="02020503060505020303" pitchFamily="18" charset="0"/>
              <a:cs typeface="Arial" panose="020B0604020202020204" pitchFamily="34" charset="0"/>
            </a:endParaRPr>
          </a:p>
          <a:p>
            <a:r>
              <a:rPr lang="fr-FR" sz="2000" b="1" dirty="0" err="1">
                <a:latin typeface="Euclid" panose="02020503060505020303" pitchFamily="18" charset="0"/>
              </a:rPr>
              <a:t>Ferziger</a:t>
            </a:r>
            <a:r>
              <a:rPr lang="fr-FR" sz="2000" b="1" dirty="0">
                <a:latin typeface="Euclid" panose="02020503060505020303" pitchFamily="18" charset="0"/>
              </a:rPr>
              <a:t>, J. H., &amp; </a:t>
            </a:r>
            <a:r>
              <a:rPr lang="fr-FR" sz="2000" b="1" dirty="0" err="1">
                <a:latin typeface="Euclid" panose="02020503060505020303" pitchFamily="18" charset="0"/>
              </a:rPr>
              <a:t>Perić</a:t>
            </a:r>
            <a:r>
              <a:rPr lang="fr-FR" sz="2000" b="1" dirty="0">
                <a:latin typeface="Euclid" panose="02020503060505020303" pitchFamily="18" charset="0"/>
              </a:rPr>
              <a:t>, M.</a:t>
            </a:r>
            <a:r>
              <a:rPr lang="fr-FR" sz="2000" dirty="0">
                <a:latin typeface="Euclid" panose="02020503060505020303" pitchFamily="18" charset="0"/>
              </a:rPr>
              <a:t> (2002). </a:t>
            </a:r>
            <a:r>
              <a:rPr lang="fr-FR" sz="2000" i="1" dirty="0" err="1">
                <a:latin typeface="Euclid" panose="02020503060505020303" pitchFamily="18" charset="0"/>
              </a:rPr>
              <a:t>Computational</a:t>
            </a:r>
            <a:r>
              <a:rPr lang="fr-FR" sz="2000" i="1" dirty="0">
                <a:latin typeface="Euclid" panose="02020503060505020303" pitchFamily="18" charset="0"/>
              </a:rPr>
              <a:t> </a:t>
            </a:r>
            <a:r>
              <a:rPr lang="fr-FR" sz="2000" i="1" dirty="0" err="1">
                <a:latin typeface="Euclid" panose="02020503060505020303" pitchFamily="18" charset="0"/>
              </a:rPr>
              <a:t>Methods</a:t>
            </a:r>
            <a:r>
              <a:rPr lang="fr-FR" sz="2000" i="1" dirty="0">
                <a:latin typeface="Euclid" panose="02020503060505020303" pitchFamily="18" charset="0"/>
              </a:rPr>
              <a:t> for </a:t>
            </a:r>
            <a:r>
              <a:rPr lang="fr-FR" sz="2000" i="1" dirty="0" err="1">
                <a:latin typeface="Euclid" panose="02020503060505020303" pitchFamily="18" charset="0"/>
              </a:rPr>
              <a:t>Fluid</a:t>
            </a:r>
            <a:r>
              <a:rPr lang="fr-FR" sz="2000" i="1" dirty="0">
                <a:latin typeface="Euclid" panose="02020503060505020303" pitchFamily="18" charset="0"/>
              </a:rPr>
              <a:t> Dynamics</a:t>
            </a:r>
            <a:r>
              <a:rPr lang="fr-FR" sz="2000" dirty="0">
                <a:latin typeface="Euclid" panose="02020503060505020303" pitchFamily="18" charset="0"/>
              </a:rPr>
              <a:t> (4th </a:t>
            </a:r>
            <a:r>
              <a:rPr lang="fr-FR" sz="2000" dirty="0" err="1">
                <a:latin typeface="Euclid" panose="02020503060505020303" pitchFamily="18" charset="0"/>
              </a:rPr>
              <a:t>ed</a:t>
            </a:r>
            <a:r>
              <a:rPr lang="fr-FR" sz="2000" dirty="0">
                <a:latin typeface="Euclid" panose="02020503060505020303" pitchFamily="18" charset="0"/>
              </a:rPr>
              <a:t>.). Springer</a:t>
            </a:r>
            <a:r>
              <a:rPr lang="fr-FR" sz="2000" dirty="0" smtClean="0">
                <a:latin typeface="Euclid" panose="02020503060505020303" pitchFamily="18" charset="0"/>
              </a:rPr>
              <a:t>.</a:t>
            </a:r>
            <a:endParaRPr lang="fr-FR" sz="2000" dirty="0">
              <a:latin typeface="Euclid" panose="02020503060505020303" pitchFamily="18" charset="0"/>
              <a:cs typeface="Arial" panose="020B0604020202020204" pitchFamily="34" charset="0"/>
            </a:endParaRPr>
          </a:p>
        </p:txBody>
      </p:sp>
    </p:spTree>
    <p:extLst>
      <p:ext uri="{BB962C8B-B14F-4D97-AF65-F5344CB8AC3E}">
        <p14:creationId xmlns:p14="http://schemas.microsoft.com/office/powerpoint/2010/main" val="14780356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1CB95D3C-87B7-42DD-97F8-1F43ACE143A3}" type="slidenum">
              <a:rPr lang="fr-FR" smtClean="0"/>
              <a:t>5</a:t>
            </a:fld>
            <a:endParaRPr lang="fr-FR"/>
          </a:p>
        </p:txBody>
      </p:sp>
      <p:pic>
        <p:nvPicPr>
          <p:cNvPr id="5" name="Image 4">
            <a:extLst>
              <a:ext uri="{FF2B5EF4-FFF2-40B4-BE49-F238E27FC236}">
                <a16:creationId xmlns:a16="http://schemas.microsoft.com/office/drawing/2014/main" id="{BB85D429-0D85-7857-943C-F5222125F7FD}"/>
              </a:ext>
            </a:extLst>
          </p:cNvPr>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433489" y="321899"/>
            <a:ext cx="11649451" cy="3939230"/>
          </a:xfrm>
          <a:prstGeom prst="rect">
            <a:avLst/>
          </a:prstGeom>
        </p:spPr>
      </p:pic>
      <p:grpSp>
        <p:nvGrpSpPr>
          <p:cNvPr id="8" name="Groupe 7"/>
          <p:cNvGrpSpPr/>
          <p:nvPr/>
        </p:nvGrpSpPr>
        <p:grpSpPr>
          <a:xfrm>
            <a:off x="3386129" y="4426212"/>
            <a:ext cx="5652642" cy="1836406"/>
            <a:chOff x="3386129" y="4426212"/>
            <a:chExt cx="5652642" cy="1836406"/>
          </a:xfrm>
        </p:grpSpPr>
        <p:grpSp>
          <p:nvGrpSpPr>
            <p:cNvPr id="6" name="Groupe 5"/>
            <p:cNvGrpSpPr/>
            <p:nvPr/>
          </p:nvGrpSpPr>
          <p:grpSpPr>
            <a:xfrm>
              <a:off x="3386129" y="4426212"/>
              <a:ext cx="5652642" cy="1601739"/>
              <a:chOff x="3386129" y="4426212"/>
              <a:chExt cx="5652642" cy="1601739"/>
            </a:xfrm>
          </p:grpSpPr>
          <p:pic>
            <p:nvPicPr>
              <p:cNvPr id="29" name="Image 28"/>
              <p:cNvPicPr>
                <a:picLocks noChangeAspect="1"/>
              </p:cNvPicPr>
              <p:nvPr/>
            </p:nvPicPr>
            <p:blipFill rotWithShape="1">
              <a:blip r:embed="rId10"/>
              <a:srcRect l="32074"/>
              <a:stretch/>
            </p:blipFill>
            <p:spPr>
              <a:xfrm>
                <a:off x="3386129" y="4762921"/>
                <a:ext cx="5652642" cy="1265030"/>
              </a:xfrm>
              <a:prstGeom prst="rect">
                <a:avLst/>
              </a:prstGeom>
            </p:spPr>
          </p:pic>
          <p:cxnSp>
            <p:nvCxnSpPr>
              <p:cNvPr id="31" name="Connecteur droit avec flèche 30"/>
              <p:cNvCxnSpPr/>
              <p:nvPr/>
            </p:nvCxnSpPr>
            <p:spPr>
              <a:xfrm>
                <a:off x="5209067" y="4771145"/>
                <a:ext cx="1916724"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 name="Image 2"/>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5319201" y="4426212"/>
                <a:ext cx="1734856" cy="211200"/>
              </a:xfrm>
              <a:prstGeom prst="rect">
                <a:avLst/>
              </a:prstGeom>
            </p:spPr>
          </p:pic>
          <p:pic>
            <p:nvPicPr>
              <p:cNvPr id="39" name="Image 38"/>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tretch>
                <a:fillRect/>
              </a:stretch>
            </p:blipFill>
            <p:spPr>
              <a:xfrm>
                <a:off x="6076915" y="5503376"/>
                <a:ext cx="181028" cy="135771"/>
              </a:xfrm>
              <a:prstGeom prst="rect">
                <a:avLst/>
              </a:prstGeom>
            </p:spPr>
          </p:pic>
          <p:pic>
            <p:nvPicPr>
              <p:cNvPr id="41" name="Image 40"/>
              <p:cNvPicPr>
                <a:picLocks noChangeAspect="1"/>
              </p:cNvPicPr>
              <p:nvPr>
                <p:custDataLst>
                  <p:tags r:id="rId6"/>
                </p:custDataLst>
              </p:nvPr>
            </p:nvPicPr>
            <p:blipFill>
              <a:blip r:embed="rId13" cstate="print">
                <a:extLst>
                  <a:ext uri="{28A0092B-C50C-407E-A947-70E740481C1C}">
                    <a14:useLocalDpi xmlns:a14="http://schemas.microsoft.com/office/drawing/2010/main" val="0"/>
                  </a:ext>
                </a:extLst>
              </a:blip>
              <a:stretch>
                <a:fillRect/>
              </a:stretch>
            </p:blipFill>
            <p:spPr>
              <a:xfrm>
                <a:off x="7590004" y="5481725"/>
                <a:ext cx="404570" cy="153600"/>
              </a:xfrm>
              <a:prstGeom prst="rect">
                <a:avLst/>
              </a:prstGeom>
            </p:spPr>
          </p:pic>
          <p:pic>
            <p:nvPicPr>
              <p:cNvPr id="43" name="Image 42"/>
              <p:cNvPicPr>
                <a:picLocks noChangeAspect="1"/>
              </p:cNvPicPr>
              <p:nvPr>
                <p:custDataLst>
                  <p:tags r:id="rId7"/>
                </p:custDataLst>
              </p:nvPr>
            </p:nvPicPr>
            <p:blipFill>
              <a:blip r:embed="rId14" cstate="print">
                <a:extLst>
                  <a:ext uri="{28A0092B-C50C-407E-A947-70E740481C1C}">
                    <a14:useLocalDpi xmlns:a14="http://schemas.microsoft.com/office/drawing/2010/main" val="0"/>
                  </a:ext>
                </a:extLst>
              </a:blip>
              <a:stretch>
                <a:fillRect/>
              </a:stretch>
            </p:blipFill>
            <p:spPr>
              <a:xfrm>
                <a:off x="4357710" y="5503375"/>
                <a:ext cx="407313" cy="135771"/>
              </a:xfrm>
              <a:prstGeom prst="rect">
                <a:avLst/>
              </a:prstGeom>
            </p:spPr>
          </p:pic>
        </p:grpSp>
        <p:pic>
          <p:nvPicPr>
            <p:cNvPr id="4" name="Image 3"/>
            <p:cNvPicPr>
              <a:picLocks noChangeAspect="1"/>
            </p:cNvPicPr>
            <p:nvPr>
              <p:custDataLst>
                <p:tags r:id="rId2"/>
              </p:custDataLst>
            </p:nvPr>
          </p:nvPicPr>
          <p:blipFill>
            <a:blip r:embed="rId15" cstate="print">
              <a:extLst>
                <a:ext uri="{28A0092B-C50C-407E-A947-70E740481C1C}">
                  <a14:useLocalDpi xmlns:a14="http://schemas.microsoft.com/office/drawing/2010/main" val="0"/>
                </a:ext>
              </a:extLst>
            </a:blip>
            <a:stretch>
              <a:fillRect/>
            </a:stretch>
          </p:blipFill>
          <p:spPr>
            <a:xfrm>
              <a:off x="6884267" y="6027951"/>
              <a:ext cx="483048" cy="234667"/>
            </a:xfrm>
            <a:prstGeom prst="rect">
              <a:avLst/>
            </a:prstGeom>
          </p:spPr>
        </p:pic>
        <p:pic>
          <p:nvPicPr>
            <p:cNvPr id="7" name="Image 6"/>
            <p:cNvPicPr>
              <a:picLocks noChangeAspect="1"/>
            </p:cNvPicPr>
            <p:nvPr>
              <p:custDataLst>
                <p:tags r:id="rId3"/>
              </p:custDataLst>
            </p:nvPr>
          </p:nvPicPr>
          <p:blipFill>
            <a:blip r:embed="rId16" cstate="print">
              <a:extLst>
                <a:ext uri="{28A0092B-C50C-407E-A947-70E740481C1C}">
                  <a14:useLocalDpi xmlns:a14="http://schemas.microsoft.com/office/drawing/2010/main" val="0"/>
                </a:ext>
              </a:extLst>
            </a:blip>
            <a:stretch>
              <a:fillRect/>
            </a:stretch>
          </p:blipFill>
          <p:spPr>
            <a:xfrm>
              <a:off x="4967543" y="6027951"/>
              <a:ext cx="484572" cy="234667"/>
            </a:xfrm>
            <a:prstGeom prst="rect">
              <a:avLst/>
            </a:prstGeom>
          </p:spPr>
        </p:pic>
      </p:grpSp>
    </p:spTree>
    <p:extLst>
      <p:ext uri="{BB962C8B-B14F-4D97-AF65-F5344CB8AC3E}">
        <p14:creationId xmlns:p14="http://schemas.microsoft.com/office/powerpoint/2010/main" val="29585298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1CB95D3C-87B7-42DD-97F8-1F43ACE143A3}" type="slidenum">
              <a:rPr lang="fr-FR" smtClean="0"/>
              <a:t>6</a:t>
            </a:fld>
            <a:endParaRPr lang="fr-FR"/>
          </a:p>
        </p:txBody>
      </p:sp>
      <p:pic>
        <p:nvPicPr>
          <p:cNvPr id="3" name="Image 2"/>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239350" y="74592"/>
            <a:ext cx="11498658" cy="5955051"/>
          </a:xfrm>
          <a:prstGeom prst="rect">
            <a:avLst/>
          </a:prstGeom>
        </p:spPr>
      </p:pic>
      <p:grpSp>
        <p:nvGrpSpPr>
          <p:cNvPr id="6" name="Groupe 5"/>
          <p:cNvGrpSpPr/>
          <p:nvPr/>
        </p:nvGrpSpPr>
        <p:grpSpPr>
          <a:xfrm>
            <a:off x="8807572" y="3414021"/>
            <a:ext cx="2349256" cy="1842790"/>
            <a:chOff x="8807572" y="3414021"/>
            <a:chExt cx="2349256" cy="1842790"/>
          </a:xfrm>
        </p:grpSpPr>
        <p:pic>
          <p:nvPicPr>
            <p:cNvPr id="24" name="Image 23"/>
            <p:cNvPicPr>
              <a:picLocks noChangeAspect="1"/>
            </p:cNvPicPr>
            <p:nvPr/>
          </p:nvPicPr>
          <p:blipFill rotWithShape="1">
            <a:blip r:embed="rId8"/>
            <a:srcRect l="53504" r="22574"/>
            <a:stretch/>
          </p:blipFill>
          <p:spPr>
            <a:xfrm>
              <a:off x="8875810" y="3750730"/>
              <a:ext cx="1990726" cy="1265030"/>
            </a:xfrm>
            <a:prstGeom prst="rect">
              <a:avLst/>
            </a:prstGeom>
          </p:spPr>
        </p:pic>
        <p:cxnSp>
          <p:nvCxnSpPr>
            <p:cNvPr id="25" name="Connecteur droit avec flèche 24"/>
            <p:cNvCxnSpPr/>
            <p:nvPr/>
          </p:nvCxnSpPr>
          <p:spPr>
            <a:xfrm>
              <a:off x="8915495" y="3758954"/>
              <a:ext cx="1916724"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2" name="Image 31"/>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10722085" y="5045611"/>
              <a:ext cx="434743" cy="211200"/>
            </a:xfrm>
            <a:prstGeom prst="rect">
              <a:avLst/>
            </a:prstGeom>
          </p:spPr>
        </p:pic>
        <p:pic>
          <p:nvPicPr>
            <p:cNvPr id="5" name="Image 4"/>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9025629" y="3414021"/>
              <a:ext cx="1734856" cy="211200"/>
            </a:xfrm>
            <a:prstGeom prst="rect">
              <a:avLst/>
            </a:prstGeom>
          </p:spPr>
        </p:pic>
        <p:pic>
          <p:nvPicPr>
            <p:cNvPr id="29" name="Image 28"/>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9783343" y="4491185"/>
              <a:ext cx="181028" cy="135771"/>
            </a:xfrm>
            <a:prstGeom prst="rect">
              <a:avLst/>
            </a:prstGeom>
          </p:spPr>
        </p:pic>
        <p:pic>
          <p:nvPicPr>
            <p:cNvPr id="34" name="Image 33"/>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tretch>
              <a:fillRect/>
            </a:stretch>
          </p:blipFill>
          <p:spPr>
            <a:xfrm>
              <a:off x="8807572" y="5015760"/>
              <a:ext cx="436114" cy="211200"/>
            </a:xfrm>
            <a:prstGeom prst="rect">
              <a:avLst/>
            </a:prstGeom>
          </p:spPr>
        </p:pic>
      </p:grpSp>
    </p:spTree>
    <p:extLst>
      <p:ext uri="{BB962C8B-B14F-4D97-AF65-F5344CB8AC3E}">
        <p14:creationId xmlns:p14="http://schemas.microsoft.com/office/powerpoint/2010/main" val="15045056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F8E8574-BD95-815F-1FC1-86CB8373B83E}"/>
              </a:ext>
            </a:extLst>
          </p:cNvPr>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313802" y="90503"/>
            <a:ext cx="11824214" cy="6500359"/>
          </a:xfrm>
          <a:prstGeom prst="rect">
            <a:avLst/>
          </a:prstGeom>
        </p:spPr>
      </p:pic>
      <p:grpSp>
        <p:nvGrpSpPr>
          <p:cNvPr id="15" name="Groupe 14"/>
          <p:cNvGrpSpPr/>
          <p:nvPr/>
        </p:nvGrpSpPr>
        <p:grpSpPr>
          <a:xfrm>
            <a:off x="1958487" y="3007471"/>
            <a:ext cx="2628900" cy="1359144"/>
            <a:chOff x="1800225" y="2840417"/>
            <a:chExt cx="2628900" cy="1359144"/>
          </a:xfrm>
        </p:grpSpPr>
        <p:pic>
          <p:nvPicPr>
            <p:cNvPr id="33" name="Image 32"/>
            <p:cNvPicPr>
              <a:picLocks noChangeAspect="1"/>
            </p:cNvPicPr>
            <p:nvPr/>
          </p:nvPicPr>
          <p:blipFill rotWithShape="1">
            <a:blip r:embed="rId7"/>
            <a:srcRect l="58802" r="9608"/>
            <a:stretch/>
          </p:blipFill>
          <p:spPr>
            <a:xfrm>
              <a:off x="1800225" y="2934531"/>
              <a:ext cx="2628900" cy="1265030"/>
            </a:xfrm>
            <a:prstGeom prst="rect">
              <a:avLst/>
            </a:prstGeom>
          </p:spPr>
        </p:pic>
        <p:pic>
          <p:nvPicPr>
            <p:cNvPr id="38" name="Image 37"/>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2266915" y="3674986"/>
              <a:ext cx="181028" cy="135771"/>
            </a:xfrm>
            <a:prstGeom prst="rect">
              <a:avLst/>
            </a:prstGeom>
          </p:spPr>
        </p:pic>
        <p:pic>
          <p:nvPicPr>
            <p:cNvPr id="39" name="Image 38"/>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3780004" y="3653335"/>
              <a:ext cx="404570" cy="153600"/>
            </a:xfrm>
            <a:prstGeom prst="rect">
              <a:avLst/>
            </a:prstGeom>
          </p:spPr>
        </p:pic>
        <p:sp>
          <p:nvSpPr>
            <p:cNvPr id="45" name="ZoneTexte 44"/>
            <p:cNvSpPr txBox="1"/>
            <p:nvPr/>
          </p:nvSpPr>
          <p:spPr>
            <a:xfrm>
              <a:off x="2962229" y="2840417"/>
              <a:ext cx="748923" cy="523220"/>
            </a:xfrm>
            <a:prstGeom prst="rect">
              <a:avLst/>
            </a:prstGeom>
            <a:noFill/>
          </p:spPr>
          <p:txBody>
            <a:bodyPr wrap="none" rtlCol="0">
              <a:spAutoFit/>
            </a:bodyPr>
            <a:lstStyle/>
            <a:p>
              <a:r>
                <a:rPr lang="fr-FR" sz="2800" dirty="0">
                  <a:latin typeface="Arial Black" panose="020B0A04020102020204" pitchFamily="34" charset="0"/>
                </a:rPr>
                <a:t>-  </a:t>
              </a:r>
              <a:r>
                <a:rPr lang="fr-FR" sz="2400" dirty="0">
                  <a:latin typeface="Arial Black" panose="020B0A04020102020204" pitchFamily="34" charset="0"/>
                </a:rPr>
                <a:t>+</a:t>
              </a:r>
            </a:p>
          </p:txBody>
        </p:sp>
        <p:pic>
          <p:nvPicPr>
            <p:cNvPr id="14" name="Image 13"/>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3119319" y="3701335"/>
              <a:ext cx="434741" cy="211200"/>
            </a:xfrm>
            <a:prstGeom prst="rect">
              <a:avLst/>
            </a:prstGeom>
            <a:solidFill>
              <a:schemeClr val="bg1"/>
            </a:solidFill>
          </p:spPr>
        </p:pic>
      </p:grpSp>
    </p:spTree>
    <p:extLst>
      <p:ext uri="{BB962C8B-B14F-4D97-AF65-F5344CB8AC3E}">
        <p14:creationId xmlns:p14="http://schemas.microsoft.com/office/powerpoint/2010/main" val="35834357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1CB95D3C-87B7-42DD-97F8-1F43ACE143A3}" type="slidenum">
              <a:rPr lang="fr-FR" smtClean="0"/>
              <a:t>8</a:t>
            </a:fld>
            <a:endParaRPr lang="fr-FR"/>
          </a:p>
        </p:txBody>
      </p:sp>
      <p:pic>
        <p:nvPicPr>
          <p:cNvPr id="7" name="Image 6">
            <a:extLst>
              <a:ext uri="{FF2B5EF4-FFF2-40B4-BE49-F238E27FC236}">
                <a16:creationId xmlns:a16="http://schemas.microsoft.com/office/drawing/2014/main" id="{767EAD34-B2E2-7F81-B7C6-189DC66DE3E7}"/>
              </a:ext>
            </a:extLst>
          </p:cNvPr>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632601" y="199783"/>
            <a:ext cx="8719312" cy="5677412"/>
          </a:xfrm>
          <a:prstGeom prst="rect">
            <a:avLst/>
          </a:prstGeom>
        </p:spPr>
      </p:pic>
      <p:pic>
        <p:nvPicPr>
          <p:cNvPr id="8" name="Image 7"/>
          <p:cNvPicPr>
            <a:picLocks noChangeAspect="1"/>
          </p:cNvPicPr>
          <p:nvPr/>
        </p:nvPicPr>
        <p:blipFill rotWithShape="1">
          <a:blip r:embed="rId11"/>
          <a:srcRect l="53536" r="-1"/>
          <a:stretch/>
        </p:blipFill>
        <p:spPr>
          <a:xfrm>
            <a:off x="7696723" y="2395797"/>
            <a:ext cx="3866696" cy="1265030"/>
          </a:xfrm>
          <a:prstGeom prst="rect">
            <a:avLst/>
          </a:prstGeom>
        </p:spPr>
      </p:pic>
      <p:cxnSp>
        <p:nvCxnSpPr>
          <p:cNvPr id="9" name="Connecteur droit avec flèche 8"/>
          <p:cNvCxnSpPr/>
          <p:nvPr/>
        </p:nvCxnSpPr>
        <p:spPr>
          <a:xfrm>
            <a:off x="7733715" y="2404021"/>
            <a:ext cx="1916724"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4" name="Image 13"/>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7843849" y="2059088"/>
            <a:ext cx="1350856" cy="211200"/>
          </a:xfrm>
          <a:prstGeom prst="rect">
            <a:avLst/>
          </a:prstGeom>
        </p:spPr>
      </p:pic>
      <p:cxnSp>
        <p:nvCxnSpPr>
          <p:cNvPr id="12" name="Connecteur droit avec flèche 11"/>
          <p:cNvCxnSpPr/>
          <p:nvPr/>
        </p:nvCxnSpPr>
        <p:spPr>
          <a:xfrm>
            <a:off x="7733715" y="3754955"/>
            <a:ext cx="958362"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7" name="Image 16"/>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10215657" y="3242641"/>
            <a:ext cx="205713" cy="134400"/>
          </a:xfrm>
          <a:prstGeom prst="rect">
            <a:avLst/>
          </a:prstGeom>
        </p:spPr>
      </p:pic>
      <p:pic>
        <p:nvPicPr>
          <p:cNvPr id="16" name="Image 15"/>
          <p:cNvPicPr>
            <a:picLocks noChangeAspect="1"/>
          </p:cNvPicPr>
          <p:nvPr>
            <p:custDataLst>
              <p:tags r:id="rId4"/>
            </p:custDataLst>
          </p:nvPr>
        </p:nvPicPr>
        <p:blipFill>
          <a:blip r:embed="rId14" cstate="print">
            <a:extLst>
              <a:ext uri="{28A0092B-C50C-407E-A947-70E740481C1C}">
                <a14:useLocalDpi xmlns:a14="http://schemas.microsoft.com/office/drawing/2010/main" val="0"/>
              </a:ext>
            </a:extLst>
          </a:blip>
          <a:stretch>
            <a:fillRect/>
          </a:stretch>
        </p:blipFill>
        <p:spPr>
          <a:xfrm>
            <a:off x="8591963" y="3242641"/>
            <a:ext cx="200228" cy="134400"/>
          </a:xfrm>
          <a:prstGeom prst="rect">
            <a:avLst/>
          </a:prstGeom>
        </p:spPr>
      </p:pic>
      <p:pic>
        <p:nvPicPr>
          <p:cNvPr id="19" name="Image 18"/>
          <p:cNvPicPr>
            <a:picLocks noChangeAspect="1"/>
          </p:cNvPicPr>
          <p:nvPr>
            <p:custDataLst>
              <p:tags r:id="rId5"/>
            </p:custDataLst>
          </p:nvPr>
        </p:nvPicPr>
        <p:blipFill>
          <a:blip r:embed="rId15" cstate="print">
            <a:extLst>
              <a:ext uri="{28A0092B-C50C-407E-A947-70E740481C1C}">
                <a14:useLocalDpi xmlns:a14="http://schemas.microsoft.com/office/drawing/2010/main" val="0"/>
              </a:ext>
            </a:extLst>
          </a:blip>
          <a:stretch>
            <a:fillRect/>
          </a:stretch>
        </p:blipFill>
        <p:spPr>
          <a:xfrm>
            <a:off x="7499748" y="3178869"/>
            <a:ext cx="677484" cy="261943"/>
          </a:xfrm>
          <a:prstGeom prst="rect">
            <a:avLst/>
          </a:prstGeom>
          <a:solidFill>
            <a:schemeClr val="bg1"/>
          </a:solidFill>
        </p:spPr>
      </p:pic>
      <p:pic>
        <p:nvPicPr>
          <p:cNvPr id="4" name="Image 3"/>
          <p:cNvPicPr>
            <a:picLocks noChangeAspect="1"/>
          </p:cNvPicPr>
          <p:nvPr>
            <p:custDataLst>
              <p:tags r:id="rId6"/>
            </p:custDataLst>
          </p:nvPr>
        </p:nvPicPr>
        <p:blipFill>
          <a:blip r:embed="rId16" cstate="print">
            <a:extLst>
              <a:ext uri="{28A0092B-C50C-407E-A947-70E740481C1C}">
                <a14:useLocalDpi xmlns:a14="http://schemas.microsoft.com/office/drawing/2010/main" val="0"/>
              </a:ext>
            </a:extLst>
          </a:blip>
          <a:stretch>
            <a:fillRect/>
          </a:stretch>
        </p:blipFill>
        <p:spPr>
          <a:xfrm>
            <a:off x="7994154" y="3851108"/>
            <a:ext cx="475885" cy="229028"/>
          </a:xfrm>
          <a:prstGeom prst="rect">
            <a:avLst/>
          </a:prstGeom>
        </p:spPr>
      </p:pic>
      <p:pic>
        <p:nvPicPr>
          <p:cNvPr id="22" name="Image 21"/>
          <p:cNvPicPr>
            <a:picLocks noChangeAspect="1"/>
          </p:cNvPicPr>
          <p:nvPr>
            <p:custDataLst>
              <p:tags r:id="rId7"/>
            </p:custDataLst>
          </p:nvPr>
        </p:nvPicPr>
        <p:blipFill>
          <a:blip r:embed="rId17" cstate="print">
            <a:extLst>
              <a:ext uri="{28A0092B-C50C-407E-A947-70E740481C1C}">
                <a14:useLocalDpi xmlns:a14="http://schemas.microsoft.com/office/drawing/2010/main" val="0"/>
              </a:ext>
            </a:extLst>
          </a:blip>
          <a:stretch>
            <a:fillRect/>
          </a:stretch>
        </p:blipFill>
        <p:spPr>
          <a:xfrm>
            <a:off x="9257333" y="3868234"/>
            <a:ext cx="710400" cy="134400"/>
          </a:xfrm>
          <a:prstGeom prst="rect">
            <a:avLst/>
          </a:prstGeom>
        </p:spPr>
      </p:pic>
      <p:cxnSp>
        <p:nvCxnSpPr>
          <p:cNvPr id="36" name="Connecteur droit avec flèche 35"/>
          <p:cNvCxnSpPr/>
          <p:nvPr/>
        </p:nvCxnSpPr>
        <p:spPr>
          <a:xfrm>
            <a:off x="8675023" y="3761947"/>
            <a:ext cx="1627833" cy="5167"/>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5" name="Image 14"/>
          <p:cNvPicPr>
            <a:picLocks noChangeAspect="1"/>
          </p:cNvPicPr>
          <p:nvPr>
            <p:custDataLst>
              <p:tags r:id="rId8"/>
            </p:custDataLst>
          </p:nvPr>
        </p:nvPicPr>
        <p:blipFill>
          <a:blip r:embed="rId18" cstate="print">
            <a:extLst>
              <a:ext uri="{28A0092B-C50C-407E-A947-70E740481C1C}">
                <a14:useLocalDpi xmlns:a14="http://schemas.microsoft.com/office/drawing/2010/main" val="0"/>
              </a:ext>
            </a:extLst>
          </a:blip>
          <a:stretch>
            <a:fillRect/>
          </a:stretch>
        </p:blipFill>
        <p:spPr>
          <a:xfrm>
            <a:off x="9546647" y="3227234"/>
            <a:ext cx="230400" cy="211200"/>
          </a:xfrm>
          <a:prstGeom prst="rect">
            <a:avLst/>
          </a:prstGeom>
          <a:solidFill>
            <a:schemeClr val="bg1"/>
          </a:solidFill>
        </p:spPr>
      </p:pic>
    </p:spTree>
    <p:extLst>
      <p:ext uri="{BB962C8B-B14F-4D97-AF65-F5344CB8AC3E}">
        <p14:creationId xmlns:p14="http://schemas.microsoft.com/office/powerpoint/2010/main" val="24106366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1CB95D3C-87B7-42DD-97F8-1F43ACE143A3}" type="slidenum">
              <a:rPr lang="fr-FR" smtClean="0"/>
              <a:t>9</a:t>
            </a:fld>
            <a:endParaRPr lang="fr-FR"/>
          </a:p>
        </p:txBody>
      </p:sp>
      <p:pic>
        <p:nvPicPr>
          <p:cNvPr id="8" name="Image 7"/>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486469" y="136531"/>
            <a:ext cx="9408001" cy="6479243"/>
          </a:xfrm>
          <a:prstGeom prst="rect">
            <a:avLst/>
          </a:prstGeom>
        </p:spPr>
      </p:pic>
      <p:grpSp>
        <p:nvGrpSpPr>
          <p:cNvPr id="10" name="Groupe 9"/>
          <p:cNvGrpSpPr/>
          <p:nvPr/>
        </p:nvGrpSpPr>
        <p:grpSpPr>
          <a:xfrm>
            <a:off x="8874248" y="2114456"/>
            <a:ext cx="2483356" cy="2226497"/>
            <a:chOff x="8874248" y="2114456"/>
            <a:chExt cx="2483356" cy="2226497"/>
          </a:xfrm>
        </p:grpSpPr>
        <p:pic>
          <p:nvPicPr>
            <p:cNvPr id="6" name="Image 5"/>
            <p:cNvPicPr>
              <a:picLocks noChangeAspect="1"/>
            </p:cNvPicPr>
            <p:nvPr/>
          </p:nvPicPr>
          <p:blipFill rotWithShape="1">
            <a:blip r:embed="rId9"/>
            <a:srcRect l="53504" r="22574"/>
            <a:stretch/>
          </p:blipFill>
          <p:spPr>
            <a:xfrm>
              <a:off x="8980585" y="2398181"/>
              <a:ext cx="1990726" cy="1265030"/>
            </a:xfrm>
            <a:prstGeom prst="rect">
              <a:avLst/>
            </a:prstGeom>
          </p:spPr>
        </p:pic>
        <p:cxnSp>
          <p:nvCxnSpPr>
            <p:cNvPr id="7" name="Connecteur droit avec flèche 6"/>
            <p:cNvCxnSpPr/>
            <p:nvPr/>
          </p:nvCxnSpPr>
          <p:spPr>
            <a:xfrm>
              <a:off x="9020270" y="2406405"/>
              <a:ext cx="1916724"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4" name="Image 13"/>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10826861" y="3693062"/>
              <a:ext cx="530743" cy="211200"/>
            </a:xfrm>
            <a:prstGeom prst="rect">
              <a:avLst/>
            </a:prstGeom>
          </p:spPr>
        </p:pic>
        <p:pic>
          <p:nvPicPr>
            <p:cNvPr id="3" name="Image 2"/>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8947111" y="2114456"/>
              <a:ext cx="2025599" cy="211200"/>
            </a:xfrm>
            <a:prstGeom prst="rect">
              <a:avLst/>
            </a:prstGeom>
          </p:spPr>
        </p:pic>
        <p:pic>
          <p:nvPicPr>
            <p:cNvPr id="12" name="Image 11"/>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9888118" y="3138636"/>
              <a:ext cx="278399" cy="134400"/>
            </a:xfrm>
            <a:prstGeom prst="rect">
              <a:avLst/>
            </a:prstGeom>
          </p:spPr>
        </p:pic>
        <p:pic>
          <p:nvPicPr>
            <p:cNvPr id="13" name="Image 12"/>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8874248" y="3663211"/>
              <a:ext cx="533485" cy="211200"/>
            </a:xfrm>
            <a:prstGeom prst="rect">
              <a:avLst/>
            </a:prstGeom>
          </p:spPr>
        </p:pic>
        <p:cxnSp>
          <p:nvCxnSpPr>
            <p:cNvPr id="18" name="Connecteur droit avec flèche 17"/>
            <p:cNvCxnSpPr/>
            <p:nvPr/>
          </p:nvCxnSpPr>
          <p:spPr>
            <a:xfrm>
              <a:off x="9975948" y="4012131"/>
              <a:ext cx="958362"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 name="Image 3"/>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10277370" y="4111925"/>
              <a:ext cx="547199" cy="229028"/>
            </a:xfrm>
            <a:prstGeom prst="rect">
              <a:avLst/>
            </a:prstGeom>
          </p:spPr>
        </p:pic>
      </p:grpSp>
    </p:spTree>
    <p:extLst>
      <p:ext uri="{BB962C8B-B14F-4D97-AF65-F5344CB8AC3E}">
        <p14:creationId xmlns:p14="http://schemas.microsoft.com/office/powerpoint/2010/main" val="21104290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F8D53-1000-25F2-83E1-CBFB11D8CD6E}"/>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536CAE4-AD0D-771D-F9AC-A3708C73D392}"/>
              </a:ext>
            </a:extLst>
          </p:cNvPr>
          <p:cNvSpPr>
            <a:spLocks noGrp="1"/>
          </p:cNvSpPr>
          <p:nvPr>
            <p:ph type="sldNum" sz="quarter" idx="12"/>
          </p:nvPr>
        </p:nvSpPr>
        <p:spPr/>
        <p:txBody>
          <a:bodyPr/>
          <a:lstStyle/>
          <a:p>
            <a:fld id="{1CB95D3C-87B7-42DD-97F8-1F43ACE143A3}" type="slidenum">
              <a:rPr lang="fr-FR" smtClean="0"/>
              <a:t>10</a:t>
            </a:fld>
            <a:endParaRPr lang="fr-FR"/>
          </a:p>
        </p:txBody>
      </p:sp>
      <p:pic>
        <p:nvPicPr>
          <p:cNvPr id="8" name="Image 7"/>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504754" y="674464"/>
            <a:ext cx="8716193" cy="5504005"/>
          </a:xfrm>
          <a:prstGeom prst="rect">
            <a:avLst/>
          </a:prstGeom>
        </p:spPr>
      </p:pic>
      <p:grpSp>
        <p:nvGrpSpPr>
          <p:cNvPr id="10" name="Groupe 9">
            <a:extLst>
              <a:ext uri="{FF2B5EF4-FFF2-40B4-BE49-F238E27FC236}">
                <a16:creationId xmlns:a16="http://schemas.microsoft.com/office/drawing/2014/main" id="{5F67C960-913A-C141-DA58-B45CD13AFB5F}"/>
              </a:ext>
            </a:extLst>
          </p:cNvPr>
          <p:cNvGrpSpPr/>
          <p:nvPr/>
        </p:nvGrpSpPr>
        <p:grpSpPr>
          <a:xfrm>
            <a:off x="8874248" y="2114456"/>
            <a:ext cx="2483356" cy="2226497"/>
            <a:chOff x="8874248" y="2114456"/>
            <a:chExt cx="2483356" cy="2226497"/>
          </a:xfrm>
        </p:grpSpPr>
        <p:pic>
          <p:nvPicPr>
            <p:cNvPr id="6" name="Image 5">
              <a:extLst>
                <a:ext uri="{FF2B5EF4-FFF2-40B4-BE49-F238E27FC236}">
                  <a16:creationId xmlns:a16="http://schemas.microsoft.com/office/drawing/2014/main" id="{2AA12BC0-8D20-7961-5F39-98F0DD69B329}"/>
                </a:ext>
              </a:extLst>
            </p:cNvPr>
            <p:cNvPicPr>
              <a:picLocks noChangeAspect="1"/>
            </p:cNvPicPr>
            <p:nvPr/>
          </p:nvPicPr>
          <p:blipFill rotWithShape="1">
            <a:blip r:embed="rId9"/>
            <a:srcRect l="53504" r="22574"/>
            <a:stretch/>
          </p:blipFill>
          <p:spPr>
            <a:xfrm>
              <a:off x="8980585" y="2398181"/>
              <a:ext cx="1990726" cy="1265030"/>
            </a:xfrm>
            <a:prstGeom prst="rect">
              <a:avLst/>
            </a:prstGeom>
          </p:spPr>
        </p:pic>
        <p:cxnSp>
          <p:nvCxnSpPr>
            <p:cNvPr id="7" name="Connecteur droit avec flèche 6">
              <a:extLst>
                <a:ext uri="{FF2B5EF4-FFF2-40B4-BE49-F238E27FC236}">
                  <a16:creationId xmlns:a16="http://schemas.microsoft.com/office/drawing/2014/main" id="{87379232-FF54-C028-95D6-22F4877764A9}"/>
                </a:ext>
              </a:extLst>
            </p:cNvPr>
            <p:cNvCxnSpPr/>
            <p:nvPr/>
          </p:nvCxnSpPr>
          <p:spPr>
            <a:xfrm>
              <a:off x="9020270" y="2406405"/>
              <a:ext cx="1916724"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67FEA8B3-57F8-5720-B8EB-F1D6B0B0DFC4}"/>
                </a:ext>
              </a:extLst>
            </p:cNvPr>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10826861" y="3693062"/>
              <a:ext cx="530743" cy="211200"/>
            </a:xfrm>
            <a:prstGeom prst="rect">
              <a:avLst/>
            </a:prstGeom>
          </p:spPr>
        </p:pic>
        <p:pic>
          <p:nvPicPr>
            <p:cNvPr id="3" name="Image 2">
              <a:extLst>
                <a:ext uri="{FF2B5EF4-FFF2-40B4-BE49-F238E27FC236}">
                  <a16:creationId xmlns:a16="http://schemas.microsoft.com/office/drawing/2014/main" id="{6759C0AD-7344-CFB6-12D8-6142B4399833}"/>
                </a:ext>
              </a:extLst>
            </p:cNvPr>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8947111" y="2114456"/>
              <a:ext cx="2025599" cy="211200"/>
            </a:xfrm>
            <a:prstGeom prst="rect">
              <a:avLst/>
            </a:prstGeom>
          </p:spPr>
        </p:pic>
        <p:pic>
          <p:nvPicPr>
            <p:cNvPr id="12" name="Image 11">
              <a:extLst>
                <a:ext uri="{FF2B5EF4-FFF2-40B4-BE49-F238E27FC236}">
                  <a16:creationId xmlns:a16="http://schemas.microsoft.com/office/drawing/2014/main" id="{15473F79-8B1E-4D6B-DA56-42415DEB05BA}"/>
                </a:ext>
              </a:extLst>
            </p:cNvPr>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9888118" y="3138636"/>
              <a:ext cx="278399" cy="134400"/>
            </a:xfrm>
            <a:prstGeom prst="rect">
              <a:avLst/>
            </a:prstGeom>
          </p:spPr>
        </p:pic>
        <p:pic>
          <p:nvPicPr>
            <p:cNvPr id="13" name="Image 12">
              <a:extLst>
                <a:ext uri="{FF2B5EF4-FFF2-40B4-BE49-F238E27FC236}">
                  <a16:creationId xmlns:a16="http://schemas.microsoft.com/office/drawing/2014/main" id="{EE030455-9C9D-5689-C374-A1E2685FBF5F}"/>
                </a:ext>
              </a:extLst>
            </p:cNvPr>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8874248" y="3663211"/>
              <a:ext cx="533485" cy="211200"/>
            </a:xfrm>
            <a:prstGeom prst="rect">
              <a:avLst/>
            </a:prstGeom>
          </p:spPr>
        </p:pic>
        <p:cxnSp>
          <p:nvCxnSpPr>
            <p:cNvPr id="18" name="Connecteur droit avec flèche 17">
              <a:extLst>
                <a:ext uri="{FF2B5EF4-FFF2-40B4-BE49-F238E27FC236}">
                  <a16:creationId xmlns:a16="http://schemas.microsoft.com/office/drawing/2014/main" id="{CB279EC6-4213-8352-950D-BA5849C5B8DE}"/>
                </a:ext>
              </a:extLst>
            </p:cNvPr>
            <p:cNvCxnSpPr/>
            <p:nvPr/>
          </p:nvCxnSpPr>
          <p:spPr>
            <a:xfrm>
              <a:off x="9975948" y="4012131"/>
              <a:ext cx="958362"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 name="Image 3">
              <a:extLst>
                <a:ext uri="{FF2B5EF4-FFF2-40B4-BE49-F238E27FC236}">
                  <a16:creationId xmlns:a16="http://schemas.microsoft.com/office/drawing/2014/main" id="{FB6ED7EB-D3F2-3A3E-63B4-1FD3CC063FAE}"/>
                </a:ext>
              </a:extLst>
            </p:cNvPr>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10277370" y="4111925"/>
              <a:ext cx="547199" cy="229028"/>
            </a:xfrm>
            <a:prstGeom prst="rect">
              <a:avLst/>
            </a:prstGeom>
          </p:spPr>
        </p:pic>
      </p:grpSp>
    </p:spTree>
    <p:extLst>
      <p:ext uri="{BB962C8B-B14F-4D97-AF65-F5344CB8AC3E}">
        <p14:creationId xmlns:p14="http://schemas.microsoft.com/office/powerpoint/2010/main" val="17922954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1CB95D3C-87B7-42DD-97F8-1F43ACE143A3}" type="slidenum">
              <a:rPr lang="fr-FR" smtClean="0"/>
              <a:t>11</a:t>
            </a:fld>
            <a:endParaRPr lang="fr-FR"/>
          </a:p>
        </p:txBody>
      </p:sp>
      <p:pic>
        <p:nvPicPr>
          <p:cNvPr id="7" name="Image 6">
            <a:extLst>
              <a:ext uri="{FF2B5EF4-FFF2-40B4-BE49-F238E27FC236}">
                <a16:creationId xmlns:a16="http://schemas.microsoft.com/office/drawing/2014/main" id="{2BAC5B87-D8D8-B1CE-37B4-07ADAFC372D6}"/>
              </a:ext>
            </a:extLst>
          </p:cNvPr>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207141" y="431272"/>
            <a:ext cx="8028427" cy="3060193"/>
          </a:xfrm>
          <a:prstGeom prst="rect">
            <a:avLst/>
          </a:prstGeom>
        </p:spPr>
      </p:pic>
      <p:grpSp>
        <p:nvGrpSpPr>
          <p:cNvPr id="5" name="Groupe 4"/>
          <p:cNvGrpSpPr/>
          <p:nvPr/>
        </p:nvGrpSpPr>
        <p:grpSpPr>
          <a:xfrm>
            <a:off x="8610600" y="2314033"/>
            <a:ext cx="3423658" cy="1918493"/>
            <a:chOff x="8430768" y="2312810"/>
            <a:chExt cx="3663981" cy="2180777"/>
          </a:xfrm>
        </p:grpSpPr>
        <p:pic>
          <p:nvPicPr>
            <p:cNvPr id="14" name="Image 13"/>
            <p:cNvPicPr>
              <a:picLocks noChangeAspect="1"/>
            </p:cNvPicPr>
            <p:nvPr/>
          </p:nvPicPr>
          <p:blipFill rotWithShape="1">
            <a:blip r:embed="rId11"/>
            <a:srcRect l="38038" r="22575"/>
            <a:stretch/>
          </p:blipFill>
          <p:spPr>
            <a:xfrm>
              <a:off x="8430768" y="2596535"/>
              <a:ext cx="3277688" cy="1265030"/>
            </a:xfrm>
            <a:prstGeom prst="rect">
              <a:avLst/>
            </a:prstGeom>
          </p:spPr>
        </p:pic>
        <p:cxnSp>
          <p:nvCxnSpPr>
            <p:cNvPr id="15" name="Connecteur droit avec flèche 14"/>
            <p:cNvCxnSpPr/>
            <p:nvPr/>
          </p:nvCxnSpPr>
          <p:spPr>
            <a:xfrm>
              <a:off x="9757415" y="2604759"/>
              <a:ext cx="1916724"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6" name="Image 15"/>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11564006" y="3891416"/>
              <a:ext cx="530743" cy="211200"/>
            </a:xfrm>
            <a:prstGeom prst="rect">
              <a:avLst/>
            </a:prstGeom>
          </p:spPr>
        </p:pic>
        <p:pic>
          <p:nvPicPr>
            <p:cNvPr id="17" name="Image 16"/>
            <p:cNvPicPr>
              <a:picLocks noChangeAspect="1"/>
            </p:cNvPicPr>
            <p:nvPr>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9684256" y="2312810"/>
              <a:ext cx="2025599" cy="211200"/>
            </a:xfrm>
            <a:prstGeom prst="rect">
              <a:avLst/>
            </a:prstGeom>
          </p:spPr>
        </p:pic>
        <p:pic>
          <p:nvPicPr>
            <p:cNvPr id="18" name="Image 17"/>
            <p:cNvPicPr>
              <a:picLocks noChangeAspect="1"/>
            </p:cNvPicPr>
            <p:nvPr>
              <p:custDataLst>
                <p:tags r:id="rId5"/>
              </p:custDataLst>
            </p:nvPr>
          </p:nvPicPr>
          <p:blipFill>
            <a:blip r:embed="rId14" cstate="print">
              <a:extLst>
                <a:ext uri="{28A0092B-C50C-407E-A947-70E740481C1C}">
                  <a14:useLocalDpi xmlns:a14="http://schemas.microsoft.com/office/drawing/2010/main" val="0"/>
                </a:ext>
              </a:extLst>
            </a:blip>
            <a:stretch>
              <a:fillRect/>
            </a:stretch>
          </p:blipFill>
          <p:spPr>
            <a:xfrm>
              <a:off x="10625263" y="3336990"/>
              <a:ext cx="278399" cy="134400"/>
            </a:xfrm>
            <a:prstGeom prst="rect">
              <a:avLst/>
            </a:prstGeom>
          </p:spPr>
        </p:pic>
        <p:pic>
          <p:nvPicPr>
            <p:cNvPr id="19" name="Image 18"/>
            <p:cNvPicPr>
              <a:picLocks noChangeAspect="1"/>
            </p:cNvPicPr>
            <p:nvPr>
              <p:custDataLst>
                <p:tags r:id="rId6"/>
              </p:custDataLst>
            </p:nvPr>
          </p:nvPicPr>
          <p:blipFill>
            <a:blip r:embed="rId15" cstate="print">
              <a:extLst>
                <a:ext uri="{28A0092B-C50C-407E-A947-70E740481C1C}">
                  <a14:useLocalDpi xmlns:a14="http://schemas.microsoft.com/office/drawing/2010/main" val="0"/>
                </a:ext>
              </a:extLst>
            </a:blip>
            <a:stretch>
              <a:fillRect/>
            </a:stretch>
          </p:blipFill>
          <p:spPr>
            <a:xfrm>
              <a:off x="9611393" y="3861565"/>
              <a:ext cx="533485" cy="211200"/>
            </a:xfrm>
            <a:prstGeom prst="rect">
              <a:avLst/>
            </a:prstGeom>
          </p:spPr>
        </p:pic>
        <p:cxnSp>
          <p:nvCxnSpPr>
            <p:cNvPr id="20" name="Connecteur droit avec flèche 19"/>
            <p:cNvCxnSpPr/>
            <p:nvPr/>
          </p:nvCxnSpPr>
          <p:spPr>
            <a:xfrm>
              <a:off x="10713093" y="4210485"/>
              <a:ext cx="958362"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1" name="Image 20"/>
            <p:cNvPicPr>
              <a:picLocks noChangeAspect="1"/>
            </p:cNvPicPr>
            <p:nvPr>
              <p:custDataLst>
                <p:tags r:id="rId7"/>
              </p:custDataLst>
            </p:nvPr>
          </p:nvPicPr>
          <p:blipFill>
            <a:blip r:embed="rId16" cstate="print">
              <a:extLst>
                <a:ext uri="{28A0092B-C50C-407E-A947-70E740481C1C}">
                  <a14:useLocalDpi xmlns:a14="http://schemas.microsoft.com/office/drawing/2010/main" val="0"/>
                </a:ext>
              </a:extLst>
            </a:blip>
            <a:stretch>
              <a:fillRect/>
            </a:stretch>
          </p:blipFill>
          <p:spPr>
            <a:xfrm>
              <a:off x="11014515" y="4264559"/>
              <a:ext cx="547199" cy="229028"/>
            </a:xfrm>
            <a:prstGeom prst="rect">
              <a:avLst/>
            </a:prstGeom>
          </p:spPr>
        </p:pic>
        <p:pic>
          <p:nvPicPr>
            <p:cNvPr id="25" name="Image 24"/>
            <p:cNvPicPr>
              <a:picLocks noChangeAspect="1"/>
            </p:cNvPicPr>
            <p:nvPr>
              <p:custDataLst>
                <p:tags r:id="rId8"/>
              </p:custDataLst>
            </p:nvPr>
          </p:nvPicPr>
          <p:blipFill>
            <a:blip r:embed="rId17" cstate="print">
              <a:extLst>
                <a:ext uri="{28A0092B-C50C-407E-A947-70E740481C1C}">
                  <a14:useLocalDpi xmlns:a14="http://schemas.microsoft.com/office/drawing/2010/main" val="0"/>
                </a:ext>
              </a:extLst>
            </a:blip>
            <a:stretch>
              <a:fillRect/>
            </a:stretch>
          </p:blipFill>
          <p:spPr>
            <a:xfrm>
              <a:off x="8945564" y="3336990"/>
              <a:ext cx="504684" cy="134400"/>
            </a:xfrm>
            <a:prstGeom prst="rect">
              <a:avLst/>
            </a:prstGeom>
          </p:spPr>
        </p:pic>
      </p:grpSp>
      <p:pic>
        <p:nvPicPr>
          <p:cNvPr id="3" name="Image 2"/>
          <p:cNvPicPr>
            <a:picLocks noChangeAspect="1"/>
          </p:cNvPicPr>
          <p:nvPr>
            <p:custDataLst>
              <p:tags r:id="rId2"/>
            </p:custDataLst>
          </p:nvPr>
        </p:nvPicPr>
        <p:blipFill>
          <a:blip r:embed="rId18" cstate="print">
            <a:extLst>
              <a:ext uri="{28A0092B-C50C-407E-A947-70E740481C1C}">
                <a14:useLocalDpi xmlns:a14="http://schemas.microsoft.com/office/drawing/2010/main" val="0"/>
              </a:ext>
            </a:extLst>
          </a:blip>
          <a:stretch>
            <a:fillRect/>
          </a:stretch>
        </p:blipFill>
        <p:spPr>
          <a:xfrm>
            <a:off x="969332" y="4446154"/>
            <a:ext cx="9368375" cy="1112382"/>
          </a:xfrm>
          <a:prstGeom prst="rect">
            <a:avLst/>
          </a:prstGeom>
        </p:spPr>
      </p:pic>
    </p:spTree>
    <p:extLst>
      <p:ext uri="{BB962C8B-B14F-4D97-AF65-F5344CB8AC3E}">
        <p14:creationId xmlns:p14="http://schemas.microsoft.com/office/powerpoint/2010/main" val="29010550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1CB95D3C-87B7-42DD-97F8-1F43ACE143A3}" type="slidenum">
              <a:rPr lang="fr-FR" smtClean="0"/>
              <a:t>12</a:t>
            </a:fld>
            <a:endParaRPr lang="fr-FR"/>
          </a:p>
        </p:txBody>
      </p:sp>
      <p:pic>
        <p:nvPicPr>
          <p:cNvPr id="23" name="Image 22"/>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62788" y="113327"/>
            <a:ext cx="11504764" cy="6337527"/>
          </a:xfrm>
          <a:prstGeom prst="rect">
            <a:avLst/>
          </a:prstGeom>
        </p:spPr>
      </p:pic>
    </p:spTree>
    <p:extLst>
      <p:ext uri="{BB962C8B-B14F-4D97-AF65-F5344CB8AC3E}">
        <p14:creationId xmlns:p14="http://schemas.microsoft.com/office/powerpoint/2010/main" val="39644636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1CB95D3C-87B7-42DD-97F8-1F43ACE143A3}" type="slidenum">
              <a:rPr lang="fr-FR" smtClean="0"/>
              <a:t>13</a:t>
            </a:fld>
            <a:endParaRPr lang="fr-FR"/>
          </a:p>
        </p:txBody>
      </p:sp>
      <p:sp>
        <p:nvSpPr>
          <p:cNvPr id="3" name="ZoneTexte 2"/>
          <p:cNvSpPr txBox="1"/>
          <p:nvPr/>
        </p:nvSpPr>
        <p:spPr>
          <a:xfrm>
            <a:off x="357439" y="494728"/>
            <a:ext cx="4560864" cy="6247864"/>
          </a:xfrm>
          <a:prstGeom prst="rect">
            <a:avLst/>
          </a:prstGeom>
          <a:noFill/>
        </p:spPr>
        <p:txBody>
          <a:bodyPr wrap="none" rtlCol="0">
            <a:spAutoFit/>
          </a:bodyPr>
          <a:lstStyle/>
          <a:p>
            <a:r>
              <a:rPr lang="fr-FR" sz="1600" dirty="0">
                <a:solidFill>
                  <a:srgbClr val="AF00DB"/>
                </a:solidFill>
                <a:latin typeface="Consolas" panose="020B0609020204030204" pitchFamily="49" charset="0"/>
              </a:rPr>
              <a:t>import</a:t>
            </a:r>
            <a:r>
              <a:rPr lang="fr-FR" sz="1600" dirty="0">
                <a:solidFill>
                  <a:srgbClr val="000000"/>
                </a:solidFill>
                <a:latin typeface="Consolas" panose="020B0609020204030204" pitchFamily="49" charset="0"/>
              </a:rPr>
              <a:t> </a:t>
            </a:r>
            <a:r>
              <a:rPr lang="fr-FR" sz="1600" dirty="0" err="1">
                <a:solidFill>
                  <a:srgbClr val="267F99"/>
                </a:solidFill>
                <a:latin typeface="Consolas" panose="020B0609020204030204" pitchFamily="49" charset="0"/>
              </a:rPr>
              <a:t>numpy</a:t>
            </a:r>
            <a:r>
              <a:rPr lang="fr-FR" sz="1600" dirty="0">
                <a:solidFill>
                  <a:srgbClr val="000000"/>
                </a:solidFill>
                <a:latin typeface="Consolas" panose="020B0609020204030204" pitchFamily="49" charset="0"/>
              </a:rPr>
              <a:t> </a:t>
            </a:r>
            <a:r>
              <a:rPr lang="fr-FR" sz="1600" dirty="0">
                <a:solidFill>
                  <a:srgbClr val="AF00DB"/>
                </a:solidFill>
                <a:latin typeface="Consolas" panose="020B0609020204030204" pitchFamily="49" charset="0"/>
              </a:rPr>
              <a:t>as</a:t>
            </a:r>
            <a:r>
              <a:rPr lang="fr-FR" sz="1600" dirty="0">
                <a:solidFill>
                  <a:srgbClr val="000000"/>
                </a:solidFill>
                <a:latin typeface="Consolas" panose="020B0609020204030204" pitchFamily="49" charset="0"/>
              </a:rPr>
              <a:t> </a:t>
            </a:r>
            <a:r>
              <a:rPr lang="fr-FR" sz="1600" dirty="0" err="1">
                <a:solidFill>
                  <a:srgbClr val="267F99"/>
                </a:solidFill>
                <a:latin typeface="Consolas" panose="020B0609020204030204" pitchFamily="49" charset="0"/>
              </a:rPr>
              <a:t>np</a:t>
            </a:r>
            <a:endParaRPr lang="fr-FR" sz="1600" dirty="0">
              <a:solidFill>
                <a:srgbClr val="000000"/>
              </a:solidFill>
              <a:latin typeface="Consolas" panose="020B0609020204030204" pitchFamily="49" charset="0"/>
            </a:endParaRPr>
          </a:p>
          <a:p>
            <a:r>
              <a:rPr lang="fr-FR" sz="1600" dirty="0">
                <a:solidFill>
                  <a:srgbClr val="AF00DB"/>
                </a:solidFill>
                <a:latin typeface="Consolas" panose="020B0609020204030204" pitchFamily="49" charset="0"/>
              </a:rPr>
              <a:t>import</a:t>
            </a:r>
            <a:r>
              <a:rPr lang="fr-FR" sz="1600" dirty="0">
                <a:solidFill>
                  <a:srgbClr val="000000"/>
                </a:solidFill>
                <a:latin typeface="Consolas" panose="020B0609020204030204" pitchFamily="49" charset="0"/>
              </a:rPr>
              <a:t> </a:t>
            </a:r>
            <a:r>
              <a:rPr lang="fr-FR" sz="1600" dirty="0" err="1">
                <a:solidFill>
                  <a:srgbClr val="267F99"/>
                </a:solidFill>
                <a:latin typeface="Consolas" panose="020B0609020204030204" pitchFamily="49" charset="0"/>
              </a:rPr>
              <a:t>matplotlib</a:t>
            </a:r>
            <a:r>
              <a:rPr lang="fr-FR" sz="1600" dirty="0" err="1">
                <a:solidFill>
                  <a:srgbClr val="000000"/>
                </a:solidFill>
                <a:latin typeface="Consolas" panose="020B0609020204030204" pitchFamily="49" charset="0"/>
              </a:rPr>
              <a:t>.</a:t>
            </a:r>
            <a:r>
              <a:rPr lang="fr-FR" sz="1600" dirty="0" err="1">
                <a:solidFill>
                  <a:srgbClr val="267F99"/>
                </a:solidFill>
                <a:latin typeface="Consolas" panose="020B0609020204030204" pitchFamily="49" charset="0"/>
              </a:rPr>
              <a:t>pyplot</a:t>
            </a:r>
            <a:r>
              <a:rPr lang="fr-FR" sz="1600" dirty="0">
                <a:solidFill>
                  <a:srgbClr val="000000"/>
                </a:solidFill>
                <a:latin typeface="Consolas" panose="020B0609020204030204" pitchFamily="49" charset="0"/>
              </a:rPr>
              <a:t> </a:t>
            </a:r>
            <a:r>
              <a:rPr lang="fr-FR" sz="1600" dirty="0">
                <a:solidFill>
                  <a:srgbClr val="AF00DB"/>
                </a:solidFill>
                <a:latin typeface="Consolas" panose="020B0609020204030204" pitchFamily="49" charset="0"/>
              </a:rPr>
              <a:t>as</a:t>
            </a:r>
            <a:r>
              <a:rPr lang="fr-FR" sz="1600" dirty="0">
                <a:solidFill>
                  <a:srgbClr val="000000"/>
                </a:solidFill>
                <a:latin typeface="Consolas" panose="020B0609020204030204" pitchFamily="49" charset="0"/>
              </a:rPr>
              <a:t> </a:t>
            </a:r>
            <a:r>
              <a:rPr lang="fr-FR" sz="1600" dirty="0" err="1">
                <a:solidFill>
                  <a:srgbClr val="267F99"/>
                </a:solidFill>
                <a:latin typeface="Consolas" panose="020B0609020204030204" pitchFamily="49" charset="0"/>
              </a:rPr>
              <a:t>plt</a:t>
            </a:r>
            <a:endParaRPr lang="fr-FR" sz="1600" dirty="0">
              <a:solidFill>
                <a:srgbClr val="000000"/>
              </a:solidFill>
              <a:latin typeface="Consolas" panose="020B0609020204030204" pitchFamily="49" charset="0"/>
            </a:endParaRPr>
          </a:p>
          <a:p>
            <a:r>
              <a:rPr lang="fr-FR" sz="1600" dirty="0" err="1">
                <a:solidFill>
                  <a:srgbClr val="AF00DB"/>
                </a:solidFill>
                <a:latin typeface="Consolas" panose="020B0609020204030204" pitchFamily="49" charset="0"/>
              </a:rPr>
              <a:t>from</a:t>
            </a:r>
            <a:r>
              <a:rPr lang="fr-FR" sz="1600" dirty="0">
                <a:solidFill>
                  <a:srgbClr val="000000"/>
                </a:solidFill>
                <a:latin typeface="Consolas" panose="020B0609020204030204" pitchFamily="49" charset="0"/>
              </a:rPr>
              <a:t> </a:t>
            </a:r>
            <a:r>
              <a:rPr lang="fr-FR" sz="1600" dirty="0" err="1">
                <a:solidFill>
                  <a:srgbClr val="267F99"/>
                </a:solidFill>
                <a:latin typeface="Consolas" panose="020B0609020204030204" pitchFamily="49" charset="0"/>
              </a:rPr>
              <a:t>scipy</a:t>
            </a:r>
            <a:r>
              <a:rPr lang="fr-FR" sz="1600" dirty="0" err="1">
                <a:solidFill>
                  <a:srgbClr val="000000"/>
                </a:solidFill>
                <a:latin typeface="Consolas" panose="020B0609020204030204" pitchFamily="49" charset="0"/>
              </a:rPr>
              <a:t>.</a:t>
            </a:r>
            <a:r>
              <a:rPr lang="fr-FR" sz="1600" dirty="0" err="1">
                <a:solidFill>
                  <a:srgbClr val="267F99"/>
                </a:solidFill>
                <a:latin typeface="Consolas" panose="020B0609020204030204" pitchFamily="49" charset="0"/>
              </a:rPr>
              <a:t>sparse</a:t>
            </a:r>
            <a:r>
              <a:rPr lang="fr-FR" sz="1600" dirty="0">
                <a:solidFill>
                  <a:srgbClr val="000000"/>
                </a:solidFill>
                <a:latin typeface="Consolas" panose="020B0609020204030204" pitchFamily="49" charset="0"/>
              </a:rPr>
              <a:t> </a:t>
            </a:r>
            <a:r>
              <a:rPr lang="fr-FR" sz="1600" dirty="0">
                <a:solidFill>
                  <a:srgbClr val="AF00DB"/>
                </a:solidFill>
                <a:latin typeface="Consolas" panose="020B0609020204030204" pitchFamily="49" charset="0"/>
              </a:rPr>
              <a:t>import</a:t>
            </a:r>
            <a:r>
              <a:rPr lang="fr-FR" sz="1600" dirty="0">
                <a:solidFill>
                  <a:srgbClr val="000000"/>
                </a:solidFill>
                <a:latin typeface="Consolas" panose="020B0609020204030204" pitchFamily="49" charset="0"/>
              </a:rPr>
              <a:t> </a:t>
            </a:r>
            <a:r>
              <a:rPr lang="fr-FR" sz="1600" dirty="0" err="1">
                <a:solidFill>
                  <a:srgbClr val="267F99"/>
                </a:solidFill>
                <a:latin typeface="Consolas" panose="020B0609020204030204" pitchFamily="49" charset="0"/>
              </a:rPr>
              <a:t>csr_matrix</a:t>
            </a:r>
            <a:endParaRPr lang="fr-FR" sz="1600" dirty="0">
              <a:solidFill>
                <a:srgbClr val="000000"/>
              </a:solidFill>
              <a:latin typeface="Consolas" panose="020B0609020204030204" pitchFamily="49" charset="0"/>
            </a:endParaRPr>
          </a:p>
          <a:p>
            <a:r>
              <a:rPr lang="fr-FR" sz="1600" dirty="0" err="1">
                <a:solidFill>
                  <a:srgbClr val="AF00DB"/>
                </a:solidFill>
                <a:latin typeface="Consolas" panose="020B0609020204030204" pitchFamily="49" charset="0"/>
              </a:rPr>
              <a:t>from</a:t>
            </a:r>
            <a:r>
              <a:rPr lang="fr-FR" sz="1600" dirty="0">
                <a:solidFill>
                  <a:srgbClr val="000000"/>
                </a:solidFill>
                <a:latin typeface="Consolas" panose="020B0609020204030204" pitchFamily="49" charset="0"/>
              </a:rPr>
              <a:t> </a:t>
            </a:r>
            <a:r>
              <a:rPr lang="fr-FR" sz="1600" dirty="0" err="1">
                <a:solidFill>
                  <a:srgbClr val="267F99"/>
                </a:solidFill>
                <a:latin typeface="Consolas" panose="020B0609020204030204" pitchFamily="49" charset="0"/>
              </a:rPr>
              <a:t>scipy</a:t>
            </a:r>
            <a:r>
              <a:rPr lang="fr-FR" sz="1600" dirty="0" err="1">
                <a:solidFill>
                  <a:srgbClr val="000000"/>
                </a:solidFill>
                <a:latin typeface="Consolas" panose="020B0609020204030204" pitchFamily="49" charset="0"/>
              </a:rPr>
              <a:t>.</a:t>
            </a:r>
            <a:r>
              <a:rPr lang="fr-FR" sz="1600" dirty="0" err="1">
                <a:solidFill>
                  <a:srgbClr val="267F99"/>
                </a:solidFill>
                <a:latin typeface="Consolas" panose="020B0609020204030204" pitchFamily="49" charset="0"/>
              </a:rPr>
              <a:t>sparse</a:t>
            </a:r>
            <a:r>
              <a:rPr lang="fr-FR" sz="1600" dirty="0" err="1">
                <a:solidFill>
                  <a:srgbClr val="000000"/>
                </a:solidFill>
                <a:latin typeface="Consolas" panose="020B0609020204030204" pitchFamily="49" charset="0"/>
              </a:rPr>
              <a:t>.</a:t>
            </a:r>
            <a:r>
              <a:rPr lang="fr-FR" sz="1600" dirty="0" err="1">
                <a:solidFill>
                  <a:srgbClr val="267F99"/>
                </a:solidFill>
                <a:latin typeface="Consolas" panose="020B0609020204030204" pitchFamily="49" charset="0"/>
              </a:rPr>
              <a:t>linalg</a:t>
            </a:r>
            <a:r>
              <a:rPr lang="fr-FR" sz="1600" dirty="0">
                <a:solidFill>
                  <a:srgbClr val="000000"/>
                </a:solidFill>
                <a:latin typeface="Consolas" panose="020B0609020204030204" pitchFamily="49" charset="0"/>
              </a:rPr>
              <a:t> </a:t>
            </a:r>
            <a:r>
              <a:rPr lang="fr-FR" sz="1600" dirty="0">
                <a:solidFill>
                  <a:srgbClr val="AF00DB"/>
                </a:solidFill>
                <a:latin typeface="Consolas" panose="020B0609020204030204" pitchFamily="49" charset="0"/>
              </a:rPr>
              <a:t>import</a:t>
            </a:r>
            <a:r>
              <a:rPr lang="fr-FR" sz="1600" dirty="0">
                <a:solidFill>
                  <a:srgbClr val="000000"/>
                </a:solidFill>
                <a:latin typeface="Consolas" panose="020B0609020204030204" pitchFamily="49" charset="0"/>
              </a:rPr>
              <a:t> </a:t>
            </a:r>
            <a:r>
              <a:rPr lang="fr-FR" sz="1600" dirty="0" err="1">
                <a:solidFill>
                  <a:srgbClr val="795E26"/>
                </a:solidFill>
                <a:latin typeface="Consolas" panose="020B0609020204030204" pitchFamily="49" charset="0"/>
              </a:rPr>
              <a:t>spsolve</a:t>
            </a:r>
            <a:endParaRPr lang="fr-FR" sz="1600" dirty="0">
              <a:solidFill>
                <a:srgbClr val="000000"/>
              </a:solidFill>
              <a:latin typeface="Consolas" panose="020B0609020204030204" pitchFamily="49" charset="0"/>
            </a:endParaRPr>
          </a:p>
          <a:p>
            <a:r>
              <a:rPr lang="fr-FR" sz="1600" dirty="0">
                <a:solidFill>
                  <a:srgbClr val="000000"/>
                </a:solidFill>
                <a:latin typeface="Consolas" panose="020B0609020204030204" pitchFamily="49" charset="0"/>
              </a:rPr>
              <a:t/>
            </a:r>
            <a:br>
              <a:rPr lang="fr-FR" sz="1600" dirty="0">
                <a:solidFill>
                  <a:srgbClr val="000000"/>
                </a:solidFill>
                <a:latin typeface="Consolas" panose="020B0609020204030204" pitchFamily="49" charset="0"/>
              </a:rPr>
            </a:br>
            <a:r>
              <a:rPr lang="fr-FR" sz="1600" dirty="0">
                <a:solidFill>
                  <a:srgbClr val="008000"/>
                </a:solidFill>
                <a:latin typeface="Consolas" panose="020B0609020204030204" pitchFamily="49" charset="0"/>
              </a:rPr>
              <a:t># Paramètres</a:t>
            </a:r>
            <a:endParaRPr lang="fr-FR" sz="1600" dirty="0">
              <a:solidFill>
                <a:srgbClr val="000000"/>
              </a:solidFill>
              <a:latin typeface="Consolas" panose="020B0609020204030204" pitchFamily="49" charset="0"/>
            </a:endParaRPr>
          </a:p>
          <a:p>
            <a:r>
              <a:rPr lang="fr-FR" sz="1600" dirty="0">
                <a:solidFill>
                  <a:srgbClr val="0070C1"/>
                </a:solidFill>
                <a:latin typeface="Consolas" panose="020B0609020204030204" pitchFamily="49" charset="0"/>
              </a:rPr>
              <a:t>L</a:t>
            </a:r>
            <a:r>
              <a:rPr lang="fr-FR" sz="1600" dirty="0">
                <a:solidFill>
                  <a:srgbClr val="000000"/>
                </a:solidFill>
                <a:latin typeface="Consolas" panose="020B0609020204030204" pitchFamily="49" charset="0"/>
              </a:rPr>
              <a:t> = </a:t>
            </a:r>
            <a:r>
              <a:rPr lang="fr-FR" sz="1600" dirty="0">
                <a:solidFill>
                  <a:srgbClr val="098658"/>
                </a:solidFill>
                <a:latin typeface="Consolas" panose="020B0609020204030204" pitchFamily="49" charset="0"/>
              </a:rPr>
              <a:t>1</a:t>
            </a:r>
            <a:endParaRPr lang="fr-FR" sz="1600" dirty="0">
              <a:solidFill>
                <a:srgbClr val="000000"/>
              </a:solidFill>
              <a:latin typeface="Consolas" panose="020B0609020204030204" pitchFamily="49" charset="0"/>
            </a:endParaRPr>
          </a:p>
          <a:p>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 = </a:t>
            </a:r>
            <a:r>
              <a:rPr lang="fr-FR" sz="1600" dirty="0">
                <a:solidFill>
                  <a:srgbClr val="098658"/>
                </a:solidFill>
                <a:latin typeface="Consolas" panose="020B0609020204030204" pitchFamily="49" charset="0"/>
              </a:rPr>
              <a:t>10</a:t>
            </a:r>
            <a:endParaRPr lang="fr-FR" sz="1600" dirty="0">
              <a:solidFill>
                <a:srgbClr val="000000"/>
              </a:solidFill>
              <a:latin typeface="Consolas" panose="020B0609020204030204" pitchFamily="49" charset="0"/>
            </a:endParaRPr>
          </a:p>
          <a:p>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 = </a:t>
            </a:r>
            <a:r>
              <a:rPr lang="fr-FR" sz="1600" dirty="0">
                <a:solidFill>
                  <a:srgbClr val="098658"/>
                </a:solidFill>
                <a:latin typeface="Consolas" panose="020B0609020204030204" pitchFamily="49" charset="0"/>
              </a:rPr>
              <a:t>200</a:t>
            </a:r>
            <a:endParaRPr lang="fr-FR" sz="1600" dirty="0">
              <a:solidFill>
                <a:srgbClr val="000000"/>
              </a:solidFill>
              <a:latin typeface="Consolas" panose="020B0609020204030204" pitchFamily="49" charset="0"/>
            </a:endParaRPr>
          </a:p>
          <a:p>
            <a:r>
              <a:rPr lang="fr-FR" sz="1600" dirty="0">
                <a:solidFill>
                  <a:srgbClr val="0070C1"/>
                </a:solidFill>
                <a:latin typeface="Consolas" panose="020B0609020204030204" pitchFamily="49" charset="0"/>
              </a:rPr>
              <a:t>H</a:t>
            </a:r>
            <a:r>
              <a:rPr lang="fr-FR" sz="1600" dirty="0">
                <a:solidFill>
                  <a:srgbClr val="000000"/>
                </a:solidFill>
                <a:latin typeface="Consolas" panose="020B0609020204030204" pitchFamily="49" charset="0"/>
              </a:rPr>
              <a:t> = </a:t>
            </a:r>
            <a:r>
              <a:rPr lang="fr-FR" sz="1600" dirty="0">
                <a:solidFill>
                  <a:srgbClr val="098658"/>
                </a:solidFill>
                <a:latin typeface="Consolas" panose="020B0609020204030204" pitchFamily="49" charset="0"/>
              </a:rPr>
              <a:t>10</a:t>
            </a:r>
            <a:endParaRPr lang="fr-FR" sz="1600" dirty="0">
              <a:solidFill>
                <a:srgbClr val="000000"/>
              </a:solidFill>
              <a:latin typeface="Consolas" panose="020B0609020204030204" pitchFamily="49" charset="0"/>
            </a:endParaRPr>
          </a:p>
          <a:p>
            <a:r>
              <a:rPr lang="fr-FR" sz="1600" dirty="0">
                <a:solidFill>
                  <a:srgbClr val="000000"/>
                </a:solidFill>
                <a:latin typeface="Consolas" panose="020B0609020204030204" pitchFamily="49" charset="0"/>
              </a:rPr>
              <a:t/>
            </a:r>
            <a:br>
              <a:rPr lang="fr-FR" sz="1600" dirty="0">
                <a:solidFill>
                  <a:srgbClr val="000000"/>
                </a:solidFill>
                <a:latin typeface="Consolas" panose="020B0609020204030204" pitchFamily="49" charset="0"/>
              </a:rPr>
            </a:br>
            <a:r>
              <a:rPr lang="fr-FR" sz="1600" dirty="0" err="1">
                <a:solidFill>
                  <a:srgbClr val="001080"/>
                </a:solidFill>
                <a:latin typeface="Consolas" panose="020B0609020204030204" pitchFamily="49" charset="0"/>
              </a:rPr>
              <a:t>Tdg</a:t>
            </a:r>
            <a:r>
              <a:rPr lang="fr-FR" sz="1600" dirty="0">
                <a:solidFill>
                  <a:srgbClr val="000000"/>
                </a:solidFill>
                <a:latin typeface="Consolas" panose="020B0609020204030204" pitchFamily="49" charset="0"/>
              </a:rPr>
              <a:t> = </a:t>
            </a:r>
            <a:r>
              <a:rPr lang="fr-FR" sz="1600" dirty="0">
                <a:solidFill>
                  <a:srgbClr val="098658"/>
                </a:solidFill>
                <a:latin typeface="Consolas" panose="020B0609020204030204" pitchFamily="49" charset="0"/>
              </a:rPr>
              <a:t>0</a:t>
            </a:r>
            <a:endParaRPr lang="fr-FR" sz="1600" dirty="0">
              <a:solidFill>
                <a:srgbClr val="000000"/>
              </a:solidFill>
              <a:latin typeface="Consolas" panose="020B0609020204030204" pitchFamily="49" charset="0"/>
            </a:endParaRPr>
          </a:p>
          <a:p>
            <a:r>
              <a:rPr lang="fr-FR" sz="1600" dirty="0" err="1">
                <a:solidFill>
                  <a:srgbClr val="001080"/>
                </a:solidFill>
                <a:latin typeface="Consolas" panose="020B0609020204030204" pitchFamily="49" charset="0"/>
              </a:rPr>
              <a:t>Tad</a:t>
            </a:r>
            <a:r>
              <a:rPr lang="fr-FR" sz="1600" dirty="0">
                <a:solidFill>
                  <a:srgbClr val="000000"/>
                </a:solidFill>
                <a:latin typeface="Consolas" panose="020B0609020204030204" pitchFamily="49" charset="0"/>
              </a:rPr>
              <a:t> = </a:t>
            </a:r>
            <a:r>
              <a:rPr lang="fr-FR" sz="1600" dirty="0">
                <a:solidFill>
                  <a:srgbClr val="098658"/>
                </a:solidFill>
                <a:latin typeface="Consolas" panose="020B0609020204030204" pitchFamily="49" charset="0"/>
              </a:rPr>
              <a:t>100</a:t>
            </a:r>
            <a:endParaRPr lang="fr-FR" sz="1600" dirty="0">
              <a:solidFill>
                <a:srgbClr val="000000"/>
              </a:solidFill>
              <a:latin typeface="Consolas" panose="020B0609020204030204" pitchFamily="49" charset="0"/>
            </a:endParaRPr>
          </a:p>
          <a:p>
            <a:r>
              <a:rPr lang="fr-FR" sz="1600" dirty="0">
                <a:solidFill>
                  <a:srgbClr val="000000"/>
                </a:solidFill>
                <a:latin typeface="Consolas" panose="020B0609020204030204" pitchFamily="49" charset="0"/>
              </a:rPr>
              <a:t/>
            </a:r>
            <a:br>
              <a:rPr lang="fr-FR" sz="1600" dirty="0">
                <a:solidFill>
                  <a:srgbClr val="000000"/>
                </a:solidFill>
                <a:latin typeface="Consolas" panose="020B0609020204030204" pitchFamily="49" charset="0"/>
              </a:rPr>
            </a:br>
            <a:r>
              <a:rPr lang="fr-FR" sz="1600" dirty="0">
                <a:solidFill>
                  <a:srgbClr val="008000"/>
                </a:solidFill>
                <a:latin typeface="Consolas" panose="020B0609020204030204" pitchFamily="49" charset="0"/>
              </a:rPr>
              <a:t># Largeurs des cellules (uniformes)</a:t>
            </a:r>
            <a:endParaRPr lang="fr-FR" sz="1600" dirty="0">
              <a:solidFill>
                <a:srgbClr val="000000"/>
              </a:solidFill>
              <a:latin typeface="Consolas" panose="020B0609020204030204" pitchFamily="49" charset="0"/>
            </a:endParaRPr>
          </a:p>
          <a:p>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 = </a:t>
            </a:r>
            <a:r>
              <a:rPr lang="fr-FR" sz="1600" dirty="0" err="1">
                <a:solidFill>
                  <a:srgbClr val="267F99"/>
                </a:solidFill>
                <a:latin typeface="Consolas" panose="020B0609020204030204" pitchFamily="49" charset="0"/>
              </a:rPr>
              <a:t>np</a:t>
            </a:r>
            <a:r>
              <a:rPr lang="fr-FR" sz="1600" dirty="0" err="1">
                <a:solidFill>
                  <a:srgbClr val="000000"/>
                </a:solidFill>
                <a:latin typeface="Consolas" panose="020B0609020204030204" pitchFamily="49" charset="0"/>
              </a:rPr>
              <a:t>.</a:t>
            </a:r>
            <a:r>
              <a:rPr lang="fr-FR" sz="1600" dirty="0" err="1">
                <a:solidFill>
                  <a:srgbClr val="795E26"/>
                </a:solidFill>
                <a:latin typeface="Consolas" panose="020B0609020204030204" pitchFamily="49" charset="0"/>
              </a:rPr>
              <a:t>ones</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 </a:t>
            </a:r>
            <a:r>
              <a:rPr lang="fr-FR" sz="1600" dirty="0">
                <a:solidFill>
                  <a:srgbClr val="795E26"/>
                </a:solidFill>
                <a:latin typeface="Consolas" panose="020B0609020204030204" pitchFamily="49" charset="0"/>
              </a:rPr>
              <a:t>*</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L</a:t>
            </a:r>
            <a:r>
              <a:rPr lang="fr-FR" sz="1600" dirty="0">
                <a:solidFill>
                  <a:srgbClr val="795E26"/>
                </a:solidFill>
                <a:latin typeface="Consolas" panose="020B0609020204030204" pitchFamily="49" charset="0"/>
              </a:rPr>
              <a:t>/</a:t>
            </a:r>
            <a:r>
              <a:rPr lang="fr-FR" sz="1600" dirty="0">
                <a:solidFill>
                  <a:srgbClr val="0070C1"/>
                </a:solidFill>
                <a:latin typeface="Consolas" panose="020B0609020204030204" pitchFamily="49" charset="0"/>
              </a:rPr>
              <a:t>N</a:t>
            </a:r>
            <a:endParaRPr lang="fr-FR" sz="1600" dirty="0">
              <a:solidFill>
                <a:srgbClr val="000000"/>
              </a:solidFill>
              <a:latin typeface="Consolas" panose="020B0609020204030204" pitchFamily="49" charset="0"/>
            </a:endParaRPr>
          </a:p>
          <a:p>
            <a:r>
              <a:rPr lang="fr-FR" sz="1600" dirty="0">
                <a:solidFill>
                  <a:srgbClr val="000000"/>
                </a:solidFill>
                <a:latin typeface="Consolas" panose="020B0609020204030204" pitchFamily="49" charset="0"/>
              </a:rPr>
              <a:t/>
            </a:r>
            <a:br>
              <a:rPr lang="fr-FR" sz="1600" dirty="0">
                <a:solidFill>
                  <a:srgbClr val="000000"/>
                </a:solidFill>
                <a:latin typeface="Consolas" panose="020B0609020204030204" pitchFamily="49" charset="0"/>
              </a:rPr>
            </a:br>
            <a:r>
              <a:rPr lang="fr-FR" sz="1600" dirty="0">
                <a:solidFill>
                  <a:srgbClr val="008000"/>
                </a:solidFill>
                <a:latin typeface="Consolas" panose="020B0609020204030204" pitchFamily="49" charset="0"/>
              </a:rPr>
              <a:t># Centres des cellules</a:t>
            </a:r>
            <a:endParaRPr lang="fr-FR" sz="1600" dirty="0">
              <a:solidFill>
                <a:srgbClr val="000000"/>
              </a:solidFill>
              <a:latin typeface="Consolas" panose="020B0609020204030204" pitchFamily="49" charset="0"/>
            </a:endParaRPr>
          </a:p>
          <a:p>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 = </a:t>
            </a:r>
            <a:r>
              <a:rPr lang="fr-FR" sz="1600" dirty="0" err="1">
                <a:solidFill>
                  <a:srgbClr val="267F99"/>
                </a:solidFill>
                <a:latin typeface="Consolas" panose="020B0609020204030204" pitchFamily="49" charset="0"/>
              </a:rPr>
              <a:t>np</a:t>
            </a:r>
            <a:r>
              <a:rPr lang="fr-FR" sz="1600" dirty="0" err="1">
                <a:solidFill>
                  <a:srgbClr val="000000"/>
                </a:solidFill>
                <a:latin typeface="Consolas" panose="020B0609020204030204" pitchFamily="49" charset="0"/>
              </a:rPr>
              <a:t>.</a:t>
            </a:r>
            <a:r>
              <a:rPr lang="fr-FR" sz="1600" dirty="0" err="1">
                <a:solidFill>
                  <a:srgbClr val="795E26"/>
                </a:solidFill>
                <a:latin typeface="Consolas" panose="020B0609020204030204" pitchFamily="49" charset="0"/>
              </a:rPr>
              <a:t>zeros</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p>
          <a:p>
            <a:r>
              <a:rPr lang="fr-FR" sz="1600" dirty="0" err="1">
                <a:solidFill>
                  <a:srgbClr val="001080"/>
                </a:solidFill>
                <a:latin typeface="Consolas" panose="020B0609020204030204" pitchFamily="49" charset="0"/>
              </a:rPr>
              <a:t>width</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a:t>
            </a:r>
          </a:p>
          <a:p>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endParaRPr lang="fr-FR" sz="1600" dirty="0">
              <a:solidFill>
                <a:srgbClr val="000000"/>
              </a:solidFill>
              <a:latin typeface="Consolas" panose="020B0609020204030204" pitchFamily="49" charset="0"/>
            </a:endParaRPr>
          </a:p>
          <a:p>
            <a:r>
              <a:rPr lang="fr-FR" sz="1600" dirty="0">
                <a:solidFill>
                  <a:srgbClr val="AF00DB"/>
                </a:solidFill>
                <a:latin typeface="Consolas" panose="020B0609020204030204" pitchFamily="49" charset="0"/>
              </a:rPr>
              <a:t>for</a:t>
            </a:r>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 </a:t>
            </a:r>
            <a:r>
              <a:rPr lang="fr-FR" sz="1600" dirty="0">
                <a:solidFill>
                  <a:srgbClr val="AF00DB"/>
                </a:solidFill>
                <a:latin typeface="Consolas" panose="020B0609020204030204" pitchFamily="49" charset="0"/>
              </a:rPr>
              <a:t>in</a:t>
            </a:r>
            <a:r>
              <a:rPr lang="fr-FR" sz="1600" dirty="0">
                <a:solidFill>
                  <a:srgbClr val="000000"/>
                </a:solidFill>
                <a:latin typeface="Consolas" panose="020B0609020204030204" pitchFamily="49" charset="0"/>
              </a:rPr>
              <a:t> </a:t>
            </a:r>
            <a:r>
              <a:rPr lang="fr-FR" sz="1600" dirty="0">
                <a:solidFill>
                  <a:srgbClr val="267F99"/>
                </a:solidFill>
                <a:latin typeface="Consolas" panose="020B0609020204030204" pitchFamily="49" charset="0"/>
              </a:rPr>
              <a:t>range</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p>
          <a:p>
            <a:r>
              <a:rPr lang="fr-FR" sz="1600" dirty="0"/>
              <a:t/>
            </a:r>
            <a:br>
              <a:rPr lang="fr-FR" sz="1600" dirty="0"/>
            </a:br>
            <a:endParaRPr lang="fr-FR" sz="1600" dirty="0"/>
          </a:p>
        </p:txBody>
      </p:sp>
      <p:sp>
        <p:nvSpPr>
          <p:cNvPr id="4" name="ZoneTexte 3"/>
          <p:cNvSpPr txBox="1"/>
          <p:nvPr/>
        </p:nvSpPr>
        <p:spPr>
          <a:xfrm>
            <a:off x="5402995" y="259909"/>
            <a:ext cx="6692858" cy="6494085"/>
          </a:xfrm>
          <a:prstGeom prst="rect">
            <a:avLst/>
          </a:prstGeom>
          <a:noFill/>
        </p:spPr>
        <p:txBody>
          <a:bodyPr wrap="none" rtlCol="0">
            <a:spAutoFit/>
          </a:bodyPr>
          <a:lstStyle/>
          <a:p>
            <a:r>
              <a:rPr lang="fr-FR" sz="1600" dirty="0">
                <a:solidFill>
                  <a:srgbClr val="008000"/>
                </a:solidFill>
                <a:latin typeface="Consolas" panose="020B0609020204030204" pitchFamily="49" charset="0"/>
              </a:rPr>
              <a:t># Initialisation de la matrice A et du vecteur b</a:t>
            </a:r>
            <a:endParaRPr lang="fr-FR" sz="1600" dirty="0">
              <a:solidFill>
                <a:srgbClr val="000000"/>
              </a:solidFill>
              <a:latin typeface="Consolas" panose="020B0609020204030204" pitchFamily="49" charset="0"/>
            </a:endParaRPr>
          </a:p>
          <a:p>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 = </a:t>
            </a:r>
            <a:r>
              <a:rPr lang="fr-FR" sz="1600" dirty="0" err="1">
                <a:solidFill>
                  <a:srgbClr val="267F99"/>
                </a:solidFill>
                <a:latin typeface="Consolas" panose="020B0609020204030204" pitchFamily="49" charset="0"/>
              </a:rPr>
              <a:t>np</a:t>
            </a:r>
            <a:r>
              <a:rPr lang="fr-FR" sz="1600" dirty="0" err="1">
                <a:solidFill>
                  <a:srgbClr val="000000"/>
                </a:solidFill>
                <a:latin typeface="Consolas" panose="020B0609020204030204" pitchFamily="49" charset="0"/>
              </a:rPr>
              <a:t>.</a:t>
            </a:r>
            <a:r>
              <a:rPr lang="fr-FR" sz="1600" dirty="0" err="1">
                <a:solidFill>
                  <a:srgbClr val="795E26"/>
                </a:solidFill>
                <a:latin typeface="Consolas" panose="020B0609020204030204" pitchFamily="49" charset="0"/>
              </a:rPr>
              <a:t>zeros</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p>
          <a:p>
            <a:r>
              <a:rPr lang="fr-FR" sz="1600" dirty="0">
                <a:solidFill>
                  <a:srgbClr val="001080"/>
                </a:solidFill>
                <a:latin typeface="Consolas" panose="020B0609020204030204" pitchFamily="49" charset="0"/>
              </a:rPr>
              <a:t>b</a:t>
            </a:r>
            <a:r>
              <a:rPr lang="fr-FR" sz="1600" dirty="0">
                <a:solidFill>
                  <a:srgbClr val="000000"/>
                </a:solidFill>
                <a:latin typeface="Consolas" panose="020B0609020204030204" pitchFamily="49" charset="0"/>
              </a:rPr>
              <a:t> = </a:t>
            </a:r>
            <a:r>
              <a:rPr lang="fr-FR" sz="1600" dirty="0" err="1">
                <a:solidFill>
                  <a:srgbClr val="267F99"/>
                </a:solidFill>
                <a:latin typeface="Consolas" panose="020B0609020204030204" pitchFamily="49" charset="0"/>
              </a:rPr>
              <a:t>np</a:t>
            </a:r>
            <a:r>
              <a:rPr lang="fr-FR" sz="1600" dirty="0" err="1">
                <a:solidFill>
                  <a:srgbClr val="000000"/>
                </a:solidFill>
                <a:latin typeface="Consolas" panose="020B0609020204030204" pitchFamily="49" charset="0"/>
              </a:rPr>
              <a:t>.</a:t>
            </a:r>
            <a:r>
              <a:rPr lang="fr-FR" sz="1600" dirty="0" err="1">
                <a:solidFill>
                  <a:srgbClr val="795E26"/>
                </a:solidFill>
                <a:latin typeface="Consolas" panose="020B0609020204030204" pitchFamily="49" charset="0"/>
              </a:rPr>
              <a:t>zeros</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r>
            <a:br>
              <a:rPr lang="fr-FR" sz="1600" dirty="0">
                <a:solidFill>
                  <a:srgbClr val="000000"/>
                </a:solidFill>
                <a:latin typeface="Consolas" panose="020B0609020204030204" pitchFamily="49" charset="0"/>
              </a:rPr>
            </a:br>
            <a:r>
              <a:rPr lang="fr-FR" sz="1600" dirty="0">
                <a:solidFill>
                  <a:srgbClr val="008000"/>
                </a:solidFill>
                <a:latin typeface="Consolas" panose="020B0609020204030204" pitchFamily="49" charset="0"/>
              </a:rPr>
              <a:t># Remplissage de la matrice pour les cellules </a:t>
            </a:r>
            <a:endParaRPr lang="fr-FR" sz="1600" dirty="0" smtClean="0">
              <a:solidFill>
                <a:srgbClr val="008000"/>
              </a:solidFill>
              <a:latin typeface="Consolas" panose="020B0609020204030204" pitchFamily="49" charset="0"/>
            </a:endParaRPr>
          </a:p>
          <a:p>
            <a:r>
              <a:rPr lang="fr-FR" sz="1600" dirty="0" smtClean="0">
                <a:solidFill>
                  <a:srgbClr val="008000"/>
                </a:solidFill>
                <a:latin typeface="Consolas" panose="020B0609020204030204" pitchFamily="49" charset="0"/>
              </a:rPr>
              <a:t># intérieures </a:t>
            </a:r>
            <a:r>
              <a:rPr lang="fr-FR" sz="1600" dirty="0">
                <a:solidFill>
                  <a:srgbClr val="008000"/>
                </a:solidFill>
                <a:latin typeface="Consolas" panose="020B0609020204030204" pitchFamily="49" charset="0"/>
              </a:rPr>
              <a:t>(i = 1 à N-2)</a:t>
            </a:r>
            <a:endParaRPr lang="fr-FR" sz="1600" dirty="0">
              <a:solidFill>
                <a:srgbClr val="000000"/>
              </a:solidFill>
              <a:latin typeface="Consolas" panose="020B0609020204030204" pitchFamily="49" charset="0"/>
            </a:endParaRPr>
          </a:p>
          <a:p>
            <a:r>
              <a:rPr lang="fr-FR" sz="1600" dirty="0">
                <a:solidFill>
                  <a:srgbClr val="AF00DB"/>
                </a:solidFill>
                <a:latin typeface="Consolas" panose="020B0609020204030204" pitchFamily="49" charset="0"/>
              </a:rPr>
              <a:t>for</a:t>
            </a:r>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 </a:t>
            </a:r>
            <a:r>
              <a:rPr lang="fr-FR" sz="1600" dirty="0">
                <a:solidFill>
                  <a:srgbClr val="AF00DB"/>
                </a:solidFill>
                <a:latin typeface="Consolas" panose="020B0609020204030204" pitchFamily="49" charset="0"/>
              </a:rPr>
              <a:t>in</a:t>
            </a:r>
            <a:r>
              <a:rPr lang="fr-FR" sz="1600" dirty="0">
                <a:solidFill>
                  <a:srgbClr val="000000"/>
                </a:solidFill>
                <a:latin typeface="Consolas" panose="020B0609020204030204" pitchFamily="49" charset="0"/>
              </a:rPr>
              <a:t> </a:t>
            </a:r>
            <a:r>
              <a:rPr lang="fr-FR" sz="1600" dirty="0">
                <a:solidFill>
                  <a:srgbClr val="267F99"/>
                </a:solidFill>
                <a:latin typeface="Consolas" panose="020B0609020204030204" pitchFamily="49" charset="0"/>
              </a:rPr>
              <a:t>range</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 </a:t>
            </a:r>
            <a:r>
              <a:rPr lang="fr-FR" sz="1600" dirty="0" smtClean="0">
                <a:solidFill>
                  <a:srgbClr val="001080"/>
                </a:solidFill>
                <a:latin typeface="Consolas" panose="020B0609020204030204" pitchFamily="49" charset="0"/>
              </a:rPr>
              <a:t>i  </a:t>
            </a:r>
            <a:r>
              <a:rPr lang="fr-FR" sz="1600" dirty="0" smtClean="0">
                <a:solidFill>
                  <a:srgbClr val="000000"/>
                </a:solidFill>
                <a:latin typeface="Consolas" panose="020B0609020204030204" pitchFamily="49" charset="0"/>
              </a:rPr>
              <a:t>] </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r>
            <a:br>
              <a:rPr lang="fr-FR" sz="1600" dirty="0">
                <a:solidFill>
                  <a:srgbClr val="000000"/>
                </a:solidFill>
                <a:latin typeface="Consolas" panose="020B0609020204030204" pitchFamily="49" charset="0"/>
              </a:rPr>
            </a:br>
            <a:r>
              <a:rPr lang="fr-FR" sz="1600" dirty="0">
                <a:solidFill>
                  <a:srgbClr val="008000"/>
                </a:solidFill>
                <a:latin typeface="Consolas" panose="020B0609020204030204" pitchFamily="49" charset="0"/>
              </a:rPr>
              <a:t># Condition aux limites sur le bord gauche</a:t>
            </a:r>
            <a:endParaRPr lang="fr-FR" sz="1600" dirty="0">
              <a:solidFill>
                <a:srgbClr val="000000"/>
              </a:solidFill>
              <a:latin typeface="Consolas" panose="020B0609020204030204" pitchFamily="49" charset="0"/>
            </a:endParaRPr>
          </a:p>
          <a:p>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 </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 = </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a:t>
            </a:r>
          </a:p>
          <a:p>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 </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a:t>
            </a:r>
          </a:p>
          <a:p>
            <a:r>
              <a:rPr lang="fr-FR" sz="1600" dirty="0">
                <a:solidFill>
                  <a:srgbClr val="001080"/>
                </a:solidFill>
                <a:latin typeface="Consolas" panose="020B0609020204030204" pitchFamily="49" charset="0"/>
              </a:rPr>
              <a:t>b</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 = </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 * </a:t>
            </a:r>
            <a:r>
              <a:rPr lang="fr-FR" sz="1600" dirty="0" err="1">
                <a:solidFill>
                  <a:srgbClr val="001080"/>
                </a:solidFill>
                <a:latin typeface="Consolas" panose="020B0609020204030204" pitchFamily="49" charset="0"/>
              </a:rPr>
              <a:t>Tdg</a:t>
            </a:r>
            <a:endParaRPr lang="fr-FR" sz="1600" dirty="0">
              <a:solidFill>
                <a:srgbClr val="000000"/>
              </a:solidFill>
              <a:latin typeface="Consolas" panose="020B0609020204030204" pitchFamily="49" charset="0"/>
            </a:endParaRPr>
          </a:p>
          <a:p>
            <a:r>
              <a:rPr lang="fr-FR" sz="1600" dirty="0">
                <a:solidFill>
                  <a:srgbClr val="000000"/>
                </a:solidFill>
                <a:latin typeface="Consolas" panose="020B0609020204030204" pitchFamily="49" charset="0"/>
              </a:rPr>
              <a:t/>
            </a:r>
            <a:br>
              <a:rPr lang="fr-FR" sz="1600" dirty="0">
                <a:solidFill>
                  <a:srgbClr val="000000"/>
                </a:solidFill>
                <a:latin typeface="Consolas" panose="020B0609020204030204" pitchFamily="49" charset="0"/>
              </a:rPr>
            </a:br>
            <a:r>
              <a:rPr lang="fr-FR" sz="1600" dirty="0">
                <a:solidFill>
                  <a:srgbClr val="008000"/>
                </a:solidFill>
                <a:latin typeface="Consolas" panose="020B0609020204030204" pitchFamily="49" charset="0"/>
              </a:rPr>
              <a:t># Condition aux limites sur le bord droit</a:t>
            </a:r>
            <a:endParaRPr lang="fr-FR" sz="1600" dirty="0">
              <a:solidFill>
                <a:srgbClr val="000000"/>
              </a:solidFill>
              <a:latin typeface="Consolas" panose="020B0609020204030204" pitchFamily="49" charset="0"/>
            </a:endParaRPr>
          </a:p>
          <a:p>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H</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H</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a:t>
            </a:r>
          </a:p>
          <a:p>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a:t>
            </a:r>
          </a:p>
          <a:p>
            <a:r>
              <a:rPr lang="fr-FR" sz="1600" dirty="0">
                <a:solidFill>
                  <a:srgbClr val="001080"/>
                </a:solidFill>
                <a:latin typeface="Consolas" panose="020B0609020204030204" pitchFamily="49" charset="0"/>
              </a:rPr>
              <a:t>b</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H</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H</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err="1">
                <a:solidFill>
                  <a:srgbClr val="001080"/>
                </a:solidFill>
                <a:latin typeface="Consolas" panose="020B0609020204030204" pitchFamily="49" charset="0"/>
              </a:rPr>
              <a:t>Tad</a:t>
            </a:r>
            <a:endParaRPr lang="fr-FR" sz="1600" dirty="0">
              <a:solidFill>
                <a:srgbClr val="000000"/>
              </a:solidFill>
              <a:latin typeface="Consolas" panose="020B0609020204030204" pitchFamily="49" charset="0"/>
            </a:endParaRPr>
          </a:p>
          <a:p>
            <a:r>
              <a:rPr lang="fr-FR" sz="1600" dirty="0">
                <a:solidFill>
                  <a:srgbClr val="000000"/>
                </a:solidFill>
                <a:latin typeface="Consolas" panose="020B0609020204030204" pitchFamily="49" charset="0"/>
              </a:rPr>
              <a:t/>
            </a:r>
            <a:br>
              <a:rPr lang="fr-FR" sz="1600" dirty="0">
                <a:solidFill>
                  <a:srgbClr val="000000"/>
                </a:solidFill>
                <a:latin typeface="Consolas" panose="020B0609020204030204" pitchFamily="49" charset="0"/>
              </a:rPr>
            </a:br>
            <a:r>
              <a:rPr lang="fr-FR" sz="1600" dirty="0">
                <a:solidFill>
                  <a:srgbClr val="008000"/>
                </a:solidFill>
                <a:latin typeface="Consolas" panose="020B0609020204030204" pitchFamily="49" charset="0"/>
              </a:rPr>
              <a:t># Résolution du système linéaire</a:t>
            </a:r>
            <a:endParaRPr lang="fr-FR" sz="1600" dirty="0">
              <a:solidFill>
                <a:srgbClr val="000000"/>
              </a:solidFill>
              <a:latin typeface="Consolas" panose="020B0609020204030204" pitchFamily="49" charset="0"/>
            </a:endParaRPr>
          </a:p>
          <a:p>
            <a:r>
              <a:rPr lang="fr-FR" sz="1600" dirty="0">
                <a:solidFill>
                  <a:srgbClr val="0070C1"/>
                </a:solidFill>
                <a:latin typeface="Consolas" panose="020B0609020204030204" pitchFamily="49" charset="0"/>
              </a:rPr>
              <a:t>T</a:t>
            </a:r>
            <a:r>
              <a:rPr lang="fr-FR" sz="1600" dirty="0">
                <a:solidFill>
                  <a:srgbClr val="000000"/>
                </a:solidFill>
                <a:latin typeface="Consolas" panose="020B0609020204030204" pitchFamily="49" charset="0"/>
              </a:rPr>
              <a:t> = </a:t>
            </a:r>
            <a:r>
              <a:rPr lang="fr-FR" sz="1600" dirty="0" err="1">
                <a:solidFill>
                  <a:srgbClr val="267F99"/>
                </a:solidFill>
                <a:latin typeface="Consolas" panose="020B0609020204030204" pitchFamily="49" charset="0"/>
              </a:rPr>
              <a:t>np</a:t>
            </a:r>
            <a:r>
              <a:rPr lang="fr-FR" sz="1600" dirty="0" err="1">
                <a:solidFill>
                  <a:srgbClr val="000000"/>
                </a:solidFill>
                <a:latin typeface="Consolas" panose="020B0609020204030204" pitchFamily="49" charset="0"/>
              </a:rPr>
              <a:t>.</a:t>
            </a:r>
            <a:r>
              <a:rPr lang="fr-FR" sz="1600" dirty="0" err="1">
                <a:solidFill>
                  <a:srgbClr val="267F99"/>
                </a:solidFill>
                <a:latin typeface="Consolas" panose="020B0609020204030204" pitchFamily="49" charset="0"/>
              </a:rPr>
              <a:t>linalg</a:t>
            </a:r>
            <a:r>
              <a:rPr lang="fr-FR" sz="1600" dirty="0" err="1">
                <a:solidFill>
                  <a:srgbClr val="000000"/>
                </a:solidFill>
                <a:latin typeface="Consolas" panose="020B0609020204030204" pitchFamily="49" charset="0"/>
              </a:rPr>
              <a:t>.</a:t>
            </a:r>
            <a:r>
              <a:rPr lang="fr-FR" sz="1600" dirty="0" err="1">
                <a:solidFill>
                  <a:srgbClr val="795E26"/>
                </a:solidFill>
                <a:latin typeface="Consolas" panose="020B0609020204030204" pitchFamily="49" charset="0"/>
              </a:rPr>
              <a:t>solve</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b</a:t>
            </a:r>
            <a:r>
              <a:rPr lang="fr-FR" sz="1600" dirty="0" smtClean="0">
                <a:solidFill>
                  <a:srgbClr val="000000"/>
                </a:solidFill>
                <a:latin typeface="Consolas" panose="020B0609020204030204" pitchFamily="49" charset="0"/>
              </a:rPr>
              <a:t>)</a:t>
            </a:r>
          </a:p>
          <a:p>
            <a:endParaRPr lang="fr-FR" sz="1600" b="0" dirty="0" smtClean="0">
              <a:solidFill>
                <a:srgbClr val="000000"/>
              </a:solidFill>
              <a:effectLst/>
              <a:latin typeface="Consolas" panose="020B0609020204030204" pitchFamily="49" charset="0"/>
            </a:endParaRPr>
          </a:p>
          <a:p>
            <a:r>
              <a:rPr lang="fr-FR" sz="1600" dirty="0" smtClean="0">
                <a:solidFill>
                  <a:srgbClr val="000000"/>
                </a:solidFill>
                <a:latin typeface="Consolas" panose="020B0609020204030204" pitchFamily="49" charset="0"/>
              </a:rPr>
              <a:t># Affichage</a:t>
            </a:r>
            <a:endParaRPr lang="fr-FR" sz="1600" b="0" dirty="0">
              <a:solidFill>
                <a:srgbClr val="000000"/>
              </a:solidFill>
              <a:effectLst/>
              <a:latin typeface="Consolas" panose="020B0609020204030204" pitchFamily="49" charset="0"/>
            </a:endParaRPr>
          </a:p>
          <a:p>
            <a:r>
              <a:rPr lang="fr-FR" sz="1600" dirty="0" err="1">
                <a:solidFill>
                  <a:srgbClr val="267F99"/>
                </a:solidFill>
                <a:latin typeface="Consolas" panose="020B0609020204030204" pitchFamily="49" charset="0"/>
              </a:rPr>
              <a:t>plt</a:t>
            </a:r>
            <a:r>
              <a:rPr lang="fr-FR" sz="1600" dirty="0" err="1">
                <a:solidFill>
                  <a:srgbClr val="000000"/>
                </a:solidFill>
                <a:latin typeface="Consolas" panose="020B0609020204030204" pitchFamily="49" charset="0"/>
              </a:rPr>
              <a:t>.</a:t>
            </a:r>
            <a:r>
              <a:rPr lang="fr-FR" sz="1600" dirty="0" err="1">
                <a:solidFill>
                  <a:srgbClr val="795E26"/>
                </a:solidFill>
                <a:latin typeface="Consolas" panose="020B0609020204030204" pitchFamily="49" charset="0"/>
              </a:rPr>
              <a:t>plot</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T</a:t>
            </a:r>
            <a:r>
              <a:rPr lang="fr-FR" sz="1600" dirty="0">
                <a:solidFill>
                  <a:srgbClr val="000000"/>
                </a:solidFill>
                <a:latin typeface="Consolas" panose="020B0609020204030204" pitchFamily="49" charset="0"/>
              </a:rPr>
              <a:t>, </a:t>
            </a:r>
            <a:r>
              <a:rPr lang="fr-FR" sz="1600" dirty="0">
                <a:solidFill>
                  <a:srgbClr val="A31515"/>
                </a:solidFill>
                <a:latin typeface="Consolas" panose="020B0609020204030204" pitchFamily="49" charset="0"/>
              </a:rPr>
              <a:t>'r.-'</a:t>
            </a:r>
            <a:r>
              <a:rPr lang="fr-FR" sz="1600" dirty="0">
                <a:solidFill>
                  <a:srgbClr val="000000"/>
                </a:solidFill>
                <a:latin typeface="Consolas" panose="020B0609020204030204" pitchFamily="49" charset="0"/>
              </a:rPr>
              <a:t>, </a:t>
            </a:r>
            <a:r>
              <a:rPr lang="fr-FR" sz="1600" dirty="0" err="1">
                <a:solidFill>
                  <a:srgbClr val="001080"/>
                </a:solidFill>
                <a:latin typeface="Consolas" panose="020B0609020204030204" pitchFamily="49" charset="0"/>
              </a:rPr>
              <a:t>linewidth</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 </a:t>
            </a:r>
            <a:r>
              <a:rPr lang="fr-FR" sz="1600" dirty="0" err="1">
                <a:solidFill>
                  <a:srgbClr val="001080"/>
                </a:solidFill>
                <a:latin typeface="Consolas" panose="020B0609020204030204" pitchFamily="49" charset="0"/>
              </a:rPr>
              <a:t>markersize</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8</a:t>
            </a:r>
            <a:r>
              <a:rPr lang="fr-FR" sz="1600" dirty="0" smtClean="0">
                <a:solidFill>
                  <a:srgbClr val="000000"/>
                </a:solidFill>
                <a:latin typeface="Consolas" panose="020B0609020204030204" pitchFamily="49" charset="0"/>
              </a:rPr>
              <a:t>)</a:t>
            </a:r>
            <a:endParaRPr lang="fr-FR" sz="1600" dirty="0">
              <a:solidFill>
                <a:srgbClr val="000000"/>
              </a:solidFill>
              <a:latin typeface="Consolas" panose="020B0609020204030204" pitchFamily="49" charset="0"/>
            </a:endParaRPr>
          </a:p>
        </p:txBody>
      </p:sp>
      <p:pic>
        <p:nvPicPr>
          <p:cNvPr id="5" name="Image 4"/>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664960" y="220442"/>
            <a:ext cx="4012190" cy="274286"/>
          </a:xfrm>
          <a:prstGeom prst="rect">
            <a:avLst/>
          </a:prstGeom>
        </p:spPr>
      </p:pic>
    </p:spTree>
    <p:extLst>
      <p:ext uri="{BB962C8B-B14F-4D97-AF65-F5344CB8AC3E}">
        <p14:creationId xmlns:p14="http://schemas.microsoft.com/office/powerpoint/2010/main" val="16900782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1CB95D3C-87B7-42DD-97F8-1F43ACE143A3}" type="slidenum">
              <a:rPr lang="fr-FR" smtClean="0"/>
              <a:t>14</a:t>
            </a:fld>
            <a:endParaRPr lang="fr-FR"/>
          </a:p>
        </p:txBody>
      </p:sp>
      <p:sp>
        <p:nvSpPr>
          <p:cNvPr id="3" name="ZoneTexte 2"/>
          <p:cNvSpPr txBox="1"/>
          <p:nvPr/>
        </p:nvSpPr>
        <p:spPr>
          <a:xfrm>
            <a:off x="664960" y="906601"/>
            <a:ext cx="3355406" cy="6186309"/>
          </a:xfrm>
          <a:prstGeom prst="rect">
            <a:avLst/>
          </a:prstGeom>
          <a:noFill/>
        </p:spPr>
        <p:txBody>
          <a:bodyPr wrap="none" rtlCol="0">
            <a:spAutoFit/>
          </a:bodyPr>
          <a:lstStyle/>
          <a:p>
            <a:r>
              <a:rPr lang="fr-FR" b="1" dirty="0" err="1">
                <a:solidFill>
                  <a:srgbClr val="000000"/>
                </a:solidFill>
                <a:latin typeface="Courier New" panose="02070309020205020404" pitchFamily="49" charset="0"/>
              </a:rPr>
              <a:t>clc</a:t>
            </a:r>
            <a:endParaRPr lang="fr-FR" dirty="0">
              <a:solidFill>
                <a:srgbClr val="000000"/>
              </a:solidFill>
              <a:latin typeface="Courier New" panose="02070309020205020404" pitchFamily="49" charset="0"/>
            </a:endParaRPr>
          </a:p>
          <a:p>
            <a:r>
              <a:rPr lang="fr-FR" b="1" dirty="0" err="1">
                <a:solidFill>
                  <a:srgbClr val="000000"/>
                </a:solidFill>
                <a:latin typeface="Courier New" panose="02070309020205020404" pitchFamily="49" charset="0"/>
              </a:rPr>
              <a:t>clear</a:t>
            </a:r>
            <a:r>
              <a:rPr lang="fr-FR" b="1" dirty="0">
                <a:solidFill>
                  <a:srgbClr val="000000"/>
                </a:solidFill>
                <a:latin typeface="Courier New" panose="02070309020205020404" pitchFamily="49" charset="0"/>
              </a:rPr>
              <a:t> </a:t>
            </a:r>
            <a:r>
              <a:rPr lang="fr-FR" b="1" dirty="0">
                <a:solidFill>
                  <a:srgbClr val="AA04F9"/>
                </a:solidFill>
                <a:latin typeface="Courier New" panose="02070309020205020404" pitchFamily="49" charset="0"/>
              </a:rPr>
              <a:t>all</a:t>
            </a:r>
            <a:endParaRPr lang="fr-FR" dirty="0">
              <a:solidFill>
                <a:srgbClr val="AA04F9"/>
              </a:solidFill>
              <a:latin typeface="Courier New" panose="02070309020205020404" pitchFamily="49" charset="0"/>
            </a:endParaRPr>
          </a:p>
          <a:p>
            <a:r>
              <a:rPr lang="fr-FR" b="1" dirty="0">
                <a:solidFill>
                  <a:srgbClr val="000000"/>
                </a:solidFill>
                <a:latin typeface="Courier New" panose="02070309020205020404" pitchFamily="49" charset="0"/>
              </a:rPr>
              <a:t>close </a:t>
            </a:r>
            <a:r>
              <a:rPr lang="fr-FR" b="1" dirty="0">
                <a:solidFill>
                  <a:srgbClr val="AA04F9"/>
                </a:solidFill>
                <a:latin typeface="Courier New" panose="02070309020205020404" pitchFamily="49" charset="0"/>
              </a:rPr>
              <a:t>all</a:t>
            </a:r>
            <a:endParaRPr lang="fr-FR" dirty="0">
              <a:solidFill>
                <a:srgbClr val="AA04F9"/>
              </a:solidFill>
              <a:latin typeface="Courier New" panose="02070309020205020404" pitchFamily="49" charset="0"/>
            </a:endParaRPr>
          </a:p>
          <a:p>
            <a:r>
              <a:rPr lang="fr-FR" b="1" dirty="0">
                <a:solidFill>
                  <a:srgbClr val="AA04F9"/>
                </a:solidFill>
                <a:latin typeface="Courier New" panose="02070309020205020404" pitchFamily="49" charset="0"/>
              </a:rPr>
              <a:t> </a:t>
            </a:r>
            <a:endParaRPr lang="fr-FR" dirty="0">
              <a:solidFill>
                <a:srgbClr val="AA04F9"/>
              </a:solidFill>
              <a:latin typeface="Courier New" panose="02070309020205020404" pitchFamily="49" charset="0"/>
            </a:endParaRPr>
          </a:p>
          <a:p>
            <a:r>
              <a:rPr lang="fr-FR" b="1" dirty="0">
                <a:solidFill>
                  <a:srgbClr val="000000"/>
                </a:solidFill>
                <a:latin typeface="Courier New" panose="02070309020205020404" pitchFamily="49" charset="0"/>
              </a:rPr>
              <a:t>L = 1;</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N = 10;</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K = 200;</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H = 10;</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t>
            </a:r>
            <a:endParaRPr lang="fr-FR" dirty="0">
              <a:solidFill>
                <a:srgbClr val="000000"/>
              </a:solidFill>
              <a:latin typeface="Courier New" panose="02070309020205020404" pitchFamily="49" charset="0"/>
            </a:endParaRPr>
          </a:p>
          <a:p>
            <a:r>
              <a:rPr lang="fr-FR" b="1" dirty="0" err="1">
                <a:solidFill>
                  <a:srgbClr val="000000"/>
                </a:solidFill>
                <a:latin typeface="Courier New" panose="02070309020205020404" pitchFamily="49" charset="0"/>
              </a:rPr>
              <a:t>Tdg</a:t>
            </a:r>
            <a:r>
              <a:rPr lang="fr-FR" b="1" dirty="0">
                <a:solidFill>
                  <a:srgbClr val="000000"/>
                </a:solidFill>
                <a:latin typeface="Courier New" panose="02070309020205020404" pitchFamily="49" charset="0"/>
              </a:rPr>
              <a:t> = 0;</a:t>
            </a:r>
            <a:endParaRPr lang="fr-FR" dirty="0">
              <a:solidFill>
                <a:srgbClr val="000000"/>
              </a:solidFill>
              <a:latin typeface="Courier New" panose="02070309020205020404" pitchFamily="49" charset="0"/>
            </a:endParaRPr>
          </a:p>
          <a:p>
            <a:r>
              <a:rPr lang="fr-FR" b="1" dirty="0" err="1">
                <a:solidFill>
                  <a:srgbClr val="000000"/>
                </a:solidFill>
                <a:latin typeface="Courier New" panose="02070309020205020404" pitchFamily="49" charset="0"/>
              </a:rPr>
              <a:t>Tad</a:t>
            </a:r>
            <a:r>
              <a:rPr lang="fr-FR" b="1" dirty="0">
                <a:solidFill>
                  <a:srgbClr val="000000"/>
                </a:solidFill>
                <a:latin typeface="Courier New" panose="02070309020205020404" pitchFamily="49" charset="0"/>
              </a:rPr>
              <a:t> = 100;</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w = L/N*</a:t>
            </a:r>
            <a:r>
              <a:rPr lang="fr-FR" b="1" dirty="0" err="1">
                <a:solidFill>
                  <a:srgbClr val="000000"/>
                </a:solidFill>
                <a:latin typeface="Courier New" panose="02070309020205020404" pitchFamily="49" charset="0"/>
              </a:rPr>
              <a:t>ones</a:t>
            </a:r>
            <a:r>
              <a:rPr lang="fr-FR" b="1" dirty="0">
                <a:solidFill>
                  <a:srgbClr val="000000"/>
                </a:solidFill>
                <a:latin typeface="Courier New" panose="02070309020205020404" pitchFamily="49" charset="0"/>
              </a:rPr>
              <a:t>(1, N);</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t>
            </a:r>
            <a:endParaRPr lang="fr-FR" dirty="0">
              <a:solidFill>
                <a:srgbClr val="000000"/>
              </a:solidFill>
              <a:latin typeface="Courier New" panose="02070309020205020404" pitchFamily="49" charset="0"/>
            </a:endParaRPr>
          </a:p>
          <a:p>
            <a:r>
              <a:rPr lang="fr-FR" b="1" dirty="0">
                <a:solidFill>
                  <a:srgbClr val="028009"/>
                </a:solidFill>
                <a:latin typeface="Courier New" panose="02070309020205020404" pitchFamily="49" charset="0"/>
              </a:rPr>
              <a:t>% centres des cellules</a:t>
            </a:r>
            <a:endParaRPr lang="fr-FR" dirty="0">
              <a:solidFill>
                <a:srgbClr val="028009"/>
              </a:solidFill>
              <a:latin typeface="Courier New" panose="02070309020205020404" pitchFamily="49" charset="0"/>
            </a:endParaRPr>
          </a:p>
          <a:p>
            <a:r>
              <a:rPr lang="fr-FR" b="1" dirty="0">
                <a:solidFill>
                  <a:srgbClr val="000000"/>
                </a:solidFill>
                <a:latin typeface="Courier New" panose="02070309020205020404" pitchFamily="49" charset="0"/>
              </a:rPr>
              <a:t>x = </a:t>
            </a:r>
            <a:r>
              <a:rPr lang="fr-FR" b="1" dirty="0" err="1">
                <a:solidFill>
                  <a:srgbClr val="000000"/>
                </a:solidFill>
                <a:latin typeface="Courier New" panose="02070309020205020404" pitchFamily="49" charset="0"/>
              </a:rPr>
              <a:t>zeros</a:t>
            </a:r>
            <a:r>
              <a:rPr lang="fr-FR" b="1" dirty="0">
                <a:solidFill>
                  <a:srgbClr val="000000"/>
                </a:solidFill>
                <a:latin typeface="Courier New" panose="02070309020205020404" pitchFamily="49" charset="0"/>
              </a:rPr>
              <a:t>(1, N);</a:t>
            </a:r>
            <a:endParaRPr lang="fr-FR" dirty="0">
              <a:solidFill>
                <a:srgbClr val="000000"/>
              </a:solidFill>
              <a:latin typeface="Courier New" panose="02070309020205020404" pitchFamily="49" charset="0"/>
            </a:endParaRPr>
          </a:p>
          <a:p>
            <a:r>
              <a:rPr lang="fr-FR" b="1" dirty="0" err="1">
                <a:solidFill>
                  <a:srgbClr val="000000"/>
                </a:solidFill>
                <a:latin typeface="Courier New" panose="02070309020205020404" pitchFamily="49" charset="0"/>
              </a:rPr>
              <a:t>width</a:t>
            </a:r>
            <a:r>
              <a:rPr lang="fr-FR" b="1" dirty="0">
                <a:solidFill>
                  <a:srgbClr val="000000"/>
                </a:solidFill>
                <a:latin typeface="Courier New" panose="02070309020205020404" pitchFamily="49" charset="0"/>
              </a:rPr>
              <a:t> = w(1);</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x(1)=w(1)/2;</a:t>
            </a:r>
            <a:endParaRPr lang="fr-FR" dirty="0">
              <a:solidFill>
                <a:srgbClr val="000000"/>
              </a:solidFill>
              <a:latin typeface="Courier New" panose="02070309020205020404" pitchFamily="49" charset="0"/>
            </a:endParaRPr>
          </a:p>
          <a:p>
            <a:r>
              <a:rPr lang="fr-FR" b="1" dirty="0">
                <a:solidFill>
                  <a:srgbClr val="0E00FF"/>
                </a:solidFill>
                <a:latin typeface="Courier New" panose="02070309020205020404" pitchFamily="49" charset="0"/>
              </a:rPr>
              <a:t>for</a:t>
            </a:r>
            <a:r>
              <a:rPr lang="fr-FR" b="1" dirty="0">
                <a:solidFill>
                  <a:srgbClr val="000000"/>
                </a:solidFill>
                <a:latin typeface="Courier New" panose="02070309020205020404" pitchFamily="49" charset="0"/>
              </a:rPr>
              <a:t> i=2:N</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x(i) = x(i-1)+w(i);</a:t>
            </a:r>
            <a:endParaRPr lang="fr-FR" dirty="0">
              <a:solidFill>
                <a:srgbClr val="000000"/>
              </a:solidFill>
              <a:latin typeface="Courier New" panose="02070309020205020404" pitchFamily="49" charset="0"/>
            </a:endParaRPr>
          </a:p>
          <a:p>
            <a:r>
              <a:rPr lang="fr-FR" b="1" dirty="0">
                <a:solidFill>
                  <a:srgbClr val="0E00FF"/>
                </a:solidFill>
                <a:latin typeface="Courier New" panose="02070309020205020404" pitchFamily="49" charset="0"/>
              </a:rPr>
              <a:t>end</a:t>
            </a:r>
            <a:endParaRPr lang="fr-FR" dirty="0">
              <a:solidFill>
                <a:srgbClr val="0E00FF"/>
              </a:solidFill>
              <a:latin typeface="Courier New" panose="02070309020205020404" pitchFamily="49" charset="0"/>
            </a:endParaRPr>
          </a:p>
          <a:p>
            <a:r>
              <a:rPr lang="fr-FR" b="1" dirty="0">
                <a:solidFill>
                  <a:srgbClr val="0E00FF"/>
                </a:solidFill>
                <a:latin typeface="Courier New" panose="02070309020205020404" pitchFamily="49" charset="0"/>
              </a:rPr>
              <a:t> </a:t>
            </a:r>
            <a:endParaRPr lang="fr-FR" dirty="0">
              <a:solidFill>
                <a:srgbClr val="0E00FF"/>
              </a:solidFill>
              <a:latin typeface="Courier New" panose="02070309020205020404" pitchFamily="49" charset="0"/>
            </a:endParaRPr>
          </a:p>
        </p:txBody>
      </p:sp>
      <p:sp>
        <p:nvSpPr>
          <p:cNvPr id="4" name="ZoneTexte 3"/>
          <p:cNvSpPr txBox="1"/>
          <p:nvPr/>
        </p:nvSpPr>
        <p:spPr>
          <a:xfrm>
            <a:off x="4860070" y="906601"/>
            <a:ext cx="6939720" cy="5632311"/>
          </a:xfrm>
          <a:prstGeom prst="rect">
            <a:avLst/>
          </a:prstGeom>
          <a:noFill/>
        </p:spPr>
        <p:txBody>
          <a:bodyPr wrap="none" rtlCol="0">
            <a:spAutoFit/>
          </a:bodyPr>
          <a:lstStyle/>
          <a:p>
            <a:r>
              <a:rPr lang="fr-FR" b="1" dirty="0">
                <a:solidFill>
                  <a:srgbClr val="000000"/>
                </a:solidFill>
                <a:latin typeface="Courier New" panose="02070309020205020404" pitchFamily="49" charset="0"/>
              </a:rPr>
              <a:t>A = </a:t>
            </a:r>
            <a:r>
              <a:rPr lang="fr-FR" b="1" dirty="0" err="1">
                <a:solidFill>
                  <a:srgbClr val="000000"/>
                </a:solidFill>
                <a:latin typeface="Courier New" panose="02070309020205020404" pitchFamily="49" charset="0"/>
              </a:rPr>
              <a:t>sparse</a:t>
            </a:r>
            <a:r>
              <a:rPr lang="fr-FR" b="1" dirty="0">
                <a:solidFill>
                  <a:srgbClr val="000000"/>
                </a:solidFill>
                <a:latin typeface="Courier New" panose="02070309020205020404" pitchFamily="49" charset="0"/>
              </a:rPr>
              <a:t>(N, N);</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b = </a:t>
            </a:r>
            <a:r>
              <a:rPr lang="fr-FR" b="1" dirty="0" err="1">
                <a:solidFill>
                  <a:srgbClr val="000000"/>
                </a:solidFill>
                <a:latin typeface="Courier New" panose="02070309020205020404" pitchFamily="49" charset="0"/>
              </a:rPr>
              <a:t>zeros</a:t>
            </a:r>
            <a:r>
              <a:rPr lang="fr-FR" b="1" dirty="0">
                <a:solidFill>
                  <a:srgbClr val="000000"/>
                </a:solidFill>
                <a:latin typeface="Courier New" panose="02070309020205020404" pitchFamily="49" charset="0"/>
              </a:rPr>
              <a:t>(N, 1);</a:t>
            </a:r>
            <a:endParaRPr lang="fr-FR" dirty="0">
              <a:solidFill>
                <a:srgbClr val="000000"/>
              </a:solidFill>
              <a:latin typeface="Courier New" panose="02070309020205020404" pitchFamily="49" charset="0"/>
            </a:endParaRPr>
          </a:p>
          <a:p>
            <a:r>
              <a:rPr lang="fr-FR" b="1" dirty="0">
                <a:solidFill>
                  <a:srgbClr val="0E00FF"/>
                </a:solidFill>
                <a:latin typeface="Courier New" panose="02070309020205020404" pitchFamily="49" charset="0"/>
              </a:rPr>
              <a:t>for</a:t>
            </a:r>
            <a:r>
              <a:rPr lang="fr-FR" b="1" dirty="0">
                <a:solidFill>
                  <a:srgbClr val="000000"/>
                </a:solidFill>
                <a:latin typeface="Courier New" panose="02070309020205020404" pitchFamily="49" charset="0"/>
              </a:rPr>
              <a:t> i=2:N-1</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A(i, i-1) = -K/(x(i)-x(i-1));</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A(i, i  ) = +K/(x(i)-x(i-1))+K/(x(i+1)-x(i));</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A(i, i+1) = -K/(x(i+1)-x(i));</a:t>
            </a:r>
            <a:endParaRPr lang="fr-FR" dirty="0">
              <a:solidFill>
                <a:srgbClr val="000000"/>
              </a:solidFill>
              <a:latin typeface="Courier New" panose="02070309020205020404" pitchFamily="49" charset="0"/>
            </a:endParaRPr>
          </a:p>
          <a:p>
            <a:r>
              <a:rPr lang="fr-FR" b="1" dirty="0">
                <a:solidFill>
                  <a:srgbClr val="0E00FF"/>
                </a:solidFill>
                <a:latin typeface="Courier New" panose="02070309020205020404" pitchFamily="49" charset="0"/>
              </a:rPr>
              <a:t>end</a:t>
            </a:r>
            <a:endParaRPr lang="fr-FR" dirty="0">
              <a:solidFill>
                <a:srgbClr val="0E00FF"/>
              </a:solidFill>
              <a:latin typeface="Courier New" panose="02070309020205020404" pitchFamily="49" charset="0"/>
            </a:endParaRPr>
          </a:p>
          <a:p>
            <a:r>
              <a:rPr lang="fr-FR" b="1" dirty="0">
                <a:solidFill>
                  <a:srgbClr val="0E00FF"/>
                </a:solidFill>
                <a:latin typeface="Courier New" panose="02070309020205020404" pitchFamily="49" charset="0"/>
              </a:rPr>
              <a:t> </a:t>
            </a:r>
            <a:endParaRPr lang="fr-FR" dirty="0">
              <a:solidFill>
                <a:srgbClr val="0E00FF"/>
              </a:solidFill>
              <a:latin typeface="Courier New" panose="02070309020205020404" pitchFamily="49" charset="0"/>
            </a:endParaRPr>
          </a:p>
          <a:p>
            <a:r>
              <a:rPr lang="pl-PL" b="1" dirty="0">
                <a:solidFill>
                  <a:srgbClr val="000000"/>
                </a:solidFill>
                <a:latin typeface="Courier New" panose="02070309020205020404" pitchFamily="49" charset="0"/>
              </a:rPr>
              <a:t>A(1, 1) =  2*K/w(1)+K/(x(2)-x(1));</a:t>
            </a:r>
            <a:endParaRPr lang="pl-PL" dirty="0">
              <a:solidFill>
                <a:srgbClr val="000000"/>
              </a:solidFill>
              <a:latin typeface="Courier New" panose="02070309020205020404" pitchFamily="49" charset="0"/>
            </a:endParaRPr>
          </a:p>
          <a:p>
            <a:r>
              <a:rPr lang="pt-BR" b="1" dirty="0">
                <a:solidFill>
                  <a:srgbClr val="000000"/>
                </a:solidFill>
                <a:latin typeface="Courier New" panose="02070309020205020404" pitchFamily="49" charset="0"/>
              </a:rPr>
              <a:t>A(1, 2) = -K/(x(2)-x(1));</a:t>
            </a:r>
            <a:endParaRPr lang="pt-B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b(1) = 2*K/w(1)*</a:t>
            </a:r>
            <a:r>
              <a:rPr lang="fr-FR" b="1" dirty="0" err="1">
                <a:solidFill>
                  <a:srgbClr val="000000"/>
                </a:solidFill>
                <a:latin typeface="Courier New" panose="02070309020205020404" pitchFamily="49" charset="0"/>
              </a:rPr>
              <a:t>Tdg</a:t>
            </a:r>
            <a:r>
              <a:rPr lang="fr-FR" b="1" dirty="0">
                <a:solidFill>
                  <a:srgbClr val="000000"/>
                </a:solidFill>
                <a:latin typeface="Courier New" panose="02070309020205020404" pitchFamily="49" charset="0"/>
              </a:rPr>
              <a:t>;</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t>
            </a:r>
            <a:endParaRPr lang="fr-FR" dirty="0">
              <a:solidFill>
                <a:srgbClr val="000000"/>
              </a:solidFill>
              <a:latin typeface="Courier New" panose="02070309020205020404" pitchFamily="49" charset="0"/>
            </a:endParaRPr>
          </a:p>
          <a:p>
            <a:r>
              <a:rPr lang="pt-BR" b="1" dirty="0">
                <a:solidFill>
                  <a:srgbClr val="000000"/>
                </a:solidFill>
                <a:latin typeface="Courier New" panose="02070309020205020404" pitchFamily="49" charset="0"/>
              </a:rPr>
              <a:t>A(N, N  ) =  H*2*K/(2*K+H*w(N))+K/(x(N)-x(N-1));</a:t>
            </a:r>
            <a:endParaRPr lang="pt-BR" dirty="0">
              <a:solidFill>
                <a:srgbClr val="000000"/>
              </a:solidFill>
              <a:latin typeface="Courier New" panose="02070309020205020404" pitchFamily="49" charset="0"/>
            </a:endParaRPr>
          </a:p>
          <a:p>
            <a:r>
              <a:rPr lang="pt-BR" b="1" dirty="0">
                <a:solidFill>
                  <a:srgbClr val="000000"/>
                </a:solidFill>
                <a:latin typeface="Courier New" panose="02070309020205020404" pitchFamily="49" charset="0"/>
              </a:rPr>
              <a:t>A(N, N-1) = -K/(x(N)-x(N-1));</a:t>
            </a:r>
            <a:endParaRPr lang="pt-B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b(N) = H*2*K/(2*K+H*w(N))*</a:t>
            </a:r>
            <a:r>
              <a:rPr lang="fr-FR" b="1" dirty="0" err="1">
                <a:solidFill>
                  <a:srgbClr val="000000"/>
                </a:solidFill>
                <a:latin typeface="Courier New" panose="02070309020205020404" pitchFamily="49" charset="0"/>
              </a:rPr>
              <a:t>Tad</a:t>
            </a:r>
            <a:r>
              <a:rPr lang="fr-FR" b="1" dirty="0">
                <a:solidFill>
                  <a:srgbClr val="000000"/>
                </a:solidFill>
                <a:latin typeface="Courier New" panose="02070309020205020404" pitchFamily="49" charset="0"/>
              </a:rPr>
              <a:t>;</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T = A\b;</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plot(x, T, </a:t>
            </a:r>
            <a:r>
              <a:rPr lang="fr-FR" b="1" dirty="0">
                <a:solidFill>
                  <a:srgbClr val="AA04F9"/>
                </a:solidFill>
                <a:latin typeface="Courier New" panose="02070309020205020404" pitchFamily="49" charset="0"/>
              </a:rPr>
              <a:t>'r.-'</a:t>
            </a:r>
            <a:r>
              <a:rPr lang="fr-FR" b="1" dirty="0">
                <a:solidFill>
                  <a:srgbClr val="000000"/>
                </a:solidFill>
                <a:latin typeface="Courier New" panose="02070309020205020404" pitchFamily="49" charset="0"/>
              </a:rPr>
              <a:t>)</a:t>
            </a:r>
            <a:endParaRPr lang="fr-FR" dirty="0">
              <a:solidFill>
                <a:srgbClr val="000000"/>
              </a:solidFill>
              <a:latin typeface="Courier New" panose="02070309020205020404" pitchFamily="49" charset="0"/>
            </a:endParaRPr>
          </a:p>
          <a:p>
            <a:r>
              <a:rPr lang="fr-FR" b="1" dirty="0" err="1">
                <a:solidFill>
                  <a:srgbClr val="000000"/>
                </a:solidFill>
                <a:latin typeface="Courier New" panose="02070309020205020404" pitchFamily="49" charset="0"/>
              </a:rPr>
              <a:t>grid</a:t>
            </a:r>
            <a:r>
              <a:rPr lang="fr-FR" b="1" dirty="0">
                <a:solidFill>
                  <a:srgbClr val="000000"/>
                </a:solidFill>
                <a:latin typeface="Courier New" panose="02070309020205020404" pitchFamily="49" charset="0"/>
              </a:rPr>
              <a:t> </a:t>
            </a:r>
            <a:r>
              <a:rPr lang="fr-FR" b="1" dirty="0">
                <a:solidFill>
                  <a:srgbClr val="AA04F9"/>
                </a:solidFill>
                <a:latin typeface="Courier New" panose="02070309020205020404" pitchFamily="49" charset="0"/>
              </a:rPr>
              <a:t>on</a:t>
            </a:r>
            <a:endParaRPr lang="fr-FR" dirty="0">
              <a:solidFill>
                <a:srgbClr val="AA04F9"/>
              </a:solidFill>
              <a:latin typeface="Courier New" panose="02070309020205020404" pitchFamily="49" charset="0"/>
            </a:endParaRPr>
          </a:p>
          <a:p>
            <a:endParaRPr lang="fr-FR" dirty="0"/>
          </a:p>
        </p:txBody>
      </p:sp>
      <p:pic>
        <p:nvPicPr>
          <p:cNvPr id="6" name="Image 5"/>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664960" y="220443"/>
            <a:ext cx="3986286" cy="272762"/>
          </a:xfrm>
          <a:prstGeom prst="rect">
            <a:avLst/>
          </a:prstGeom>
        </p:spPr>
      </p:pic>
    </p:spTree>
    <p:extLst>
      <p:ext uri="{BB962C8B-B14F-4D97-AF65-F5344CB8AC3E}">
        <p14:creationId xmlns:p14="http://schemas.microsoft.com/office/powerpoint/2010/main" val="378597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1CB95D3C-87B7-42DD-97F8-1F43ACE143A3}" type="slidenum">
              <a:rPr lang="fr-FR" smtClean="0"/>
              <a:t>15</a:t>
            </a:fld>
            <a:endParaRPr lang="fr-FR"/>
          </a:p>
        </p:txBody>
      </p:sp>
      <p:pic>
        <p:nvPicPr>
          <p:cNvPr id="4" name="Image 3"/>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664960" y="220442"/>
            <a:ext cx="5729524" cy="272762"/>
          </a:xfrm>
          <a:prstGeom prst="rect">
            <a:avLst/>
          </a:prstGeom>
        </p:spPr>
      </p:pic>
      <p:pic>
        <p:nvPicPr>
          <p:cNvPr id="80" name="Image 79"/>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596044" y="1038672"/>
            <a:ext cx="10384762" cy="4943236"/>
          </a:xfrm>
          <a:prstGeom prst="rect">
            <a:avLst/>
          </a:prstGeom>
        </p:spPr>
      </p:pic>
      <p:pic>
        <p:nvPicPr>
          <p:cNvPr id="59" name="Image 58"/>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9510321" y="1191184"/>
            <a:ext cx="1886122" cy="660105"/>
          </a:xfrm>
          <a:prstGeom prst="rect">
            <a:avLst/>
          </a:prstGeom>
        </p:spPr>
      </p:pic>
      <p:grpSp>
        <p:nvGrpSpPr>
          <p:cNvPr id="81" name="Groupe 80"/>
          <p:cNvGrpSpPr/>
          <p:nvPr/>
        </p:nvGrpSpPr>
        <p:grpSpPr>
          <a:xfrm>
            <a:off x="8424908" y="124633"/>
            <a:ext cx="3562131" cy="946838"/>
            <a:chOff x="5299968" y="493204"/>
            <a:chExt cx="3562131" cy="946838"/>
          </a:xfrm>
        </p:grpSpPr>
        <p:grpSp>
          <p:nvGrpSpPr>
            <p:cNvPr id="56" name="Groupe 55"/>
            <p:cNvGrpSpPr/>
            <p:nvPr/>
          </p:nvGrpSpPr>
          <p:grpSpPr>
            <a:xfrm>
              <a:off x="5299968" y="737236"/>
              <a:ext cx="3562131" cy="702806"/>
              <a:chOff x="1205011" y="799851"/>
              <a:chExt cx="3836195" cy="807947"/>
            </a:xfrm>
          </p:grpSpPr>
          <p:grpSp>
            <p:nvGrpSpPr>
              <p:cNvPr id="3" name="Groupe 2"/>
              <p:cNvGrpSpPr/>
              <p:nvPr/>
            </p:nvGrpSpPr>
            <p:grpSpPr>
              <a:xfrm>
                <a:off x="1453392" y="799851"/>
                <a:ext cx="3339433" cy="570404"/>
                <a:chOff x="1453392" y="799851"/>
                <a:chExt cx="3339433" cy="570404"/>
              </a:xfrm>
            </p:grpSpPr>
            <p:grpSp>
              <p:nvGrpSpPr>
                <p:cNvPr id="6" name="Groupe 5"/>
                <p:cNvGrpSpPr/>
                <p:nvPr/>
              </p:nvGrpSpPr>
              <p:grpSpPr>
                <a:xfrm>
                  <a:off x="1453392" y="820387"/>
                  <a:ext cx="1670538" cy="549868"/>
                  <a:chOff x="6138496" y="2820130"/>
                  <a:chExt cx="1670538" cy="549868"/>
                </a:xfrm>
              </p:grpSpPr>
              <p:grpSp>
                <p:nvGrpSpPr>
                  <p:cNvPr id="44" name="Groupe 43"/>
                  <p:cNvGrpSpPr/>
                  <p:nvPr/>
                </p:nvGrpSpPr>
                <p:grpSpPr>
                  <a:xfrm flipH="1">
                    <a:off x="6138496" y="2829274"/>
                    <a:ext cx="835269" cy="540724"/>
                    <a:chOff x="2277208" y="1011120"/>
                    <a:chExt cx="835269" cy="540724"/>
                  </a:xfrm>
                </p:grpSpPr>
                <p:cxnSp>
                  <p:nvCxnSpPr>
                    <p:cNvPr id="49" name="Connecteur droit 48"/>
                    <p:cNvCxnSpPr/>
                    <p:nvPr/>
                  </p:nvCxnSpPr>
                  <p:spPr>
                    <a:xfrm>
                      <a:off x="2277208" y="1274885"/>
                      <a:ext cx="83526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Connecteur droit 49"/>
                    <p:cNvCxnSpPr/>
                    <p:nvPr/>
                  </p:nvCxnSpPr>
                  <p:spPr>
                    <a:xfrm>
                      <a:off x="3112477" y="1011120"/>
                      <a:ext cx="0" cy="540724"/>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45" name="Groupe 44"/>
                  <p:cNvGrpSpPr/>
                  <p:nvPr/>
                </p:nvGrpSpPr>
                <p:grpSpPr>
                  <a:xfrm>
                    <a:off x="6973765" y="2820130"/>
                    <a:ext cx="835269" cy="540724"/>
                    <a:chOff x="2277208" y="1011120"/>
                    <a:chExt cx="835269" cy="540724"/>
                  </a:xfrm>
                </p:grpSpPr>
                <p:cxnSp>
                  <p:nvCxnSpPr>
                    <p:cNvPr id="47" name="Connecteur droit 46"/>
                    <p:cNvCxnSpPr/>
                    <p:nvPr/>
                  </p:nvCxnSpPr>
                  <p:spPr>
                    <a:xfrm>
                      <a:off x="2277208" y="1274885"/>
                      <a:ext cx="83526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Connecteur droit 47"/>
                    <p:cNvCxnSpPr/>
                    <p:nvPr/>
                  </p:nvCxnSpPr>
                  <p:spPr>
                    <a:xfrm>
                      <a:off x="3112477" y="1011120"/>
                      <a:ext cx="0" cy="540724"/>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46" name="Ellipse 45"/>
                  <p:cNvSpPr/>
                  <p:nvPr/>
                </p:nvSpPr>
                <p:spPr>
                  <a:xfrm>
                    <a:off x="6899018" y="3007695"/>
                    <a:ext cx="16002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4" name="Groupe 13"/>
                <p:cNvGrpSpPr/>
                <p:nvPr/>
              </p:nvGrpSpPr>
              <p:grpSpPr>
                <a:xfrm>
                  <a:off x="3122287" y="799851"/>
                  <a:ext cx="1670538" cy="549868"/>
                  <a:chOff x="6138496" y="2820130"/>
                  <a:chExt cx="1670538" cy="549868"/>
                </a:xfrm>
              </p:grpSpPr>
              <p:grpSp>
                <p:nvGrpSpPr>
                  <p:cNvPr id="21" name="Groupe 20"/>
                  <p:cNvGrpSpPr/>
                  <p:nvPr/>
                </p:nvGrpSpPr>
                <p:grpSpPr>
                  <a:xfrm flipH="1">
                    <a:off x="6138496" y="2829274"/>
                    <a:ext cx="835269" cy="540724"/>
                    <a:chOff x="2277208" y="1011120"/>
                    <a:chExt cx="835269" cy="540724"/>
                  </a:xfrm>
                </p:grpSpPr>
                <p:cxnSp>
                  <p:nvCxnSpPr>
                    <p:cNvPr id="26" name="Connecteur droit 25"/>
                    <p:cNvCxnSpPr/>
                    <p:nvPr/>
                  </p:nvCxnSpPr>
                  <p:spPr>
                    <a:xfrm>
                      <a:off x="2277208" y="1274885"/>
                      <a:ext cx="83526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Connecteur droit 26"/>
                    <p:cNvCxnSpPr/>
                    <p:nvPr/>
                  </p:nvCxnSpPr>
                  <p:spPr>
                    <a:xfrm>
                      <a:off x="3112477" y="1011120"/>
                      <a:ext cx="0" cy="540724"/>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22" name="Groupe 21"/>
                  <p:cNvGrpSpPr/>
                  <p:nvPr/>
                </p:nvGrpSpPr>
                <p:grpSpPr>
                  <a:xfrm>
                    <a:off x="6973765" y="2820130"/>
                    <a:ext cx="835269" cy="540724"/>
                    <a:chOff x="2277208" y="1011120"/>
                    <a:chExt cx="835269" cy="540724"/>
                  </a:xfrm>
                </p:grpSpPr>
                <p:cxnSp>
                  <p:nvCxnSpPr>
                    <p:cNvPr id="24" name="Connecteur droit 23"/>
                    <p:cNvCxnSpPr/>
                    <p:nvPr/>
                  </p:nvCxnSpPr>
                  <p:spPr>
                    <a:xfrm>
                      <a:off x="2277208" y="1274885"/>
                      <a:ext cx="83526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Connecteur droit 24"/>
                    <p:cNvCxnSpPr/>
                    <p:nvPr/>
                  </p:nvCxnSpPr>
                  <p:spPr>
                    <a:xfrm>
                      <a:off x="3112477" y="1011120"/>
                      <a:ext cx="0" cy="540724"/>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23" name="Ellipse 22"/>
                  <p:cNvSpPr/>
                  <p:nvPr/>
                </p:nvSpPr>
                <p:spPr>
                  <a:xfrm>
                    <a:off x="6899018" y="3007695"/>
                    <a:ext cx="16002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pic>
            <p:nvPicPr>
              <p:cNvPr id="51" name="Image 50"/>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tretch>
                <a:fillRect/>
              </a:stretch>
            </p:blipFill>
            <p:spPr>
              <a:xfrm>
                <a:off x="1205011" y="1389136"/>
                <a:ext cx="496762" cy="170667"/>
              </a:xfrm>
              <a:prstGeom prst="rect">
                <a:avLst/>
              </a:prstGeom>
            </p:spPr>
          </p:pic>
          <p:pic>
            <p:nvPicPr>
              <p:cNvPr id="53" name="Image 52"/>
              <p:cNvPicPr>
                <a:picLocks noChangeAspect="1"/>
              </p:cNvPicPr>
              <p:nvPr>
                <p:custDataLst>
                  <p:tags r:id="rId6"/>
                </p:custDataLst>
              </p:nvPr>
            </p:nvPicPr>
            <p:blipFill>
              <a:blip r:embed="rId13" cstate="print">
                <a:extLst>
                  <a:ext uri="{28A0092B-C50C-407E-A947-70E740481C1C}">
                    <a14:useLocalDpi xmlns:a14="http://schemas.microsoft.com/office/drawing/2010/main" val="0"/>
                  </a:ext>
                </a:extLst>
              </a:blip>
              <a:stretch>
                <a:fillRect/>
              </a:stretch>
            </p:blipFill>
            <p:spPr>
              <a:xfrm>
                <a:off x="4544444" y="1418845"/>
                <a:ext cx="496762" cy="188953"/>
              </a:xfrm>
              <a:prstGeom prst="rect">
                <a:avLst/>
              </a:prstGeom>
            </p:spPr>
          </p:pic>
          <p:pic>
            <p:nvPicPr>
              <p:cNvPr id="55" name="Image 54"/>
              <p:cNvPicPr>
                <a:picLocks noChangeAspect="1"/>
              </p:cNvPicPr>
              <p:nvPr>
                <p:custDataLst>
                  <p:tags r:id="rId7"/>
                </p:custDataLst>
              </p:nvPr>
            </p:nvPicPr>
            <p:blipFill>
              <a:blip r:embed="rId14" cstate="print">
                <a:extLst>
                  <a:ext uri="{28A0092B-C50C-407E-A947-70E740481C1C}">
                    <a14:useLocalDpi xmlns:a14="http://schemas.microsoft.com/office/drawing/2010/main" val="0"/>
                  </a:ext>
                </a:extLst>
              </a:blip>
              <a:stretch>
                <a:fillRect/>
              </a:stretch>
            </p:blipFill>
            <p:spPr>
              <a:xfrm>
                <a:off x="3086681" y="1409322"/>
                <a:ext cx="68571" cy="169143"/>
              </a:xfrm>
              <a:prstGeom prst="rect">
                <a:avLst/>
              </a:prstGeom>
            </p:spPr>
          </p:pic>
        </p:grpSp>
        <p:cxnSp>
          <p:nvCxnSpPr>
            <p:cNvPr id="71" name="Connecteur droit avec flèche 70"/>
            <p:cNvCxnSpPr/>
            <p:nvPr/>
          </p:nvCxnSpPr>
          <p:spPr>
            <a:xfrm>
              <a:off x="5530604" y="755099"/>
              <a:ext cx="1548440" cy="795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2" name="Connecteur droit avec flèche 71"/>
            <p:cNvCxnSpPr/>
            <p:nvPr/>
          </p:nvCxnSpPr>
          <p:spPr>
            <a:xfrm>
              <a:off x="7094393" y="755468"/>
              <a:ext cx="1548440" cy="795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75" name="Image 74"/>
            <p:cNvPicPr>
              <a:picLocks noChangeAspect="1"/>
            </p:cNvPicPr>
            <p:nvPr>
              <p:custDataLst>
                <p:tags r:id="rId4"/>
              </p:custDataLst>
            </p:nvPr>
          </p:nvPicPr>
          <p:blipFill>
            <a:blip r:embed="rId15" cstate="print">
              <a:extLst>
                <a:ext uri="{28A0092B-C50C-407E-A947-70E740481C1C}">
                  <a14:useLocalDpi xmlns:a14="http://schemas.microsoft.com/office/drawing/2010/main" val="0"/>
                </a:ext>
              </a:extLst>
            </a:blip>
            <a:stretch>
              <a:fillRect/>
            </a:stretch>
          </p:blipFill>
          <p:spPr>
            <a:xfrm>
              <a:off x="6385381" y="493204"/>
              <a:ext cx="1646997" cy="189548"/>
            </a:xfrm>
            <a:prstGeom prst="rect">
              <a:avLst/>
            </a:prstGeom>
          </p:spPr>
        </p:pic>
      </p:grpSp>
    </p:spTree>
    <p:extLst>
      <p:ext uri="{BB962C8B-B14F-4D97-AF65-F5344CB8AC3E}">
        <p14:creationId xmlns:p14="http://schemas.microsoft.com/office/powerpoint/2010/main" val="326107595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1CB95D3C-87B7-42DD-97F8-1F43ACE143A3}" type="slidenum">
              <a:rPr lang="fr-FR" smtClean="0"/>
              <a:t>16</a:t>
            </a:fld>
            <a:endParaRPr lang="fr-FR"/>
          </a:p>
        </p:txBody>
      </p:sp>
      <p:pic>
        <p:nvPicPr>
          <p:cNvPr id="3" name="Image 2"/>
          <p:cNvPicPr>
            <a:picLocks noChangeAspect="1"/>
          </p:cNvPicPr>
          <p:nvPr>
            <p:custDataLst>
              <p:tags r:id="rId1"/>
            </p:custDataLst>
          </p:nvPr>
        </p:nvPicPr>
        <p:blipFill>
          <a:blip r:embed="rId12" cstate="print">
            <a:extLst>
              <a:ext uri="{28A0092B-C50C-407E-A947-70E740481C1C}">
                <a14:useLocalDpi xmlns:a14="http://schemas.microsoft.com/office/drawing/2010/main" val="0"/>
              </a:ext>
            </a:extLst>
          </a:blip>
          <a:stretch>
            <a:fillRect/>
          </a:stretch>
        </p:blipFill>
        <p:spPr>
          <a:xfrm>
            <a:off x="261443" y="215384"/>
            <a:ext cx="11509338" cy="5703622"/>
          </a:xfrm>
          <a:prstGeom prst="rect">
            <a:avLst/>
          </a:prstGeom>
        </p:spPr>
      </p:pic>
      <p:pic>
        <p:nvPicPr>
          <p:cNvPr id="6" name="Image 5"/>
          <p:cNvPicPr>
            <a:picLocks noChangeAspect="1"/>
          </p:cNvPicPr>
          <p:nvPr>
            <p:custDataLst>
              <p:tags r:id="rId2"/>
            </p:custDataLst>
          </p:nvPr>
        </p:nvPicPr>
        <p:blipFill>
          <a:blip r:embed="rId13" cstate="print">
            <a:extLst>
              <a:ext uri="{28A0092B-C50C-407E-A947-70E740481C1C}">
                <a14:useLocalDpi xmlns:a14="http://schemas.microsoft.com/office/drawing/2010/main" val="0"/>
              </a:ext>
            </a:extLst>
          </a:blip>
          <a:stretch>
            <a:fillRect/>
          </a:stretch>
        </p:blipFill>
        <p:spPr>
          <a:xfrm>
            <a:off x="8978911" y="3429000"/>
            <a:ext cx="2954665" cy="758857"/>
          </a:xfrm>
          <a:prstGeom prst="rect">
            <a:avLst/>
          </a:prstGeom>
        </p:spPr>
      </p:pic>
      <p:grpSp>
        <p:nvGrpSpPr>
          <p:cNvPr id="10" name="Groupe 9"/>
          <p:cNvGrpSpPr/>
          <p:nvPr/>
        </p:nvGrpSpPr>
        <p:grpSpPr>
          <a:xfrm>
            <a:off x="9141794" y="4975116"/>
            <a:ext cx="2628900" cy="1517828"/>
            <a:chOff x="6316838" y="1913508"/>
            <a:chExt cx="2628900" cy="1517828"/>
          </a:xfrm>
        </p:grpSpPr>
        <p:grpSp>
          <p:nvGrpSpPr>
            <p:cNvPr id="16" name="Groupe 15"/>
            <p:cNvGrpSpPr/>
            <p:nvPr/>
          </p:nvGrpSpPr>
          <p:grpSpPr>
            <a:xfrm>
              <a:off x="6316838" y="1913508"/>
              <a:ext cx="2628900" cy="1517828"/>
              <a:chOff x="8016761" y="1822350"/>
              <a:chExt cx="2628900" cy="1517828"/>
            </a:xfrm>
          </p:grpSpPr>
          <p:pic>
            <p:nvPicPr>
              <p:cNvPr id="17" name="Image 16"/>
              <p:cNvPicPr>
                <a:picLocks noChangeAspect="1"/>
              </p:cNvPicPr>
              <p:nvPr/>
            </p:nvPicPr>
            <p:blipFill rotWithShape="1">
              <a:blip r:embed="rId14"/>
              <a:srcRect l="58802" r="9608"/>
              <a:stretch/>
            </p:blipFill>
            <p:spPr>
              <a:xfrm>
                <a:off x="8016761" y="2075148"/>
                <a:ext cx="2628900" cy="1265030"/>
              </a:xfrm>
              <a:prstGeom prst="rect">
                <a:avLst/>
              </a:prstGeom>
            </p:spPr>
          </p:pic>
          <p:pic>
            <p:nvPicPr>
              <p:cNvPr id="20" name="Image 19"/>
              <p:cNvPicPr>
                <a:picLocks noChangeAspect="1"/>
              </p:cNvPicPr>
              <p:nvPr>
                <p:custDataLst>
                  <p:tags r:id="rId5"/>
                </p:custDataLst>
              </p:nvPr>
            </p:nvPicPr>
            <p:blipFill>
              <a:blip r:embed="rId15" cstate="print">
                <a:extLst>
                  <a:ext uri="{28A0092B-C50C-407E-A947-70E740481C1C}">
                    <a14:useLocalDpi xmlns:a14="http://schemas.microsoft.com/office/drawing/2010/main" val="0"/>
                  </a:ext>
                </a:extLst>
              </a:blip>
              <a:stretch>
                <a:fillRect/>
              </a:stretch>
            </p:blipFill>
            <p:spPr>
              <a:xfrm>
                <a:off x="8483451" y="2815603"/>
                <a:ext cx="181028" cy="135771"/>
              </a:xfrm>
              <a:prstGeom prst="rect">
                <a:avLst/>
              </a:prstGeom>
            </p:spPr>
          </p:pic>
          <p:pic>
            <p:nvPicPr>
              <p:cNvPr id="23" name="Image 22"/>
              <p:cNvPicPr>
                <a:picLocks noChangeAspect="1"/>
              </p:cNvPicPr>
              <p:nvPr>
                <p:custDataLst>
                  <p:tags r:id="rId6"/>
                </p:custDataLst>
              </p:nvPr>
            </p:nvPicPr>
            <p:blipFill>
              <a:blip r:embed="rId16" cstate="print">
                <a:extLst>
                  <a:ext uri="{28A0092B-C50C-407E-A947-70E740481C1C}">
                    <a14:useLocalDpi xmlns:a14="http://schemas.microsoft.com/office/drawing/2010/main" val="0"/>
                  </a:ext>
                </a:extLst>
              </a:blip>
              <a:stretch>
                <a:fillRect/>
              </a:stretch>
            </p:blipFill>
            <p:spPr>
              <a:xfrm>
                <a:off x="9996540" y="2793952"/>
                <a:ext cx="404570" cy="153600"/>
              </a:xfrm>
              <a:prstGeom prst="rect">
                <a:avLst/>
              </a:prstGeom>
            </p:spPr>
          </p:pic>
          <p:sp>
            <p:nvSpPr>
              <p:cNvPr id="24" name="ZoneTexte 23"/>
              <p:cNvSpPr txBox="1"/>
              <p:nvPr/>
            </p:nvSpPr>
            <p:spPr>
              <a:xfrm>
                <a:off x="9178765" y="1892134"/>
                <a:ext cx="764953" cy="584775"/>
              </a:xfrm>
              <a:prstGeom prst="rect">
                <a:avLst/>
              </a:prstGeom>
              <a:noFill/>
            </p:spPr>
            <p:txBody>
              <a:bodyPr wrap="none" rtlCol="0">
                <a:spAutoFit/>
              </a:bodyPr>
              <a:lstStyle/>
              <a:p>
                <a:r>
                  <a:rPr lang="fr-FR" sz="3200" dirty="0">
                    <a:latin typeface="Arial Black" panose="020B0A04020102020204" pitchFamily="34" charset="0"/>
                  </a:rPr>
                  <a:t>-</a:t>
                </a:r>
                <a:r>
                  <a:rPr lang="fr-FR" sz="2800" dirty="0">
                    <a:latin typeface="Arial Black" panose="020B0A04020102020204" pitchFamily="34" charset="0"/>
                  </a:rPr>
                  <a:t>  </a:t>
                </a:r>
                <a:r>
                  <a:rPr lang="fr-FR" sz="2400" dirty="0">
                    <a:latin typeface="Arial Black" panose="020B0A04020102020204" pitchFamily="34" charset="0"/>
                  </a:rPr>
                  <a:t>+</a:t>
                </a:r>
              </a:p>
            </p:txBody>
          </p:sp>
          <p:pic>
            <p:nvPicPr>
              <p:cNvPr id="25" name="Image 24"/>
              <p:cNvPicPr>
                <a:picLocks noChangeAspect="1"/>
              </p:cNvPicPr>
              <p:nvPr>
                <p:custDataLst>
                  <p:tags r:id="rId7"/>
                </p:custDataLst>
              </p:nvPr>
            </p:nvPicPr>
            <p:blipFill>
              <a:blip r:embed="rId17" cstate="print">
                <a:extLst>
                  <a:ext uri="{28A0092B-C50C-407E-A947-70E740481C1C}">
                    <a14:useLocalDpi xmlns:a14="http://schemas.microsoft.com/office/drawing/2010/main" val="0"/>
                  </a:ext>
                </a:extLst>
              </a:blip>
              <a:stretch>
                <a:fillRect/>
              </a:stretch>
            </p:blipFill>
            <p:spPr>
              <a:xfrm>
                <a:off x="9335855" y="2953712"/>
                <a:ext cx="434741" cy="211200"/>
              </a:xfrm>
              <a:prstGeom prst="rect">
                <a:avLst/>
              </a:prstGeom>
              <a:solidFill>
                <a:schemeClr val="bg1"/>
              </a:solidFill>
            </p:spPr>
          </p:pic>
          <p:pic>
            <p:nvPicPr>
              <p:cNvPr id="26" name="Image 25"/>
              <p:cNvPicPr>
                <a:picLocks noChangeAspect="1"/>
              </p:cNvPicPr>
              <p:nvPr>
                <p:custDataLst>
                  <p:tags r:id="rId8"/>
                </p:custDataLst>
              </p:nvPr>
            </p:nvPicPr>
            <p:blipFill>
              <a:blip r:embed="rId18" cstate="print">
                <a:extLst>
                  <a:ext uri="{28A0092B-C50C-407E-A947-70E740481C1C}">
                    <a14:useLocalDpi xmlns:a14="http://schemas.microsoft.com/office/drawing/2010/main" val="0"/>
                  </a:ext>
                </a:extLst>
              </a:blip>
              <a:stretch>
                <a:fillRect/>
              </a:stretch>
            </p:blipFill>
            <p:spPr>
              <a:xfrm>
                <a:off x="9556786" y="2447662"/>
                <a:ext cx="128000" cy="230095"/>
              </a:xfrm>
              <a:prstGeom prst="rect">
                <a:avLst/>
              </a:prstGeom>
            </p:spPr>
          </p:pic>
          <p:cxnSp>
            <p:nvCxnSpPr>
              <p:cNvPr id="27" name="Connecteur droit avec flèche 26"/>
              <p:cNvCxnSpPr/>
              <p:nvPr/>
            </p:nvCxnSpPr>
            <p:spPr>
              <a:xfrm>
                <a:off x="8528050" y="2065699"/>
                <a:ext cx="972041"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7"/>
              <p:cNvCxnSpPr/>
              <p:nvPr/>
            </p:nvCxnSpPr>
            <p:spPr>
              <a:xfrm>
                <a:off x="9506748" y="2066402"/>
                <a:ext cx="672302"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9" name="Image 28"/>
              <p:cNvPicPr>
                <a:picLocks noChangeAspect="1"/>
              </p:cNvPicPr>
              <p:nvPr>
                <p:custDataLst>
                  <p:tags r:id="rId9"/>
                </p:custDataLst>
              </p:nvPr>
            </p:nvPicPr>
            <p:blipFill>
              <a:blip r:embed="rId19" cstate="print">
                <a:extLst>
                  <a:ext uri="{28A0092B-C50C-407E-A947-70E740481C1C}">
                    <a14:useLocalDpi xmlns:a14="http://schemas.microsoft.com/office/drawing/2010/main" val="0"/>
                  </a:ext>
                </a:extLst>
              </a:blip>
              <a:stretch>
                <a:fillRect/>
              </a:stretch>
            </p:blipFill>
            <p:spPr>
              <a:xfrm>
                <a:off x="9808951" y="1822350"/>
                <a:ext cx="209330" cy="162233"/>
              </a:xfrm>
              <a:prstGeom prst="rect">
                <a:avLst/>
              </a:prstGeom>
            </p:spPr>
          </p:pic>
          <p:pic>
            <p:nvPicPr>
              <p:cNvPr id="30" name="Image 29"/>
              <p:cNvPicPr>
                <a:picLocks noChangeAspect="1"/>
              </p:cNvPicPr>
              <p:nvPr>
                <p:custDataLst>
                  <p:tags r:id="rId10"/>
                </p:custDataLst>
              </p:nvPr>
            </p:nvPicPr>
            <p:blipFill>
              <a:blip r:embed="rId20" cstate="print">
                <a:extLst>
                  <a:ext uri="{28A0092B-C50C-407E-A947-70E740481C1C}">
                    <a14:useLocalDpi xmlns:a14="http://schemas.microsoft.com/office/drawing/2010/main" val="0"/>
                  </a:ext>
                </a:extLst>
              </a:blip>
              <a:stretch>
                <a:fillRect/>
              </a:stretch>
            </p:blipFill>
            <p:spPr>
              <a:xfrm>
                <a:off x="9009238" y="1832641"/>
                <a:ext cx="207017" cy="141651"/>
              </a:xfrm>
              <a:prstGeom prst="rect">
                <a:avLst/>
              </a:prstGeom>
            </p:spPr>
          </p:pic>
        </p:grpSp>
        <p:pic>
          <p:nvPicPr>
            <p:cNvPr id="7" name="Image 6"/>
            <p:cNvPicPr>
              <a:picLocks noChangeAspect="1"/>
            </p:cNvPicPr>
            <p:nvPr>
              <p:custDataLst>
                <p:tags r:id="rId3"/>
              </p:custDataLst>
            </p:nvPr>
          </p:nvPicPr>
          <p:blipFill>
            <a:blip r:embed="rId21" cstate="print">
              <a:extLst>
                <a:ext uri="{28A0092B-C50C-407E-A947-70E740481C1C}">
                  <a14:useLocalDpi xmlns:a14="http://schemas.microsoft.com/office/drawing/2010/main" val="0"/>
                </a:ext>
              </a:extLst>
            </a:blip>
            <a:stretch>
              <a:fillRect/>
            </a:stretch>
          </p:blipFill>
          <p:spPr>
            <a:xfrm>
              <a:off x="6783528" y="2503844"/>
              <a:ext cx="181333" cy="184381"/>
            </a:xfrm>
            <a:prstGeom prst="rect">
              <a:avLst/>
            </a:prstGeom>
          </p:spPr>
        </p:pic>
        <p:pic>
          <p:nvPicPr>
            <p:cNvPr id="9" name="Image 8"/>
            <p:cNvPicPr>
              <a:picLocks noChangeAspect="1"/>
            </p:cNvPicPr>
            <p:nvPr>
              <p:custDataLst>
                <p:tags r:id="rId4"/>
              </p:custDataLst>
            </p:nvPr>
          </p:nvPicPr>
          <p:blipFill>
            <a:blip r:embed="rId22" cstate="print">
              <a:extLst>
                <a:ext uri="{28A0092B-C50C-407E-A947-70E740481C1C}">
                  <a14:useLocalDpi xmlns:a14="http://schemas.microsoft.com/office/drawing/2010/main" val="0"/>
                </a:ext>
              </a:extLst>
            </a:blip>
            <a:stretch>
              <a:fillRect/>
            </a:stretch>
          </p:blipFill>
          <p:spPr>
            <a:xfrm>
              <a:off x="8366137" y="2503844"/>
              <a:ext cx="181333" cy="172190"/>
            </a:xfrm>
            <a:prstGeom prst="rect">
              <a:avLst/>
            </a:prstGeom>
          </p:spPr>
        </p:pic>
      </p:grpSp>
    </p:spTree>
    <p:extLst>
      <p:ext uri="{BB962C8B-B14F-4D97-AF65-F5344CB8AC3E}">
        <p14:creationId xmlns:p14="http://schemas.microsoft.com/office/powerpoint/2010/main" val="18020719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CBDCB-58B1-F03A-B78D-92FF642984DD}"/>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E73F45CD-F510-6F4D-7122-824F0C7061E3}"/>
              </a:ext>
            </a:extLst>
          </p:cNvPr>
          <p:cNvSpPr>
            <a:spLocks noGrp="1"/>
          </p:cNvSpPr>
          <p:nvPr>
            <p:ph type="sldNum" sz="quarter" idx="12"/>
          </p:nvPr>
        </p:nvSpPr>
        <p:spPr/>
        <p:txBody>
          <a:bodyPr/>
          <a:lstStyle/>
          <a:p>
            <a:fld id="{1CB95D3C-87B7-42DD-97F8-1F43ACE143A3}" type="slidenum">
              <a:rPr lang="fr-FR" smtClean="0"/>
              <a:t>17</a:t>
            </a:fld>
            <a:endParaRPr lang="fr-FR"/>
          </a:p>
        </p:txBody>
      </p:sp>
      <p:pic>
        <p:nvPicPr>
          <p:cNvPr id="3" name="Image 2"/>
          <p:cNvPicPr>
            <a:picLocks noChangeAspect="1"/>
          </p:cNvPicPr>
          <p:nvPr>
            <p:custDataLst>
              <p:tags r:id="rId1"/>
            </p:custDataLst>
          </p:nvPr>
        </p:nvPicPr>
        <p:blipFill>
          <a:blip r:embed="rId15" cstate="print">
            <a:extLst>
              <a:ext uri="{28A0092B-C50C-407E-A947-70E740481C1C}">
                <a14:useLocalDpi xmlns:a14="http://schemas.microsoft.com/office/drawing/2010/main" val="0"/>
              </a:ext>
            </a:extLst>
          </a:blip>
          <a:stretch>
            <a:fillRect/>
          </a:stretch>
        </p:blipFill>
        <p:spPr>
          <a:xfrm>
            <a:off x="261442" y="215383"/>
            <a:ext cx="11500195" cy="1898668"/>
          </a:xfrm>
          <a:prstGeom prst="rect">
            <a:avLst/>
          </a:prstGeom>
        </p:spPr>
      </p:pic>
      <p:pic>
        <p:nvPicPr>
          <p:cNvPr id="33" name="Image 32">
            <a:extLst>
              <a:ext uri="{FF2B5EF4-FFF2-40B4-BE49-F238E27FC236}">
                <a16:creationId xmlns:a16="http://schemas.microsoft.com/office/drawing/2014/main" id="{6C4A192B-4F1C-4D2D-0DA8-3A828AA0EFC8}"/>
              </a:ext>
            </a:extLst>
          </p:cNvPr>
          <p:cNvPicPr>
            <a:picLocks noChangeAspect="1"/>
          </p:cNvPicPr>
          <p:nvPr>
            <p:custDataLst>
              <p:tags r:id="rId2"/>
            </p:custDataLst>
          </p:nvPr>
        </p:nvPicPr>
        <p:blipFill>
          <a:blip r:embed="rId16" cstate="print">
            <a:extLst>
              <a:ext uri="{28A0092B-C50C-407E-A947-70E740481C1C}">
                <a14:useLocalDpi xmlns:a14="http://schemas.microsoft.com/office/drawing/2010/main" val="0"/>
              </a:ext>
            </a:extLst>
          </a:blip>
          <a:stretch>
            <a:fillRect/>
          </a:stretch>
        </p:blipFill>
        <p:spPr>
          <a:xfrm>
            <a:off x="656409" y="2672424"/>
            <a:ext cx="4490722" cy="337311"/>
          </a:xfrm>
          <a:prstGeom prst="rect">
            <a:avLst/>
          </a:prstGeom>
        </p:spPr>
      </p:pic>
      <p:pic>
        <p:nvPicPr>
          <p:cNvPr id="4" name="Image 3"/>
          <p:cNvPicPr>
            <a:picLocks noChangeAspect="1"/>
          </p:cNvPicPr>
          <p:nvPr>
            <p:custDataLst>
              <p:tags r:id="rId3"/>
            </p:custDataLst>
          </p:nvPr>
        </p:nvPicPr>
        <p:blipFill>
          <a:blip r:embed="rId17" cstate="print">
            <a:extLst>
              <a:ext uri="{28A0092B-C50C-407E-A947-70E740481C1C}">
                <a14:useLocalDpi xmlns:a14="http://schemas.microsoft.com/office/drawing/2010/main" val="0"/>
              </a:ext>
            </a:extLst>
          </a:blip>
          <a:stretch>
            <a:fillRect/>
          </a:stretch>
        </p:blipFill>
        <p:spPr>
          <a:xfrm>
            <a:off x="261444" y="3830549"/>
            <a:ext cx="11503229" cy="2965330"/>
          </a:xfrm>
          <a:prstGeom prst="rect">
            <a:avLst/>
          </a:prstGeom>
        </p:spPr>
      </p:pic>
      <p:pic>
        <p:nvPicPr>
          <p:cNvPr id="57" name="Image 56">
            <a:extLst>
              <a:ext uri="{FF2B5EF4-FFF2-40B4-BE49-F238E27FC236}">
                <a16:creationId xmlns:a16="http://schemas.microsoft.com/office/drawing/2014/main" id="{3A9642EE-1F51-5273-30E8-E23335862975}"/>
              </a:ext>
            </a:extLst>
          </p:cNvPr>
          <p:cNvPicPr>
            <a:picLocks noChangeAspect="1"/>
          </p:cNvPicPr>
          <p:nvPr>
            <p:custDataLst>
              <p:tags r:id="rId4"/>
            </p:custDataLst>
          </p:nvPr>
        </p:nvPicPr>
        <p:blipFill>
          <a:blip r:embed="rId18" cstate="print">
            <a:extLst>
              <a:ext uri="{28A0092B-C50C-407E-A947-70E740481C1C}">
                <a14:useLocalDpi xmlns:a14="http://schemas.microsoft.com/office/drawing/2010/main" val="0"/>
              </a:ext>
            </a:extLst>
          </a:blip>
          <a:stretch>
            <a:fillRect/>
          </a:stretch>
        </p:blipFill>
        <p:spPr>
          <a:xfrm>
            <a:off x="2309495" y="3174084"/>
            <a:ext cx="1712762" cy="332189"/>
          </a:xfrm>
          <a:prstGeom prst="rect">
            <a:avLst/>
          </a:prstGeom>
        </p:spPr>
      </p:pic>
      <p:pic>
        <p:nvPicPr>
          <p:cNvPr id="6" name="Image 5">
            <a:extLst>
              <a:ext uri="{FF2B5EF4-FFF2-40B4-BE49-F238E27FC236}">
                <a16:creationId xmlns:a16="http://schemas.microsoft.com/office/drawing/2014/main" id="{BD4FE7D0-9CCB-8E2C-B740-D81A04025C66}"/>
              </a:ext>
            </a:extLst>
          </p:cNvPr>
          <p:cNvPicPr>
            <a:picLocks noChangeAspect="1"/>
          </p:cNvPicPr>
          <p:nvPr>
            <p:custDataLst>
              <p:tags r:id="rId5"/>
            </p:custDataLst>
          </p:nvPr>
        </p:nvPicPr>
        <p:blipFill>
          <a:blip r:embed="rId19" cstate="print">
            <a:extLst>
              <a:ext uri="{28A0092B-C50C-407E-A947-70E740481C1C}">
                <a14:useLocalDpi xmlns:a14="http://schemas.microsoft.com/office/drawing/2010/main" val="0"/>
              </a:ext>
            </a:extLst>
          </a:blip>
          <a:stretch>
            <a:fillRect/>
          </a:stretch>
        </p:blipFill>
        <p:spPr>
          <a:xfrm>
            <a:off x="9119037" y="2699176"/>
            <a:ext cx="2954665" cy="758857"/>
          </a:xfrm>
          <a:prstGeom prst="rect">
            <a:avLst/>
          </a:prstGeom>
        </p:spPr>
      </p:pic>
      <p:grpSp>
        <p:nvGrpSpPr>
          <p:cNvPr id="10" name="Groupe 9">
            <a:extLst>
              <a:ext uri="{FF2B5EF4-FFF2-40B4-BE49-F238E27FC236}">
                <a16:creationId xmlns:a16="http://schemas.microsoft.com/office/drawing/2014/main" id="{B4E8018B-B4DB-ACDA-3441-61AEFCA5A8B9}"/>
              </a:ext>
            </a:extLst>
          </p:cNvPr>
          <p:cNvGrpSpPr/>
          <p:nvPr/>
        </p:nvGrpSpPr>
        <p:grpSpPr>
          <a:xfrm>
            <a:off x="6353414" y="2193292"/>
            <a:ext cx="2628900" cy="1517828"/>
            <a:chOff x="6316838" y="1913508"/>
            <a:chExt cx="2628900" cy="1517828"/>
          </a:xfrm>
        </p:grpSpPr>
        <p:grpSp>
          <p:nvGrpSpPr>
            <p:cNvPr id="16" name="Groupe 15">
              <a:extLst>
                <a:ext uri="{FF2B5EF4-FFF2-40B4-BE49-F238E27FC236}">
                  <a16:creationId xmlns:a16="http://schemas.microsoft.com/office/drawing/2014/main" id="{A72FD752-340F-1A82-566B-F612354E4E56}"/>
                </a:ext>
              </a:extLst>
            </p:cNvPr>
            <p:cNvGrpSpPr/>
            <p:nvPr/>
          </p:nvGrpSpPr>
          <p:grpSpPr>
            <a:xfrm>
              <a:off x="6316838" y="1913508"/>
              <a:ext cx="2628900" cy="1517828"/>
              <a:chOff x="8016761" y="1822350"/>
              <a:chExt cx="2628900" cy="1517828"/>
            </a:xfrm>
          </p:grpSpPr>
          <p:pic>
            <p:nvPicPr>
              <p:cNvPr id="17" name="Image 16">
                <a:extLst>
                  <a:ext uri="{FF2B5EF4-FFF2-40B4-BE49-F238E27FC236}">
                    <a16:creationId xmlns:a16="http://schemas.microsoft.com/office/drawing/2014/main" id="{5DD01376-BFB1-E973-5857-2A4E7C605B05}"/>
                  </a:ext>
                </a:extLst>
              </p:cNvPr>
              <p:cNvPicPr>
                <a:picLocks noChangeAspect="1"/>
              </p:cNvPicPr>
              <p:nvPr/>
            </p:nvPicPr>
            <p:blipFill rotWithShape="1">
              <a:blip r:embed="rId20"/>
              <a:srcRect l="58802" r="9608"/>
              <a:stretch/>
            </p:blipFill>
            <p:spPr>
              <a:xfrm>
                <a:off x="8016761" y="2075148"/>
                <a:ext cx="2628900" cy="1265030"/>
              </a:xfrm>
              <a:prstGeom prst="rect">
                <a:avLst/>
              </a:prstGeom>
            </p:spPr>
          </p:pic>
          <p:pic>
            <p:nvPicPr>
              <p:cNvPr id="20" name="Image 19">
                <a:extLst>
                  <a:ext uri="{FF2B5EF4-FFF2-40B4-BE49-F238E27FC236}">
                    <a16:creationId xmlns:a16="http://schemas.microsoft.com/office/drawing/2014/main" id="{2E2A3A0F-A439-9B4C-E5FA-487D42E92ECA}"/>
                  </a:ext>
                </a:extLst>
              </p:cNvPr>
              <p:cNvPicPr>
                <a:picLocks noChangeAspect="1"/>
              </p:cNvPicPr>
              <p:nvPr>
                <p:custDataLst>
                  <p:tags r:id="rId8"/>
                </p:custDataLst>
              </p:nvPr>
            </p:nvPicPr>
            <p:blipFill>
              <a:blip r:embed="rId21" cstate="print">
                <a:extLst>
                  <a:ext uri="{28A0092B-C50C-407E-A947-70E740481C1C}">
                    <a14:useLocalDpi xmlns:a14="http://schemas.microsoft.com/office/drawing/2010/main" val="0"/>
                  </a:ext>
                </a:extLst>
              </a:blip>
              <a:stretch>
                <a:fillRect/>
              </a:stretch>
            </p:blipFill>
            <p:spPr>
              <a:xfrm>
                <a:off x="8483451" y="2815603"/>
                <a:ext cx="181028" cy="135771"/>
              </a:xfrm>
              <a:prstGeom prst="rect">
                <a:avLst/>
              </a:prstGeom>
            </p:spPr>
          </p:pic>
          <p:pic>
            <p:nvPicPr>
              <p:cNvPr id="23" name="Image 22">
                <a:extLst>
                  <a:ext uri="{FF2B5EF4-FFF2-40B4-BE49-F238E27FC236}">
                    <a16:creationId xmlns:a16="http://schemas.microsoft.com/office/drawing/2014/main" id="{EEDFD6C2-9AC1-B227-9A41-70DBEE7C1CA0}"/>
                  </a:ext>
                </a:extLst>
              </p:cNvPr>
              <p:cNvPicPr>
                <a:picLocks noChangeAspect="1"/>
              </p:cNvPicPr>
              <p:nvPr>
                <p:custDataLst>
                  <p:tags r:id="rId9"/>
                </p:custDataLst>
              </p:nvPr>
            </p:nvPicPr>
            <p:blipFill>
              <a:blip r:embed="rId22" cstate="print">
                <a:extLst>
                  <a:ext uri="{28A0092B-C50C-407E-A947-70E740481C1C}">
                    <a14:useLocalDpi xmlns:a14="http://schemas.microsoft.com/office/drawing/2010/main" val="0"/>
                  </a:ext>
                </a:extLst>
              </a:blip>
              <a:stretch>
                <a:fillRect/>
              </a:stretch>
            </p:blipFill>
            <p:spPr>
              <a:xfrm>
                <a:off x="9996540" y="2793952"/>
                <a:ext cx="404570" cy="153600"/>
              </a:xfrm>
              <a:prstGeom prst="rect">
                <a:avLst/>
              </a:prstGeom>
            </p:spPr>
          </p:pic>
          <p:sp>
            <p:nvSpPr>
              <p:cNvPr id="24" name="ZoneTexte 23">
                <a:extLst>
                  <a:ext uri="{FF2B5EF4-FFF2-40B4-BE49-F238E27FC236}">
                    <a16:creationId xmlns:a16="http://schemas.microsoft.com/office/drawing/2014/main" id="{FFDC1776-F7FA-66D6-D8F6-525F0D40704A}"/>
                  </a:ext>
                </a:extLst>
              </p:cNvPr>
              <p:cNvSpPr txBox="1"/>
              <p:nvPr/>
            </p:nvSpPr>
            <p:spPr>
              <a:xfrm>
                <a:off x="9178765" y="1892134"/>
                <a:ext cx="764953" cy="584775"/>
              </a:xfrm>
              <a:prstGeom prst="rect">
                <a:avLst/>
              </a:prstGeom>
              <a:noFill/>
            </p:spPr>
            <p:txBody>
              <a:bodyPr wrap="none" rtlCol="0">
                <a:spAutoFit/>
              </a:bodyPr>
              <a:lstStyle/>
              <a:p>
                <a:r>
                  <a:rPr lang="fr-FR" sz="3200" dirty="0">
                    <a:latin typeface="Arial Black" panose="020B0A04020102020204" pitchFamily="34" charset="0"/>
                  </a:rPr>
                  <a:t>-</a:t>
                </a:r>
                <a:r>
                  <a:rPr lang="fr-FR" sz="2800" dirty="0">
                    <a:latin typeface="Arial Black" panose="020B0A04020102020204" pitchFamily="34" charset="0"/>
                  </a:rPr>
                  <a:t>  </a:t>
                </a:r>
                <a:r>
                  <a:rPr lang="fr-FR" sz="2400" dirty="0">
                    <a:latin typeface="Arial Black" panose="020B0A04020102020204" pitchFamily="34" charset="0"/>
                  </a:rPr>
                  <a:t>+</a:t>
                </a:r>
              </a:p>
            </p:txBody>
          </p:sp>
          <p:pic>
            <p:nvPicPr>
              <p:cNvPr id="25" name="Image 24">
                <a:extLst>
                  <a:ext uri="{FF2B5EF4-FFF2-40B4-BE49-F238E27FC236}">
                    <a16:creationId xmlns:a16="http://schemas.microsoft.com/office/drawing/2014/main" id="{347709ED-505E-BE47-00A9-475A03197A29}"/>
                  </a:ext>
                </a:extLst>
              </p:cNvPr>
              <p:cNvPicPr>
                <a:picLocks noChangeAspect="1"/>
              </p:cNvPicPr>
              <p:nvPr>
                <p:custDataLst>
                  <p:tags r:id="rId10"/>
                </p:custDataLst>
              </p:nvPr>
            </p:nvPicPr>
            <p:blipFill>
              <a:blip r:embed="rId23" cstate="print">
                <a:extLst>
                  <a:ext uri="{28A0092B-C50C-407E-A947-70E740481C1C}">
                    <a14:useLocalDpi xmlns:a14="http://schemas.microsoft.com/office/drawing/2010/main" val="0"/>
                  </a:ext>
                </a:extLst>
              </a:blip>
              <a:stretch>
                <a:fillRect/>
              </a:stretch>
            </p:blipFill>
            <p:spPr>
              <a:xfrm>
                <a:off x="9335855" y="2953712"/>
                <a:ext cx="434741" cy="211200"/>
              </a:xfrm>
              <a:prstGeom prst="rect">
                <a:avLst/>
              </a:prstGeom>
              <a:solidFill>
                <a:schemeClr val="bg1"/>
              </a:solidFill>
            </p:spPr>
          </p:pic>
          <p:pic>
            <p:nvPicPr>
              <p:cNvPr id="26" name="Image 25">
                <a:extLst>
                  <a:ext uri="{FF2B5EF4-FFF2-40B4-BE49-F238E27FC236}">
                    <a16:creationId xmlns:a16="http://schemas.microsoft.com/office/drawing/2014/main" id="{59F070F6-52D4-4B65-38FA-E7C70F2335A8}"/>
                  </a:ext>
                </a:extLst>
              </p:cNvPr>
              <p:cNvPicPr>
                <a:picLocks noChangeAspect="1"/>
              </p:cNvPicPr>
              <p:nvPr>
                <p:custDataLst>
                  <p:tags r:id="rId11"/>
                </p:custDataLst>
              </p:nvPr>
            </p:nvPicPr>
            <p:blipFill>
              <a:blip r:embed="rId24" cstate="print">
                <a:extLst>
                  <a:ext uri="{28A0092B-C50C-407E-A947-70E740481C1C}">
                    <a14:useLocalDpi xmlns:a14="http://schemas.microsoft.com/office/drawing/2010/main" val="0"/>
                  </a:ext>
                </a:extLst>
              </a:blip>
              <a:stretch>
                <a:fillRect/>
              </a:stretch>
            </p:blipFill>
            <p:spPr>
              <a:xfrm>
                <a:off x="9556786" y="2447662"/>
                <a:ext cx="128000" cy="230095"/>
              </a:xfrm>
              <a:prstGeom prst="rect">
                <a:avLst/>
              </a:prstGeom>
            </p:spPr>
          </p:pic>
          <p:cxnSp>
            <p:nvCxnSpPr>
              <p:cNvPr id="27" name="Connecteur droit avec flèche 26">
                <a:extLst>
                  <a:ext uri="{FF2B5EF4-FFF2-40B4-BE49-F238E27FC236}">
                    <a16:creationId xmlns:a16="http://schemas.microsoft.com/office/drawing/2014/main" id="{F3320862-3A7B-F252-63A9-F8FFD4949962}"/>
                  </a:ext>
                </a:extLst>
              </p:cNvPr>
              <p:cNvCxnSpPr/>
              <p:nvPr/>
            </p:nvCxnSpPr>
            <p:spPr>
              <a:xfrm>
                <a:off x="8528050" y="2065699"/>
                <a:ext cx="972041"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5F9E026D-9890-9632-BBBC-D409D8EC7AEC}"/>
                  </a:ext>
                </a:extLst>
              </p:cNvPr>
              <p:cNvCxnSpPr/>
              <p:nvPr/>
            </p:nvCxnSpPr>
            <p:spPr>
              <a:xfrm>
                <a:off x="9506748" y="2066402"/>
                <a:ext cx="672302"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9" name="Image 28">
                <a:extLst>
                  <a:ext uri="{FF2B5EF4-FFF2-40B4-BE49-F238E27FC236}">
                    <a16:creationId xmlns:a16="http://schemas.microsoft.com/office/drawing/2014/main" id="{1C5FD692-1166-7358-1F07-7360AA7F1D4F}"/>
                  </a:ext>
                </a:extLst>
              </p:cNvPr>
              <p:cNvPicPr>
                <a:picLocks noChangeAspect="1"/>
              </p:cNvPicPr>
              <p:nvPr>
                <p:custDataLst>
                  <p:tags r:id="rId12"/>
                </p:custDataLst>
              </p:nvPr>
            </p:nvPicPr>
            <p:blipFill>
              <a:blip r:embed="rId25" cstate="print">
                <a:extLst>
                  <a:ext uri="{28A0092B-C50C-407E-A947-70E740481C1C}">
                    <a14:useLocalDpi xmlns:a14="http://schemas.microsoft.com/office/drawing/2010/main" val="0"/>
                  </a:ext>
                </a:extLst>
              </a:blip>
              <a:stretch>
                <a:fillRect/>
              </a:stretch>
            </p:blipFill>
            <p:spPr>
              <a:xfrm>
                <a:off x="9808951" y="1822350"/>
                <a:ext cx="209330" cy="162233"/>
              </a:xfrm>
              <a:prstGeom prst="rect">
                <a:avLst/>
              </a:prstGeom>
            </p:spPr>
          </p:pic>
          <p:pic>
            <p:nvPicPr>
              <p:cNvPr id="30" name="Image 29">
                <a:extLst>
                  <a:ext uri="{FF2B5EF4-FFF2-40B4-BE49-F238E27FC236}">
                    <a16:creationId xmlns:a16="http://schemas.microsoft.com/office/drawing/2014/main" id="{C1786656-754E-76BD-9FE4-02901D3E76D6}"/>
                  </a:ext>
                </a:extLst>
              </p:cNvPr>
              <p:cNvPicPr>
                <a:picLocks noChangeAspect="1"/>
              </p:cNvPicPr>
              <p:nvPr>
                <p:custDataLst>
                  <p:tags r:id="rId13"/>
                </p:custDataLst>
              </p:nvPr>
            </p:nvPicPr>
            <p:blipFill>
              <a:blip r:embed="rId26" cstate="print">
                <a:extLst>
                  <a:ext uri="{28A0092B-C50C-407E-A947-70E740481C1C}">
                    <a14:useLocalDpi xmlns:a14="http://schemas.microsoft.com/office/drawing/2010/main" val="0"/>
                  </a:ext>
                </a:extLst>
              </a:blip>
              <a:stretch>
                <a:fillRect/>
              </a:stretch>
            </p:blipFill>
            <p:spPr>
              <a:xfrm>
                <a:off x="9009238" y="1832641"/>
                <a:ext cx="207017" cy="141651"/>
              </a:xfrm>
              <a:prstGeom prst="rect">
                <a:avLst/>
              </a:prstGeom>
            </p:spPr>
          </p:pic>
        </p:grpSp>
        <p:pic>
          <p:nvPicPr>
            <p:cNvPr id="7" name="Image 6">
              <a:extLst>
                <a:ext uri="{FF2B5EF4-FFF2-40B4-BE49-F238E27FC236}">
                  <a16:creationId xmlns:a16="http://schemas.microsoft.com/office/drawing/2014/main" id="{1C72BF37-6166-DDA6-38E9-ABE6209605CA}"/>
                </a:ext>
              </a:extLst>
            </p:cNvPr>
            <p:cNvPicPr>
              <a:picLocks noChangeAspect="1"/>
            </p:cNvPicPr>
            <p:nvPr>
              <p:custDataLst>
                <p:tags r:id="rId6"/>
              </p:custDataLst>
            </p:nvPr>
          </p:nvPicPr>
          <p:blipFill>
            <a:blip r:embed="rId27" cstate="print">
              <a:extLst>
                <a:ext uri="{28A0092B-C50C-407E-A947-70E740481C1C}">
                  <a14:useLocalDpi xmlns:a14="http://schemas.microsoft.com/office/drawing/2010/main" val="0"/>
                </a:ext>
              </a:extLst>
            </a:blip>
            <a:stretch>
              <a:fillRect/>
            </a:stretch>
          </p:blipFill>
          <p:spPr>
            <a:xfrm>
              <a:off x="6783528" y="2503844"/>
              <a:ext cx="181333" cy="184381"/>
            </a:xfrm>
            <a:prstGeom prst="rect">
              <a:avLst/>
            </a:prstGeom>
          </p:spPr>
        </p:pic>
        <p:pic>
          <p:nvPicPr>
            <p:cNvPr id="9" name="Image 8">
              <a:extLst>
                <a:ext uri="{FF2B5EF4-FFF2-40B4-BE49-F238E27FC236}">
                  <a16:creationId xmlns:a16="http://schemas.microsoft.com/office/drawing/2014/main" id="{6C187550-C136-87A3-2954-33D8956C3F7E}"/>
                </a:ext>
              </a:extLst>
            </p:cNvPr>
            <p:cNvPicPr>
              <a:picLocks noChangeAspect="1"/>
            </p:cNvPicPr>
            <p:nvPr>
              <p:custDataLst>
                <p:tags r:id="rId7"/>
              </p:custDataLst>
            </p:nvPr>
          </p:nvPicPr>
          <p:blipFill>
            <a:blip r:embed="rId28" cstate="print">
              <a:extLst>
                <a:ext uri="{28A0092B-C50C-407E-A947-70E740481C1C}">
                  <a14:useLocalDpi xmlns:a14="http://schemas.microsoft.com/office/drawing/2010/main" val="0"/>
                </a:ext>
              </a:extLst>
            </a:blip>
            <a:stretch>
              <a:fillRect/>
            </a:stretch>
          </p:blipFill>
          <p:spPr>
            <a:xfrm>
              <a:off x="8366137" y="2503844"/>
              <a:ext cx="181333" cy="172190"/>
            </a:xfrm>
            <a:prstGeom prst="rect">
              <a:avLst/>
            </a:prstGeom>
          </p:spPr>
        </p:pic>
      </p:grpSp>
    </p:spTree>
    <p:extLst>
      <p:ext uri="{BB962C8B-B14F-4D97-AF65-F5344CB8AC3E}">
        <p14:creationId xmlns:p14="http://schemas.microsoft.com/office/powerpoint/2010/main" val="202340675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1CB95D3C-87B7-42DD-97F8-1F43ACE143A3}" type="slidenum">
              <a:rPr lang="fr-FR" smtClean="0"/>
              <a:t>18</a:t>
            </a:fld>
            <a:endParaRPr lang="fr-FR"/>
          </a:p>
        </p:txBody>
      </p:sp>
      <p:sp>
        <p:nvSpPr>
          <p:cNvPr id="3" name="ZoneTexte 2"/>
          <p:cNvSpPr txBox="1"/>
          <p:nvPr/>
        </p:nvSpPr>
        <p:spPr>
          <a:xfrm>
            <a:off x="99060" y="790019"/>
            <a:ext cx="5795176" cy="5755422"/>
          </a:xfrm>
          <a:prstGeom prst="rect">
            <a:avLst/>
          </a:prstGeom>
          <a:noFill/>
        </p:spPr>
        <p:txBody>
          <a:bodyPr wrap="none" rtlCol="0">
            <a:spAutoFit/>
          </a:bodyPr>
          <a:lstStyle/>
          <a:p>
            <a:r>
              <a:rPr lang="fr-FR" sz="1600" dirty="0">
                <a:solidFill>
                  <a:srgbClr val="008000"/>
                </a:solidFill>
                <a:latin typeface="Consolas" panose="020B0609020204030204" pitchFamily="49" charset="0"/>
              </a:rPr>
              <a:t># Conductivité </a:t>
            </a:r>
            <a:r>
              <a:rPr lang="fr-FR" sz="1600" dirty="0" smtClean="0">
                <a:solidFill>
                  <a:srgbClr val="008000"/>
                </a:solidFill>
                <a:latin typeface="Consolas" panose="020B0609020204030204" pitchFamily="49" charset="0"/>
              </a:rPr>
              <a:t>(K1 </a:t>
            </a:r>
            <a:r>
              <a:rPr lang="fr-FR" sz="1600" dirty="0">
                <a:solidFill>
                  <a:srgbClr val="008000"/>
                </a:solidFill>
                <a:latin typeface="Consolas" panose="020B0609020204030204" pitchFamily="49" charset="0"/>
              </a:rPr>
              <a:t>pour x &lt; L/2, K2 pour x &gt;= L/2)</a:t>
            </a:r>
            <a:endParaRPr lang="fr-FR" sz="1600" dirty="0">
              <a:solidFill>
                <a:srgbClr val="000000"/>
              </a:solidFill>
              <a:latin typeface="Consolas" panose="020B0609020204030204" pitchFamily="49" charset="0"/>
            </a:endParaRPr>
          </a:p>
          <a:p>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 = </a:t>
            </a:r>
            <a:r>
              <a:rPr lang="fr-FR" sz="1600" dirty="0" err="1">
                <a:solidFill>
                  <a:srgbClr val="267F99"/>
                </a:solidFill>
                <a:latin typeface="Consolas" panose="020B0609020204030204" pitchFamily="49" charset="0"/>
              </a:rPr>
              <a:t>np</a:t>
            </a:r>
            <a:r>
              <a:rPr lang="fr-FR" sz="1600" dirty="0" err="1">
                <a:solidFill>
                  <a:srgbClr val="000000"/>
                </a:solidFill>
                <a:latin typeface="Consolas" panose="020B0609020204030204" pitchFamily="49" charset="0"/>
              </a:rPr>
              <a:t>.</a:t>
            </a:r>
            <a:r>
              <a:rPr lang="fr-FR" sz="1600" dirty="0" err="1">
                <a:solidFill>
                  <a:srgbClr val="795E26"/>
                </a:solidFill>
                <a:latin typeface="Consolas" panose="020B0609020204030204" pitchFamily="49" charset="0"/>
              </a:rPr>
              <a:t>where</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 </a:t>
            </a:r>
            <a:r>
              <a:rPr lang="fr-FR" sz="1600" dirty="0">
                <a:solidFill>
                  <a:srgbClr val="795E26"/>
                </a:solidFill>
                <a:latin typeface="Consolas" panose="020B0609020204030204" pitchFamily="49" charset="0"/>
              </a:rPr>
              <a:t>&lt;</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L</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K1</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K2</a:t>
            </a:r>
            <a:r>
              <a:rPr lang="fr-FR" sz="1600" dirty="0">
                <a:solidFill>
                  <a:srgbClr val="000000"/>
                </a:solidFill>
                <a:latin typeface="Consolas" panose="020B0609020204030204" pitchFamily="49" charset="0"/>
              </a:rPr>
              <a:t>)</a:t>
            </a:r>
          </a:p>
          <a:p>
            <a:r>
              <a:rPr lang="fr-FR" sz="1600" dirty="0" err="1">
                <a:solidFill>
                  <a:srgbClr val="AF00DB"/>
                </a:solidFill>
                <a:latin typeface="Consolas" panose="020B0609020204030204" pitchFamily="49" charset="0"/>
              </a:rPr>
              <a:t>assert</a:t>
            </a:r>
            <a:r>
              <a:rPr lang="fr-FR" sz="1600" dirty="0">
                <a:solidFill>
                  <a:srgbClr val="000000"/>
                </a:solidFill>
                <a:latin typeface="Consolas" panose="020B0609020204030204" pitchFamily="49" charset="0"/>
              </a:rPr>
              <a:t> </a:t>
            </a:r>
            <a:r>
              <a:rPr lang="fr-FR" sz="1600" dirty="0" err="1">
                <a:solidFill>
                  <a:srgbClr val="795E26"/>
                </a:solidFill>
                <a:latin typeface="Consolas" panose="020B0609020204030204" pitchFamily="49" charset="0"/>
              </a:rPr>
              <a:t>len</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 == </a:t>
            </a:r>
            <a:r>
              <a:rPr lang="fr-FR" sz="1600" dirty="0" smtClean="0">
                <a:solidFill>
                  <a:srgbClr val="0070C1"/>
                </a:solidFill>
                <a:latin typeface="Consolas" panose="020B0609020204030204" pitchFamily="49" charset="0"/>
              </a:rPr>
              <a:t>N</a:t>
            </a:r>
          </a:p>
          <a:p>
            <a:endParaRPr lang="fr-FR" sz="1600" dirty="0">
              <a:solidFill>
                <a:srgbClr val="000000"/>
              </a:solidFill>
              <a:latin typeface="Consolas" panose="020B0609020204030204" pitchFamily="49" charset="0"/>
            </a:endParaRPr>
          </a:p>
          <a:p>
            <a:r>
              <a:rPr lang="fr-FR" sz="1600" dirty="0">
                <a:solidFill>
                  <a:srgbClr val="008000"/>
                </a:solidFill>
                <a:latin typeface="Consolas" panose="020B0609020204030204" pitchFamily="49" charset="0"/>
              </a:rPr>
              <a:t># Initialisation de la matrice A et du vecteur b</a:t>
            </a:r>
            <a:endParaRPr lang="fr-FR" sz="1600" dirty="0">
              <a:solidFill>
                <a:srgbClr val="000000"/>
              </a:solidFill>
              <a:latin typeface="Consolas" panose="020B0609020204030204" pitchFamily="49" charset="0"/>
            </a:endParaRPr>
          </a:p>
          <a:p>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 = </a:t>
            </a:r>
            <a:r>
              <a:rPr lang="fr-FR" sz="1600" dirty="0" err="1">
                <a:solidFill>
                  <a:srgbClr val="267F99"/>
                </a:solidFill>
                <a:latin typeface="Consolas" panose="020B0609020204030204" pitchFamily="49" charset="0"/>
              </a:rPr>
              <a:t>np</a:t>
            </a:r>
            <a:r>
              <a:rPr lang="fr-FR" sz="1600" dirty="0" err="1">
                <a:solidFill>
                  <a:srgbClr val="000000"/>
                </a:solidFill>
                <a:latin typeface="Consolas" panose="020B0609020204030204" pitchFamily="49" charset="0"/>
              </a:rPr>
              <a:t>.</a:t>
            </a:r>
            <a:r>
              <a:rPr lang="fr-FR" sz="1600" dirty="0" err="1">
                <a:solidFill>
                  <a:srgbClr val="795E26"/>
                </a:solidFill>
                <a:latin typeface="Consolas" panose="020B0609020204030204" pitchFamily="49" charset="0"/>
              </a:rPr>
              <a:t>zeros</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p>
          <a:p>
            <a:r>
              <a:rPr lang="fr-FR" sz="1600" dirty="0">
                <a:solidFill>
                  <a:srgbClr val="001080"/>
                </a:solidFill>
                <a:latin typeface="Consolas" panose="020B0609020204030204" pitchFamily="49" charset="0"/>
              </a:rPr>
              <a:t>b</a:t>
            </a:r>
            <a:r>
              <a:rPr lang="fr-FR" sz="1600" dirty="0">
                <a:solidFill>
                  <a:srgbClr val="000000"/>
                </a:solidFill>
                <a:latin typeface="Consolas" panose="020B0609020204030204" pitchFamily="49" charset="0"/>
              </a:rPr>
              <a:t> = </a:t>
            </a:r>
            <a:r>
              <a:rPr lang="fr-FR" sz="1600" dirty="0" err="1">
                <a:solidFill>
                  <a:srgbClr val="267F99"/>
                </a:solidFill>
                <a:latin typeface="Consolas" panose="020B0609020204030204" pitchFamily="49" charset="0"/>
              </a:rPr>
              <a:t>np</a:t>
            </a:r>
            <a:r>
              <a:rPr lang="fr-FR" sz="1600" dirty="0" err="1">
                <a:solidFill>
                  <a:srgbClr val="000000"/>
                </a:solidFill>
                <a:latin typeface="Consolas" panose="020B0609020204030204" pitchFamily="49" charset="0"/>
              </a:rPr>
              <a:t>.</a:t>
            </a:r>
            <a:r>
              <a:rPr lang="fr-FR" sz="1600" dirty="0" err="1">
                <a:solidFill>
                  <a:srgbClr val="795E26"/>
                </a:solidFill>
                <a:latin typeface="Consolas" panose="020B0609020204030204" pitchFamily="49" charset="0"/>
              </a:rPr>
              <a:t>zeros</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r>
            <a:br>
              <a:rPr lang="fr-FR" sz="1600" dirty="0">
                <a:solidFill>
                  <a:srgbClr val="000000"/>
                </a:solidFill>
                <a:latin typeface="Consolas" panose="020B0609020204030204" pitchFamily="49" charset="0"/>
              </a:rPr>
            </a:br>
            <a:r>
              <a:rPr lang="fr-FR" sz="1600" dirty="0">
                <a:solidFill>
                  <a:srgbClr val="008000"/>
                </a:solidFill>
                <a:latin typeface="Consolas" panose="020B0609020204030204" pitchFamily="49" charset="0"/>
              </a:rPr>
              <a:t># P</a:t>
            </a:r>
            <a:r>
              <a:rPr lang="fr-FR" sz="1600" dirty="0" smtClean="0">
                <a:solidFill>
                  <a:srgbClr val="008000"/>
                </a:solidFill>
                <a:latin typeface="Consolas" panose="020B0609020204030204" pitchFamily="49" charset="0"/>
              </a:rPr>
              <a:t>our </a:t>
            </a:r>
            <a:r>
              <a:rPr lang="fr-FR" sz="1600" dirty="0">
                <a:solidFill>
                  <a:srgbClr val="008000"/>
                </a:solidFill>
                <a:latin typeface="Consolas" panose="020B0609020204030204" pitchFamily="49" charset="0"/>
              </a:rPr>
              <a:t>les cellules intérieures (i = 1 à N-2)</a:t>
            </a:r>
            <a:endParaRPr lang="fr-FR" sz="1600" dirty="0">
              <a:solidFill>
                <a:srgbClr val="000000"/>
              </a:solidFill>
              <a:latin typeface="Consolas" panose="020B0609020204030204" pitchFamily="49" charset="0"/>
            </a:endParaRPr>
          </a:p>
          <a:p>
            <a:r>
              <a:rPr lang="fr-FR" sz="1600" dirty="0">
                <a:solidFill>
                  <a:srgbClr val="AF00DB"/>
                </a:solidFill>
                <a:latin typeface="Consolas" panose="020B0609020204030204" pitchFamily="49" charset="0"/>
              </a:rPr>
              <a:t>for</a:t>
            </a:r>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 </a:t>
            </a:r>
            <a:r>
              <a:rPr lang="fr-FR" sz="1600" dirty="0">
                <a:solidFill>
                  <a:srgbClr val="AF00DB"/>
                </a:solidFill>
                <a:latin typeface="Consolas" panose="020B0609020204030204" pitchFamily="49" charset="0"/>
              </a:rPr>
              <a:t>in</a:t>
            </a:r>
            <a:r>
              <a:rPr lang="fr-FR" sz="1600" dirty="0">
                <a:solidFill>
                  <a:srgbClr val="000000"/>
                </a:solidFill>
                <a:latin typeface="Consolas" panose="020B0609020204030204" pitchFamily="49" charset="0"/>
              </a:rPr>
              <a:t> </a:t>
            </a:r>
            <a:r>
              <a:rPr lang="fr-FR" sz="1600" dirty="0">
                <a:solidFill>
                  <a:srgbClr val="267F99"/>
                </a:solidFill>
                <a:latin typeface="Consolas" panose="020B0609020204030204" pitchFamily="49" charset="0"/>
              </a:rPr>
              <a:t>range</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t>
            </a:r>
            <a:r>
              <a:rPr lang="fr-FR" sz="1600" dirty="0">
                <a:solidFill>
                  <a:srgbClr val="008000"/>
                </a:solidFill>
                <a:latin typeface="Consolas" panose="020B0609020204030204" pitchFamily="49" charset="0"/>
              </a:rPr>
              <a:t># Contribution de l'interface (i-1 | i)</a:t>
            </a:r>
            <a:endParaRPr lang="fr-FR" sz="1600" dirty="0">
              <a:solidFill>
                <a:srgbClr val="000000"/>
              </a:solidFill>
              <a:latin typeface="Consolas" panose="020B0609020204030204" pitchFamily="49" charset="0"/>
            </a:endParaRPr>
          </a:p>
          <a:p>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hm</a:t>
            </a:r>
            <a:r>
              <a:rPr lang="fr-FR" sz="1600" dirty="0">
                <a:solidFill>
                  <a:srgbClr val="000000"/>
                </a:solidFill>
                <a:latin typeface="Consolas" panose="020B0609020204030204" pitchFamily="49" charset="0"/>
              </a:rPr>
              <a:t>, </a:t>
            </a:r>
            <a:r>
              <a:rPr lang="fr-FR" sz="1600" dirty="0" err="1">
                <a:solidFill>
                  <a:srgbClr val="001080"/>
                </a:solidFill>
                <a:latin typeface="Consolas" panose="020B0609020204030204" pitchFamily="49" charset="0"/>
              </a:rPr>
              <a:t>hp</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endParaRPr lang="fr-FR" sz="1600" dirty="0">
              <a:solidFill>
                <a:srgbClr val="000000"/>
              </a:solidFill>
              <a:latin typeface="Consolas" panose="020B0609020204030204" pitchFamily="49" charset="0"/>
            </a:endParaRPr>
          </a:p>
          <a:p>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Km</a:t>
            </a:r>
            <a:r>
              <a:rPr lang="fr-FR" sz="1600" dirty="0">
                <a:solidFill>
                  <a:srgbClr val="000000"/>
                </a:solidFill>
                <a:latin typeface="Consolas" panose="020B0609020204030204" pitchFamily="49" charset="0"/>
              </a:rPr>
              <a:t>, </a:t>
            </a:r>
            <a:r>
              <a:rPr lang="fr-FR" sz="1600" dirty="0" err="1">
                <a:solidFill>
                  <a:srgbClr val="001080"/>
                </a:solidFill>
                <a:latin typeface="Consolas" panose="020B0609020204030204" pitchFamily="49" charset="0"/>
              </a:rPr>
              <a:t>Kp</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t>
            </a:r>
            <a:r>
              <a:rPr lang="fr-FR" sz="1600" dirty="0" err="1">
                <a:solidFill>
                  <a:srgbClr val="001080"/>
                </a:solidFill>
                <a:latin typeface="Consolas" panose="020B0609020204030204" pitchFamily="49" charset="0"/>
              </a:rPr>
              <a:t>Keff</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hm</a:t>
            </a:r>
            <a:r>
              <a:rPr lang="fr-FR" sz="1600" dirty="0">
                <a:solidFill>
                  <a:srgbClr val="000000"/>
                </a:solidFill>
                <a:latin typeface="Consolas" panose="020B0609020204030204" pitchFamily="49" charset="0"/>
              </a:rPr>
              <a:t> + </a:t>
            </a:r>
            <a:r>
              <a:rPr lang="fr-FR" sz="1600" dirty="0" err="1">
                <a:solidFill>
                  <a:srgbClr val="001080"/>
                </a:solidFill>
                <a:latin typeface="Consolas" panose="020B0609020204030204" pitchFamily="49" charset="0"/>
              </a:rPr>
              <a:t>hp</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hm</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Km</a:t>
            </a:r>
            <a:r>
              <a:rPr lang="fr-FR" sz="1600" dirty="0">
                <a:solidFill>
                  <a:srgbClr val="000000"/>
                </a:solidFill>
                <a:latin typeface="Consolas" panose="020B0609020204030204" pitchFamily="49" charset="0"/>
              </a:rPr>
              <a:t> + </a:t>
            </a:r>
            <a:r>
              <a:rPr lang="fr-FR" sz="1600" dirty="0" err="1">
                <a:solidFill>
                  <a:srgbClr val="001080"/>
                </a:solidFill>
                <a:latin typeface="Consolas" panose="020B0609020204030204" pitchFamily="49" charset="0"/>
              </a:rPr>
              <a:t>hp</a:t>
            </a:r>
            <a:r>
              <a:rPr lang="fr-FR" sz="1600" dirty="0">
                <a:solidFill>
                  <a:srgbClr val="000000"/>
                </a:solidFill>
                <a:latin typeface="Consolas" panose="020B0609020204030204" pitchFamily="49" charset="0"/>
              </a:rPr>
              <a:t>/</a:t>
            </a:r>
            <a:r>
              <a:rPr lang="fr-FR" sz="1600" dirty="0" err="1">
                <a:solidFill>
                  <a:srgbClr val="001080"/>
                </a:solidFill>
                <a:latin typeface="Consolas" panose="020B0609020204030204" pitchFamily="49" charset="0"/>
              </a:rPr>
              <a:t>Kp</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err="1">
                <a:solidFill>
                  <a:srgbClr val="001080"/>
                </a:solidFill>
                <a:latin typeface="Consolas" panose="020B0609020204030204" pitchFamily="49" charset="0"/>
              </a:rPr>
              <a:t>Keff</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  ] = +</a:t>
            </a:r>
            <a:r>
              <a:rPr lang="fr-FR" sz="1600" dirty="0" err="1">
                <a:solidFill>
                  <a:srgbClr val="001080"/>
                </a:solidFill>
                <a:latin typeface="Consolas" panose="020B0609020204030204" pitchFamily="49" charset="0"/>
              </a:rPr>
              <a:t>Keff</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t>
            </a:r>
          </a:p>
          <a:p>
            <a:r>
              <a:rPr lang="fr-FR" sz="1600" dirty="0">
                <a:solidFill>
                  <a:srgbClr val="000000"/>
                </a:solidFill>
                <a:latin typeface="Consolas" panose="020B0609020204030204" pitchFamily="49" charset="0"/>
              </a:rPr>
              <a:t>    </a:t>
            </a:r>
            <a:r>
              <a:rPr lang="fr-FR" sz="1600" dirty="0">
                <a:solidFill>
                  <a:srgbClr val="008000"/>
                </a:solidFill>
                <a:latin typeface="Consolas" panose="020B0609020204030204" pitchFamily="49" charset="0"/>
              </a:rPr>
              <a:t># Contribution de l'interface (i | i+1)</a:t>
            </a:r>
            <a:endParaRPr lang="fr-FR" sz="1600" dirty="0">
              <a:solidFill>
                <a:srgbClr val="000000"/>
              </a:solidFill>
              <a:latin typeface="Consolas" panose="020B0609020204030204" pitchFamily="49" charset="0"/>
            </a:endParaRPr>
          </a:p>
          <a:p>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hm</a:t>
            </a:r>
            <a:r>
              <a:rPr lang="fr-FR" sz="1600" dirty="0">
                <a:solidFill>
                  <a:srgbClr val="000000"/>
                </a:solidFill>
                <a:latin typeface="Consolas" panose="020B0609020204030204" pitchFamily="49" charset="0"/>
              </a:rPr>
              <a:t>, </a:t>
            </a:r>
            <a:r>
              <a:rPr lang="fr-FR" sz="1600" dirty="0" err="1">
                <a:solidFill>
                  <a:srgbClr val="001080"/>
                </a:solidFill>
                <a:latin typeface="Consolas" panose="020B0609020204030204" pitchFamily="49" charset="0"/>
              </a:rPr>
              <a:t>hp</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endParaRPr lang="fr-FR" sz="1600" dirty="0">
              <a:solidFill>
                <a:srgbClr val="000000"/>
              </a:solidFill>
              <a:latin typeface="Consolas" panose="020B0609020204030204" pitchFamily="49" charset="0"/>
            </a:endParaRPr>
          </a:p>
          <a:p>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Km</a:t>
            </a:r>
            <a:r>
              <a:rPr lang="fr-FR" sz="1600" dirty="0">
                <a:solidFill>
                  <a:srgbClr val="000000"/>
                </a:solidFill>
                <a:latin typeface="Consolas" panose="020B0609020204030204" pitchFamily="49" charset="0"/>
              </a:rPr>
              <a:t>, </a:t>
            </a:r>
            <a:r>
              <a:rPr lang="fr-FR" sz="1600" dirty="0" err="1">
                <a:solidFill>
                  <a:srgbClr val="001080"/>
                </a:solidFill>
                <a:latin typeface="Consolas" panose="020B0609020204030204" pitchFamily="49" charset="0"/>
              </a:rPr>
              <a:t>Kp</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t>
            </a:r>
            <a:r>
              <a:rPr lang="fr-FR" sz="1600" dirty="0" err="1">
                <a:solidFill>
                  <a:srgbClr val="001080"/>
                </a:solidFill>
                <a:latin typeface="Consolas" panose="020B0609020204030204" pitchFamily="49" charset="0"/>
              </a:rPr>
              <a:t>Keff</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hm</a:t>
            </a:r>
            <a:r>
              <a:rPr lang="fr-FR" sz="1600" dirty="0">
                <a:solidFill>
                  <a:srgbClr val="000000"/>
                </a:solidFill>
                <a:latin typeface="Consolas" panose="020B0609020204030204" pitchFamily="49" charset="0"/>
              </a:rPr>
              <a:t> + </a:t>
            </a:r>
            <a:r>
              <a:rPr lang="fr-FR" sz="1600" dirty="0" err="1">
                <a:solidFill>
                  <a:srgbClr val="001080"/>
                </a:solidFill>
                <a:latin typeface="Consolas" panose="020B0609020204030204" pitchFamily="49" charset="0"/>
              </a:rPr>
              <a:t>hp</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hm</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Km</a:t>
            </a:r>
            <a:r>
              <a:rPr lang="fr-FR" sz="1600" dirty="0">
                <a:solidFill>
                  <a:srgbClr val="000000"/>
                </a:solidFill>
                <a:latin typeface="Consolas" panose="020B0609020204030204" pitchFamily="49" charset="0"/>
              </a:rPr>
              <a:t> + </a:t>
            </a:r>
            <a:r>
              <a:rPr lang="fr-FR" sz="1600" dirty="0" err="1">
                <a:solidFill>
                  <a:srgbClr val="001080"/>
                </a:solidFill>
                <a:latin typeface="Consolas" panose="020B0609020204030204" pitchFamily="49" charset="0"/>
              </a:rPr>
              <a:t>hp</a:t>
            </a:r>
            <a:r>
              <a:rPr lang="fr-FR" sz="1600" dirty="0">
                <a:solidFill>
                  <a:srgbClr val="000000"/>
                </a:solidFill>
                <a:latin typeface="Consolas" panose="020B0609020204030204" pitchFamily="49" charset="0"/>
              </a:rPr>
              <a:t>/</a:t>
            </a:r>
            <a:r>
              <a:rPr lang="fr-FR" sz="1600" dirty="0" err="1">
                <a:solidFill>
                  <a:srgbClr val="001080"/>
                </a:solidFill>
                <a:latin typeface="Consolas" panose="020B0609020204030204" pitchFamily="49" charset="0"/>
              </a:rPr>
              <a:t>Kp</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err="1">
                <a:solidFill>
                  <a:srgbClr val="001080"/>
                </a:solidFill>
                <a:latin typeface="Consolas" panose="020B0609020204030204" pitchFamily="49" charset="0"/>
              </a:rPr>
              <a:t>Keff</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  += +</a:t>
            </a:r>
            <a:r>
              <a:rPr lang="fr-FR" sz="1600" dirty="0" err="1">
                <a:solidFill>
                  <a:srgbClr val="001080"/>
                </a:solidFill>
                <a:latin typeface="Consolas" panose="020B0609020204030204" pitchFamily="49" charset="0"/>
              </a:rPr>
              <a:t>Keff</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i</a:t>
            </a:r>
            <a:r>
              <a:rPr lang="fr-FR" sz="1600" dirty="0">
                <a:solidFill>
                  <a:srgbClr val="000000"/>
                </a:solidFill>
                <a:latin typeface="Consolas" panose="020B0609020204030204" pitchFamily="49" charset="0"/>
              </a:rPr>
              <a:t>])</a:t>
            </a:r>
            <a:endParaRPr lang="fr-FR" sz="1600" b="0" dirty="0">
              <a:solidFill>
                <a:srgbClr val="000000"/>
              </a:solidFill>
              <a:effectLst/>
              <a:latin typeface="Consolas" panose="020B0609020204030204" pitchFamily="49" charset="0"/>
            </a:endParaRPr>
          </a:p>
        </p:txBody>
      </p:sp>
      <p:sp>
        <p:nvSpPr>
          <p:cNvPr id="4" name="ZoneTexte 3"/>
          <p:cNvSpPr txBox="1"/>
          <p:nvPr/>
        </p:nvSpPr>
        <p:spPr>
          <a:xfrm>
            <a:off x="6070787" y="339297"/>
            <a:ext cx="6019597" cy="6247864"/>
          </a:xfrm>
          <a:prstGeom prst="rect">
            <a:avLst/>
          </a:prstGeom>
          <a:noFill/>
        </p:spPr>
        <p:txBody>
          <a:bodyPr wrap="none" rtlCol="0">
            <a:spAutoFit/>
          </a:bodyPr>
          <a:lstStyle/>
          <a:p>
            <a:r>
              <a:rPr lang="fr-FR" sz="1600" dirty="0">
                <a:solidFill>
                  <a:srgbClr val="008000"/>
                </a:solidFill>
                <a:latin typeface="Consolas" panose="020B0609020204030204" pitchFamily="49" charset="0"/>
              </a:rPr>
              <a:t># Condition aux limites Dirichlet sur le bord gauche</a:t>
            </a:r>
            <a:endParaRPr lang="fr-FR" sz="1600" dirty="0">
              <a:solidFill>
                <a:srgbClr val="000000"/>
              </a:solidFill>
              <a:latin typeface="Consolas" panose="020B0609020204030204" pitchFamily="49" charset="0"/>
            </a:endParaRPr>
          </a:p>
          <a:p>
            <a:r>
              <a:rPr lang="fr-FR" sz="1600" dirty="0">
                <a:solidFill>
                  <a:srgbClr val="001080"/>
                </a:solidFill>
                <a:latin typeface="Consolas" panose="020B0609020204030204" pitchFamily="49" charset="0"/>
              </a:rPr>
              <a:t>Km</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a:t>
            </a:r>
          </a:p>
          <a:p>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 </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 = </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Km</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a:t>
            </a:r>
          </a:p>
          <a:p>
            <a:r>
              <a:rPr lang="fr-FR" sz="1600" dirty="0">
                <a:solidFill>
                  <a:srgbClr val="001080"/>
                </a:solidFill>
                <a:latin typeface="Consolas" panose="020B0609020204030204" pitchFamily="49" charset="0"/>
              </a:rPr>
              <a:t>b</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 = </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Km</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a:t>
            </a:r>
            <a:r>
              <a:rPr lang="fr-FR" sz="1600" dirty="0" err="1">
                <a:solidFill>
                  <a:srgbClr val="001080"/>
                </a:solidFill>
                <a:latin typeface="Consolas" panose="020B0609020204030204" pitchFamily="49" charset="0"/>
              </a:rPr>
              <a:t>Tdg</a:t>
            </a:r>
            <a:endParaRPr lang="fr-FR" sz="1600" dirty="0">
              <a:solidFill>
                <a:srgbClr val="000000"/>
              </a:solidFill>
              <a:latin typeface="Consolas" panose="020B0609020204030204" pitchFamily="49" charset="0"/>
            </a:endParaRPr>
          </a:p>
          <a:p>
            <a:r>
              <a:rPr lang="fr-FR" sz="1600" dirty="0">
                <a:solidFill>
                  <a:srgbClr val="000000"/>
                </a:solidFill>
                <a:latin typeface="Consolas" panose="020B0609020204030204" pitchFamily="49" charset="0"/>
              </a:rPr>
              <a:t/>
            </a:r>
            <a:br>
              <a:rPr lang="fr-FR" sz="1600" dirty="0">
                <a:solidFill>
                  <a:srgbClr val="000000"/>
                </a:solidFill>
                <a:latin typeface="Consolas" panose="020B0609020204030204" pitchFamily="49" charset="0"/>
              </a:rPr>
            </a:br>
            <a:r>
              <a:rPr lang="fr-FR" sz="1600" dirty="0">
                <a:solidFill>
                  <a:srgbClr val="008000"/>
                </a:solidFill>
                <a:latin typeface="Consolas" panose="020B0609020204030204" pitchFamily="49" charset="0"/>
              </a:rPr>
              <a:t># Contribution de l'interface (1 | 2)</a:t>
            </a:r>
            <a:endParaRPr lang="fr-FR" sz="1600" dirty="0">
              <a:solidFill>
                <a:srgbClr val="000000"/>
              </a:solidFill>
              <a:latin typeface="Consolas" panose="020B0609020204030204" pitchFamily="49" charset="0"/>
            </a:endParaRPr>
          </a:p>
          <a:p>
            <a:r>
              <a:rPr lang="fr-FR" sz="1600" dirty="0">
                <a:solidFill>
                  <a:srgbClr val="001080"/>
                </a:solidFill>
                <a:latin typeface="Consolas" panose="020B0609020204030204" pitchFamily="49" charset="0"/>
              </a:rPr>
              <a:t>hm</a:t>
            </a:r>
            <a:r>
              <a:rPr lang="fr-FR" sz="1600" dirty="0">
                <a:solidFill>
                  <a:srgbClr val="000000"/>
                </a:solidFill>
                <a:latin typeface="Consolas" panose="020B0609020204030204" pitchFamily="49" charset="0"/>
              </a:rPr>
              <a:t>, </a:t>
            </a:r>
            <a:r>
              <a:rPr lang="fr-FR" sz="1600" dirty="0" err="1">
                <a:solidFill>
                  <a:srgbClr val="001080"/>
                </a:solidFill>
                <a:latin typeface="Consolas" panose="020B0609020204030204" pitchFamily="49" charset="0"/>
              </a:rPr>
              <a:t>hp</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endParaRPr lang="fr-FR" sz="1600" dirty="0">
              <a:solidFill>
                <a:srgbClr val="000000"/>
              </a:solidFill>
              <a:latin typeface="Consolas" panose="020B0609020204030204" pitchFamily="49" charset="0"/>
            </a:endParaRPr>
          </a:p>
          <a:p>
            <a:r>
              <a:rPr lang="fr-FR" sz="1600" dirty="0">
                <a:solidFill>
                  <a:srgbClr val="001080"/>
                </a:solidFill>
                <a:latin typeface="Consolas" panose="020B0609020204030204" pitchFamily="49" charset="0"/>
              </a:rPr>
              <a:t>Km</a:t>
            </a:r>
            <a:r>
              <a:rPr lang="fr-FR" sz="1600" dirty="0">
                <a:solidFill>
                  <a:srgbClr val="000000"/>
                </a:solidFill>
                <a:latin typeface="Consolas" panose="020B0609020204030204" pitchFamily="49" charset="0"/>
              </a:rPr>
              <a:t>, </a:t>
            </a:r>
            <a:r>
              <a:rPr lang="fr-FR" sz="1600" dirty="0" err="1">
                <a:solidFill>
                  <a:srgbClr val="001080"/>
                </a:solidFill>
                <a:latin typeface="Consolas" panose="020B0609020204030204" pitchFamily="49" charset="0"/>
              </a:rPr>
              <a:t>Kp</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a:t>
            </a:r>
          </a:p>
          <a:p>
            <a:r>
              <a:rPr lang="fr-FR" sz="1600" dirty="0" err="1">
                <a:solidFill>
                  <a:srgbClr val="001080"/>
                </a:solidFill>
                <a:latin typeface="Consolas" panose="020B0609020204030204" pitchFamily="49" charset="0"/>
              </a:rPr>
              <a:t>Keff</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hm</a:t>
            </a:r>
            <a:r>
              <a:rPr lang="fr-FR" sz="1600" dirty="0">
                <a:solidFill>
                  <a:srgbClr val="000000"/>
                </a:solidFill>
                <a:latin typeface="Consolas" panose="020B0609020204030204" pitchFamily="49" charset="0"/>
              </a:rPr>
              <a:t> + </a:t>
            </a:r>
            <a:r>
              <a:rPr lang="fr-FR" sz="1600" dirty="0" err="1">
                <a:solidFill>
                  <a:srgbClr val="001080"/>
                </a:solidFill>
                <a:latin typeface="Consolas" panose="020B0609020204030204" pitchFamily="49" charset="0"/>
              </a:rPr>
              <a:t>hp</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hm</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Km</a:t>
            </a:r>
            <a:r>
              <a:rPr lang="fr-FR" sz="1600" dirty="0">
                <a:solidFill>
                  <a:srgbClr val="000000"/>
                </a:solidFill>
                <a:latin typeface="Consolas" panose="020B0609020204030204" pitchFamily="49" charset="0"/>
              </a:rPr>
              <a:t> + </a:t>
            </a:r>
            <a:r>
              <a:rPr lang="fr-FR" sz="1600" dirty="0" err="1">
                <a:solidFill>
                  <a:srgbClr val="001080"/>
                </a:solidFill>
                <a:latin typeface="Consolas" panose="020B0609020204030204" pitchFamily="49" charset="0"/>
              </a:rPr>
              <a:t>hp</a:t>
            </a:r>
            <a:r>
              <a:rPr lang="fr-FR" sz="1600" dirty="0">
                <a:solidFill>
                  <a:srgbClr val="000000"/>
                </a:solidFill>
                <a:latin typeface="Consolas" panose="020B0609020204030204" pitchFamily="49" charset="0"/>
              </a:rPr>
              <a:t>/</a:t>
            </a:r>
            <a:r>
              <a:rPr lang="fr-FR" sz="1600" dirty="0" err="1">
                <a:solidFill>
                  <a:srgbClr val="001080"/>
                </a:solidFill>
                <a:latin typeface="Consolas" panose="020B0609020204030204" pitchFamily="49" charset="0"/>
              </a:rPr>
              <a:t>Kp</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r>
            <a:br>
              <a:rPr lang="fr-FR" sz="1600" dirty="0">
                <a:solidFill>
                  <a:srgbClr val="000000"/>
                </a:solidFill>
                <a:latin typeface="Consolas" panose="020B0609020204030204" pitchFamily="49" charset="0"/>
              </a:rPr>
            </a:br>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 </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 </a:t>
            </a:r>
            <a:r>
              <a:rPr lang="fr-FR" sz="1600" dirty="0" smtClean="0">
                <a:solidFill>
                  <a:srgbClr val="000000"/>
                </a:solidFill>
                <a:latin typeface="Consolas" panose="020B0609020204030204" pitchFamily="49" charset="0"/>
              </a:rPr>
              <a:t>+= +</a:t>
            </a:r>
            <a:r>
              <a:rPr lang="fr-FR" sz="1600" dirty="0" err="1" smtClean="0">
                <a:solidFill>
                  <a:srgbClr val="001080"/>
                </a:solidFill>
                <a:latin typeface="Consolas" panose="020B0609020204030204" pitchFamily="49" charset="0"/>
              </a:rPr>
              <a:t>Keff</a:t>
            </a:r>
            <a:r>
              <a:rPr lang="fr-FR" sz="1600" dirty="0" smtClean="0">
                <a:solidFill>
                  <a:srgbClr val="000000"/>
                </a:solidFill>
                <a:latin typeface="Consolas" panose="020B0609020204030204" pitchFamily="49" charset="0"/>
              </a:rPr>
              <a:t> </a:t>
            </a:r>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a:t>
            </a:r>
          </a:p>
          <a:p>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 </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a:t>
            </a:r>
            <a:r>
              <a:rPr lang="fr-FR" sz="1600" dirty="0" smtClean="0">
                <a:solidFill>
                  <a:srgbClr val="000000"/>
                </a:solidFill>
                <a:latin typeface="Consolas" panose="020B0609020204030204" pitchFamily="49" charset="0"/>
              </a:rPr>
              <a:t> = </a:t>
            </a:r>
            <a:r>
              <a:rPr lang="fr-FR" sz="1600" dirty="0">
                <a:solidFill>
                  <a:srgbClr val="000000"/>
                </a:solidFill>
                <a:latin typeface="Consolas" panose="020B0609020204030204" pitchFamily="49" charset="0"/>
              </a:rPr>
              <a:t>-</a:t>
            </a:r>
            <a:r>
              <a:rPr lang="fr-FR" sz="1600" dirty="0" err="1">
                <a:solidFill>
                  <a:srgbClr val="001080"/>
                </a:solidFill>
                <a:latin typeface="Consolas" panose="020B0609020204030204" pitchFamily="49" charset="0"/>
              </a:rPr>
              <a:t>Keff</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r>
            <a:br>
              <a:rPr lang="fr-FR" sz="1600" dirty="0">
                <a:solidFill>
                  <a:srgbClr val="000000"/>
                </a:solidFill>
                <a:latin typeface="Consolas" panose="020B0609020204030204" pitchFamily="49" charset="0"/>
              </a:rPr>
            </a:br>
            <a:r>
              <a:rPr lang="fr-FR" sz="1600" dirty="0">
                <a:solidFill>
                  <a:srgbClr val="008000"/>
                </a:solidFill>
                <a:latin typeface="Consolas" panose="020B0609020204030204" pitchFamily="49" charset="0"/>
              </a:rPr>
              <a:t># Condition aux limites Neumann sur le bord droit</a:t>
            </a:r>
            <a:endParaRPr lang="fr-FR" sz="1600" dirty="0">
              <a:solidFill>
                <a:srgbClr val="000000"/>
              </a:solidFill>
              <a:latin typeface="Consolas" panose="020B0609020204030204" pitchFamily="49" charset="0"/>
            </a:endParaRPr>
          </a:p>
          <a:p>
            <a:r>
              <a:rPr lang="fr-FR" sz="1600" dirty="0" err="1">
                <a:solidFill>
                  <a:srgbClr val="001080"/>
                </a:solidFill>
                <a:latin typeface="Consolas" panose="020B0609020204030204" pitchFamily="49" charset="0"/>
              </a:rPr>
              <a:t>Kp</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a:t>
            </a:r>
          </a:p>
          <a:p>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H</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a:t>
            </a:r>
            <a:r>
              <a:rPr lang="fr-FR" sz="1600" dirty="0" err="1">
                <a:solidFill>
                  <a:srgbClr val="001080"/>
                </a:solidFill>
                <a:latin typeface="Consolas" panose="020B0609020204030204" pitchFamily="49" charset="0"/>
              </a:rPr>
              <a:t>Kp</a:t>
            </a:r>
            <a:r>
              <a:rPr lang="fr-FR" sz="1600" dirty="0">
                <a:solidFill>
                  <a:srgbClr val="000000"/>
                </a:solidFill>
                <a:latin typeface="Consolas" panose="020B0609020204030204" pitchFamily="49" charset="0"/>
              </a:rPr>
              <a:t> / (</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a:t>
            </a:r>
            <a:r>
              <a:rPr lang="fr-FR" sz="1600" dirty="0" err="1">
                <a:solidFill>
                  <a:srgbClr val="001080"/>
                </a:solidFill>
                <a:latin typeface="Consolas" panose="020B0609020204030204" pitchFamily="49" charset="0"/>
              </a:rPr>
              <a:t>Kp</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H</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a:t>
            </a:r>
          </a:p>
          <a:p>
            <a:r>
              <a:rPr lang="fr-FR" sz="1600" dirty="0">
                <a:solidFill>
                  <a:srgbClr val="001080"/>
                </a:solidFill>
                <a:latin typeface="Consolas" panose="020B0609020204030204" pitchFamily="49" charset="0"/>
              </a:rPr>
              <a:t>b</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H</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a:t>
            </a:r>
            <a:r>
              <a:rPr lang="fr-FR" sz="1600" dirty="0" err="1">
                <a:solidFill>
                  <a:srgbClr val="001080"/>
                </a:solidFill>
                <a:latin typeface="Consolas" panose="020B0609020204030204" pitchFamily="49" charset="0"/>
              </a:rPr>
              <a:t>Kp</a:t>
            </a:r>
            <a:r>
              <a:rPr lang="fr-FR" sz="1600" dirty="0">
                <a:solidFill>
                  <a:srgbClr val="000000"/>
                </a:solidFill>
                <a:latin typeface="Consolas" panose="020B0609020204030204" pitchFamily="49" charset="0"/>
              </a:rPr>
              <a:t> / (</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a:t>
            </a:r>
            <a:r>
              <a:rPr lang="fr-FR" sz="1600" dirty="0" err="1">
                <a:solidFill>
                  <a:srgbClr val="001080"/>
                </a:solidFill>
                <a:latin typeface="Consolas" panose="020B0609020204030204" pitchFamily="49" charset="0"/>
              </a:rPr>
              <a:t>Kp</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H</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err="1">
                <a:solidFill>
                  <a:srgbClr val="001080"/>
                </a:solidFill>
                <a:latin typeface="Consolas" panose="020B0609020204030204" pitchFamily="49" charset="0"/>
              </a:rPr>
              <a:t>Tad</a:t>
            </a:r>
            <a:endParaRPr lang="fr-FR" sz="1600" dirty="0">
              <a:solidFill>
                <a:srgbClr val="000000"/>
              </a:solidFill>
              <a:latin typeface="Consolas" panose="020B0609020204030204" pitchFamily="49" charset="0"/>
            </a:endParaRPr>
          </a:p>
          <a:p>
            <a:r>
              <a:rPr lang="fr-FR" sz="1600" dirty="0">
                <a:solidFill>
                  <a:srgbClr val="000000"/>
                </a:solidFill>
                <a:latin typeface="Consolas" panose="020B0609020204030204" pitchFamily="49" charset="0"/>
              </a:rPr>
              <a:t/>
            </a:r>
            <a:br>
              <a:rPr lang="fr-FR" sz="1600" dirty="0">
                <a:solidFill>
                  <a:srgbClr val="000000"/>
                </a:solidFill>
                <a:latin typeface="Consolas" panose="020B0609020204030204" pitchFamily="49" charset="0"/>
              </a:rPr>
            </a:br>
            <a:r>
              <a:rPr lang="fr-FR" sz="1600" dirty="0">
                <a:solidFill>
                  <a:srgbClr val="008000"/>
                </a:solidFill>
                <a:latin typeface="Consolas" panose="020B0609020204030204" pitchFamily="49" charset="0"/>
              </a:rPr>
              <a:t># Contribution de l'interface (N-1 | N)</a:t>
            </a:r>
            <a:endParaRPr lang="fr-FR" sz="1600" dirty="0">
              <a:solidFill>
                <a:srgbClr val="000000"/>
              </a:solidFill>
              <a:latin typeface="Consolas" panose="020B0609020204030204" pitchFamily="49" charset="0"/>
            </a:endParaRPr>
          </a:p>
          <a:p>
            <a:r>
              <a:rPr lang="fr-FR" sz="1600" dirty="0">
                <a:solidFill>
                  <a:srgbClr val="001080"/>
                </a:solidFill>
                <a:latin typeface="Consolas" panose="020B0609020204030204" pitchFamily="49" charset="0"/>
              </a:rPr>
              <a:t>hm</a:t>
            </a:r>
            <a:r>
              <a:rPr lang="fr-FR" sz="1600" dirty="0">
                <a:solidFill>
                  <a:srgbClr val="000000"/>
                </a:solidFill>
                <a:latin typeface="Consolas" panose="020B0609020204030204" pitchFamily="49" charset="0"/>
              </a:rPr>
              <a:t>, </a:t>
            </a:r>
            <a:r>
              <a:rPr lang="fr-FR" sz="1600" dirty="0" err="1">
                <a:solidFill>
                  <a:srgbClr val="001080"/>
                </a:solidFill>
                <a:latin typeface="Consolas" panose="020B0609020204030204" pitchFamily="49" charset="0"/>
              </a:rPr>
              <a:t>hp</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w</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endParaRPr lang="fr-FR" sz="1600" dirty="0">
              <a:solidFill>
                <a:srgbClr val="000000"/>
              </a:solidFill>
              <a:latin typeface="Consolas" panose="020B0609020204030204" pitchFamily="49" charset="0"/>
            </a:endParaRPr>
          </a:p>
          <a:p>
            <a:r>
              <a:rPr lang="fr-FR" sz="1600" dirty="0">
                <a:solidFill>
                  <a:srgbClr val="001080"/>
                </a:solidFill>
                <a:latin typeface="Consolas" panose="020B0609020204030204" pitchFamily="49" charset="0"/>
              </a:rPr>
              <a:t>Km</a:t>
            </a:r>
            <a:r>
              <a:rPr lang="fr-FR" sz="1600" dirty="0">
                <a:solidFill>
                  <a:srgbClr val="000000"/>
                </a:solidFill>
                <a:latin typeface="Consolas" panose="020B0609020204030204" pitchFamily="49" charset="0"/>
              </a:rPr>
              <a:t>, </a:t>
            </a:r>
            <a:r>
              <a:rPr lang="fr-FR" sz="1600" dirty="0" err="1">
                <a:solidFill>
                  <a:srgbClr val="001080"/>
                </a:solidFill>
                <a:latin typeface="Consolas" panose="020B0609020204030204" pitchFamily="49" charset="0"/>
              </a:rPr>
              <a:t>Kp</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K</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a:t>
            </a:r>
          </a:p>
          <a:p>
            <a:r>
              <a:rPr lang="fr-FR" sz="1600" dirty="0" err="1">
                <a:solidFill>
                  <a:srgbClr val="001080"/>
                </a:solidFill>
                <a:latin typeface="Consolas" panose="020B0609020204030204" pitchFamily="49" charset="0"/>
              </a:rPr>
              <a:t>Keff</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hm</a:t>
            </a:r>
            <a:r>
              <a:rPr lang="fr-FR" sz="1600" dirty="0">
                <a:solidFill>
                  <a:srgbClr val="000000"/>
                </a:solidFill>
                <a:latin typeface="Consolas" panose="020B0609020204030204" pitchFamily="49" charset="0"/>
              </a:rPr>
              <a:t> + </a:t>
            </a:r>
            <a:r>
              <a:rPr lang="fr-FR" sz="1600" dirty="0" err="1">
                <a:solidFill>
                  <a:srgbClr val="001080"/>
                </a:solidFill>
                <a:latin typeface="Consolas" panose="020B0609020204030204" pitchFamily="49" charset="0"/>
              </a:rPr>
              <a:t>hp</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hm</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Km</a:t>
            </a:r>
            <a:r>
              <a:rPr lang="fr-FR" sz="1600" dirty="0">
                <a:solidFill>
                  <a:srgbClr val="000000"/>
                </a:solidFill>
                <a:latin typeface="Consolas" panose="020B0609020204030204" pitchFamily="49" charset="0"/>
              </a:rPr>
              <a:t> + </a:t>
            </a:r>
            <a:r>
              <a:rPr lang="fr-FR" sz="1600" dirty="0" err="1">
                <a:solidFill>
                  <a:srgbClr val="001080"/>
                </a:solidFill>
                <a:latin typeface="Consolas" panose="020B0609020204030204" pitchFamily="49" charset="0"/>
              </a:rPr>
              <a:t>hp</a:t>
            </a:r>
            <a:r>
              <a:rPr lang="fr-FR" sz="1600" dirty="0">
                <a:solidFill>
                  <a:srgbClr val="000000"/>
                </a:solidFill>
                <a:latin typeface="Consolas" panose="020B0609020204030204" pitchFamily="49" charset="0"/>
              </a:rPr>
              <a:t>/</a:t>
            </a:r>
            <a:r>
              <a:rPr lang="fr-FR" sz="1600" dirty="0" err="1">
                <a:solidFill>
                  <a:srgbClr val="001080"/>
                </a:solidFill>
                <a:latin typeface="Consolas" panose="020B0609020204030204" pitchFamily="49" charset="0"/>
              </a:rPr>
              <a:t>Kp</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r>
            <a:br>
              <a:rPr lang="fr-FR" sz="1600" dirty="0">
                <a:solidFill>
                  <a:srgbClr val="000000"/>
                </a:solidFill>
                <a:latin typeface="Consolas" panose="020B0609020204030204" pitchFamily="49" charset="0"/>
              </a:rPr>
            </a:br>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err="1">
                <a:solidFill>
                  <a:srgbClr val="001080"/>
                </a:solidFill>
                <a:latin typeface="Consolas" panose="020B0609020204030204" pitchFamily="49" charset="0"/>
              </a:rPr>
              <a:t>Keff</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a:t>
            </a:r>
          </a:p>
          <a:p>
            <a:r>
              <a:rPr lang="fr-FR" sz="1600" dirty="0">
                <a:solidFill>
                  <a:srgbClr val="0070C1"/>
                </a:solidFill>
                <a:latin typeface="Consolas" panose="020B0609020204030204" pitchFamily="49" charset="0"/>
              </a:rPr>
              <a:t>A</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 = -</a:t>
            </a:r>
            <a:r>
              <a:rPr lang="fr-FR" sz="1600" dirty="0" err="1">
                <a:solidFill>
                  <a:srgbClr val="001080"/>
                </a:solidFill>
                <a:latin typeface="Consolas" panose="020B0609020204030204" pitchFamily="49" charset="0"/>
              </a:rPr>
              <a:t>Keff</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 - </a:t>
            </a:r>
            <a:r>
              <a:rPr lang="fr-FR" sz="1600" dirty="0">
                <a:solidFill>
                  <a:srgbClr val="001080"/>
                </a:solidFill>
                <a:latin typeface="Consolas" panose="020B0609020204030204" pitchFamily="49" charset="0"/>
              </a:rPr>
              <a:t>x</a:t>
            </a:r>
            <a:r>
              <a:rPr lang="fr-FR" sz="1600" dirty="0">
                <a:solidFill>
                  <a:srgbClr val="000000"/>
                </a:solidFill>
                <a:latin typeface="Consolas" panose="020B0609020204030204" pitchFamily="49" charset="0"/>
              </a:rPr>
              <a:t>[</a:t>
            </a:r>
            <a:r>
              <a:rPr lang="fr-FR" sz="1600" dirty="0">
                <a:solidFill>
                  <a:srgbClr val="0070C1"/>
                </a:solidFill>
                <a:latin typeface="Consolas" panose="020B0609020204030204" pitchFamily="49" charset="0"/>
              </a:rPr>
              <a:t>N</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2</a:t>
            </a:r>
            <a:r>
              <a:rPr lang="fr-FR" sz="1600" dirty="0">
                <a:solidFill>
                  <a:srgbClr val="000000"/>
                </a:solidFill>
                <a:latin typeface="Consolas" panose="020B0609020204030204" pitchFamily="49" charset="0"/>
              </a:rPr>
              <a:t>])</a:t>
            </a:r>
            <a:endParaRPr lang="fr-FR" sz="1600" b="0" dirty="0">
              <a:solidFill>
                <a:srgbClr val="000000"/>
              </a:solidFill>
              <a:effectLst/>
              <a:latin typeface="Consolas" panose="020B0609020204030204" pitchFamily="49" charset="0"/>
            </a:endParaRPr>
          </a:p>
        </p:txBody>
      </p:sp>
      <p:pic>
        <p:nvPicPr>
          <p:cNvPr id="6" name="Image 5"/>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911848" y="202154"/>
            <a:ext cx="3958857" cy="274286"/>
          </a:xfrm>
          <a:prstGeom prst="rect">
            <a:avLst/>
          </a:prstGeom>
        </p:spPr>
      </p:pic>
    </p:spTree>
    <p:extLst>
      <p:ext uri="{BB962C8B-B14F-4D97-AF65-F5344CB8AC3E}">
        <p14:creationId xmlns:p14="http://schemas.microsoft.com/office/powerpoint/2010/main" val="34003242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1CB95D3C-87B7-42DD-97F8-1F43ACE143A3}" type="slidenum">
              <a:rPr lang="fr-FR" smtClean="0"/>
              <a:t>19</a:t>
            </a:fld>
            <a:endParaRPr lang="fr-FR"/>
          </a:p>
        </p:txBody>
      </p:sp>
      <p:sp>
        <p:nvSpPr>
          <p:cNvPr id="3" name="ZoneTexte 2"/>
          <p:cNvSpPr txBox="1"/>
          <p:nvPr/>
        </p:nvSpPr>
        <p:spPr>
          <a:xfrm>
            <a:off x="88900" y="-66973"/>
            <a:ext cx="6388287" cy="6924973"/>
          </a:xfrm>
          <a:prstGeom prst="rect">
            <a:avLst/>
          </a:prstGeom>
          <a:noFill/>
        </p:spPr>
        <p:txBody>
          <a:bodyPr wrap="none" rtlCol="0">
            <a:spAutoFit/>
          </a:bodyPr>
          <a:lstStyle/>
          <a:p>
            <a:r>
              <a:rPr lang="fr-FR" sz="4800" b="1" dirty="0">
                <a:solidFill>
                  <a:srgbClr val="000000"/>
                </a:solidFill>
                <a:latin typeface="Courier New" panose="02070309020205020404" pitchFamily="49" charset="0"/>
              </a:rPr>
              <a:t>…</a:t>
            </a:r>
            <a:endParaRPr lang="fr-FR" sz="4800" dirty="0">
              <a:solidFill>
                <a:srgbClr val="0E00FF"/>
              </a:solidFill>
              <a:latin typeface="Courier New" panose="02070309020205020404" pitchFamily="49" charset="0"/>
            </a:endParaRPr>
          </a:p>
          <a:p>
            <a:r>
              <a:rPr lang="nn-NO" b="1" dirty="0">
                <a:solidFill>
                  <a:srgbClr val="000000"/>
                </a:solidFill>
                <a:latin typeface="Courier New" panose="02070309020205020404" pitchFamily="49" charset="0"/>
              </a:rPr>
              <a:t>K1 = 200;</a:t>
            </a:r>
          </a:p>
          <a:p>
            <a:r>
              <a:rPr lang="nn-NO" b="1" dirty="0">
                <a:solidFill>
                  <a:srgbClr val="000000"/>
                </a:solidFill>
                <a:latin typeface="Courier New" panose="02070309020205020404" pitchFamily="49" charset="0"/>
              </a:rPr>
              <a:t>K2 = 400;</a:t>
            </a:r>
          </a:p>
          <a:p>
            <a:r>
              <a:rPr lang="nn-NO" b="1" dirty="0">
                <a:solidFill>
                  <a:srgbClr val="000000"/>
                </a:solidFill>
                <a:latin typeface="Courier New" panose="02070309020205020404" pitchFamily="49" charset="0"/>
              </a:rPr>
              <a:t>K = K1*(x &lt; L/2) + K2*(x &gt;= L/2);</a:t>
            </a:r>
            <a:endParaRPr lang="nn-NO" dirty="0">
              <a:solidFill>
                <a:srgbClr val="000000"/>
              </a:solidFill>
              <a:latin typeface="Courier New" panose="02070309020205020404" pitchFamily="49" charset="0"/>
            </a:endParaRPr>
          </a:p>
          <a:p>
            <a:r>
              <a:rPr lang="fr-FR" b="1" dirty="0" err="1">
                <a:solidFill>
                  <a:srgbClr val="000000"/>
                </a:solidFill>
                <a:latin typeface="Courier New" panose="02070309020205020404" pitchFamily="49" charset="0"/>
              </a:rPr>
              <a:t>assert</a:t>
            </a:r>
            <a:r>
              <a:rPr lang="fr-FR" b="1" dirty="0">
                <a:solidFill>
                  <a:srgbClr val="000000"/>
                </a:solidFill>
                <a:latin typeface="Courier New" panose="02070309020205020404" pitchFamily="49" charset="0"/>
              </a:rPr>
              <a:t>(</a:t>
            </a:r>
            <a:r>
              <a:rPr lang="fr-FR" b="1" dirty="0" err="1">
                <a:solidFill>
                  <a:srgbClr val="000000"/>
                </a:solidFill>
                <a:latin typeface="Courier New" panose="02070309020205020404" pitchFamily="49" charset="0"/>
              </a:rPr>
              <a:t>length</a:t>
            </a:r>
            <a:r>
              <a:rPr lang="fr-FR" b="1" dirty="0">
                <a:solidFill>
                  <a:srgbClr val="000000"/>
                </a:solidFill>
                <a:latin typeface="Courier New" panose="02070309020205020404" pitchFamily="49" charset="0"/>
              </a:rPr>
              <a:t>(K) == N);</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A = </a:t>
            </a:r>
            <a:r>
              <a:rPr lang="fr-FR" b="1" dirty="0" err="1">
                <a:solidFill>
                  <a:srgbClr val="000000"/>
                </a:solidFill>
                <a:latin typeface="Courier New" panose="02070309020205020404" pitchFamily="49" charset="0"/>
              </a:rPr>
              <a:t>sparse</a:t>
            </a:r>
            <a:r>
              <a:rPr lang="fr-FR" b="1" dirty="0">
                <a:solidFill>
                  <a:srgbClr val="000000"/>
                </a:solidFill>
                <a:latin typeface="Courier New" panose="02070309020205020404" pitchFamily="49" charset="0"/>
              </a:rPr>
              <a:t>(N, N);</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b = </a:t>
            </a:r>
            <a:r>
              <a:rPr lang="fr-FR" b="1" dirty="0" err="1">
                <a:solidFill>
                  <a:srgbClr val="000000"/>
                </a:solidFill>
                <a:latin typeface="Courier New" panose="02070309020205020404" pitchFamily="49" charset="0"/>
              </a:rPr>
              <a:t>zeros</a:t>
            </a:r>
            <a:r>
              <a:rPr lang="fr-FR" b="1" dirty="0">
                <a:solidFill>
                  <a:srgbClr val="000000"/>
                </a:solidFill>
                <a:latin typeface="Courier New" panose="02070309020205020404" pitchFamily="49" charset="0"/>
              </a:rPr>
              <a:t>(N, 1);</a:t>
            </a:r>
            <a:endParaRPr lang="fr-FR" dirty="0">
              <a:solidFill>
                <a:srgbClr val="000000"/>
              </a:solidFill>
              <a:latin typeface="Courier New" panose="02070309020205020404" pitchFamily="49" charset="0"/>
            </a:endParaRPr>
          </a:p>
          <a:p>
            <a:r>
              <a:rPr lang="fr-FR" b="1" dirty="0">
                <a:solidFill>
                  <a:srgbClr val="0E00FF"/>
                </a:solidFill>
                <a:latin typeface="Courier New" panose="02070309020205020404" pitchFamily="49" charset="0"/>
              </a:rPr>
              <a:t>for</a:t>
            </a:r>
            <a:r>
              <a:rPr lang="fr-FR" b="1" dirty="0">
                <a:solidFill>
                  <a:srgbClr val="000000"/>
                </a:solidFill>
                <a:latin typeface="Courier New" panose="02070309020205020404" pitchFamily="49" charset="0"/>
              </a:rPr>
              <a:t> i=2:N-1</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t>
            </a:r>
            <a:r>
              <a:rPr lang="fr-FR" b="1" dirty="0">
                <a:solidFill>
                  <a:srgbClr val="028009"/>
                </a:solidFill>
                <a:latin typeface="Courier New" panose="02070309020205020404" pitchFamily="49" charset="0"/>
              </a:rPr>
              <a:t>% contribution de l'interface (i-1 | i)</a:t>
            </a:r>
            <a:endParaRPr lang="fr-FR" dirty="0">
              <a:solidFill>
                <a:srgbClr val="028009"/>
              </a:solidFill>
              <a:latin typeface="Courier New" panose="02070309020205020404" pitchFamily="49" charset="0"/>
            </a:endParaRPr>
          </a:p>
          <a:p>
            <a:r>
              <a:rPr lang="pl-PL" b="1" dirty="0">
                <a:solidFill>
                  <a:srgbClr val="000000"/>
                </a:solidFill>
                <a:latin typeface="Courier New" panose="02070309020205020404" pitchFamily="49" charset="0"/>
              </a:rPr>
              <a:t>    hm = w(i-1)/2; Km = K(i-1);</a:t>
            </a:r>
            <a:endParaRPr lang="pl-PL" dirty="0">
              <a:solidFill>
                <a:srgbClr val="000000"/>
              </a:solidFill>
              <a:latin typeface="Courier New" panose="02070309020205020404" pitchFamily="49" charset="0"/>
            </a:endParaRPr>
          </a:p>
          <a:p>
            <a:r>
              <a:rPr lang="pl-PL" b="1" dirty="0">
                <a:solidFill>
                  <a:srgbClr val="000000"/>
                </a:solidFill>
                <a:latin typeface="Courier New" panose="02070309020205020404" pitchFamily="49" charset="0"/>
              </a:rPr>
              <a:t>    hp = w(i  )/2; Kp = K(i);  </a:t>
            </a:r>
            <a:endParaRPr lang="pl-PL"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t>
            </a:r>
            <a:r>
              <a:rPr lang="fr-FR" b="1" dirty="0" err="1">
                <a:solidFill>
                  <a:srgbClr val="000000"/>
                </a:solidFill>
                <a:latin typeface="Courier New" panose="02070309020205020404" pitchFamily="49" charset="0"/>
              </a:rPr>
              <a:t>Keff</a:t>
            </a:r>
            <a:r>
              <a:rPr lang="fr-FR" b="1" dirty="0">
                <a:solidFill>
                  <a:srgbClr val="000000"/>
                </a:solidFill>
                <a:latin typeface="Courier New" panose="02070309020205020404" pitchFamily="49" charset="0"/>
              </a:rPr>
              <a:t> = (</a:t>
            </a:r>
            <a:r>
              <a:rPr lang="fr-FR" b="1" dirty="0" err="1">
                <a:solidFill>
                  <a:srgbClr val="000000"/>
                </a:solidFill>
                <a:latin typeface="Courier New" panose="02070309020205020404" pitchFamily="49" charset="0"/>
              </a:rPr>
              <a:t>hm+hp</a:t>
            </a:r>
            <a:r>
              <a:rPr lang="fr-FR" b="1" dirty="0">
                <a:solidFill>
                  <a:srgbClr val="000000"/>
                </a:solidFill>
                <a:latin typeface="Courier New" panose="02070309020205020404" pitchFamily="49" charset="0"/>
              </a:rPr>
              <a:t>)/(hm/Km + </a:t>
            </a:r>
            <a:r>
              <a:rPr lang="fr-FR" b="1" dirty="0" err="1">
                <a:solidFill>
                  <a:srgbClr val="000000"/>
                </a:solidFill>
                <a:latin typeface="Courier New" panose="02070309020205020404" pitchFamily="49" charset="0"/>
              </a:rPr>
              <a:t>hp</a:t>
            </a:r>
            <a:r>
              <a:rPr lang="fr-FR" b="1" dirty="0">
                <a:solidFill>
                  <a:srgbClr val="000000"/>
                </a:solidFill>
                <a:latin typeface="Courier New" panose="02070309020205020404" pitchFamily="49" charset="0"/>
              </a:rPr>
              <a:t>/</a:t>
            </a:r>
            <a:r>
              <a:rPr lang="fr-FR" b="1" dirty="0" err="1">
                <a:solidFill>
                  <a:srgbClr val="000000"/>
                </a:solidFill>
                <a:latin typeface="Courier New" panose="02070309020205020404" pitchFamily="49" charset="0"/>
              </a:rPr>
              <a:t>Kp</a:t>
            </a:r>
            <a:r>
              <a:rPr lang="fr-FR" b="1" dirty="0">
                <a:solidFill>
                  <a:srgbClr val="000000"/>
                </a:solidFill>
                <a:latin typeface="Courier New" panose="02070309020205020404" pitchFamily="49" charset="0"/>
              </a:rPr>
              <a:t>);</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A(i, i-1) = -</a:t>
            </a:r>
            <a:r>
              <a:rPr lang="fr-FR" b="1" dirty="0" err="1">
                <a:solidFill>
                  <a:srgbClr val="000000"/>
                </a:solidFill>
                <a:latin typeface="Courier New" panose="02070309020205020404" pitchFamily="49" charset="0"/>
              </a:rPr>
              <a:t>Keff</a:t>
            </a:r>
            <a:r>
              <a:rPr lang="fr-FR" b="1" dirty="0">
                <a:solidFill>
                  <a:srgbClr val="000000"/>
                </a:solidFill>
                <a:latin typeface="Courier New" panose="02070309020205020404" pitchFamily="49" charset="0"/>
              </a:rPr>
              <a:t>/(x(i)-x(i-1));</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A(i, i  ) = +</a:t>
            </a:r>
            <a:r>
              <a:rPr lang="fr-FR" b="1" dirty="0" err="1">
                <a:solidFill>
                  <a:srgbClr val="000000"/>
                </a:solidFill>
                <a:latin typeface="Courier New" panose="02070309020205020404" pitchFamily="49" charset="0"/>
              </a:rPr>
              <a:t>Keff</a:t>
            </a:r>
            <a:r>
              <a:rPr lang="fr-FR" b="1" dirty="0">
                <a:solidFill>
                  <a:srgbClr val="000000"/>
                </a:solidFill>
                <a:latin typeface="Courier New" panose="02070309020205020404" pitchFamily="49" charset="0"/>
              </a:rPr>
              <a:t>/(x(i)-x(i-1));</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t>
            </a:r>
            <a:r>
              <a:rPr lang="fr-FR" b="1" dirty="0">
                <a:solidFill>
                  <a:srgbClr val="028009"/>
                </a:solidFill>
                <a:latin typeface="Courier New" panose="02070309020205020404" pitchFamily="49" charset="0"/>
              </a:rPr>
              <a:t>% contribution de l'interface (i | i+1)</a:t>
            </a:r>
            <a:endParaRPr lang="fr-FR" dirty="0">
              <a:solidFill>
                <a:srgbClr val="028009"/>
              </a:solidFill>
              <a:latin typeface="Courier New" panose="02070309020205020404" pitchFamily="49" charset="0"/>
            </a:endParaRPr>
          </a:p>
          <a:p>
            <a:r>
              <a:rPr lang="pl-PL" b="1" dirty="0">
                <a:solidFill>
                  <a:srgbClr val="000000"/>
                </a:solidFill>
                <a:latin typeface="Courier New" panose="02070309020205020404" pitchFamily="49" charset="0"/>
              </a:rPr>
              <a:t>    hm = w(i  )/2;  Km = K(i  );</a:t>
            </a:r>
            <a:endParaRPr lang="pl-PL" dirty="0">
              <a:solidFill>
                <a:srgbClr val="000000"/>
              </a:solidFill>
              <a:latin typeface="Courier New" panose="02070309020205020404" pitchFamily="49" charset="0"/>
            </a:endParaRPr>
          </a:p>
          <a:p>
            <a:r>
              <a:rPr lang="pl-PL" b="1" dirty="0">
                <a:solidFill>
                  <a:srgbClr val="000000"/>
                </a:solidFill>
                <a:latin typeface="Courier New" panose="02070309020205020404" pitchFamily="49" charset="0"/>
              </a:rPr>
              <a:t>    hp = w(i+1)/2;  Kp = K(i+1);    </a:t>
            </a:r>
            <a:endParaRPr lang="pl-PL"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t>
            </a:r>
            <a:r>
              <a:rPr lang="fr-FR" b="1" dirty="0" err="1">
                <a:solidFill>
                  <a:srgbClr val="000000"/>
                </a:solidFill>
                <a:latin typeface="Courier New" panose="02070309020205020404" pitchFamily="49" charset="0"/>
              </a:rPr>
              <a:t>Keff</a:t>
            </a:r>
            <a:r>
              <a:rPr lang="fr-FR" b="1" dirty="0">
                <a:solidFill>
                  <a:srgbClr val="000000"/>
                </a:solidFill>
                <a:latin typeface="Courier New" panose="02070309020205020404" pitchFamily="49" charset="0"/>
              </a:rPr>
              <a:t> = (</a:t>
            </a:r>
            <a:r>
              <a:rPr lang="fr-FR" b="1" dirty="0" err="1">
                <a:solidFill>
                  <a:srgbClr val="000000"/>
                </a:solidFill>
                <a:latin typeface="Courier New" panose="02070309020205020404" pitchFamily="49" charset="0"/>
              </a:rPr>
              <a:t>hm+hp</a:t>
            </a:r>
            <a:r>
              <a:rPr lang="fr-FR" b="1" dirty="0">
                <a:solidFill>
                  <a:srgbClr val="000000"/>
                </a:solidFill>
                <a:latin typeface="Courier New" panose="02070309020205020404" pitchFamily="49" charset="0"/>
              </a:rPr>
              <a:t>)/(hm/Km + </a:t>
            </a:r>
            <a:r>
              <a:rPr lang="fr-FR" b="1" dirty="0" err="1">
                <a:solidFill>
                  <a:srgbClr val="000000"/>
                </a:solidFill>
                <a:latin typeface="Courier New" panose="02070309020205020404" pitchFamily="49" charset="0"/>
              </a:rPr>
              <a:t>hp</a:t>
            </a:r>
            <a:r>
              <a:rPr lang="fr-FR" b="1" dirty="0">
                <a:solidFill>
                  <a:srgbClr val="000000"/>
                </a:solidFill>
                <a:latin typeface="Courier New" panose="02070309020205020404" pitchFamily="49" charset="0"/>
              </a:rPr>
              <a:t>/</a:t>
            </a:r>
            <a:r>
              <a:rPr lang="fr-FR" b="1" dirty="0" err="1">
                <a:solidFill>
                  <a:srgbClr val="000000"/>
                </a:solidFill>
                <a:latin typeface="Courier New" panose="02070309020205020404" pitchFamily="49" charset="0"/>
              </a:rPr>
              <a:t>Kp</a:t>
            </a:r>
            <a:r>
              <a:rPr lang="fr-FR" b="1" dirty="0">
                <a:solidFill>
                  <a:srgbClr val="000000"/>
                </a:solidFill>
                <a:latin typeface="Courier New" panose="02070309020205020404" pitchFamily="49" charset="0"/>
              </a:rPr>
              <a:t>);</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A(i, i+1) =          -</a:t>
            </a:r>
            <a:r>
              <a:rPr lang="fr-FR" b="1" dirty="0" err="1">
                <a:solidFill>
                  <a:srgbClr val="000000"/>
                </a:solidFill>
                <a:latin typeface="Courier New" panose="02070309020205020404" pitchFamily="49" charset="0"/>
              </a:rPr>
              <a:t>Keff</a:t>
            </a:r>
            <a:r>
              <a:rPr lang="fr-FR" b="1" dirty="0">
                <a:solidFill>
                  <a:srgbClr val="000000"/>
                </a:solidFill>
                <a:latin typeface="Courier New" panose="02070309020205020404" pitchFamily="49" charset="0"/>
              </a:rPr>
              <a:t>/(x(i+1)-x(i));</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A(i, i  ) = A(i, i) + </a:t>
            </a:r>
            <a:r>
              <a:rPr lang="fr-FR" b="1" dirty="0" err="1">
                <a:solidFill>
                  <a:srgbClr val="000000"/>
                </a:solidFill>
                <a:latin typeface="Courier New" panose="02070309020205020404" pitchFamily="49" charset="0"/>
              </a:rPr>
              <a:t>Keff</a:t>
            </a:r>
            <a:r>
              <a:rPr lang="fr-FR" b="1" dirty="0">
                <a:solidFill>
                  <a:srgbClr val="000000"/>
                </a:solidFill>
                <a:latin typeface="Courier New" panose="02070309020205020404" pitchFamily="49" charset="0"/>
              </a:rPr>
              <a:t>/(x(i+1)-x(i));</a:t>
            </a:r>
            <a:endParaRPr lang="fr-FR" dirty="0">
              <a:solidFill>
                <a:srgbClr val="000000"/>
              </a:solidFill>
              <a:latin typeface="Courier New" panose="02070309020205020404" pitchFamily="49" charset="0"/>
            </a:endParaRPr>
          </a:p>
          <a:p>
            <a:r>
              <a:rPr lang="fr-FR" b="1" dirty="0">
                <a:solidFill>
                  <a:srgbClr val="0E00FF"/>
                </a:solidFill>
                <a:latin typeface="Courier New" panose="02070309020205020404" pitchFamily="49" charset="0"/>
              </a:rPr>
              <a:t>end</a:t>
            </a:r>
            <a:endParaRPr lang="fr-FR" dirty="0">
              <a:solidFill>
                <a:srgbClr val="0E00FF"/>
              </a:solidFill>
              <a:latin typeface="Courier New" panose="02070309020205020404" pitchFamily="49" charset="0"/>
            </a:endParaRPr>
          </a:p>
        </p:txBody>
      </p:sp>
      <p:sp>
        <p:nvSpPr>
          <p:cNvPr id="4" name="ZoneTexte 3"/>
          <p:cNvSpPr txBox="1"/>
          <p:nvPr/>
        </p:nvSpPr>
        <p:spPr>
          <a:xfrm>
            <a:off x="6477187" y="0"/>
            <a:ext cx="5836854" cy="6863417"/>
          </a:xfrm>
          <a:prstGeom prst="rect">
            <a:avLst/>
          </a:prstGeom>
          <a:noFill/>
        </p:spPr>
        <p:txBody>
          <a:bodyPr wrap="none" rtlCol="0">
            <a:spAutoFit/>
          </a:bodyPr>
          <a:lstStyle/>
          <a:p>
            <a:r>
              <a:rPr lang="fr-FR" b="1" dirty="0">
                <a:solidFill>
                  <a:srgbClr val="0E00FF"/>
                </a:solidFill>
                <a:latin typeface="Courier New" panose="02070309020205020404" pitchFamily="49" charset="0"/>
              </a:rPr>
              <a:t> </a:t>
            </a:r>
            <a:endParaRPr lang="fr-FR" dirty="0">
              <a:solidFill>
                <a:srgbClr val="0E00FF"/>
              </a:solidFill>
              <a:latin typeface="Courier New" panose="02070309020205020404" pitchFamily="49" charset="0"/>
            </a:endParaRPr>
          </a:p>
          <a:p>
            <a:r>
              <a:rPr lang="fr-FR" b="1" dirty="0">
                <a:solidFill>
                  <a:srgbClr val="028009"/>
                </a:solidFill>
                <a:latin typeface="Courier New" panose="02070309020205020404" pitchFamily="49" charset="0"/>
              </a:rPr>
              <a:t>% CL Dirichlet sur le bord gauche</a:t>
            </a:r>
            <a:endParaRPr lang="fr-FR" dirty="0">
              <a:solidFill>
                <a:srgbClr val="028009"/>
              </a:solidFill>
              <a:latin typeface="Courier New" panose="02070309020205020404" pitchFamily="49" charset="0"/>
            </a:endParaRPr>
          </a:p>
          <a:p>
            <a:r>
              <a:rPr lang="fr-FR" b="1" dirty="0">
                <a:solidFill>
                  <a:srgbClr val="000000"/>
                </a:solidFill>
                <a:latin typeface="Courier New" panose="02070309020205020404" pitchFamily="49" charset="0"/>
              </a:rPr>
              <a:t>A(1, 1) =  2*Km/w(1);</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b(1)    =  2*Km/w(1)*</a:t>
            </a:r>
            <a:r>
              <a:rPr lang="fr-FR" b="1" dirty="0" err="1">
                <a:solidFill>
                  <a:srgbClr val="000000"/>
                </a:solidFill>
                <a:latin typeface="Courier New" panose="02070309020205020404" pitchFamily="49" charset="0"/>
              </a:rPr>
              <a:t>Tdg</a:t>
            </a:r>
            <a:r>
              <a:rPr lang="fr-FR" b="1" dirty="0">
                <a:solidFill>
                  <a:srgbClr val="000000"/>
                </a:solidFill>
                <a:latin typeface="Courier New" panose="02070309020205020404" pitchFamily="49" charset="0"/>
              </a:rPr>
              <a:t>;</a:t>
            </a:r>
            <a:endParaRPr lang="fr-FR" dirty="0">
              <a:solidFill>
                <a:srgbClr val="000000"/>
              </a:solidFill>
              <a:latin typeface="Courier New" panose="02070309020205020404" pitchFamily="49" charset="0"/>
            </a:endParaRPr>
          </a:p>
          <a:p>
            <a:r>
              <a:rPr lang="fr-FR" b="1" dirty="0">
                <a:solidFill>
                  <a:srgbClr val="028009"/>
                </a:solidFill>
                <a:latin typeface="Courier New" panose="02070309020205020404" pitchFamily="49" charset="0"/>
              </a:rPr>
              <a:t>% contribution de l'interface (1 | 2)</a:t>
            </a:r>
            <a:endParaRPr lang="fr-FR" dirty="0">
              <a:solidFill>
                <a:srgbClr val="028009"/>
              </a:solidFill>
              <a:latin typeface="Courier New" panose="02070309020205020404" pitchFamily="49" charset="0"/>
            </a:endParaRPr>
          </a:p>
          <a:p>
            <a:r>
              <a:rPr lang="pl-PL" b="1" dirty="0">
                <a:solidFill>
                  <a:srgbClr val="000000"/>
                </a:solidFill>
                <a:latin typeface="Courier New" panose="02070309020205020404" pitchFamily="49" charset="0"/>
              </a:rPr>
              <a:t>hm = w(1)/2;  Km = K(1);</a:t>
            </a:r>
            <a:endParaRPr lang="pl-PL" dirty="0">
              <a:solidFill>
                <a:srgbClr val="000000"/>
              </a:solidFill>
              <a:latin typeface="Courier New" panose="02070309020205020404" pitchFamily="49" charset="0"/>
            </a:endParaRPr>
          </a:p>
          <a:p>
            <a:r>
              <a:rPr lang="pl-PL" b="1" dirty="0">
                <a:solidFill>
                  <a:srgbClr val="000000"/>
                </a:solidFill>
                <a:latin typeface="Courier New" panose="02070309020205020404" pitchFamily="49" charset="0"/>
              </a:rPr>
              <a:t>hp = w(2)/2;  Kp = K(2);</a:t>
            </a:r>
            <a:endParaRPr lang="pl-PL" dirty="0">
              <a:solidFill>
                <a:srgbClr val="000000"/>
              </a:solidFill>
              <a:latin typeface="Courier New" panose="02070309020205020404" pitchFamily="49" charset="0"/>
            </a:endParaRPr>
          </a:p>
          <a:p>
            <a:r>
              <a:rPr lang="fr-FR" b="1" dirty="0" err="1">
                <a:solidFill>
                  <a:srgbClr val="000000"/>
                </a:solidFill>
                <a:latin typeface="Courier New" panose="02070309020205020404" pitchFamily="49" charset="0"/>
              </a:rPr>
              <a:t>Keff</a:t>
            </a:r>
            <a:r>
              <a:rPr lang="fr-FR" b="1" dirty="0">
                <a:solidFill>
                  <a:srgbClr val="000000"/>
                </a:solidFill>
                <a:latin typeface="Courier New" panose="02070309020205020404" pitchFamily="49" charset="0"/>
              </a:rPr>
              <a:t> = (</a:t>
            </a:r>
            <a:r>
              <a:rPr lang="fr-FR" b="1" dirty="0" err="1">
                <a:solidFill>
                  <a:srgbClr val="000000"/>
                </a:solidFill>
                <a:latin typeface="Courier New" panose="02070309020205020404" pitchFamily="49" charset="0"/>
              </a:rPr>
              <a:t>hm+hp</a:t>
            </a:r>
            <a:r>
              <a:rPr lang="fr-FR" b="1" dirty="0">
                <a:solidFill>
                  <a:srgbClr val="000000"/>
                </a:solidFill>
                <a:latin typeface="Courier New" panose="02070309020205020404" pitchFamily="49" charset="0"/>
              </a:rPr>
              <a:t>)/(hm/Km + </a:t>
            </a:r>
            <a:r>
              <a:rPr lang="fr-FR" b="1" dirty="0" err="1">
                <a:solidFill>
                  <a:srgbClr val="000000"/>
                </a:solidFill>
                <a:latin typeface="Courier New" panose="02070309020205020404" pitchFamily="49" charset="0"/>
              </a:rPr>
              <a:t>hp</a:t>
            </a:r>
            <a:r>
              <a:rPr lang="fr-FR" b="1" dirty="0">
                <a:solidFill>
                  <a:srgbClr val="000000"/>
                </a:solidFill>
                <a:latin typeface="Courier New" panose="02070309020205020404" pitchFamily="49" charset="0"/>
              </a:rPr>
              <a:t>/</a:t>
            </a:r>
            <a:r>
              <a:rPr lang="fr-FR" b="1" dirty="0" err="1">
                <a:solidFill>
                  <a:srgbClr val="000000"/>
                </a:solidFill>
                <a:latin typeface="Courier New" panose="02070309020205020404" pitchFamily="49" charset="0"/>
              </a:rPr>
              <a:t>Kp</a:t>
            </a:r>
            <a:r>
              <a:rPr lang="fr-FR" b="1" dirty="0">
                <a:solidFill>
                  <a:srgbClr val="000000"/>
                </a:solidFill>
                <a:latin typeface="Courier New" panose="02070309020205020404" pitchFamily="49" charset="0"/>
              </a:rPr>
              <a:t>);</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A(1, 1) =  A(1, 1)  +</a:t>
            </a:r>
            <a:r>
              <a:rPr lang="fr-FR" b="1" dirty="0" err="1">
                <a:solidFill>
                  <a:srgbClr val="000000"/>
                </a:solidFill>
                <a:latin typeface="Courier New" panose="02070309020205020404" pitchFamily="49" charset="0"/>
              </a:rPr>
              <a:t>Keff</a:t>
            </a:r>
            <a:r>
              <a:rPr lang="fr-FR" b="1" dirty="0">
                <a:solidFill>
                  <a:srgbClr val="000000"/>
                </a:solidFill>
                <a:latin typeface="Courier New" panose="02070309020205020404" pitchFamily="49" charset="0"/>
              </a:rPr>
              <a:t>/(x(2)-x(1));</a:t>
            </a:r>
            <a:endParaRPr lang="fr-FR" dirty="0">
              <a:solidFill>
                <a:srgbClr val="000000"/>
              </a:solidFill>
              <a:latin typeface="Courier New" panose="02070309020205020404" pitchFamily="49" charset="0"/>
            </a:endParaRPr>
          </a:p>
          <a:p>
            <a:r>
              <a:rPr lang="en-US" b="1" dirty="0">
                <a:solidFill>
                  <a:srgbClr val="000000"/>
                </a:solidFill>
                <a:latin typeface="Courier New" panose="02070309020205020404" pitchFamily="49" charset="0"/>
              </a:rPr>
              <a:t>A(1, 2) =           -</a:t>
            </a:r>
            <a:r>
              <a:rPr lang="en-US" b="1" dirty="0" err="1">
                <a:solidFill>
                  <a:srgbClr val="000000"/>
                </a:solidFill>
                <a:latin typeface="Courier New" panose="02070309020205020404" pitchFamily="49" charset="0"/>
              </a:rPr>
              <a:t>Keff</a:t>
            </a:r>
            <a:r>
              <a:rPr lang="en-US" b="1" dirty="0">
                <a:solidFill>
                  <a:srgbClr val="000000"/>
                </a:solidFill>
                <a:latin typeface="Courier New" panose="02070309020205020404" pitchFamily="49" charset="0"/>
              </a:rPr>
              <a:t>/(x(2)-x(1));</a:t>
            </a:r>
            <a:endParaRPr lang="en-US"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t>
            </a:r>
            <a:endParaRPr lang="fr-FR" dirty="0">
              <a:solidFill>
                <a:srgbClr val="000000"/>
              </a:solidFill>
              <a:latin typeface="Courier New" panose="02070309020205020404" pitchFamily="49" charset="0"/>
            </a:endParaRPr>
          </a:p>
          <a:p>
            <a:r>
              <a:rPr lang="fr-FR" b="1" dirty="0">
                <a:solidFill>
                  <a:srgbClr val="028009"/>
                </a:solidFill>
                <a:latin typeface="Courier New" panose="02070309020205020404" pitchFamily="49" charset="0"/>
              </a:rPr>
              <a:t>% CL Neumann sur le bord droit</a:t>
            </a:r>
            <a:endParaRPr lang="fr-FR" dirty="0">
              <a:solidFill>
                <a:srgbClr val="028009"/>
              </a:solidFill>
              <a:latin typeface="Courier New" panose="02070309020205020404" pitchFamily="49" charset="0"/>
            </a:endParaRPr>
          </a:p>
          <a:p>
            <a:r>
              <a:rPr lang="fr-FR" b="1" dirty="0">
                <a:solidFill>
                  <a:srgbClr val="000000"/>
                </a:solidFill>
                <a:latin typeface="Courier New" panose="02070309020205020404" pitchFamily="49" charset="0"/>
              </a:rPr>
              <a:t>A(N, N) =  H*2*</a:t>
            </a:r>
            <a:r>
              <a:rPr lang="fr-FR" b="1" dirty="0" err="1">
                <a:solidFill>
                  <a:srgbClr val="000000"/>
                </a:solidFill>
                <a:latin typeface="Courier New" panose="02070309020205020404" pitchFamily="49" charset="0"/>
              </a:rPr>
              <a:t>Kp</a:t>
            </a:r>
            <a:r>
              <a:rPr lang="fr-FR" b="1" dirty="0">
                <a:solidFill>
                  <a:srgbClr val="000000"/>
                </a:solidFill>
                <a:latin typeface="Courier New" panose="02070309020205020404" pitchFamily="49" charset="0"/>
              </a:rPr>
              <a:t>/(2*</a:t>
            </a:r>
            <a:r>
              <a:rPr lang="fr-FR" b="1" dirty="0" err="1">
                <a:solidFill>
                  <a:srgbClr val="000000"/>
                </a:solidFill>
                <a:latin typeface="Courier New" panose="02070309020205020404" pitchFamily="49" charset="0"/>
              </a:rPr>
              <a:t>Kp+H</a:t>
            </a:r>
            <a:r>
              <a:rPr lang="fr-FR" b="1" dirty="0">
                <a:solidFill>
                  <a:srgbClr val="000000"/>
                </a:solidFill>
                <a:latin typeface="Courier New" panose="02070309020205020404" pitchFamily="49" charset="0"/>
              </a:rPr>
              <a:t>*w(N));</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b(N)    =  H*2*</a:t>
            </a:r>
            <a:r>
              <a:rPr lang="fr-FR" b="1" dirty="0" err="1">
                <a:solidFill>
                  <a:srgbClr val="000000"/>
                </a:solidFill>
                <a:latin typeface="Courier New" panose="02070309020205020404" pitchFamily="49" charset="0"/>
              </a:rPr>
              <a:t>Kp</a:t>
            </a:r>
            <a:r>
              <a:rPr lang="fr-FR" b="1" dirty="0">
                <a:solidFill>
                  <a:srgbClr val="000000"/>
                </a:solidFill>
                <a:latin typeface="Courier New" panose="02070309020205020404" pitchFamily="49" charset="0"/>
              </a:rPr>
              <a:t>/(2*</a:t>
            </a:r>
            <a:r>
              <a:rPr lang="fr-FR" b="1" dirty="0" err="1">
                <a:solidFill>
                  <a:srgbClr val="000000"/>
                </a:solidFill>
                <a:latin typeface="Courier New" panose="02070309020205020404" pitchFamily="49" charset="0"/>
              </a:rPr>
              <a:t>Kp+H</a:t>
            </a:r>
            <a:r>
              <a:rPr lang="fr-FR" b="1" dirty="0">
                <a:solidFill>
                  <a:srgbClr val="000000"/>
                </a:solidFill>
                <a:latin typeface="Courier New" panose="02070309020205020404" pitchFamily="49" charset="0"/>
              </a:rPr>
              <a:t>*w(N))*</a:t>
            </a:r>
            <a:r>
              <a:rPr lang="fr-FR" b="1" dirty="0" err="1">
                <a:solidFill>
                  <a:srgbClr val="000000"/>
                </a:solidFill>
                <a:latin typeface="Courier New" panose="02070309020205020404" pitchFamily="49" charset="0"/>
              </a:rPr>
              <a:t>Tad</a:t>
            </a:r>
            <a:r>
              <a:rPr lang="fr-FR" b="1" dirty="0">
                <a:solidFill>
                  <a:srgbClr val="000000"/>
                </a:solidFill>
                <a:latin typeface="Courier New" panose="02070309020205020404" pitchFamily="49" charset="0"/>
              </a:rPr>
              <a:t>;</a:t>
            </a:r>
            <a:endParaRPr lang="fr-FR" dirty="0">
              <a:solidFill>
                <a:srgbClr val="000000"/>
              </a:solidFill>
              <a:latin typeface="Courier New" panose="02070309020205020404" pitchFamily="49" charset="0"/>
            </a:endParaRPr>
          </a:p>
          <a:p>
            <a:r>
              <a:rPr lang="fr-FR" b="1" dirty="0">
                <a:solidFill>
                  <a:srgbClr val="028009"/>
                </a:solidFill>
                <a:latin typeface="Courier New" panose="02070309020205020404" pitchFamily="49" charset="0"/>
              </a:rPr>
              <a:t>% contribution de l'interface (N-1 | N)</a:t>
            </a:r>
            <a:endParaRPr lang="fr-FR" dirty="0">
              <a:solidFill>
                <a:srgbClr val="028009"/>
              </a:solidFill>
              <a:latin typeface="Courier New" panose="02070309020205020404" pitchFamily="49" charset="0"/>
            </a:endParaRPr>
          </a:p>
          <a:p>
            <a:r>
              <a:rPr lang="pt-BR" b="1" dirty="0">
                <a:solidFill>
                  <a:srgbClr val="000000"/>
                </a:solidFill>
                <a:latin typeface="Courier New" panose="02070309020205020404" pitchFamily="49" charset="0"/>
              </a:rPr>
              <a:t>hm = w(N-1)/2;  Km = K(N-1);   </a:t>
            </a:r>
            <a:endParaRPr lang="pt-BR" dirty="0">
              <a:solidFill>
                <a:srgbClr val="000000"/>
              </a:solidFill>
              <a:latin typeface="Courier New" panose="02070309020205020404" pitchFamily="49" charset="0"/>
            </a:endParaRPr>
          </a:p>
          <a:p>
            <a:r>
              <a:rPr lang="pt-BR" b="1" dirty="0">
                <a:solidFill>
                  <a:srgbClr val="000000"/>
                </a:solidFill>
                <a:latin typeface="Courier New" panose="02070309020205020404" pitchFamily="49" charset="0"/>
              </a:rPr>
              <a:t>hp = w(N  )/2;  Kp = K(N  );</a:t>
            </a:r>
            <a:endParaRPr lang="pt-BR" dirty="0">
              <a:solidFill>
                <a:srgbClr val="000000"/>
              </a:solidFill>
              <a:latin typeface="Courier New" panose="02070309020205020404" pitchFamily="49" charset="0"/>
            </a:endParaRPr>
          </a:p>
          <a:p>
            <a:r>
              <a:rPr lang="fr-FR" b="1" dirty="0" err="1">
                <a:solidFill>
                  <a:srgbClr val="000000"/>
                </a:solidFill>
                <a:latin typeface="Courier New" panose="02070309020205020404" pitchFamily="49" charset="0"/>
              </a:rPr>
              <a:t>Keff</a:t>
            </a:r>
            <a:r>
              <a:rPr lang="fr-FR" b="1" dirty="0">
                <a:solidFill>
                  <a:srgbClr val="000000"/>
                </a:solidFill>
                <a:latin typeface="Courier New" panose="02070309020205020404" pitchFamily="49" charset="0"/>
              </a:rPr>
              <a:t> = (</a:t>
            </a:r>
            <a:r>
              <a:rPr lang="fr-FR" b="1" dirty="0" err="1">
                <a:solidFill>
                  <a:srgbClr val="000000"/>
                </a:solidFill>
                <a:latin typeface="Courier New" panose="02070309020205020404" pitchFamily="49" charset="0"/>
              </a:rPr>
              <a:t>hm+hp</a:t>
            </a:r>
            <a:r>
              <a:rPr lang="fr-FR" b="1" dirty="0">
                <a:solidFill>
                  <a:srgbClr val="000000"/>
                </a:solidFill>
                <a:latin typeface="Courier New" panose="02070309020205020404" pitchFamily="49" charset="0"/>
              </a:rPr>
              <a:t>)/(hm/Km + </a:t>
            </a:r>
            <a:r>
              <a:rPr lang="fr-FR" b="1" dirty="0" err="1">
                <a:solidFill>
                  <a:srgbClr val="000000"/>
                </a:solidFill>
                <a:latin typeface="Courier New" panose="02070309020205020404" pitchFamily="49" charset="0"/>
              </a:rPr>
              <a:t>hp</a:t>
            </a:r>
            <a:r>
              <a:rPr lang="fr-FR" b="1" dirty="0">
                <a:solidFill>
                  <a:srgbClr val="000000"/>
                </a:solidFill>
                <a:latin typeface="Courier New" panose="02070309020205020404" pitchFamily="49" charset="0"/>
              </a:rPr>
              <a:t>/</a:t>
            </a:r>
            <a:r>
              <a:rPr lang="fr-FR" b="1" dirty="0" err="1">
                <a:solidFill>
                  <a:srgbClr val="000000"/>
                </a:solidFill>
                <a:latin typeface="Courier New" panose="02070309020205020404" pitchFamily="49" charset="0"/>
              </a:rPr>
              <a:t>Kp</a:t>
            </a:r>
            <a:r>
              <a:rPr lang="fr-FR" b="1" dirty="0">
                <a:solidFill>
                  <a:srgbClr val="000000"/>
                </a:solidFill>
                <a:latin typeface="Courier New" panose="02070309020205020404" pitchFamily="49" charset="0"/>
              </a:rPr>
              <a:t>);</a:t>
            </a:r>
            <a:endParaRPr lang="fr-FR" dirty="0">
              <a:solidFill>
                <a:srgbClr val="000000"/>
              </a:solidFill>
              <a:latin typeface="Courier New" panose="02070309020205020404" pitchFamily="49" charset="0"/>
            </a:endParaRPr>
          </a:p>
          <a:p>
            <a:r>
              <a:rPr lang="fr-FR" b="1" dirty="0">
                <a:solidFill>
                  <a:srgbClr val="000000"/>
                </a:solidFill>
                <a:latin typeface="Courier New" panose="02070309020205020404" pitchFamily="49" charset="0"/>
              </a:rPr>
              <a:t> </a:t>
            </a:r>
            <a:endParaRPr lang="fr-FR" dirty="0">
              <a:solidFill>
                <a:srgbClr val="000000"/>
              </a:solidFill>
              <a:latin typeface="Courier New" panose="02070309020205020404" pitchFamily="49" charset="0"/>
            </a:endParaRPr>
          </a:p>
          <a:p>
            <a:r>
              <a:rPr lang="pt-BR" b="1" dirty="0">
                <a:solidFill>
                  <a:srgbClr val="000000"/>
                </a:solidFill>
                <a:latin typeface="Courier New" panose="02070309020205020404" pitchFamily="49" charset="0"/>
              </a:rPr>
              <a:t>A(N, N  ) =  A(N, N) +Keff/(x(N)-x(N-1));</a:t>
            </a:r>
            <a:endParaRPr lang="pt-BR" dirty="0">
              <a:solidFill>
                <a:srgbClr val="000000"/>
              </a:solidFill>
              <a:latin typeface="Courier New" panose="02070309020205020404" pitchFamily="49" charset="0"/>
            </a:endParaRPr>
          </a:p>
          <a:p>
            <a:r>
              <a:rPr lang="pt-BR" b="1" dirty="0">
                <a:solidFill>
                  <a:srgbClr val="000000"/>
                </a:solidFill>
                <a:latin typeface="Courier New" panose="02070309020205020404" pitchFamily="49" charset="0"/>
              </a:rPr>
              <a:t>A(N, N-1) =          -Keff/(x(N)-x(N-1));</a:t>
            </a:r>
          </a:p>
          <a:p>
            <a:r>
              <a:rPr lang="fr-FR" sz="4400" b="1" dirty="0">
                <a:solidFill>
                  <a:srgbClr val="000000"/>
                </a:solidFill>
                <a:latin typeface="Courier New" panose="02070309020205020404" pitchFamily="49" charset="0"/>
              </a:rPr>
              <a:t>… </a:t>
            </a:r>
            <a:endParaRPr lang="fr-FR" sz="4400" dirty="0">
              <a:solidFill>
                <a:srgbClr val="000000"/>
              </a:solidFill>
              <a:latin typeface="Courier New" panose="02070309020205020404" pitchFamily="49" charset="0"/>
            </a:endParaRPr>
          </a:p>
        </p:txBody>
      </p:sp>
      <p:pic>
        <p:nvPicPr>
          <p:cNvPr id="5" name="Image 4"/>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911848" y="202155"/>
            <a:ext cx="3986286" cy="272762"/>
          </a:xfrm>
          <a:prstGeom prst="rect">
            <a:avLst/>
          </a:prstGeom>
        </p:spPr>
      </p:pic>
    </p:spTree>
    <p:extLst>
      <p:ext uri="{BB962C8B-B14F-4D97-AF65-F5344CB8AC3E}">
        <p14:creationId xmlns:p14="http://schemas.microsoft.com/office/powerpoint/2010/main" val="159536333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845.8942"/>
  <p:tag name="ORIGINALWIDTH" val="4290.964"/>
  <p:tag name="OUTPUTTYPE" val="PNG"/>
  <p:tag name="IGUANATEXVERSION" val="161"/>
  <p:tag name="LATEXADDIN" val="\documentclass{article}&#10;\usepackage{amsmath}&#10;\pagestyle{empty}&#10;\begin{document}&#10;&#10;\section*{Introduction}&#10;&#10;Les m\'ethodes de Volumes Finis reposent sur une formulation int\'egrale de la forme forte des \'equations \`a r\'esoudre. Les int\'egrales ne sont pas prises sur l'ensemble du domaine, mais uniquement sur des cellules disjointes appel\'ees \textbf{volumes de contr\^ole}.&#10;&#10;\end{document}"/>
  <p:tag name="IGUANATEXSIZE" val="20"/>
  <p:tag name="IGUANATEXCURSOR" val="104"/>
  <p:tag name="TRANSPARENCY" val="Vrai"/>
  <p:tag name="FILENAME" val=""/>
  <p:tag name="LATEXENGINEID" val="0"/>
  <p:tag name="TEMPFOLDER" val="c:\temp\"/>
  <p:tag name="LATEXFORMHEIGHT" val="457.8"/>
  <p:tag name="LATEXFORMWIDTH" val="545.4"/>
  <p:tag name="LATEXFORMWRAP" val="Vrai"/>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560.18"/>
  <p:tag name="ORIGINALWIDTH" val="4289.464"/>
  <p:tag name="OUTPUTTYPE" val="PNG"/>
  <p:tag name="IGUANATEXVERSION" val="161"/>
  <p:tag name="LATEXADDIN" val="\documentclass{article}&#10;\usepackage{amsmath}&#10;\pagestyle{empty}&#10;\begin{document}&#10;&#10;Les termes de divergence pr\'esents dans les \'equations aux d\'eriv\'ees partielles (EDP) sont trait\'es en appliquant le \textbf{th\'eor\`eme de Green}. Cette op\'eration permet de transformer les int\'egrales de volume des termes de divergence en int\'egrales de surface. &#10;\end{document}"/>
  <p:tag name="IGUANATEXSIZE" val="20"/>
  <p:tag name="IGUANATEXCURSOR" val="357"/>
  <p:tag name="TRANSPARENCY" val="Vrai"/>
  <p:tag name="FILENAME" val=""/>
  <p:tag name="LATEXENGINEID" val="0"/>
  <p:tag name="TEMPFOLDER" val="c:\temp\"/>
  <p:tag name="LATEXFORMHEIGHT" val="457.8"/>
  <p:tag name="LATEXFORMWIDTH" val="545.4"/>
  <p:tag name="LATEXFORMWRAP" val="Vrai"/>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536.183"/>
  <p:tag name="ORIGINALWIDTH" val="4289.464"/>
  <p:tag name="OUTPUTTYPE" val="PNG"/>
  <p:tag name="IGUANATEXVERSION" val="161"/>
  <p:tag name="LATEXADDIN" val="\documentclass{article}&#10;\usepackage{amsmath}&#10;\pagestyle{empty}&#10;\begin{document}&#10;&#10;&#10;\noindent&#10;Les m\'ethodes de Volumes Finis pr\'esentent l'avantage d'\^etre \textbf{conservatives} : le flux entrant dans un volume de contr\^ole est, par construction, \'egal au flux sortant du volume adjacent. Cette propri\'et\'e les rend particuli\`erement adapt\'ees \`a la r\'esolution des lois de conservation.&#10;&#10;\end{document}"/>
  <p:tag name="IGUANATEXSIZE" val="20"/>
  <p:tag name="IGUANATEXCURSOR" val="398"/>
  <p:tag name="TRANSPARENCY" val="Vrai"/>
  <p:tag name="FILENAME" val=""/>
  <p:tag name="LATEXENGINEID" val="0"/>
  <p:tag name="TEMPFOLDER" val="c:\temp\"/>
  <p:tag name="LATEXFORMHEIGHT" val="320"/>
  <p:tag name="LATEXFORMWIDTH" val="385"/>
  <p:tag name="LATEXFORMWRAP" val="Vrai"/>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410.9487"/>
  <p:tag name="ORIGINALWIDTH" val="4288.714"/>
  <p:tag name="OUTPUTTYPE" val="PNG"/>
  <p:tag name="IGUANATEXVERSION" val="161"/>
  <p:tag name="LATEXADDIN" val="\documentclass{article}&#10;\usepackage{amsmath}&#10;\pagestyle{empty}&#10;\begin{document}&#10;&#10;Un autre atout majeur par rapport \`a la m\'ethode des Diff\'erences Finies r\'eside dans leur capacit\'e \`a traiter efficacement des g\'eom\'etries complexes gr\^ace \`a l'utilisation de \textbf{maillages non structur\'es}.&#10;&#10;\end{document}"/>
  <p:tag name="IGUANATEXSIZE" val="20"/>
  <p:tag name="IGUANATEXCURSOR" val="80"/>
  <p:tag name="TRANSPARENCY" val="Vrai"/>
  <p:tag name="FILENAME" val=""/>
  <p:tag name="LATEXENGINEID" val="0"/>
  <p:tag name="TEMPFOLDER" val="c:\temp\"/>
  <p:tag name="LATEXFORMHEIGHT" val="320"/>
  <p:tag name="LATEXFORMWIDTH" val="385"/>
  <p:tag name="LATEXFORMWRAP" val="Vrai"/>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 1200"/>
  <p:tag name="ORIGINALHEIGHT" val=" 299.2126"/>
  <p:tag name="ORIGINALWIDTH" val=" 1803.525"/>
  <p:tag name="OUTPUTTYPE" val="PNG"/>
  <p:tag name="IGUANATEXVERSION" val="162"/>
  <p:tag name="LATEXADDIN" val="\documentclass{article}&#10;\usepackage{amsmath}&#10;\usepackage{esint}&#10;\pagestyle{empty}&#10;\begin{document}&#10;&#10;\newcommand{\gv}[1]{\ensuremath{\mbox{\boldmath$ #1 $}}} &#10;%\newcommand{\grad}[1]{\gv{\nabla} #1} % for gradient&#10;\let\divsymb=\div % rename builtin command \div to \divsymb&#10;%\renewcommand{\div}[1]{\gv{\nabla} \cdot #1} % for divergence&#10;&#10;%\newcommand{\grad}[1]{\mathbf{\mathrm{grad}} #1} % for gradient&#10;\newcommand{\grad}{\mathrm{grad} } % for gradient&#10;\renewcommand{\div}{\mathrm{div}} % for divergence&#10;\newcommand{\Tr}{\mathrm{Tr\; } } % for gradient&#10;&#10;\newcommand{\curl}[1]{\gv{\nabla} \times \bf{#1}\rm} % for curl&#10;\let\baraccent=\= % rename builtin command \= to \baraccent&#10;&#10;\newcommand*{\rtvector}[1]{\overline{#1}}&#10;\newcommand*{\rttensor}[1]{\overline{\overline{#1}}}&#10;\newcommand*{\rttensorthree}[1]{\overline{\overline{\overline{#1}}}}&#10;&#10;\newcommand*{\rttensortwo}[1]{\bar{\bar{#1}}}&#10;\newcommand{\tensorm}{%&#10;% Uncomment below to adjust the gap between the dots&#10;\setstackgap{S}{0.3ex}%&#10;\mathrel{\Shortstack{{.} {.} {.}}}}&#10;&#10;$$&#10;\int_{V_C} \; d^3r \; &#10;\div \; \rtvector{q}'' = \oiint_{\partial V_C} \; dS \; \rtvector{q}'' \cdot \rtvector{n} &#10;$$&#10;&#10; &#10;&#10;\end{document}"/>
  <p:tag name="IGUANATEXSIZE" val="20"/>
  <p:tag name="IGUANATEXCURSOR" val="1122"/>
  <p:tag name="TRANSPARENCY" val="Vrai"/>
  <p:tag name="CHOOSECOLOR" val="Faux"/>
  <p:tag name="COLORHEX" val="000000"/>
  <p:tag name="FILENAME" val=""/>
  <p:tag name="LATEXENGINEID" val="0"/>
  <p:tag name="TEMPFOLDER" val="c:\temp\"/>
  <p:tag name="LATEXFORMHEIGHT" val=" 320"/>
  <p:tag name="LATEXFORMWIDTH" val=" 745.2"/>
  <p:tag name="LATEXFORMWRAP" val="Vrai"/>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2905.137"/>
  <p:tag name="ORIGINALWIDTH" val="5664.042"/>
  <p:tag name="OUTPUTTYPE" val="PNG"/>
  <p:tag name="IGUANATEXVERSION" val="161"/>
  <p:tag name="LATEXADDIN" val="\documentclass{article}&#10;\usepackage{amsmath}&#10;\usepackage{xcolor}&#10;\pagestyle{empty}&#10;\begin{document}&#10;&#10;\begin{minipage}{16cm}&#10;\subsection*{Choix de la discrétisation spatiale (maillage)}&#10;\color{black}&#10;La première étape pour l'application de la méthode des volumes finis consiste à choisir une discrétisation spatiale, c. à d. le découpage du domaine de calcul dans des &quot;volumes finis&quot;.&#10;&#10;Deux classes d'approches sont possibles:&#10;\begin{itemize}&#10;  \item soit on découpe directement le domaine en petits &quot;volumes&quot; (à 3D ; ou surfaces à 2D ou segmentes à 1D), et ensuite on place à leur intérieur le noeud ;&#10;  \item soit un place des points de discrétisation (les noeuds) d'abord, et on construit les volumes autour de ces points.&#10;\end{itemize}&#10;&#10;La méthodes des volumes finis étant une méthode de bilan des flux entrants et sortants de chaque volume de contrôle, les quantités calculées représententent l'intégrale sur le volume de contrôle de la quantité continue &quot;théorique&quot;.&#10;Mais on a néanmoins besoin d'associer à chaque volume de contrôle un noeud, auquel on imagine associer les quantités calculées.&#10;Cela nous aide à dériver des algorithmes de discrétisation des équations qu'on souhaite résoudre.&#10;Si la position de ce noeud correspond au centre de gravité (barycentre) du volume de contrôle, on bénéficie d'un certain nombre de simplifications, ou de façon équivalente d'une meilleure précision pour des algorithmes relativement simples.&#10;Le choix de la forme des volumes de contrôle est importante, et certains choix pour leur construction sont plus populaires que d'autres.&#10;Deux choix répandus sont les VF noeuds centrés et les VF faces centrées.&#10;&#10;\end{minipage}&#10;\end{document}"/>
  <p:tag name="IGUANATEXSIZE" val="20"/>
  <p:tag name="IGUANATEXCURSOR" val="1665"/>
  <p:tag name="TRANSPARENCY" val="Vrai"/>
  <p:tag name="FILENAME" val=""/>
  <p:tag name="LATEXENGINEID" val="0"/>
  <p:tag name="TEMPFOLDER" val="c:\temp\"/>
  <p:tag name="LATEXFORMHEIGHT" val="661.2"/>
  <p:tag name="LATEXFORMWIDTH" val="1064"/>
  <p:tag name="LATEXFORMWRAP" val="Vrai"/>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 1200"/>
  <p:tag name="ORIGINALHEIGHT" val=" 878.1403"/>
  <p:tag name="ORIGINALWIDTH" val=" 5660.292"/>
  <p:tag name="OUTPUTTYPE" val="PNG"/>
  <p:tag name="IGUANATEXVERSION" val="162"/>
  <p:tag name="LATEXADDIN" val="\documentclass{article}&#10;\usepackage{amsmath}&#10;\usepackage{xcolor}&#10;\pagestyle{empty}&#10;\begin{document}&#10;&#10;\begin{minipage}{16cm}&#10;\section*{Discrétisation en volumes finis noeuds centrés}&#10;&#10;Pour un domaine rectangulaire, on définit les volumes de contrôle (VC) à partir d'une grille, &#10;puis on place le point de calcul (nœud) au centre de gravité (centroïde) de chaque VC.&#10;Elle se généralise facilement dans le cas de domaine de forme quelconque en utilisant un &#10;maillage conforme en éléments finis (triangles en 2D, tétraèdres ou hexaèdres en 3D).&#10;Le VC coïncide dans ce cas avec un élément fini du maillage.&#10;&#10;\end{minipage}&#10;&#10;\end{document}"/>
  <p:tag name="IGUANATEXSIZE" val="20"/>
  <p:tag name="IGUANATEXCURSOR" val="602"/>
  <p:tag name="TRANSPARENCY" val="Vrai"/>
  <p:tag name="CHOOSECOLOR" val="Faux"/>
  <p:tag name="COLORHEX" val="000000"/>
  <p:tag name="FILENAME" val=""/>
  <p:tag name="LATEXENGINEID" val="0"/>
  <p:tag name="TEMPFOLDER" val="c:\temp\"/>
  <p:tag name="LATEXFORMHEIGHT" val=" 549"/>
  <p:tag name="LATEXFORMWIDTH" val=" 927"/>
  <p:tag name="LATEXFORMWRAP" val="Vrai"/>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78.74016"/>
  <p:tag name="ORIGINALWIDTH" val="494.9381"/>
  <p:tag name="OUTPUTTYPE" val="PNG"/>
  <p:tag name="IGUANATEXVERSION" val="161"/>
  <p:tag name="LATEXADDIN" val="\documentclass{article}&#10;\usepackage{amsmath}&#10;\pagestyle{empty}&#10;\begin{document}&#10;&#10;&#10;$\leftarrow$ vertex&#10;&#10;\end{document}"/>
  <p:tag name="IGUANATEXSIZE" val="20"/>
  <p:tag name="IGUANATEXCURSOR" val="94"/>
  <p:tag name="TRANSPARENCY" val="Vrai"/>
  <p:tag name="FILENAME" val=""/>
  <p:tag name="LATEXENGINEID" val="0"/>
  <p:tag name="TEMPFOLDER" val="c:\temp\"/>
  <p:tag name="LATEXFORMHEIGHT" val="320"/>
  <p:tag name="LATEXFORMWIDTH" val="385"/>
  <p:tag name="LATEXFORMWRAP" val="Vrai"/>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 1200"/>
  <p:tag name="ORIGINALHEIGHT" val=" 2154"/>
  <p:tag name="ORIGINALWIDTH" val=" 6370"/>
  <p:tag name="OUTPUTTYPE" val="PNG"/>
  <p:tag name="IGUANATEXVERSION" val="162"/>
  <p:tag name="LATEXADDIN" val="\documentclass{article}&#10;\usepackage{amsmath}&#10;\pagestyle{empty}&#10;\begin{document}&#10;&#10;\begin{minipage}{18cm}&#10;\section*{Volumes Finis 1D}&#10;&#10;On considère l'équation stationnaire de la chaleur 1D&#10;que l'on veut résoudre par la méthode des volumes finis :&#10;$$&#10;\dfrac{\partial}{\partial x} \left( -K \;  \dfrac{\partial T}{\partial x} \right) = Q(x) \quad \text{où} \quad&#10;x \in ]0, L[&#10;$$&#10;&#10;où $Q(x)$ est une source de chaleur. Dans un premier temps, on considère que la conductivité $K$ est constante.&#10;&#10;\subsection*{Maillage}&#10;On discrétise l'intervalle $]0, L[$ en $N$ volumes finis jointifs et ordonnés tels que&#10;$&#10;\left.V_{i}=\right] x_{i-\frac{1}{2}}, x_{i+\frac{1}{2}}[&#10;$&#10;de centre $x_i$ pour $i \in [1, N]$.&#10;&#10;Les bornes d'intervalles vérifient : $0=x_{\frac{1}{2}}&lt;x_{\frac{3}{2}}&lt;\cdots&lt;x_{N-\frac{1}{2}}&lt;x_{N+\frac{1}{2}}=L$.&#10;&#10;On introduit alors les pas de discrétisation:&#10;&#10;\end{minipage}&#10;&#10;\end{document}"/>
  <p:tag name="IGUANATEXSIZE" val="18"/>
  <p:tag name="IGUANATEXCURSOR" val="285"/>
  <p:tag name="TRANSPARENCY" val="Vrai"/>
  <p:tag name="CHOOSECOLOR" val="Faux"/>
  <p:tag name="COLORHEX" val="000000"/>
  <p:tag name="LATEXENGINEID" val="0"/>
  <p:tag name="TEMPFOLDER" val="/Users/Giovanni/Library/Containers/com.microsoft.Powerpoint/Data/tmp/TemporaryItems/"/>
  <p:tag name="LATEXFORMHEIGHT" val=" 447.6"/>
  <p:tag name="LATEXFORMWIDTH" val=" 709.8"/>
  <p:tag name="LATEXFORMWRAP" val="Vrai"/>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 1200"/>
  <p:tag name="ORIGINALHEIGHT" val=" 115.4856"/>
  <p:tag name="ORIGINALWIDTH" val=" 237.7203"/>
  <p:tag name="OUTPUTTYPE" val="PNG"/>
  <p:tag name="IGUANATEXVERSION" val="162"/>
  <p:tag name="LATEXADDIN" val="\documentclass{article}&#10;\usepackage{amsmath}&#10;\pagestyle{empty}&#10;\begin{document}&#10;&#10;$$&#10;x_{i+\frac{1}{2}}&#10;$$&#10;&#10;&#10;\end{document}"/>
  <p:tag name="IGUANATEXSIZE" val="20"/>
  <p:tag name="IGUANATEXCURSOR" val="95"/>
  <p:tag name="TRANSPARENCY" val="Vrai"/>
  <p:tag name="CHOOSECOLOR" val="Faux"/>
  <p:tag name="COLORHEX" val="000000"/>
  <p:tag name="FILENAME" val=""/>
  <p:tag name="LATEXENGINEID" val="0"/>
  <p:tag name="TEMPFOLDER" val="c:\temp\"/>
  <p:tag name="LATEXFORMHEIGHT" val=" 320"/>
  <p:tag name="LATEXFORMWIDTH" val=" 385"/>
  <p:tag name="LATEXFORMWRAP" val="Vrai"/>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 1200"/>
  <p:tag name="ORIGINALHEIGHT" val=" 115.4856"/>
  <p:tag name="ORIGINALWIDTH" val=" 238.4702"/>
  <p:tag name="OUTPUTTYPE" val="PNG"/>
  <p:tag name="IGUANATEXVERSION" val="162"/>
  <p:tag name="LATEXADDIN" val="\documentclass{article}&#10;\usepackage{amsmath}&#10;\pagestyle{empty}&#10;\begin{document}&#10;&#10;$$&#10;x_{i-\frac{1}{2}}&#10;$$&#10;&#10;&#10;\end{document}"/>
  <p:tag name="IGUANATEXSIZE" val="20"/>
  <p:tag name="IGUANATEXCURSOR" val="89"/>
  <p:tag name="TRANSPARENCY" val="Vrai"/>
  <p:tag name="CHOOSECOLOR" val="Faux"/>
  <p:tag name="COLORHEX" val="000000"/>
  <p:tag name="FILENAME" val=""/>
  <p:tag name="LATEXENGINEID" val="0"/>
  <p:tag name="TEMPFOLDER" val="c:\temp\"/>
  <p:tag name="LATEXFORMHEIGHT" val=" 320"/>
  <p:tag name="LATEXFORMWIDTH" val=" 385"/>
  <p:tag name="LATEXFORMWRAP" val="Vrai"/>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115.4856"/>
  <p:tag name="ORIGINALWIDTH" val="948.6314"/>
  <p:tag name="OUTPUTTYPE" val="PNG"/>
  <p:tag name="IGUANATEXVERSION" val="161"/>
  <p:tag name="LATEXADDIN" val="\documentclass{article}&#10;\usepackage{amsmath}&#10;\pagestyle{empty}&#10;\begin{document}&#10;&#10;$$&#10;w_{i}=x_{i+\frac{1}{2}}-x_{i-\frac{1}{2}}&#10;$$&#10;&#10;&#10;\end{document}"/>
  <p:tag name="IGUANATEXSIZE" val="18"/>
  <p:tag name="IGUANATEXCURSOR" val="85"/>
  <p:tag name="TRANSPARENCY" val="Vrai"/>
  <p:tag name="FILENAME" val=""/>
  <p:tag name="LATEXENGINEID" val="0"/>
  <p:tag name="TEMPFOLDER" val="c:\temp\"/>
  <p:tag name="LATEXFORMHEIGHT" val="447.6"/>
  <p:tag name="LATEXFORMWIDTH" val="709.8"/>
  <p:tag name="LATEXFORMWRAP" val="Vrai"/>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74.24071"/>
  <p:tag name="ORIGINALWIDTH" val="98.98764"/>
  <p:tag name="OUTPUTTYPE" val="PNG"/>
  <p:tag name="IGUANATEXVERSION" val="161"/>
  <p:tag name="LATEXADDIN" val="\documentclass{article}&#10;\usepackage{amsmath}&#10;\pagestyle{empty}&#10;\begin{document}&#10;&#10;$$&#10;x_{i}&#10;$$&#10;&#10;&#10;\end{document}"/>
  <p:tag name="IGUANATEXSIZE" val="18"/>
  <p:tag name="IGUANATEXCURSOR" val="84"/>
  <p:tag name="TRANSPARENCY" val="Vrai"/>
  <p:tag name="FILENAME" val=""/>
  <p:tag name="LATEXENGINEID" val="0"/>
  <p:tag name="TEMPFOLDER" val="c:\temp\"/>
  <p:tag name="LATEXFORMHEIGHT" val="447.6"/>
  <p:tag name="LATEXFORMWIDTH" val="709.8"/>
  <p:tag name="LATEXFORMWRAP" val="Vrai"/>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83.98952"/>
  <p:tag name="ORIGINALWIDTH" val="221.2224"/>
  <p:tag name="OUTPUTTYPE" val="PNG"/>
  <p:tag name="IGUANATEXVERSION" val="161"/>
  <p:tag name="LATEXADDIN" val="\documentclass{article}&#10;\usepackage{amsmath}&#10;\pagestyle{empty}&#10;\begin{document}&#10;&#10;$$&#10;x_{i+1}&#10;$$&#10;&#10;&#10;\end{document}"/>
  <p:tag name="IGUANATEXSIZE" val="18"/>
  <p:tag name="IGUANATEXCURSOR" val="90"/>
  <p:tag name="TRANSPARENCY" val="Vrai"/>
  <p:tag name="FILENAME" val=""/>
  <p:tag name="LATEXENGINEID" val="0"/>
  <p:tag name="TEMPFOLDER" val="c:\temp\"/>
  <p:tag name="LATEXFORMHEIGHT" val="447.6"/>
  <p:tag name="LATEXFORMWIDTH" val="709.8"/>
  <p:tag name="LATEXFORMWRAP" val="Vrai"/>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74.24071"/>
  <p:tag name="ORIGINALWIDTH" val="222.7221"/>
  <p:tag name="OUTPUTTYPE" val="PNG"/>
  <p:tag name="IGUANATEXVERSION" val="161"/>
  <p:tag name="LATEXADDIN" val="\documentclass{article}&#10;\usepackage{amsmath}&#10;\pagestyle{empty}&#10;\begin{document}&#10;&#10;$$&#10;x_{i-1}&#10;$$&#10;&#10;&#10;\end{document}"/>
  <p:tag name="IGUANATEXSIZE" val="18"/>
  <p:tag name="IGUANATEXCURSOR" val="89"/>
  <p:tag name="TRANSPARENCY" val="Vrai"/>
  <p:tag name="FILENAME" val=""/>
  <p:tag name="LATEXENGINEID" val="0"/>
  <p:tag name="TEMPFOLDER" val="c:\temp\"/>
  <p:tag name="LATEXFORMHEIGHT" val="447.6"/>
  <p:tag name="LATEXFORMWIDTH" val="709.8"/>
  <p:tag name="LATEXFORMWRAP" val="Vrai"/>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2930.634"/>
  <p:tag name="ORIGINALWIDTH" val="5658.792"/>
  <p:tag name="OUTPUTTYPE" val="PNG"/>
  <p:tag name="IGUANATEXVERSION" val="161"/>
  <p:tag name="LATEXADDIN" val="\documentclass{article}&#10;\usepackage{amsmath}&#10;\usepackage{xcolor}&#10;\pagestyle{empty}&#10;\begin{document}&#10;&#10;\begin{minipage}{16cm}&#10;\subsection*{Formulation en Volumes Finis}&#10;La température est échantillonnée au centre de chaque cellule.&#10;On a donc $N$ inconnues. Plus précisément, $T_{i}$ est une approximation de la valeur moyenne de $T$ dans $V_{i}$ :&#10;&#10;$$&#10;T_{i} \simeq \frac{1}{\left|V_{i}\right|} \int_{V_{i}} T(x) \;dx=\frac{1}{w_{i}} \int_{x_{i-\frac{1}{2}}}^{x_{i+\frac{1}{2}}} T(x) \; dx \quad \text { pour } 1 \leq i \leq N&#10;$$&#10;où $\left|V_{i}\right| \equiv w_i$ est la largeur de la cellule $i$.\\&#10;&#10;On intègre alors l'équation différentielle sur chaque cellule $V_{i}$. On a:&#10;&#10;$$&#10;\int_{V_{i}} \dfrac{\partial}{\partial x} \left( -K \;  \dfrac{\partial T}{\partial x} \right) dx=\int_{V_{i}} Q(x) d x&#10;$$&#10;&#10;ce qui donne:&#10;\begin{equation*}&#10;-K \; \left. T^{\prime}\right|_{x_{i+\frac{1}{2}}^-}+ K \; \left. T^{\prime}\right|_{x_{i-\frac{1}{2}}^+} =w_{i} \; Q_{i} &#10;\end{equation*}&#10;&#10;&#10;où $Q_{i}$ désigne la valeur moyenne de $f$ dans $V_{i}$: $Q_{i}=\frac{1}{w_{i}} \int_{V_{i}} Q(x) d x$.&#10;&#10;En échantillant $Q(x)$ au centre, le résultat est exact pour toute forme affine,&#10;{\color{black}&#10;ce qui montre déjà un intérêt de poser le noeud au barycentre du volume de contrôle (on en verra d'autres)&#10;}. &#10;\end{minipage}&#10;\end{document}"/>
  <p:tag name="IGUANATEXSIZE" val="20"/>
  <p:tag name="IGUANATEXCURSOR" val="1177"/>
  <p:tag name="TRANSPARENCY" val="Vrai"/>
  <p:tag name="FILENAME" val=""/>
  <p:tag name="LATEXENGINEID" val="0"/>
  <p:tag name="TEMPFOLDER" val="c:\temp\"/>
  <p:tag name="LATEXFORMHEIGHT" val="678"/>
  <p:tag name="LATEXFORMWIDTH" val="1165"/>
  <p:tag name="LATEXFORMWRAP" val="Vrai"/>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115.4856"/>
  <p:tag name="ORIGINALWIDTH" val="237.7203"/>
  <p:tag name="OUTPUTTYPE" val="PNG"/>
  <p:tag name="IGUANATEXVERSION" val="161"/>
  <p:tag name="LATEXADDIN" val="\documentclass{article}&#10;\usepackage{amsmath}&#10;\pagestyle{empty}&#10;\begin{document}&#10;&#10;$$&#10;x_{i+\frac{1}{2}}&#10;$$&#10;&#10;&#10;\end{document}"/>
  <p:tag name="IGUANATEXSIZE" val="18"/>
  <p:tag name="IGUANATEXCURSOR" val="85"/>
  <p:tag name="TRANSPARENCY" val="Vrai"/>
  <p:tag name="FILENAME" val=""/>
  <p:tag name="LATEXENGINEID" val="0"/>
  <p:tag name="TEMPFOLDER" val="c:\temp\"/>
  <p:tag name="LATEXFORMHEIGHT" val="447.6"/>
  <p:tag name="LATEXFORMWIDTH" val="709.8"/>
  <p:tag name="LATEXFORMWRAP" val="Vrai"/>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115.4856"/>
  <p:tag name="ORIGINALWIDTH" val="948.6314"/>
  <p:tag name="OUTPUTTYPE" val="PNG"/>
  <p:tag name="IGUANATEXVERSION" val="161"/>
  <p:tag name="LATEXADDIN" val="\documentclass{article}&#10;\usepackage{amsmath}&#10;\pagestyle{empty}&#10;\begin{document}&#10;&#10;$$&#10;w_{i}=x_{i+\frac{1}{2}}-x_{i-\frac{1}{2}}&#10;$$&#10;&#10;&#10;\end{document}"/>
  <p:tag name="IGUANATEXSIZE" val="18"/>
  <p:tag name="IGUANATEXCURSOR" val="85"/>
  <p:tag name="TRANSPARENCY" val="Vrai"/>
  <p:tag name="FILENAME" val=""/>
  <p:tag name="LATEXENGINEID" val="0"/>
  <p:tag name="TEMPFOLDER" val="c:\temp\"/>
  <p:tag name="LATEXFORMHEIGHT" val="447.6"/>
  <p:tag name="LATEXFORMWIDTH" val="709.8"/>
  <p:tag name="LATEXFORMWRAP" val="Vrai"/>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74.24071"/>
  <p:tag name="ORIGINALWIDTH" val="98.98764"/>
  <p:tag name="OUTPUTTYPE" val="PNG"/>
  <p:tag name="IGUANATEXVERSION" val="161"/>
  <p:tag name="LATEXADDIN" val="\documentclass{article}&#10;\usepackage{amsmath}&#10;\pagestyle{empty}&#10;\begin{document}&#10;&#10;$$&#10;x_{i}&#10;$$&#10;&#10;&#10;\end{document}"/>
  <p:tag name="IGUANATEXSIZE" val="18"/>
  <p:tag name="IGUANATEXCURSOR" val="84"/>
  <p:tag name="TRANSPARENCY" val="Vrai"/>
  <p:tag name="FILENAME" val=""/>
  <p:tag name="LATEXENGINEID" val="0"/>
  <p:tag name="TEMPFOLDER" val="c:\temp\"/>
  <p:tag name="LATEXFORMHEIGHT" val="447.6"/>
  <p:tag name="LATEXFORMWIDTH" val="709.8"/>
  <p:tag name="LATEXFORMWRAP" val="Vrai"/>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115.4856"/>
  <p:tag name="ORIGINALWIDTH" val="238.4702"/>
  <p:tag name="OUTPUTTYPE" val="PNG"/>
  <p:tag name="IGUANATEXVERSION" val="161"/>
  <p:tag name="LATEXADDIN" val="\documentclass{article}&#10;\usepackage{amsmath}&#10;\pagestyle{empty}&#10;\begin{document}&#10;&#10;$$&#10;x_{i-\frac{1}{2}}&#10;$$&#10;&#10;&#10;\end{document}"/>
  <p:tag name="IGUANATEXSIZE" val="18"/>
  <p:tag name="IGUANATEXCURSOR" val="89"/>
  <p:tag name="TRANSPARENCY" val="Vrai"/>
  <p:tag name="FILENAME" val=""/>
  <p:tag name="LATEXENGINEID" val="0"/>
  <p:tag name="TEMPFOLDER" val="c:\temp\"/>
  <p:tag name="LATEXFORMHEIGHT" val="447.6"/>
  <p:tag name="LATEXFORMWIDTH" val="709.8"/>
  <p:tag name="LATEXFORMWRAP" val="Vrai"/>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 1200"/>
  <p:tag name="ORIGINALHEIGHT" val=" 3199"/>
  <p:tag name="ORIGINALWIDTH" val=" 5819"/>
  <p:tag name="OUTPUTTYPE" val="PNG"/>
  <p:tag name="IGUANATEXVERSION" val="162"/>
  <p:tag name="LATEXADDIN" val="\documentclass{article}&#10;\usepackage{amsmath}&#10;\usepackage{xcolor}&#10;\pagestyle{empty}&#10;\begin{document}&#10;&#10;\begin{minipage}{18cm}&#10;Au point $x=x_{i+\frac{1}{2}}$, on approxime le flux $-K \; \left. T^{\prime}\right|_{x_{i+\frac{1}{2}}}$ par différences décentrées :&#10;\begin{equation*}&#10;F_{i+\frac{1}{2}}^{-}=-K\; \frac{T_{i+\frac{1}{2}}-T_{i}}{x_{i+\frac{1}{2}}-x_{i}}+\mathcal{O}({\color{red}w}), \quad F_{i+\frac{1}{2}}^{+}=-K \; \frac{T_{i+\frac{1}{2}}-T_{i+1}}{x_{i+\frac{1}{2}}-x_{i+1}}+\mathcal{O}({\color{red}w})&#10;\end{equation*}&#10;&#10;$F_{i+\frac{1}{2}}^{-}$ est le flux associé à la cellule $V_{i}$ et $F_{i+\frac{1}{2}}^{+}$ est celui associé à la cellule $V_{i+1}$. &#10;&#10;A cause du décentrage, il s'agit d'approximations d'ordre $\mathcal{O}({\color{red}w})$ avec ${\color{red}w}=\max \left({\color{red}w}_{i}\right)$.&#10;&#10;A l'interface $x=x_{i+\frac{1}{2}}$, on impose en plus de la continuité de $T$, celle des flux : &#10;\begin{equation*}&#10;F_{i+\frac{1}{2}}^{-}=F_{i+\frac{1}{2}}^{+} &#10;\end{equation*}&#10;&#10;d'où:&#10;\begin{equation*}&#10;F_{i+\frac{1}{2}}^{-} =F_{i+\frac{1}{2}}^{+}=-K\; \frac{T_{i+1}-T_{i}}{x_{i+1}-x_{i}}&#10;\end{equation*}&#10;&#10;D'après &#10;\begin{equation*}&#10;F_{i+\frac{1}{2}}^{-} - F_{i-\frac{1}{2}}^{+} =w_{i} \; Q_{i}, &#10;\end{equation*}&#10;la forme discrétisée de l'équation de la chaleur s'écrit finalement :&#10;&#10;\begin{equation*}&#10;-\frac{K}{x_{i}-x_{i-1}}\; T_{i-1}&#10;+\left(\frac{K}{x_{i}-x_{i-1}} + \frac{K}{x_{i+1}-x_{i}} \right)\; T_{i}&#10;-\frac{K}{x_{i+1}-x_{i}}\; T_{i+1}&#10;=w_{i}\; Q_{i} \quad \text { pour } 2 \leq i \leq N-1 &#10;\end{equation*}&#10;&#10;\end{minipage}&#10;&#10;\end{document}"/>
  <p:tag name="IGUANATEXSIZE" val="20"/>
  <p:tag name="IGUANATEXCURSOR" val="1423"/>
  <p:tag name="TRANSPARENCY" val="Vrai"/>
  <p:tag name="CHOOSECOLOR" val="Faux"/>
  <p:tag name="COLORHEX" val="000000"/>
  <p:tag name="LATEXENGINEID" val="0"/>
  <p:tag name="TEMPFOLDER" val="/Users/Giovanni/Library/Containers/com.microsoft.Powerpoint/Data/tmp/TemporaryItems/"/>
  <p:tag name="LATEXFORMHEIGHT" val=" 734"/>
  <p:tag name="LATEXFORMWIDTH" val=" 1222"/>
  <p:tag name="LATEXFORMWRAP" val="Vrai"/>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74.24071"/>
  <p:tag name="ORIGINALWIDTH" val="98.98764"/>
  <p:tag name="OUTPUTTYPE" val="PNG"/>
  <p:tag name="IGUANATEXVERSION" val="161"/>
  <p:tag name="LATEXADDIN" val="\documentclass{article}&#10;\usepackage{amsmath}&#10;\pagestyle{empty}&#10;\begin{document}&#10;&#10;$$&#10;x_{i}&#10;$$&#10;&#10;&#10;\end{document}"/>
  <p:tag name="IGUANATEXSIZE" val="18"/>
  <p:tag name="IGUANATEXCURSOR" val="84"/>
  <p:tag name="TRANSPARENCY" val="Vrai"/>
  <p:tag name="FILENAME" val=""/>
  <p:tag name="LATEXENGINEID" val="0"/>
  <p:tag name="TEMPFOLDER" val="c:\temp\"/>
  <p:tag name="LATEXFORMHEIGHT" val="447.6"/>
  <p:tag name="LATEXFORMWIDTH" val="709.8"/>
  <p:tag name="LATEXFORMWRAP" val="Vrai"/>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83.98952"/>
  <p:tag name="ORIGINALWIDTH" val="221.2224"/>
  <p:tag name="OUTPUTTYPE" val="PNG"/>
  <p:tag name="IGUANATEXVERSION" val="161"/>
  <p:tag name="LATEXADDIN" val="\documentclass{article}&#10;\usepackage{amsmath}&#10;\pagestyle{empty}&#10;\begin{document}&#10;&#10;$$&#10;x_{i+1}&#10;$$&#10;&#10;&#10;\end{document}"/>
  <p:tag name="IGUANATEXSIZE" val="18"/>
  <p:tag name="IGUANATEXCURSOR" val="90"/>
  <p:tag name="TRANSPARENCY" val="Vrai"/>
  <p:tag name="FILENAME" val=""/>
  <p:tag name="LATEXENGINEID" val="0"/>
  <p:tag name="TEMPFOLDER" val="c:\temp\"/>
  <p:tag name="LATEXFORMHEIGHT" val="447.6"/>
  <p:tag name="LATEXFORMWIDTH" val="709.8"/>
  <p:tag name="LATEXFORMWRAP" val="Vrai"/>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115.4856"/>
  <p:tag name="ORIGINALWIDTH" val="237.7203"/>
  <p:tag name="OUTPUTTYPE" val="PNG"/>
  <p:tag name="IGUANATEXVERSION" val="161"/>
  <p:tag name="LATEXADDIN" val="\documentclass{article}&#10;\usepackage{amsmath}&#10;\pagestyle{empty}&#10;\begin{document}&#10;&#10;$$&#10;x_{i+\frac{1}{2}}&#10;$$&#10;&#10;&#10;\end{document}"/>
  <p:tag name="IGUANATEXSIZE" val="18"/>
  <p:tag name="IGUANATEXCURSOR" val="99"/>
  <p:tag name="TRANSPARENCY" val="Vrai"/>
  <p:tag name="FILENAME" val=""/>
  <p:tag name="LATEXENGINEID" val="0"/>
  <p:tag name="TEMPFOLDER" val="c:\temp\"/>
  <p:tag name="LATEXFORMHEIGHT" val="447.6"/>
  <p:tag name="LATEXFORMWIDTH" val="709.8"/>
  <p:tag name="LATEXFORMWRAP" val="Vrai"/>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 1200"/>
  <p:tag name="ORIGINALHEIGHT" val=" 2794"/>
  <p:tag name="ORIGINALWIDTH" val=" 4291"/>
  <p:tag name="OUTPUTTYPE" val="PNG"/>
  <p:tag name="IGUANATEXVERSION" val="162"/>
  <p:tag name="LATEXADDIN" val="\documentclass{article}&#10;\usepackage{amsmath}&#10;\usepackage{xcolor}&#10;\pagestyle{empty}&#10;\begin{document}&#10;&#10;&#10;\subsection*{Conditions de Dirichlet}&#10;Supposons que l'on applique une température constante de Dirichlet $T_{dg}$ à gauche en $x = 0$.&#10;&#10;Le flux thermique s'écrit en $x=0$ :&#10;\begin{equation*}&#10;F_{\frac{1}{2}}^{+}=-K\; \frac{T_{1}-T_{d{\color{red}g}}}{x_{1}-x_{\frac{1}{2}}}=-2K\; \frac{T_{1}-T_{d{\color{red}g}}}{w_{1}}&#10;\end{equation*}&#10;&#10;Comme&#10;\begin{equation*}&#10;F_{\frac{3}{2}}^{-} - F_{\frac{1}{2}}^{+} =w_{1} \; Q_{1} ,&#10;\end{equation*}&#10;&#10;et&#10;\begin{equation*}&#10;F_{\frac{3}{2}}^{-} =-K\; \frac{T_{2}-T_{1}}{x_{2}-x_{1}},&#10;\end{equation*}&#10;&#10;la forme discrétisée de l'équation de la chaleur s'écrit finalement pour la première cellule :&#10;&#10;\begin{equation*}&#10; \left( \frac{2K}{w_{1}} + \frac{K}{x_2-x_1}&#10; \right)\; T_{1} -\frac{K}{x_2-x_1} \; T_{2}&#10; =w_{1} \; Q_{1} + 2K \; \frac{T_{d{\color{red}g}}}{w_{1}}&#10;\end{equation*}&#10;&#10;&#10;&#10;\end{document}"/>
  <p:tag name="IGUANATEXSIZE" val="20"/>
  <p:tag name="IGUANATEXCURSOR" val="888"/>
  <p:tag name="TRANSPARENCY" val="Vrai"/>
  <p:tag name="CHOOSECOLOR" val="Faux"/>
  <p:tag name="COLORHEX" val="000000"/>
  <p:tag name="LATEXENGINEID" val="0"/>
  <p:tag name="TEMPFOLDER" val="/Users/Giovanni/Library/Containers/com.microsoft.Powerpoint/Data/tmp/TemporaryItems/"/>
  <p:tag name="LATEXFORMHEIGHT" val=" 769"/>
  <p:tag name="LATEXFORMWIDTH" val=" 895"/>
  <p:tag name="LATEXFORMWRAP" val="Vrai"/>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115.4856"/>
  <p:tag name="ORIGINALWIDTH" val="738.6577"/>
  <p:tag name="OUTPUTTYPE" val="PNG"/>
  <p:tag name="IGUANATEXVERSION" val="161"/>
  <p:tag name="LATEXADDIN" val="\documentclass{article}&#10;\usepackage{amsmath}&#10;\pagestyle{empty}&#10;\begin{document}&#10;&#10;$$&#10;w_{1}=x_{\frac{3}{2}}-x_{\frac{1}{2}}&#10;$$&#10;&#10;&#10;\end{document}"/>
  <p:tag name="IGUANATEXSIZE" val="18"/>
  <p:tag name="IGUANATEXCURSOR" val="93"/>
  <p:tag name="TRANSPARENCY" val="Vrai"/>
  <p:tag name="FILENAME" val=""/>
  <p:tag name="LATEXENGINEID" val="0"/>
  <p:tag name="TEMPFOLDER" val="c:\temp\"/>
  <p:tag name="LATEXFORMHEIGHT" val="447.6"/>
  <p:tag name="LATEXFORMWIDTH" val="709.8"/>
  <p:tag name="LATEXFORMWRAP" val="Vrai"/>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1200"/>
  <p:tag name="ORIGINALHEIGHT" val="73.49078"/>
  <p:tag name="ORIGINALWIDTH" val="112.4859"/>
  <p:tag name="OUTPUTTYPE" val="PNG"/>
  <p:tag name="IGUANATEXVERSION" val="161"/>
  <p:tag name="LATEXADDIN" val="\documentclass{article}&#10;\usepackage{amsmath}&#10;\pagestyle{empty}&#10;\begin{document}&#10;&#10;$$&#10;x_{2}&#10;$$&#10;&#10;&#10;\end{document}"/>
  <p:tag name="IGUANATEXSIZE" val="18"/>
  <p:tag name="IGUANATEXCURSOR" val="88"/>
  <p:tag name="TRANSPARENCY" val="Vrai"/>
  <p:tag name="FILENAME" val=""/>
  <p:tag name="LATEXENGINEID" val="0"/>
  <p:tag name="TEMPFOLDER" val="c:\temp\"/>
  <p:tag name="LATEXFORMHEIGHT" val="447.6"/>
  <p:tag name="LATEXFORMWIDTH" val="709.8"/>
  <p:tag name="LATEXFORMWRAP" val="Vrai"/>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1200"/>
  <p:tag name="ORIGINALHEIGHT" val="73.49078"/>
  <p:tag name="ORIGINALWIDTH" val="109.4863"/>
  <p:tag name="OUTPUTTYPE" val="PNG"/>
  <p:tag name="IGUANATEXVERSION" val="161"/>
  <p:tag name="LATEXADDIN" val="\documentclass{article}&#10;\usepackage{amsmath}&#10;\pagestyle{empty}&#10;\begin{document}&#10;&#10;$$&#10;x_{1}&#10;$$&#10;&#10;&#10;\end{document}"/>
  <p:tag name="IGUANATEXSIZE" val="18"/>
  <p:tag name="IGUANATEXCURSOR" val="87"/>
  <p:tag name="TRANSPARENCY" val="Vrai"/>
  <p:tag name="FILENAME" val=""/>
  <p:tag name="LATEXENGINEID" val="0"/>
  <p:tag name="TEMPFOLDER" val="c:\temp\"/>
  <p:tag name="LATEXFORMHEIGHT" val="447.6"/>
  <p:tag name="LATEXFORMWIDTH" val="709.8"/>
  <p:tag name="LATEXFORMWRAP" val="Vrai"/>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143.2321"/>
  <p:tag name="ORIGINALWIDTH" val="370.4537"/>
  <p:tag name="OUTPUTTYPE" val="PNG"/>
  <p:tag name="IGUANATEXVERSION" val="161"/>
  <p:tag name="LATEXADDIN" val="\documentclass{article}&#10;\usepackage{amsmath}&#10;\pagestyle{empty}&#10;\begin{document}&#10;&#10;$$&#10;x_\frac{1}{2} = 0&#10;$$&#10;&#10;&#10;\end{document}"/>
  <p:tag name="IGUANATEXSIZE" val="18"/>
  <p:tag name="IGUANATEXCURSOR" val="101"/>
  <p:tag name="TRANSPARENCY" val="Vrai"/>
  <p:tag name="FILENAME" val=""/>
  <p:tag name="LATEXENGINEID" val="0"/>
  <p:tag name="TEMPFOLDER" val="c:\temp\"/>
  <p:tag name="LATEXFORMHEIGHT" val="447.6"/>
  <p:tag name="LATEXFORMWIDTH" val="709.8"/>
  <p:tag name="LATEXFORMWRAP" val="Vrai"/>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60.2175"/>
  <p:tag name="OUTPUTTYPE" val="PNG"/>
  <p:tag name="IGUANATEXVERSION" val="161"/>
  <p:tag name="LATEXADDIN" val="\documentclass{article}&#10;\usepackage{amsmath}&#10;\pagestyle{empty}&#10;\begin{document}&#10;&#10;$$&#10;w_{1}/2&#10;$$&#10;&#10;&#10;\end{document}"/>
  <p:tag name="IGUANATEXSIZE" val="18"/>
  <p:tag name="IGUANATEXCURSOR" val="85"/>
  <p:tag name="TRANSPARENCY" val="Vrai"/>
  <p:tag name="FILENAME" val=""/>
  <p:tag name="LATEXENGINEID" val="0"/>
  <p:tag name="TEMPFOLDER" val="c:\temp\"/>
  <p:tag name="LATEXFORMHEIGHT" val="447.6"/>
  <p:tag name="LATEXFORMWIDTH" val="709.8"/>
  <p:tag name="LATEXFORMWRAP" val="Vrai"/>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73.49078"/>
  <p:tag name="ORIGINALWIDTH" val="388.4514"/>
  <p:tag name="OUTPUTTYPE" val="PNG"/>
  <p:tag name="IGUANATEXVERSION" val="161"/>
  <p:tag name="LATEXADDIN" val="\documentclass{article}&#10;\usepackage{amsmath}&#10;\pagestyle{empty}&#10;\begin{document}&#10;&#10;$$&#10;x_{2}-x_{1}&#10;$$&#10;&#10;&#10;\end{document}"/>
  <p:tag name="IGUANATEXSIZE" val="18"/>
  <p:tag name="IGUANATEXCURSOR" val="84"/>
  <p:tag name="TRANSPARENCY" val="Vrai"/>
  <p:tag name="FILENAME" val=""/>
  <p:tag name="LATEXENGINEID" val="0"/>
  <p:tag name="TEMPFOLDER" val="c:\temp\"/>
  <p:tag name="LATEXFORMHEIGHT" val="447.6"/>
  <p:tag name="LATEXFORMWIDTH" val="709.8"/>
  <p:tag name="LATEXFORMWRAP" val="Vrai"/>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1200"/>
  <p:tag name="ORIGINALHEIGHT" val="115.4856"/>
  <p:tag name="ORIGINALWIDTH" val="125.9843"/>
  <p:tag name="OUTPUTTYPE" val="PNG"/>
  <p:tag name="IGUANATEXVERSION" val="161"/>
  <p:tag name="LATEXADDIN" val="\documentclass{article}&#10;\usepackage{amsmath}&#10;\pagestyle{empty}&#10;\begin{document}&#10;&#10;$$&#10;x_{\frac{3}{2}}&#10;$$&#10;&#10;&#10;\end{document}"/>
  <p:tag name="IGUANATEXSIZE" val="18"/>
  <p:tag name="IGUANATEXCURSOR" val="100"/>
  <p:tag name="TRANSPARENCY" val="Vrai"/>
  <p:tag name="FILENAME" val=""/>
  <p:tag name="LATEXENGINEID" val="0"/>
  <p:tag name="TEMPFOLDER" val="c:\temp\"/>
  <p:tag name="LATEXFORMHEIGHT" val="447.6"/>
  <p:tag name="LATEXFORMWIDTH" val="709.8"/>
  <p:tag name="LATEXFORMWRAP" val="Vrai"/>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OUTPUTDPI" val="1200"/>
  <p:tag name="ORIGINALHEIGHT" val="3188.602"/>
  <p:tag name="ORIGINALWIDTH" val="4629.921"/>
  <p:tag name="OUTPUTTYPE" val="PNG"/>
  <p:tag name="IGUANATEXVERSION" val="161"/>
  <p:tag name="LATEXADDIN" val="\documentclass{article}&#10;\usepackage{amsmath}&#10;\usepackage{xcolor}&#10;\pagestyle{empty}&#10;\begin{document}&#10;&#10;&#10;\subsection*{Conditions de Neumann}&#10;&#10;Supposons que la surface placée en $x = L$ échange un flux de chaleur {\color{black} donné $\phi_L$}.&#10;&#10;Le flux thermique s'écrit en {\color{black}$x=L$} :&#10;\begin{equation*}&#10;F_{N+\frac{1}{2}}^{-} = \color{black} \phi_L&#10;\end{equation*}&#10;&#10;Comme&#10;\begin{equation*}&#10;F_{N+\frac{1}{2}}^{-} - F_{N-\frac{1}{2}}^{+} ={\color{black}w}_{N} \; Q_{N}, &#10;\end{equation*}&#10;avec&#10;\begin{equation*}&#10;F_{N-\frac{1}{2}}^{+}=-K\;&#10;\frac{T_{N}-T_{N-1}}{x_{N}-x_{N-1}} = -\frac{K}{x_{N}-x_{N-1}} T_N + \frac{K}{x_{N}-x_{N-1}} T_{N-1}&#10;\end{equation*}&#10;&#10;la forme discrétisée de l'équation de la chaleur s'écrit finalement :&#10;\begin{equation*}&#10;\left( \frac{K}{x_{N}-x_{N-1}}\right)\; T_N&#10; - \frac{K}{x_{N}-x_{N-1}} T_{N-1} =&#10;w_N \; Q_N {\color{black} - \phi_N}&#10;\end{equation*}&#10;%&#10;{\color{black}&#10;On note que les conditions de Neumann (flux imposé) bénéficient d'une implémentation directe en volumes finis,&#10;du moment que cette méthode est fondée sur le calcul des flux à travers les bords du volume de contrôle.&#10;}&#10;\end{document}"/>
  <p:tag name="IGUANATEXSIZE" val="20"/>
  <p:tag name="IGUANATEXCURSOR" val="897"/>
  <p:tag name="TRANSPARENCY" val="Vrai"/>
  <p:tag name="FILENAME" val=""/>
  <p:tag name="LATEXENGINEID" val="0"/>
  <p:tag name="TEMPFOLDER" val="c:\temp\"/>
  <p:tag name="LATEXFORMHEIGHT" val="666"/>
  <p:tag name="LATEXFORMWIDTH" val="984"/>
  <p:tag name="LATEXFORMWRAP" val="Vrai"/>
  <p:tag name="BITMAPVECTOR" val="0"/>
</p:tagLst>
</file>

<file path=ppt/tags/tag34.xml><?xml version="1.0" encoding="utf-8"?>
<p:tagLst xmlns:a="http://schemas.openxmlformats.org/drawingml/2006/main" xmlns:r="http://schemas.openxmlformats.org/officeDocument/2006/relationships" xmlns:p="http://schemas.openxmlformats.org/presentationml/2006/main">
  <p:tag name="OUTPUTDPI" val="1200"/>
  <p:tag name="ORIGINALHEIGHT" val="115.4856"/>
  <p:tag name="ORIGINALWIDTH" val="290.2137"/>
  <p:tag name="OUTPUTTYPE" val="PNG"/>
  <p:tag name="IGUANATEXVERSION" val="161"/>
  <p:tag name="LATEXADDIN" val="\documentclass{article}&#10;\usepackage{amsmath}&#10;\pagestyle{empty}&#10;\begin{document}&#10;&#10;$$&#10;x_{N+\frac{1}{2}}&#10;$$&#10;&#10;&#10;\end{document}"/>
  <p:tag name="IGUANATEXSIZE" val="18"/>
  <p:tag name="IGUANATEXCURSOR" val="88"/>
  <p:tag name="TRANSPARENCY" val="Vrai"/>
  <p:tag name="FILENAME" val=""/>
  <p:tag name="LATEXENGINEID" val="0"/>
  <p:tag name="TEMPFOLDER" val="c:\temp\"/>
  <p:tag name="LATEXFORMHEIGHT" val="447.6"/>
  <p:tag name="LATEXFORMWIDTH" val="709.8"/>
  <p:tag name="LATEXFORMWRAP" val="Vrai"/>
  <p:tag name="BITMAPVECTOR" val="0"/>
</p:tagLst>
</file>

<file path=ppt/tags/tag35.xml><?xml version="1.0" encoding="utf-8"?>
<p:tagLst xmlns:a="http://schemas.openxmlformats.org/drawingml/2006/main" xmlns:r="http://schemas.openxmlformats.org/officeDocument/2006/relationships" xmlns:p="http://schemas.openxmlformats.org/presentationml/2006/main">
  <p:tag name="OUTPUTDPI" val="1200"/>
  <p:tag name="ORIGINALHEIGHT" val="115.4856"/>
  <p:tag name="ORIGINALWIDTH" val="1107.612"/>
  <p:tag name="OUTPUTTYPE" val="PNG"/>
  <p:tag name="IGUANATEXVERSION" val="161"/>
  <p:tag name="LATEXADDIN" val="\documentclass{article}&#10;\usepackage{amsmath}&#10;\pagestyle{empty}&#10;\begin{document}&#10;&#10;$$&#10;w_{N}=x_{N+\frac{1}{2}}-x_{N-\frac{1}{2}}&#10;$$&#10;&#10;&#10;\end{document}"/>
  <p:tag name="IGUANATEXSIZE" val="18"/>
  <p:tag name="IGUANATEXCURSOR" val="85"/>
  <p:tag name="TRANSPARENCY" val="Vrai"/>
  <p:tag name="FILENAME" val=""/>
  <p:tag name="LATEXENGINEID" val="0"/>
  <p:tag name="TEMPFOLDER" val="c:\temp\"/>
  <p:tag name="LATEXFORMHEIGHT" val="447.6"/>
  <p:tag name="LATEXFORMWIDTH" val="709.8"/>
  <p:tag name="LATEXFORMWRAP" val="Vrai"/>
  <p:tag name="BITMAPVECTOR" val="0"/>
</p:tagLst>
</file>

<file path=ppt/tags/tag36.xml><?xml version="1.0" encoding="utf-8"?>
<p:tagLst xmlns:a="http://schemas.openxmlformats.org/drawingml/2006/main" xmlns:r="http://schemas.openxmlformats.org/officeDocument/2006/relationships" xmlns:p="http://schemas.openxmlformats.org/presentationml/2006/main">
  <p:tag name="OUTPUTDPI" val="1200"/>
  <p:tag name="ORIGINALHEIGHT" val="73.49078"/>
  <p:tag name="ORIGINALWIDTH" val="152.2309"/>
  <p:tag name="OUTPUTTYPE" val="PNG"/>
  <p:tag name="IGUANATEXVERSION" val="161"/>
  <p:tag name="LATEXADDIN" val="\documentclass{article}&#10;\usepackage{amsmath}&#10;\pagestyle{empty}&#10;\begin{document}&#10;&#10;$$&#10;x_{N}&#10;$$&#10;&#10;&#10;\end{document}"/>
  <p:tag name="IGUANATEXSIZE" val="18"/>
  <p:tag name="IGUANATEXCURSOR" val="88"/>
  <p:tag name="TRANSPARENCY" val="Vrai"/>
  <p:tag name="FILENAME" val=""/>
  <p:tag name="LATEXENGINEID" val="0"/>
  <p:tag name="TEMPFOLDER" val="c:\temp\"/>
  <p:tag name="LATEXFORMHEIGHT" val="447.6"/>
  <p:tag name="LATEXFORMWIDTH" val="709.8"/>
  <p:tag name="LATEXFORMWRAP" val="Vrai"/>
  <p:tag name="BITMAPVECTOR" val="0"/>
</p:tagLst>
</file>

<file path=ppt/tags/tag37.xml><?xml version="1.0" encoding="utf-8"?>
<p:tagLst xmlns:a="http://schemas.openxmlformats.org/drawingml/2006/main" xmlns:r="http://schemas.openxmlformats.org/officeDocument/2006/relationships" xmlns:p="http://schemas.openxmlformats.org/presentationml/2006/main">
  <p:tag name="OUTPUTDPI" val="1200"/>
  <p:tag name="ORIGINALHEIGHT" val="115.4856"/>
  <p:tag name="ORIGINALWIDTH" val="291.7135"/>
  <p:tag name="OUTPUTTYPE" val="PNG"/>
  <p:tag name="IGUANATEXVERSION" val="161"/>
  <p:tag name="LATEXADDIN" val="\documentclass{article}&#10;\usepackage{amsmath}&#10;\pagestyle{empty}&#10;\begin{document}&#10;&#10;$$&#10;x_{N-\frac{1}{2}}&#10;$$&#10;&#10;&#10;\end{document}"/>
  <p:tag name="IGUANATEXSIZE" val="18"/>
  <p:tag name="IGUANATEXCURSOR" val="88"/>
  <p:tag name="TRANSPARENCY" val="Vrai"/>
  <p:tag name="FILENAME" val=""/>
  <p:tag name="LATEXENGINEID" val="0"/>
  <p:tag name="TEMPFOLDER" val="c:\temp\"/>
  <p:tag name="LATEXFORMHEIGHT" val="447.6"/>
  <p:tag name="LATEXFORMWIDTH" val="709.8"/>
  <p:tag name="LATEXFORMWRAP" val="Vrai"/>
  <p:tag name="BITMAPVECTOR" val="0"/>
</p:tagLst>
</file>

<file path=ppt/tags/tag38.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99.2126"/>
  <p:tag name="OUTPUTTYPE" val="PNG"/>
  <p:tag name="IGUANATEXVERSION" val="161"/>
  <p:tag name="LATEXADDIN" val="\documentclass{article}&#10;\usepackage{amsmath}&#10;\pagestyle{empty}&#10;\begin{document}&#10;&#10;$$&#10;w_{N}/2&#10;$$&#10;&#10;&#10;\end{document}"/>
  <p:tag name="IGUANATEXSIZE" val="18"/>
  <p:tag name="IGUANATEXCURSOR" val="85"/>
  <p:tag name="TRANSPARENCY" val="Vrai"/>
  <p:tag name="FILENAME" val=""/>
  <p:tag name="LATEXENGINEID" val="0"/>
  <p:tag name="TEMPFOLDER" val="c:\temp\"/>
  <p:tag name="LATEXFORMHEIGHT" val="447.6"/>
  <p:tag name="LATEXFORMWIDTH" val="709.8"/>
  <p:tag name="LATEXFORMWRAP" val="Vrai"/>
  <p:tag name="BITMAPVECTOR" val="0"/>
</p:tagLst>
</file>

<file path=ppt/tags/tag39.xml><?xml version="1.0" encoding="utf-8"?>
<p:tagLst xmlns:a="http://schemas.openxmlformats.org/drawingml/2006/main" xmlns:r="http://schemas.openxmlformats.org/officeDocument/2006/relationships" xmlns:p="http://schemas.openxmlformats.org/presentationml/2006/main">
  <p:tag name="OUTPUTDPI" val="1200"/>
  <p:tag name="ORIGINALHEIGHT" val="2708.661"/>
  <p:tag name="ORIGINALWIDTH" val="4289.464"/>
  <p:tag name="OUTPUTTYPE" val="PNG"/>
  <p:tag name="IGUANATEXVERSION" val="161"/>
  <p:tag name="LATEXADDIN" val="\documentclass{article}&#10;\usepackage{amsmath}&#10;\usepackage{xcolor}&#10;\pagestyle{empty}&#10;\begin{document}&#10;&#10;&#10;\subsection*{Conditions {\color{black}mixtes, ou de Robin}}&#10;&#10;Supposons que la surface placée en $x = L$ échange de la chaleur par convection avec un gaz&#10;caractérisé par un coefficient d'échange $H$ et une température ambiante $T_a$.&#10;&#10;Le flux thermique s'écrit en {\color{black}$x=L$} :&#10;\begin{equation*}&#10;F_{N+\frac{1}{2}}^{-}=-K\; \frac{T_{N+\frac{1}{2}}-T_{N}}{x_{N+\frac{1}{2}}-x_{N}} =&#10;-2K\; \frac{T_{N+\frac{1}{2}}-T_{N}}{w_{N}}&#10;= H (T_{N+\frac{1}{2}}-T_a)&#10;\end{equation*}&#10;On en déduit :&#10;$$&#10;T_{N+\frac{1}{2}} = \frac{ \dfrac{2K}{w_{N}} }{ \dfrac{2K}{w_{N}} + H } \; T_N+ \frac{ H T_a }{ \dfrac{2K}{w_{N}} + H }&#10;$$&#10;&#10;L'expression du flux en fonction de $T_N$ s'écrit alors:&#10;$$&#10;F_{N+\frac{1}{2}}^{-}= H \left(T_{N+\frac{1}{2}} -T_a \right)= &#10;H \;\frac{ 2K }{ 2K + H w_{N}} \; T_N- H\; \frac{ 2K  }{ 2K + H w_{N} } T_a &#10;$$&#10;&#10;\end{document}"/>
  <p:tag name="IGUANATEXSIZE" val="20"/>
  <p:tag name="IGUANATEXCURSOR" val="378"/>
  <p:tag name="TRANSPARENCY" val="Vrai"/>
  <p:tag name="FILENAME" val=""/>
  <p:tag name="LATEXENGINEID" val="0"/>
  <p:tag name="TEMPFOLDER" val="c:\temp\"/>
  <p:tag name="LATEXFORMHEIGHT" val="402.6"/>
  <p:tag name="LATEXFORMWIDTH" val="642"/>
  <p:tag name="LATEXFORMWRAP" val="Vrai"/>
  <p:tag name="BITMAPVECTOR" val="0"/>
</p:tagLst>
</file>

<file path=ppt/tags/tag40.xml><?xml version="1.0" encoding="utf-8"?>
<p:tagLst xmlns:a="http://schemas.openxmlformats.org/drawingml/2006/main" xmlns:r="http://schemas.openxmlformats.org/officeDocument/2006/relationships" xmlns:p="http://schemas.openxmlformats.org/presentationml/2006/main">
  <p:tag name="OUTPUTDPI" val="1200"/>
  <p:tag name="ORIGINALHEIGHT" val="115.4856"/>
  <p:tag name="ORIGINALWIDTH" val="290.2137"/>
  <p:tag name="OUTPUTTYPE" val="PNG"/>
  <p:tag name="IGUANATEXVERSION" val="161"/>
  <p:tag name="LATEXADDIN" val="\documentclass{article}&#10;\usepackage{amsmath}&#10;\pagestyle{empty}&#10;\begin{document}&#10;&#10;$$&#10;x_{N+\frac{1}{2}}&#10;$$&#10;&#10;&#10;\end{document}"/>
  <p:tag name="IGUANATEXSIZE" val="18"/>
  <p:tag name="IGUANATEXCURSOR" val="88"/>
  <p:tag name="TRANSPARENCY" val="Vrai"/>
  <p:tag name="FILENAME" val=""/>
  <p:tag name="LATEXENGINEID" val="0"/>
  <p:tag name="TEMPFOLDER" val="c:\temp\"/>
  <p:tag name="LATEXFORMHEIGHT" val="447.6"/>
  <p:tag name="LATEXFORMWIDTH" val="709.8"/>
  <p:tag name="LATEXFORMWRAP" val="Vrai"/>
  <p:tag name="BITMAPVECTOR" val="0"/>
</p:tagLst>
</file>

<file path=ppt/tags/tag41.xml><?xml version="1.0" encoding="utf-8"?>
<p:tagLst xmlns:a="http://schemas.openxmlformats.org/drawingml/2006/main" xmlns:r="http://schemas.openxmlformats.org/officeDocument/2006/relationships" xmlns:p="http://schemas.openxmlformats.org/presentationml/2006/main">
  <p:tag name="OUTPUTDPI" val="1200"/>
  <p:tag name="ORIGINALHEIGHT" val="115.4856"/>
  <p:tag name="ORIGINALWIDTH" val="1107.612"/>
  <p:tag name="OUTPUTTYPE" val="PNG"/>
  <p:tag name="IGUANATEXVERSION" val="161"/>
  <p:tag name="LATEXADDIN" val="\documentclass{article}&#10;\usepackage{amsmath}&#10;\pagestyle{empty}&#10;\begin{document}&#10;&#10;$$&#10;w_{N}=x_{N+\frac{1}{2}}-x_{N-\frac{1}{2}}&#10;$$&#10;&#10;&#10;\end{document}"/>
  <p:tag name="IGUANATEXSIZE" val="18"/>
  <p:tag name="IGUANATEXCURSOR" val="85"/>
  <p:tag name="TRANSPARENCY" val="Vrai"/>
  <p:tag name="FILENAME" val=""/>
  <p:tag name="LATEXENGINEID" val="0"/>
  <p:tag name="TEMPFOLDER" val="c:\temp\"/>
  <p:tag name="LATEXFORMHEIGHT" val="447.6"/>
  <p:tag name="LATEXFORMWIDTH" val="709.8"/>
  <p:tag name="LATEXFORMWRAP" val="Vrai"/>
  <p:tag name="BITMAPVECTOR" val="0"/>
</p:tagLst>
</file>

<file path=ppt/tags/tag42.xml><?xml version="1.0" encoding="utf-8"?>
<p:tagLst xmlns:a="http://schemas.openxmlformats.org/drawingml/2006/main" xmlns:r="http://schemas.openxmlformats.org/officeDocument/2006/relationships" xmlns:p="http://schemas.openxmlformats.org/presentationml/2006/main">
  <p:tag name="OUTPUTDPI" val="1200"/>
  <p:tag name="ORIGINALHEIGHT" val="73.49078"/>
  <p:tag name="ORIGINALWIDTH" val="152.2309"/>
  <p:tag name="OUTPUTTYPE" val="PNG"/>
  <p:tag name="IGUANATEXVERSION" val="161"/>
  <p:tag name="LATEXADDIN" val="\documentclass{article}&#10;\usepackage{amsmath}&#10;\pagestyle{empty}&#10;\begin{document}&#10;&#10;$$&#10;x_{N}&#10;$$&#10;&#10;&#10;\end{document}"/>
  <p:tag name="IGUANATEXSIZE" val="18"/>
  <p:tag name="IGUANATEXCURSOR" val="88"/>
  <p:tag name="TRANSPARENCY" val="Vrai"/>
  <p:tag name="FILENAME" val=""/>
  <p:tag name="LATEXENGINEID" val="0"/>
  <p:tag name="TEMPFOLDER" val="c:\temp\"/>
  <p:tag name="LATEXFORMHEIGHT" val="447.6"/>
  <p:tag name="LATEXFORMWIDTH" val="709.8"/>
  <p:tag name="LATEXFORMWRAP" val="Vrai"/>
  <p:tag name="BITMAPVECTOR" val="0"/>
</p:tagLst>
</file>

<file path=ppt/tags/tag43.xml><?xml version="1.0" encoding="utf-8"?>
<p:tagLst xmlns:a="http://schemas.openxmlformats.org/drawingml/2006/main" xmlns:r="http://schemas.openxmlformats.org/officeDocument/2006/relationships" xmlns:p="http://schemas.openxmlformats.org/presentationml/2006/main">
  <p:tag name="OUTPUTDPI" val="1200"/>
  <p:tag name="ORIGINALHEIGHT" val="115.4856"/>
  <p:tag name="ORIGINALWIDTH" val="291.7135"/>
  <p:tag name="OUTPUTTYPE" val="PNG"/>
  <p:tag name="IGUANATEXVERSION" val="161"/>
  <p:tag name="LATEXADDIN" val="\documentclass{article}&#10;\usepackage{amsmath}&#10;\pagestyle{empty}&#10;\begin{document}&#10;&#10;$$&#10;x_{N-\frac{1}{2}}&#10;$$&#10;&#10;&#10;\end{document}"/>
  <p:tag name="IGUANATEXSIZE" val="18"/>
  <p:tag name="IGUANATEXCURSOR" val="88"/>
  <p:tag name="TRANSPARENCY" val="Vrai"/>
  <p:tag name="FILENAME" val=""/>
  <p:tag name="LATEXENGINEID" val="0"/>
  <p:tag name="TEMPFOLDER" val="c:\temp\"/>
  <p:tag name="LATEXFORMHEIGHT" val="447.6"/>
  <p:tag name="LATEXFORMWIDTH" val="709.8"/>
  <p:tag name="LATEXFORMWRAP" val="Vrai"/>
  <p:tag name="BITMAPVECTOR" val="0"/>
</p:tagLst>
</file>

<file path=ppt/tags/tag4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99.2126"/>
  <p:tag name="OUTPUTTYPE" val="PNG"/>
  <p:tag name="IGUANATEXVERSION" val="161"/>
  <p:tag name="LATEXADDIN" val="\documentclass{article}&#10;\usepackage{amsmath}&#10;\pagestyle{empty}&#10;\begin{document}&#10;&#10;$$&#10;w_{N}/2&#10;$$&#10;&#10;&#10;\end{document}"/>
  <p:tag name="IGUANATEXSIZE" val="18"/>
  <p:tag name="IGUANATEXCURSOR" val="85"/>
  <p:tag name="TRANSPARENCY" val="Vrai"/>
  <p:tag name="FILENAME" val=""/>
  <p:tag name="LATEXENGINEID" val="0"/>
  <p:tag name="TEMPFOLDER" val="c:\temp\"/>
  <p:tag name="LATEXFORMHEIGHT" val="447.6"/>
  <p:tag name="LATEXFORMWIDTH" val="709.8"/>
  <p:tag name="LATEXFORMWRAP" val="Vrai"/>
  <p:tag name="BITMAPVECTOR" val="0"/>
</p:tagLst>
</file>

<file path=ppt/tags/tag45.xml><?xml version="1.0" encoding="utf-8"?>
<p:tagLst xmlns:a="http://schemas.openxmlformats.org/drawingml/2006/main" xmlns:r="http://schemas.openxmlformats.org/officeDocument/2006/relationships" xmlns:p="http://schemas.openxmlformats.org/presentationml/2006/main">
  <p:tag name="OUTPUTDPI" val=" 1200"/>
  <p:tag name="ORIGINALHEIGHT" val=" 1506"/>
  <p:tag name="ORIGINALWIDTH" val=" 3951"/>
  <p:tag name="OUTPUTTYPE" val="PNG"/>
  <p:tag name="IGUANATEXVERSION" val="162"/>
  <p:tag name="LATEXADDIN" val="\documentclass{article}&#10;\usepackage{amsmath}&#10;\pagestyle{empty}&#10;\begin{document}&#10;&#10;Comme&#10;\begin{equation*}&#10;F_{N+\frac{1}{2}}^{-} - F_{N-\frac{1}{2}}^{+} =h_{N} \; Q_{N}, &#10;\end{equation*}&#10;avec&#10;\begin{equation*}&#10;F_{N-\frac{1}{2}}^{+}=-K\;&#10;\frac{T_{N}-T_{N-1}}{x_{N}-x_{N-1}} = -\frac{K}{x_{N}-x_{N-1}} T_N + \frac{K}{x_{N}-x_{N-1}} T_{N-1}&#10;\end{equation*}&#10;et&#10;$$&#10;F_{N+\frac{1}{2}}^{-}= H \left(T_{N+\frac{1}{2}} -T_a \right)= &#10;H \;\frac{ 2K }{ 2K + H w_{N}} \; T_N- H\; \frac{ 2K  }{ 2K + H w_{N} } T_a &#10;$$&#10;&#10;\end{document}"/>
  <p:tag name="IGUANATEXSIZE" val="20"/>
  <p:tag name="IGUANATEXCURSOR" val="235"/>
  <p:tag name="TRANSPARENCY" val="Vrai"/>
  <p:tag name="CHOOSECOLOR" val="Faux"/>
  <p:tag name="COLORHEX" val="000000"/>
  <p:tag name="LATEXENGINEID" val="0"/>
  <p:tag name="TEMPFOLDER" val="/Users/Giovanni/Library/Containers/com.microsoft.Powerpoint/Data/tmp/TemporaryItems/"/>
  <p:tag name="LATEXFORMHEIGHT" val=" 399.6"/>
  <p:tag name="LATEXFORMWIDTH" val=" 655.8"/>
  <p:tag name="LATEXFORMWRAP" val="Vrai"/>
  <p:tag name="BITMAPVECTOR" val="0"/>
</p:tagLst>
</file>

<file path=ppt/tags/tag46.xml><?xml version="1.0" encoding="utf-8"?>
<p:tagLst xmlns:a="http://schemas.openxmlformats.org/drawingml/2006/main" xmlns:r="http://schemas.openxmlformats.org/officeDocument/2006/relationships" xmlns:p="http://schemas.openxmlformats.org/presentationml/2006/main">
  <p:tag name="OUTPUTDPI" val="1200"/>
  <p:tag name="ORIGINALHEIGHT" val="547.4316"/>
  <p:tag name="ORIGINALWIDTH" val="4610.424"/>
  <p:tag name="OUTPUTTYPE" val="PNG"/>
  <p:tag name="IGUANATEXVERSION" val="161"/>
  <p:tag name="LATEXADDIN" val="\documentclass{article}&#10;\usepackage{amsmath}&#10;\pagestyle{empty}&#10;\begin{document}&#10;&#10;la forme discrétisée de l'équation de la chaleur s'écrit finalement :&#10;\begin{equation*}&#10;\left(H \;\frac{ 2K }{ 2K + H w_{N}} + \frac{K}{x_{N}-x_{N-1}}\right)\; T_N&#10; - \frac{K}{x_{N}-x_{N-1}} T_{N-1} =&#10;w_N \; Q_N + H\; \frac{ 2K  }{ 2K + H w_{N} } T_a&#10;\end{equation*}&#10;&#10;&#10;\end{document}"/>
  <p:tag name="IGUANATEXSIZE" val="20"/>
  <p:tag name="IGUANATEXCURSOR" val="80"/>
  <p:tag name="TRANSPARENCY" val="Vrai"/>
  <p:tag name="FILENAME" val=""/>
  <p:tag name="LATEXENGINEID" val="0"/>
  <p:tag name="TEMPFOLDER" val="c:\temp\"/>
  <p:tag name="LATEXFORMHEIGHT" val="399.6"/>
  <p:tag name="LATEXFORMWIDTH" val="655.8"/>
  <p:tag name="LATEXFORMWRAP" val="Vrai"/>
  <p:tag name="BITMAPVECTOR" val="0"/>
</p:tagLst>
</file>

<file path=ppt/tags/tag47.xml><?xml version="1.0" encoding="utf-8"?>
<p:tagLst xmlns:a="http://schemas.openxmlformats.org/drawingml/2006/main" xmlns:r="http://schemas.openxmlformats.org/officeDocument/2006/relationships" xmlns:p="http://schemas.openxmlformats.org/presentationml/2006/main">
  <p:tag name="OUTPUTDPI" val="1200"/>
  <p:tag name="ORIGINALHEIGHT" val="115.4856"/>
  <p:tag name="ORIGINALWIDTH" val="290.2137"/>
  <p:tag name="OUTPUTTYPE" val="PNG"/>
  <p:tag name="IGUANATEXVERSION" val="161"/>
  <p:tag name="LATEXADDIN" val="\documentclass{article}&#10;\usepackage{amsmath}&#10;\pagestyle{empty}&#10;\begin{document}&#10;&#10;$$&#10;x_{N+\frac{1}{2}}&#10;$$&#10;&#10;&#10;\end{document}"/>
  <p:tag name="IGUANATEXSIZE" val="18"/>
  <p:tag name="IGUANATEXCURSOR" val="88"/>
  <p:tag name="TRANSPARENCY" val="Vrai"/>
  <p:tag name="FILENAME" val=""/>
  <p:tag name="LATEXENGINEID" val="0"/>
  <p:tag name="TEMPFOLDER" val="c:\temp\"/>
  <p:tag name="LATEXFORMHEIGHT" val="447.6"/>
  <p:tag name="LATEXFORMWIDTH" val="709.8"/>
  <p:tag name="LATEXFORMWRAP" val="Vrai"/>
  <p:tag name="BITMAPVECTOR" val="0"/>
</p:tagLst>
</file>

<file path=ppt/tags/tag48.xml><?xml version="1.0" encoding="utf-8"?>
<p:tagLst xmlns:a="http://schemas.openxmlformats.org/drawingml/2006/main" xmlns:r="http://schemas.openxmlformats.org/officeDocument/2006/relationships" xmlns:p="http://schemas.openxmlformats.org/presentationml/2006/main">
  <p:tag name="OUTPUTDPI" val="1200"/>
  <p:tag name="ORIGINALHEIGHT" val="115.4856"/>
  <p:tag name="ORIGINALWIDTH" val="1107.612"/>
  <p:tag name="OUTPUTTYPE" val="PNG"/>
  <p:tag name="IGUANATEXVERSION" val="161"/>
  <p:tag name="LATEXADDIN" val="\documentclass{article}&#10;\usepackage{amsmath}&#10;\pagestyle{empty}&#10;\begin{document}&#10;&#10;$$&#10;w_{N}=x_{N+\frac{1}{2}}-x_{N-\frac{1}{2}}&#10;$$&#10;&#10;&#10;\end{document}"/>
  <p:tag name="IGUANATEXSIZE" val="18"/>
  <p:tag name="IGUANATEXCURSOR" val="85"/>
  <p:tag name="TRANSPARENCY" val="Vrai"/>
  <p:tag name="FILENAME" val=""/>
  <p:tag name="LATEXENGINEID" val="0"/>
  <p:tag name="TEMPFOLDER" val="c:\temp\"/>
  <p:tag name="LATEXFORMHEIGHT" val="447.6"/>
  <p:tag name="LATEXFORMWIDTH" val="709.8"/>
  <p:tag name="LATEXFORMWRAP" val="Vrai"/>
  <p:tag name="BITMAPVECTOR" val="0"/>
</p:tagLst>
</file>

<file path=ppt/tags/tag49.xml><?xml version="1.0" encoding="utf-8"?>
<p:tagLst xmlns:a="http://schemas.openxmlformats.org/drawingml/2006/main" xmlns:r="http://schemas.openxmlformats.org/officeDocument/2006/relationships" xmlns:p="http://schemas.openxmlformats.org/presentationml/2006/main">
  <p:tag name="OUTPUTDPI" val="1200"/>
  <p:tag name="ORIGINALHEIGHT" val="73.49078"/>
  <p:tag name="ORIGINALWIDTH" val="152.2309"/>
  <p:tag name="OUTPUTTYPE" val="PNG"/>
  <p:tag name="IGUANATEXVERSION" val="161"/>
  <p:tag name="LATEXADDIN" val="\documentclass{article}&#10;\usepackage{amsmath}&#10;\pagestyle{empty}&#10;\begin{document}&#10;&#10;$$&#10;x_{N}&#10;$$&#10;&#10;&#10;\end{document}"/>
  <p:tag name="IGUANATEXSIZE" val="18"/>
  <p:tag name="IGUANATEXCURSOR" val="88"/>
  <p:tag name="TRANSPARENCY" val="Vrai"/>
  <p:tag name="FILENAME" val=""/>
  <p:tag name="LATEXENGINEID" val="0"/>
  <p:tag name="TEMPFOLDER" val="c:\temp\"/>
  <p:tag name="LATEXFORMHEIGHT" val="447.6"/>
  <p:tag name="LATEXFORMWIDTH" val="709.8"/>
  <p:tag name="LATEXFORMWRAP" val="Vrai"/>
  <p:tag name="BITMAPVECTOR" val="0"/>
</p:tagLst>
</file>

<file path=ppt/tags/tag50.xml><?xml version="1.0" encoding="utf-8"?>
<p:tagLst xmlns:a="http://schemas.openxmlformats.org/drawingml/2006/main" xmlns:r="http://schemas.openxmlformats.org/officeDocument/2006/relationships" xmlns:p="http://schemas.openxmlformats.org/presentationml/2006/main">
  <p:tag name="OUTPUTDPI" val="1200"/>
  <p:tag name="ORIGINALHEIGHT" val="115.4856"/>
  <p:tag name="ORIGINALWIDTH" val="291.7135"/>
  <p:tag name="OUTPUTTYPE" val="PNG"/>
  <p:tag name="IGUANATEXVERSION" val="161"/>
  <p:tag name="LATEXADDIN" val="\documentclass{article}&#10;\usepackage{amsmath}&#10;\pagestyle{empty}&#10;\begin{document}&#10;&#10;$$&#10;x_{N-\frac{1}{2}}&#10;$$&#10;&#10;&#10;\end{document}"/>
  <p:tag name="IGUANATEXSIZE" val="18"/>
  <p:tag name="IGUANATEXCURSOR" val="88"/>
  <p:tag name="TRANSPARENCY" val="Vrai"/>
  <p:tag name="FILENAME" val=""/>
  <p:tag name="LATEXENGINEID" val="0"/>
  <p:tag name="TEMPFOLDER" val="c:\temp\"/>
  <p:tag name="LATEXFORMHEIGHT" val="447.6"/>
  <p:tag name="LATEXFORMWIDTH" val="709.8"/>
  <p:tag name="LATEXFORMWRAP" val="Vrai"/>
  <p:tag name="BITMAPVECTOR" val="0"/>
</p:tagLst>
</file>

<file path=ppt/tags/tag51.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99.2126"/>
  <p:tag name="OUTPUTTYPE" val="PNG"/>
  <p:tag name="IGUANATEXVERSION" val="161"/>
  <p:tag name="LATEXADDIN" val="\documentclass{article}&#10;\usepackage{amsmath}&#10;\pagestyle{empty}&#10;\begin{document}&#10;&#10;$$&#10;w_{N}/2&#10;$$&#10;&#10;&#10;\end{document}"/>
  <p:tag name="IGUANATEXSIZE" val="18"/>
  <p:tag name="IGUANATEXCURSOR" val="85"/>
  <p:tag name="TRANSPARENCY" val="Vrai"/>
  <p:tag name="FILENAME" val=""/>
  <p:tag name="LATEXENGINEID" val="0"/>
  <p:tag name="TEMPFOLDER" val="c:\temp\"/>
  <p:tag name="LATEXFORMHEIGHT" val="447.6"/>
  <p:tag name="LATEXFORMWIDTH" val="709.8"/>
  <p:tag name="LATEXFORMWRAP" val="Vrai"/>
  <p:tag name="BITMAPVECTOR" val="0"/>
</p:tagLst>
</file>

<file path=ppt/tags/tag52.xml><?xml version="1.0" encoding="utf-8"?>
<p:tagLst xmlns:a="http://schemas.openxmlformats.org/drawingml/2006/main" xmlns:r="http://schemas.openxmlformats.org/officeDocument/2006/relationships" xmlns:p="http://schemas.openxmlformats.org/presentationml/2006/main">
  <p:tag name="OUTPUTDPI" val="1200"/>
  <p:tag name="ORIGINALHEIGHT" val="73.49078"/>
  <p:tag name="ORIGINALWIDTH" val="275.9655"/>
  <p:tag name="OUTPUTTYPE" val="PNG"/>
  <p:tag name="IGUANATEXVERSION" val="161"/>
  <p:tag name="LATEXADDIN" val="\documentclass{article}&#10;\usepackage{amsmath}&#10;\pagestyle{empty}&#10;\begin{document}&#10;&#10;$$&#10;x_{N-1}&#10;$$&#10;&#10;&#10;\end{document}"/>
  <p:tag name="IGUANATEXSIZE" val="18"/>
  <p:tag name="IGUANATEXCURSOR" val="90"/>
  <p:tag name="TRANSPARENCY" val="Vrai"/>
  <p:tag name="FILENAME" val=""/>
  <p:tag name="LATEXENGINEID" val="0"/>
  <p:tag name="TEMPFOLDER" val="c:\temp\"/>
  <p:tag name="LATEXFORMHEIGHT" val="447.6"/>
  <p:tag name="LATEXFORMWIDTH" val="709.8"/>
  <p:tag name="LATEXFORMWRAP" val="Vrai"/>
  <p:tag name="BITMAPVECTOR" val="0"/>
</p:tagLst>
</file>

<file path=ppt/tags/tag53.xml><?xml version="1.0" encoding="utf-8"?>
<p:tagLst xmlns:a="http://schemas.openxmlformats.org/drawingml/2006/main" xmlns:r="http://schemas.openxmlformats.org/officeDocument/2006/relationships" xmlns:p="http://schemas.openxmlformats.org/presentationml/2006/main">
  <p:tag name="OUTPUTDPI" val="1200"/>
  <p:tag name="ORIGINALHEIGHT" val="3118.86"/>
  <p:tag name="ORIGINALWIDTH" val="5661.792"/>
  <p:tag name="OUTPUTTYPE" val="PNG"/>
  <p:tag name="IGUANATEXVERSION" val="161"/>
  <p:tag name="LATEXADDIN" val="\documentclass{article}&#10;\usepackage{amsmath}&#10;\pagestyle{empty}&#10;\begin{document}&#10;&#10;\begin{minipage}{16cm}&#10;\subsection* {Système linéaire}&#10;&#10;On regroupe les $N$ inconnues dans le vecteur $\mathbf{T}=\left(T_{1}, \cdots, T_{N}\right)^{\top}$ et on note $\mathbf{b}=\left(b_{1}, \cdots, b_{N}\right)^{\top}$ avec $b_{i}=w_{i}\; Q_{i}$ pour $i \in [2, N-1]$. Le système d'équations est linéaire et est de la forme $A \; \mathbf{T}=\mathbf{b}$,&#10;Les expressions de la 1ère ligne et de la ligne $N$ dépendent du type de conditions aux limites.&#10;&#10;$A$ est une matrice de taille $N \times N$ définie par&#10;&#10;\[&#10;A=\left(\begin{array}{ccccc}&#10;\alpha_{1} &amp; \beta_{1} &amp; &amp; &amp; 0 \\&#10;\beta_{1} &amp; \alpha_{2} &amp; \beta_{2} &amp; &amp; \\&#10;&amp; \ddots &amp; \ddots &amp; \ddots &amp; \\&#10;&amp; &amp; \beta_{N-2} &amp; \alpha_{N-1} &amp; \beta_{N-1} \\&#10;0 &amp; &amp; &amp; \beta_{N-1} &amp; \alpha_{N}&#10;\end{array}\right)&#10;\]&#10;&#10;avec, pour $i \in [2, N-1]$,&#10;$$&#10;\alpha_{i}=\frac{K}{x_{i}-x_{i-1}} + \frac{K}{x_{i+1}-x_{i}} &gt;0, \quad \beta_{i}=-\frac{K}&#10;{x_{i+1}-x_i}&lt;0&#10;$$&#10;&#10;On remarque que la matrice est creuse, \\ que $\beta_{i-1}+\alpha_{i}+\beta_{i}=0$ pour $2 \leq i \leq N-1$ et que $\alpha_{1}&gt;\beta_{1}, \alpha_{N}&gt;\beta_{N}$. \\&#10;Comme la matrice est symétrique à diagonale dominante, mise en oeuvre des algorithmes de résolution de type gradient conjugué pour les grandes tailles $N$.&#10;\end{minipage}&#10;\end{document}"/>
  <p:tag name="IGUANATEXSIZE" val="20"/>
  <p:tag name="IGUANATEXCURSOR" val="1295"/>
  <p:tag name="TRANSPARENCY" val="Vrai"/>
  <p:tag name="FILENAME" val=""/>
  <p:tag name="LATEXENGINEID" val="0"/>
  <p:tag name="TEMPFOLDER" val="c:\temp\"/>
  <p:tag name="LATEXFORMHEIGHT" val="457.8"/>
  <p:tag name="LATEXFORMWIDTH" val="666.6"/>
  <p:tag name="LATEXFORMWRAP" val="Vrai"/>
  <p:tag name="BITMAPVECTOR" val="0"/>
</p:tagLst>
</file>

<file path=ppt/tags/tag54.xml><?xml version="1.0" encoding="utf-8"?>
<p:tagLst xmlns:a="http://schemas.openxmlformats.org/drawingml/2006/main" xmlns:r="http://schemas.openxmlformats.org/officeDocument/2006/relationships" xmlns:p="http://schemas.openxmlformats.org/presentationml/2006/main">
  <p:tag name="OUTPUTDPI" val=" 1200"/>
  <p:tag name="ORIGINALHEIGHT" val=" 134.9832"/>
  <p:tag name="ORIGINALWIDTH" val=" 1974.503"/>
  <p:tag name="OUTPUTTYPE" val="PNG"/>
  <p:tag name="IGUANATEXVERSION" val="162"/>
  <p:tag name="LATEXADDIN" val="\documentclass{article}&#10;\usepackage{amsmath}&#10;\pagestyle{empty}&#10;\begin{document}&#10;&#10;\subsection*{Implémentation en Python}&#10;&#10;&#10;\end{document}"/>
  <p:tag name="IGUANATEXSIZE" val="20"/>
  <p:tag name="IGUANATEXCURSOR" val="118"/>
  <p:tag name="TRANSPARENCY" val="Vrai"/>
  <p:tag name="CHOOSECOLOR" val="Faux"/>
  <p:tag name="COLORHEX" val="000000"/>
  <p:tag name="FILENAME" val=""/>
  <p:tag name="LATEXENGINEID" val="0"/>
  <p:tag name="TEMPFOLDER" val="c:\temp\"/>
  <p:tag name="LATEXFORMHEIGHT" val=" 320"/>
  <p:tag name="LATEXFORMWIDTH" val=" 385"/>
  <p:tag name="LATEXFORMWRAP" val="Vrai"/>
  <p:tag name="BITMAPVECTOR" val="0"/>
</p:tagLst>
</file>

<file path=ppt/tags/tag55.xml><?xml version="1.0" encoding="utf-8"?>
<p:tagLst xmlns:a="http://schemas.openxmlformats.org/drawingml/2006/main" xmlns:r="http://schemas.openxmlformats.org/officeDocument/2006/relationships" xmlns:p="http://schemas.openxmlformats.org/presentationml/2006/main">
  <p:tag name="OUTPUTDPI" val="1200"/>
  <p:tag name="ORIGINALHEIGHT" val="134.2332"/>
  <p:tag name="ORIGINALWIDTH" val="1961.755"/>
  <p:tag name="OUTPUTTYPE" val="PNG"/>
  <p:tag name="IGUANATEXVERSION" val="161"/>
  <p:tag name="LATEXADDIN" val="\documentclass{article}&#10;\usepackage{amsmath}&#10;\pagestyle{empty}&#10;\begin{document}&#10;&#10;\subsection*{Implémentation en Matlab}&#10;&#10;&#10;\end{document}"/>
  <p:tag name="IGUANATEXSIZE" val="20"/>
  <p:tag name="IGUANATEXCURSOR" val="112"/>
  <p:tag name="TRANSPARENCY" val="Vrai"/>
  <p:tag name="FILENAME" val=""/>
  <p:tag name="LATEXENGINEID" val="0"/>
  <p:tag name="TEMPFOLDER" val="c:\temp\"/>
  <p:tag name="LATEXFORMHEIGHT" val="320"/>
  <p:tag name="LATEXFORMWIDTH" val="385"/>
  <p:tag name="LATEXFORMWRAP" val="Vrai"/>
  <p:tag name="BITMAPVECTOR" val="0"/>
</p:tagLst>
</file>

<file path=ppt/tags/tag56.xml><?xml version="1.0" encoding="utf-8"?>
<p:tagLst xmlns:a="http://schemas.openxmlformats.org/drawingml/2006/main" xmlns:r="http://schemas.openxmlformats.org/officeDocument/2006/relationships" xmlns:p="http://schemas.openxmlformats.org/presentationml/2006/main">
  <p:tag name="OUTPUTDPI" val="1200"/>
  <p:tag name="ORIGINALHEIGHT" val="134.2332"/>
  <p:tag name="ORIGINALWIDTH" val="2819.647"/>
  <p:tag name="OUTPUTTYPE" val="PNG"/>
  <p:tag name="IGUANATEXVERSION" val="161"/>
  <p:tag name="LATEXADDIN" val="\documentclass{article}&#10;\usepackage{amsmath}&#10;\pagestyle{empty}&#10;\begin{document}&#10;&#10;\subsection*{Comparaison avec les différences finies}&#10;&#10;&#10;\end{document}"/>
  <p:tag name="IGUANATEXSIZE" val="20"/>
  <p:tag name="IGUANATEXCURSOR" val="135"/>
  <p:tag name="TRANSPARENCY" val="Vrai"/>
  <p:tag name="FILENAME" val=""/>
  <p:tag name="LATEXENGINEID" val="0"/>
  <p:tag name="TEMPFOLDER" val="c:\temp\"/>
  <p:tag name="LATEXFORMHEIGHT" val="320"/>
  <p:tag name="LATEXFORMWIDTH" val="385"/>
  <p:tag name="LATEXFORMWRAP" val="Vrai"/>
  <p:tag name="BITMAPVECTOR" val="0"/>
</p:tagLst>
</file>

<file path=ppt/tags/tag57.xml><?xml version="1.0" encoding="utf-8"?>
<p:tagLst xmlns:a="http://schemas.openxmlformats.org/drawingml/2006/main" xmlns:r="http://schemas.openxmlformats.org/officeDocument/2006/relationships" xmlns:p="http://schemas.openxmlformats.org/presentationml/2006/main">
  <p:tag name="OUTPUTDPI" val="1200"/>
  <p:tag name="ORIGINALHEIGHT" val="2432.696"/>
  <p:tag name="ORIGINALWIDTH" val="5110.611"/>
  <p:tag name="OUTPUTTYPE" val="PNG"/>
  <p:tag name="IGUANATEXVERSION" val="161"/>
  <p:tag name="LATEXADDIN" val="\documentclass{article}&#10;\usepackage{amsmath}&#10;\pagestyle{empty}&#10;\begin{document}&#10;&#10;$$&#10;T_{i+1} = T_i + (\Delta x^+) \left . \frac{\partial T}{\partial x} \right|_i + \frac{1}{2} (\Delta x^+)^2 &#10;\left . \frac{\partial^2 T}{\partial x^2} \right|_i +&#10;\vartheta(\Delta x^+)^3)&#10;$$&#10;et&#10;$$&#10;T_{i-1} = T_i - (\Delta x^-) \left . \frac{\partial T}{\partial x} \right|_i + \frac{1}{2} (\Delta x^-)^2 &#10;\left . \frac{\partial^2 T}{\partial x^2} \right|_i +&#10;\vartheta(\Delta x^-)^3)&#10;$$&#10;En multipliant la première équation par $\Delta x^-$ et la seconde par $\Delta x^+$, la somme donne :&#10;$$&#10;\left . -\frac{\partial^2 T}{\partial x^2} \right|_i \Big(\frac{\Delta x^-+\Delta x^+}{2} \Big) =&#10;-\frac{1}{\Delta x^-} T_{i-1} +\Big(\frac{1}{\Delta x^-}+\frac{1}{\Delta x^+}\Big) T_i - \frac{1}{\Delta x^+} T_{i+1}&#10;\equiv \left . -\frac{\partial^2 T}{\partial x^2} \right|_i \; w_i&#10;$$&#10;Pour chaque noeud $i$ intérieur, on résout $-K \left . \partial_x^2 T \right|_i = Q_i$.&#10;En multipliant chaque membre par $w_i$, on retrouve la formulation des volumes finis :&#10;\begin{equation*}&#10;-\frac{K}{x_{i}-x_{i-1}}\; T_{i-1}&#10;+\left(\frac{K}{x_{i}-x_{i-1}} + \frac{K}{x_{i+1}-x_{i}} \right)\; T_{i}&#10;-\frac{K}{x_{i+1}-x_{i}}\; T_{i+1}&#10;=w_{i}\; Q_{i} \quad \text { pour } 2 \leq i \leq N-1 &#10;\end{equation*}&#10;&#10;\end{document}"/>
  <p:tag name="IGUANATEXSIZE" val="20"/>
  <p:tag name="IGUANATEXCURSOR" val="1266"/>
  <p:tag name="TRANSPARENCY" val="Vrai"/>
  <p:tag name="FILENAME" val=""/>
  <p:tag name="LATEXENGINEID" val="0"/>
  <p:tag name="TEMPFOLDER" val="c:\temp\"/>
  <p:tag name="LATEXFORMHEIGHT" val="320"/>
  <p:tag name="LATEXFORMWIDTH" val="617.4"/>
  <p:tag name="LATEXFORMWRAP" val="Vrai"/>
  <p:tag name="BITMAPVECTOR" val="0"/>
</p:tagLst>
</file>

<file path=ppt/tags/tag58.xml><?xml version="1.0" encoding="utf-8"?>
<p:tagLst xmlns:a="http://schemas.openxmlformats.org/drawingml/2006/main" xmlns:r="http://schemas.openxmlformats.org/officeDocument/2006/relationships" xmlns:p="http://schemas.openxmlformats.org/presentationml/2006/main">
  <p:tag name="OUTPUTDPI" val="1200"/>
  <p:tag name="ORIGINALHEIGHT" val="373.4533"/>
  <p:tag name="ORIGINALWIDTH" val="999.6251"/>
  <p:tag name="OUTPUTTYPE" val="PNG"/>
  <p:tag name="IGUANATEXVERSION" val="161"/>
  <p:tag name="LATEXADDIN" val="\documentclass{article}&#10;\usepackage{amsmath}&#10;\pagestyle{empty}&#10;\begin{document}&#10;&#10;\[&#10;\begin{cases}&#10;\Delta x^- = x_i - x_{i-1} \\&#10;\Delta x^+ = x_{i+1} - x_{i} &#10;\end{cases}&#10;\]&#10;&#10;&#10;\end{document}"/>
  <p:tag name="IGUANATEXSIZE" val="20"/>
  <p:tag name="IGUANATEXCURSOR" val="80"/>
  <p:tag name="TRANSPARENCY" val="Vrai"/>
  <p:tag name="FILENAME" val=""/>
  <p:tag name="LATEXENGINEID" val="0"/>
  <p:tag name="TEMPFOLDER" val="c:\temp\"/>
  <p:tag name="LATEXFORMHEIGHT" val="320"/>
  <p:tag name="LATEXFORMWIDTH" val="385"/>
  <p:tag name="LATEXFORMWRAP" val="Vrai"/>
  <p:tag name="BITMAPVECTOR" val="0"/>
</p:tagLst>
</file>

<file path=ppt/tags/tag59.xml><?xml version="1.0" encoding="utf-8"?>
<p:tagLst xmlns:a="http://schemas.openxmlformats.org/drawingml/2006/main" xmlns:r="http://schemas.openxmlformats.org/officeDocument/2006/relationships" xmlns:p="http://schemas.openxmlformats.org/presentationml/2006/main">
  <p:tag name="OUTPUTDPI" val="1200"/>
  <p:tag name="ORIGINALHEIGHT" val="107.2366"/>
  <p:tag name="ORIGINALWIDTH" val="872.8909"/>
  <p:tag name="OUTPUTTYPE" val="PNG"/>
  <p:tag name="IGUANATEXVERSION" val="161"/>
  <p:tag name="LATEXADDIN" val="\documentclass{article}&#10;\usepackage{amsmath}&#10;\pagestyle{empty}&#10;\begin{document}&#10;&#10;\[&#10;\Delta x^- \quad \quad \quad  \Delta x^+ &#10;\]&#10;&#10;&#10;\end{document}"/>
  <p:tag name="IGUANATEXSIZE" val="20"/>
  <p:tag name="IGUANATEXCURSOR" val="113"/>
  <p:tag name="TRANSPARENCY" val="Vrai"/>
  <p:tag name="FILENAME" val=""/>
  <p:tag name="LATEXENGINEID" val="0"/>
  <p:tag name="TEMPFOLDER" val="c:\temp\"/>
  <p:tag name="LATEXFORMHEIGHT" val="320"/>
  <p:tag name="LATEXFORMWIDTH" val="385"/>
  <p:tag name="LATEXFORMWRAP" val="Vrai"/>
  <p:tag name="BITMAPVECTOR" val="0"/>
</p:tagLst>
</file>

<file path=ppt/tags/tag60.xml><?xml version="1.0" encoding="utf-8"?>
<p:tagLst xmlns:a="http://schemas.openxmlformats.org/drawingml/2006/main" xmlns:r="http://schemas.openxmlformats.org/officeDocument/2006/relationships" xmlns:p="http://schemas.openxmlformats.org/presentationml/2006/main">
  <p:tag name="OUTPUTDPI" val="1200"/>
  <p:tag name="ORIGINALHEIGHT" val="83.98952"/>
  <p:tag name="ORIGINALWIDTH" val="244.4695"/>
  <p:tag name="OUTPUTTYPE" val="PNG"/>
  <p:tag name="IGUANATEXVERSION" val="161"/>
  <p:tag name="LATEXADDIN" val="\documentclass{article}&#10;\usepackage{amsmath}&#10;\pagestyle{empty}&#10;\begin{document}&#10;&#10;&#10;$i-1$&#10;&#10;\end{document}"/>
  <p:tag name="IGUANATEXSIZE" val="20"/>
  <p:tag name="IGUANATEXCURSOR" val="87"/>
  <p:tag name="TRANSPARENCY" val="Vrai"/>
  <p:tag name="FILENAME" val=""/>
  <p:tag name="LATEXENGINEID" val="0"/>
  <p:tag name="TEMPFOLDER" val="c:\temp\"/>
  <p:tag name="LATEXFORMHEIGHT" val="320"/>
  <p:tag name="LATEXFORMWIDTH" val="385"/>
  <p:tag name="LATEXFORMWRAP" val="Vrai"/>
  <p:tag name="BITMAPVECTOR" val="0"/>
</p:tagLst>
</file>

<file path=ppt/tags/tag61.xml><?xml version="1.0" encoding="utf-8"?>
<p:tagLst xmlns:a="http://schemas.openxmlformats.org/drawingml/2006/main" xmlns:r="http://schemas.openxmlformats.org/officeDocument/2006/relationships" xmlns:p="http://schemas.openxmlformats.org/presentationml/2006/main">
  <p:tag name="OUTPUTDPI" val="1200"/>
  <p:tag name="ORIGINALHEIGHT" val="92.98835"/>
  <p:tag name="ORIGINALWIDTH" val="244.4695"/>
  <p:tag name="OUTPUTTYPE" val="PNG"/>
  <p:tag name="IGUANATEXVERSION" val="161"/>
  <p:tag name="LATEXADDIN" val="\documentclass{article}&#10;\usepackage{amsmath}&#10;\pagestyle{empty}&#10;\begin{document}&#10;&#10;&#10;$i+1$&#10;&#10;\end{document}"/>
  <p:tag name="IGUANATEXSIZE" val="20"/>
  <p:tag name="IGUANATEXCURSOR" val="85"/>
  <p:tag name="TRANSPARENCY" val="Vrai"/>
  <p:tag name="FILENAME" val=""/>
  <p:tag name="LATEXENGINEID" val="0"/>
  <p:tag name="TEMPFOLDER" val="c:\temp\"/>
  <p:tag name="LATEXFORMHEIGHT" val="320"/>
  <p:tag name="LATEXFORMWIDTH" val="385"/>
  <p:tag name="LATEXFORMWRAP" val="Vrai"/>
  <p:tag name="BITMAPVECTOR" val="0"/>
</p:tagLst>
</file>

<file path=ppt/tags/tag62.xml><?xml version="1.0" encoding="utf-8"?>
<p:tagLst xmlns:a="http://schemas.openxmlformats.org/drawingml/2006/main" xmlns:r="http://schemas.openxmlformats.org/officeDocument/2006/relationships" xmlns:p="http://schemas.openxmlformats.org/presentationml/2006/main">
  <p:tag name="OUTPUTDPI" val="1200"/>
  <p:tag name="ORIGINALHEIGHT" val="83.23961"/>
  <p:tag name="ORIGINALWIDTH" val="33.74575"/>
  <p:tag name="OUTPUTTYPE" val="PNG"/>
  <p:tag name="IGUANATEXVERSION" val="161"/>
  <p:tag name="LATEXADDIN" val="\documentclass{article}&#10;\usepackage{amsmath}&#10;\pagestyle{empty}&#10;\begin{document}&#10;&#10;&#10;$i$&#10;&#10;\end{document}"/>
  <p:tag name="IGUANATEXSIZE" val="20"/>
  <p:tag name="IGUANATEXCURSOR" val="84"/>
  <p:tag name="TRANSPARENCY" val="Vrai"/>
  <p:tag name="FILENAME" val=""/>
  <p:tag name="LATEXENGINEID" val="0"/>
  <p:tag name="TEMPFOLDER" val="c:\temp\"/>
  <p:tag name="LATEXFORMHEIGHT" val="320"/>
  <p:tag name="LATEXFORMWIDTH" val="385"/>
  <p:tag name="LATEXFORMWRAP" val="Vrai"/>
  <p:tag name="BITMAPVECTOR" val="0"/>
</p:tagLst>
</file>

<file path=ppt/tags/tag63.xml><?xml version="1.0" encoding="utf-8"?>
<p:tagLst xmlns:a="http://schemas.openxmlformats.org/drawingml/2006/main" xmlns:r="http://schemas.openxmlformats.org/officeDocument/2006/relationships" xmlns:p="http://schemas.openxmlformats.org/presentationml/2006/main">
  <p:tag name="OUTPUTDPI" val="1200"/>
  <p:tag name="ORIGINALHEIGHT" val="2806.899"/>
  <p:tag name="ORIGINALWIDTH" val="5664.042"/>
  <p:tag name="OUTPUTTYPE" val="PNG"/>
  <p:tag name="IGUANATEXVERSION" val="161"/>
  <p:tag name="LATEXADDIN" val="\documentclass{article}&#10;\usepackage{amsmath}&#10;\usepackage{xcolor}&#10;\pagestyle{empty}&#10;\begin{document}&#10;&#10;\begin{minipage}{16cm}&#10;\section*{Système multi-matériaux  : discrétisation du flux}&#10;&#10;Soit un système composé de milieux en contact avec des conductivités thermiques différentes à gauche $K^-$ et à droite $K^+$.&#10;{\color{black}&#10;La discrétiation de l'equation demande de calculer les flux entre chaque volume de contrôle.&#10;Si on reprend direcement la formule obtenue pour le flux à l'interface entre deux volumes de contrôle :&#10;\begin{equation*}&#10;F_{i+\frac{1}{2}}^{-} = F_{i+\frac{1}{2}}^{+} = -K\; \frac{T_{i+1}-T_{i}}{x_{i+1}-x_{i}}&#10;\end{equation*}&#10;on se demande quelle conductivité faudrait il utiliser pour le flux thermique à travers l'interface.&#10;La tentation est forte de prendre la moyenne arithmetique des deux concuctivités :&#10;$$&#10;K^{eff} = \frac{K^- + K^+}{2}&#10;$$&#10;Ou éventuellement une interpolation linéaire en fonction de la distance au deux noeuds :&#10;$$&#10;K^{eff} = \frac{h^+K^- + h^-K^+}{h^- + h^+}&#10;$$&#10;&#10;Mais comment peut-on savoir si ces choix sont pertinents ?&#10;}&#10;\end{minipage}&#10;\end{document}"/>
  <p:tag name="IGUANATEXSIZE" val="20"/>
  <p:tag name="IGUANATEXCURSOR" val="325"/>
  <p:tag name="TRANSPARENCY" val="Vrai"/>
  <p:tag name="FILENAME" val=""/>
  <p:tag name="LATEXENGINEID" val="0"/>
  <p:tag name="TEMPFOLDER" val="c:\temp\"/>
  <p:tag name="LATEXFORMHEIGHT" val="559"/>
  <p:tag name="LATEXFORMWIDTH" val="863"/>
  <p:tag name="LATEXFORMWRAP" val="Vrai"/>
  <p:tag name="BITMAPVECTOR" val="0"/>
</p:tagLst>
</file>

<file path=ppt/tags/tag64.xml><?xml version="1.0" encoding="utf-8"?>
<p:tagLst xmlns:a="http://schemas.openxmlformats.org/drawingml/2006/main" xmlns:r="http://schemas.openxmlformats.org/officeDocument/2006/relationships" xmlns:p="http://schemas.openxmlformats.org/presentationml/2006/main">
  <p:tag name="OUTPUTDPI" val="1200"/>
  <p:tag name="ORIGINALHEIGHT" val="373.4533"/>
  <p:tag name="ORIGINALWIDTH" val="1454.068"/>
  <p:tag name="OUTPUTTYPE" val="PNG"/>
  <p:tag name="IGUANATEXVERSION" val="161"/>
  <p:tag name="LATEXADDIN" val="\documentclass{article}&#10;\usepackage{amsmath}&#10;\pagestyle{empty}&#10;\begin{document}&#10;&#10;\[&#10;\begin{cases}&#10;h^- = x_{i+\frac{1}{2}} - x_i = \frac{w_i}{2} \\&#10;h^+ = x_{i+1} - x_{i+\frac{1}{2}} = \frac{w_{i+1}}{2}&#10;\end{cases}&#10;\]&#10;&#10;&#10;\end{document}"/>
  <p:tag name="IGUANATEXSIZE" val="20"/>
  <p:tag name="IGUANATEXCURSOR" val="196"/>
  <p:tag name="TRANSPARENCY" val="Vrai"/>
  <p:tag name="FILENAME" val=""/>
  <p:tag name="LATEXENGINEID" val="0"/>
  <p:tag name="TEMPFOLDER" val="c:\temp\"/>
  <p:tag name="LATEXFORMHEIGHT" val="320"/>
  <p:tag name="LATEXFORMWIDTH" val="385"/>
  <p:tag name="LATEXFORMWRAP" val="Vrai"/>
  <p:tag name="BITMAPVECTOR" val="0"/>
</p:tagLst>
</file>

<file path=ppt/tags/tag65.xml><?xml version="1.0" encoding="utf-8"?>
<p:tagLst xmlns:a="http://schemas.openxmlformats.org/drawingml/2006/main" xmlns:r="http://schemas.openxmlformats.org/officeDocument/2006/relationships" xmlns:p="http://schemas.openxmlformats.org/presentationml/2006/main">
  <p:tag name="OUTPUTDPI" val="1200"/>
  <p:tag name="ORIGINALHEIGHT" val="90.73866"/>
  <p:tag name="ORIGINALWIDTH" val="89.23882"/>
  <p:tag name="OUTPUTTYPE" val="PNG"/>
  <p:tag name="IGUANATEXVERSION" val="161"/>
  <p:tag name="LATEXADDIN" val="\documentclass{article}&#10;\usepackage{amsmath}&#10;\pagestyle{empty}&#10;\begin{document}&#10;&#10;&#10;$C$&#10;&#10;\end{document}"/>
  <p:tag name="IGUANATEXSIZE" val="20"/>
  <p:tag name="IGUANATEXCURSOR" val="85"/>
  <p:tag name="TRANSPARENCY" val="Vrai"/>
  <p:tag name="FILENAME" val=""/>
  <p:tag name="LATEXENGINEID" val="0"/>
  <p:tag name="TEMPFOLDER" val="c:\temp\"/>
  <p:tag name="LATEXFORMHEIGHT" val="320"/>
  <p:tag name="LATEXFORMWIDTH" val="385"/>
  <p:tag name="LATEXFORMWRAP" val="Vrai"/>
  <p:tag name="BITMAPVECTOR" val="0"/>
</p:tagLst>
</file>

<file path=ppt/tags/tag66.xml><?xml version="1.0" encoding="utf-8"?>
<p:tagLst xmlns:a="http://schemas.openxmlformats.org/drawingml/2006/main" xmlns:r="http://schemas.openxmlformats.org/officeDocument/2006/relationships" xmlns:p="http://schemas.openxmlformats.org/presentationml/2006/main">
  <p:tag name="OUTPUTDPI" val="1200"/>
  <p:tag name="ORIGINALHEIGHT" val="84.73937"/>
  <p:tag name="ORIGINALWIDTH" val="89.23882"/>
  <p:tag name="OUTPUTTYPE" val="PNG"/>
  <p:tag name="IGUANATEXVERSION" val="161"/>
  <p:tag name="LATEXADDIN" val="\documentclass{article}&#10;\usepackage{amsmath}&#10;\pagestyle{empty}&#10;\begin{document}&#10;&#10;$F$&#10;&#10;&#10;\end{document}"/>
  <p:tag name="IGUANATEXSIZE" val="20"/>
  <p:tag name="IGUANATEXCURSOR" val="84"/>
  <p:tag name="TRANSPARENCY" val="Vrai"/>
  <p:tag name="FILENAME" val=""/>
  <p:tag name="LATEXENGINEID" val="0"/>
  <p:tag name="TEMPFOLDER" val="c:\temp\"/>
  <p:tag name="LATEXFORMHEIGHT" val="320"/>
  <p:tag name="LATEXFORMWIDTH" val="385"/>
  <p:tag name="LATEXFORMWRAP" val="Vrai"/>
  <p:tag name="BITMAPVECTOR" val="0"/>
</p:tagLst>
</file>

<file path=ppt/tags/tag67.xml><?xml version="1.0" encoding="utf-8"?>
<p:tagLst xmlns:a="http://schemas.openxmlformats.org/drawingml/2006/main" xmlns:r="http://schemas.openxmlformats.org/officeDocument/2006/relationships" xmlns:p="http://schemas.openxmlformats.org/presentationml/2006/main">
  <p:tag name="OUTPUTDPI" val="1200"/>
  <p:tag name="ORIGINALHEIGHT" val="74.24071"/>
  <p:tag name="ORIGINALWIDTH" val="98.98764"/>
  <p:tag name="OUTPUTTYPE" val="PNG"/>
  <p:tag name="IGUANATEXVERSION" val="161"/>
  <p:tag name="LATEXADDIN" val="\documentclass{article}&#10;\usepackage{amsmath}&#10;\pagestyle{empty}&#10;\begin{document}&#10;&#10;$$&#10;x_{i}&#10;$$&#10;&#10;&#10;\end{document}"/>
  <p:tag name="IGUANATEXSIZE" val="18"/>
  <p:tag name="IGUANATEXCURSOR" val="84"/>
  <p:tag name="TRANSPARENCY" val="Vrai"/>
  <p:tag name="FILENAME" val=""/>
  <p:tag name="LATEXENGINEID" val="0"/>
  <p:tag name="TEMPFOLDER" val="c:\temp\"/>
  <p:tag name="LATEXFORMHEIGHT" val="447.6"/>
  <p:tag name="LATEXFORMWIDTH" val="709.8"/>
  <p:tag name="LATEXFORMWRAP" val="Vrai"/>
  <p:tag name="BITMAPVECTOR" val="0"/>
</p:tagLst>
</file>

<file path=ppt/tags/tag68.xml><?xml version="1.0" encoding="utf-8"?>
<p:tagLst xmlns:a="http://schemas.openxmlformats.org/drawingml/2006/main" xmlns:r="http://schemas.openxmlformats.org/officeDocument/2006/relationships" xmlns:p="http://schemas.openxmlformats.org/presentationml/2006/main">
  <p:tag name="OUTPUTDPI" val="1200"/>
  <p:tag name="ORIGINALHEIGHT" val="83.98952"/>
  <p:tag name="ORIGINALWIDTH" val="221.2224"/>
  <p:tag name="OUTPUTTYPE" val="PNG"/>
  <p:tag name="IGUANATEXVERSION" val="161"/>
  <p:tag name="LATEXADDIN" val="\documentclass{article}&#10;\usepackage{amsmath}&#10;\pagestyle{empty}&#10;\begin{document}&#10;&#10;$$&#10;x_{i+1}&#10;$$&#10;&#10;&#10;\end{document}"/>
  <p:tag name="IGUANATEXSIZE" val="18"/>
  <p:tag name="IGUANATEXCURSOR" val="90"/>
  <p:tag name="TRANSPARENCY" val="Vrai"/>
  <p:tag name="FILENAME" val=""/>
  <p:tag name="LATEXENGINEID" val="0"/>
  <p:tag name="TEMPFOLDER" val="c:\temp\"/>
  <p:tag name="LATEXFORMHEIGHT" val="447.6"/>
  <p:tag name="LATEXFORMWIDTH" val="709.8"/>
  <p:tag name="LATEXFORMWRAP" val="Vrai"/>
  <p:tag name="BITMAPVECTOR" val="0"/>
</p:tagLst>
</file>

<file path=ppt/tags/tag69.xml><?xml version="1.0" encoding="utf-8"?>
<p:tagLst xmlns:a="http://schemas.openxmlformats.org/drawingml/2006/main" xmlns:r="http://schemas.openxmlformats.org/officeDocument/2006/relationships" xmlns:p="http://schemas.openxmlformats.org/presentationml/2006/main">
  <p:tag name="OUTPUTDPI" val="1200"/>
  <p:tag name="ORIGINALHEIGHT" val="115.4856"/>
  <p:tag name="ORIGINALWIDTH" val="237.7203"/>
  <p:tag name="OUTPUTTYPE" val="PNG"/>
  <p:tag name="IGUANATEXVERSION" val="161"/>
  <p:tag name="LATEXADDIN" val="\documentclass{article}&#10;\usepackage{amsmath}&#10;\pagestyle{empty}&#10;\begin{document}&#10;&#10;$$&#10;x_{i+\frac{1}{2}}&#10;$$&#10;&#10;&#10;\end{document}"/>
  <p:tag name="IGUANATEXSIZE" val="18"/>
  <p:tag name="IGUANATEXCURSOR" val="99"/>
  <p:tag name="TRANSPARENCY" val="Vrai"/>
  <p:tag name="FILENAME" val=""/>
  <p:tag name="LATEXENGINEID" val="0"/>
  <p:tag name="TEMPFOLDER" val="c:\temp\"/>
  <p:tag name="LATEXFORMHEIGHT" val="447.6"/>
  <p:tag name="LATEXFORMWIDTH" val="709.8"/>
  <p:tag name="LATEXFORMWRAP" val="Vrai"/>
  <p:tag name="BITMAPVECTOR" val="0"/>
</p:tagLst>
</file>

<file path=ppt/tags/tag70.xml><?xml version="1.0" encoding="utf-8"?>
<p:tagLst xmlns:a="http://schemas.openxmlformats.org/drawingml/2006/main" xmlns:r="http://schemas.openxmlformats.org/officeDocument/2006/relationships" xmlns:p="http://schemas.openxmlformats.org/presentationml/2006/main">
  <p:tag name="OUTPUTDPI" val="1200"/>
  <p:tag name="ORIGINALHEIGHT" val="113.2358"/>
  <p:tag name="ORIGINALWIDTH" val="62.99213"/>
  <p:tag name="OUTPUTTYPE" val="PNG"/>
  <p:tag name="IGUANATEXVERSION" val="161"/>
  <p:tag name="LATEXADDIN" val="\documentclass{article}&#10;\usepackage{amsmath}&#10;\pagestyle{empty}&#10;\begin{document}&#10;&#10;&#10;$f$&#10;&#10;\end{document}"/>
  <p:tag name="IGUANATEXSIZE" val="20"/>
  <p:tag name="IGUANATEXCURSOR" val="85"/>
  <p:tag name="TRANSPARENCY" val="Vrai"/>
  <p:tag name="FILENAME" val=""/>
  <p:tag name="LATEXENGINEID" val="0"/>
  <p:tag name="TEMPFOLDER" val="c:\temp\"/>
  <p:tag name="LATEXFORMHEIGHT" val="320"/>
  <p:tag name="LATEXFORMWIDTH" val="385"/>
  <p:tag name="LATEXFORMWRAP" val="Vrai"/>
  <p:tag name="BITMAPVECTOR" val="0"/>
</p:tagLst>
</file>

<file path=ppt/tags/tag71.xml><?xml version="1.0" encoding="utf-8"?>
<p:tagLst xmlns:a="http://schemas.openxmlformats.org/drawingml/2006/main" xmlns:r="http://schemas.openxmlformats.org/officeDocument/2006/relationships" xmlns:p="http://schemas.openxmlformats.org/presentationml/2006/main">
  <p:tag name="OUTPUTDPI" val="1200"/>
  <p:tag name="ORIGINALHEIGHT" val="100.4874"/>
  <p:tag name="ORIGINALWIDTH" val="135.7331"/>
  <p:tag name="OUTPUTTYPE" val="PNG"/>
  <p:tag name="IGUANATEXVERSION" val="161"/>
  <p:tag name="LATEXADDIN" val="\documentclass{article}&#10;\usepackage{amsmath}&#10;\pagestyle{empty}&#10;\begin{document}&#10;&#10;$h^{+}$&#10;&#10;&#10;\end{document}"/>
  <p:tag name="IGUANATEXSIZE" val="20"/>
  <p:tag name="IGUANATEXCURSOR" val="88"/>
  <p:tag name="TRANSPARENCY" val="Vrai"/>
  <p:tag name="FILENAME" val=""/>
  <p:tag name="LATEXENGINEID" val="0"/>
  <p:tag name="TEMPFOLDER" val="c:\temp\"/>
  <p:tag name="LATEXFORMHEIGHT" val="320"/>
  <p:tag name="LATEXFORMWIDTH" val="385"/>
  <p:tag name="LATEXFORMWRAP" val="Vrai"/>
  <p:tag name="BITMAPVECTOR" val="0"/>
</p:tagLst>
</file>

<file path=ppt/tags/tag72.xml><?xml version="1.0" encoding="utf-8"?>
<p:tagLst xmlns:a="http://schemas.openxmlformats.org/drawingml/2006/main" xmlns:r="http://schemas.openxmlformats.org/officeDocument/2006/relationships" xmlns:p="http://schemas.openxmlformats.org/presentationml/2006/main">
  <p:tag name="OUTPUTDPI" val="1200"/>
  <p:tag name="ORIGINALHEIGHT" val="87.73905"/>
  <p:tag name="ORIGINALWIDTH" val="134.2332"/>
  <p:tag name="OUTPUTTYPE" val="PNG"/>
  <p:tag name="IGUANATEXVERSION" val="161"/>
  <p:tag name="LATEXADDIN" val="\documentclass{article}&#10;\usepackage{amsmath}&#10;\pagestyle{empty}&#10;\begin{document}&#10;&#10;$h^{-}$&#10;&#10;&#10;\end{document}"/>
  <p:tag name="IGUANATEXSIZE" val="20"/>
  <p:tag name="IGUANATEXCURSOR" val="86"/>
  <p:tag name="TRANSPARENCY" val="Vrai"/>
  <p:tag name="FILENAME" val=""/>
  <p:tag name="LATEXENGINEID" val="0"/>
  <p:tag name="TEMPFOLDER" val="c:\temp\"/>
  <p:tag name="LATEXFORMHEIGHT" val="320"/>
  <p:tag name="LATEXFORMWIDTH" val="385"/>
  <p:tag name="LATEXFORMWRAP" val="Vrai"/>
  <p:tag name="BITMAPVECTOR" val="0"/>
</p:tagLst>
</file>

<file path=ppt/tags/tag73.xml><?xml version="1.0" encoding="utf-8"?>
<p:tagLst xmlns:a="http://schemas.openxmlformats.org/drawingml/2006/main" xmlns:r="http://schemas.openxmlformats.org/officeDocument/2006/relationships" xmlns:p="http://schemas.openxmlformats.org/presentationml/2006/main">
  <p:tag name="OUTPUTDPI" val="1200"/>
  <p:tag name="ORIGINALHEIGHT" val="934.3832"/>
  <p:tag name="ORIGINALWIDTH" val="5659.542"/>
  <p:tag name="OUTPUTTYPE" val="PNG"/>
  <p:tag name="IGUANATEXVERSION" val="161"/>
  <p:tag name="LATEXADDIN" val="\documentclass{article}&#10;\usepackage{amsmath}&#10;\usepackage{xcolor}&#10;\pagestyle{empty}&#10;\begin{document}&#10;&#10;\begin{minipage}{16cm}&#10;\section*{Système multi-matériaux  : notion de $K^{ef\!f}$}&#10;&#10;{\color{black}&#10;Reprenons la dérivation de l'expression du flux entre deux volumes de contrôle, fondée sur la continuité de la température et du flux :&#10;}&#10;%Notre but est d'introduire la notion de conductivité effective $K^{ef\!f}$ à l'interface f.&#10;%A l'interface, on a continuité de la température $T_{f^-} = T_{f^+}$ et du flux normal&#10;$$&#10;-(K^-) \; \left .\frac{\partial T}{\partial x}\right|_{f^-}&#10;= -(K^+) \; \left .\frac{\partial T}{\partial x}\right|_{f^+}&#10;$$&#10;\end{minipage}&#10;\end{document}"/>
  <p:tag name="IGUANATEXSIZE" val="20"/>
  <p:tag name="IGUANATEXCURSOR" val="198"/>
  <p:tag name="TRANSPARENCY" val="Vrai"/>
  <p:tag name="FILENAME" val=""/>
  <p:tag name="LATEXENGINEID" val="0"/>
  <p:tag name="TEMPFOLDER" val="c:\temp\"/>
  <p:tag name="LATEXFORMHEIGHT" val="559"/>
  <p:tag name="LATEXFORMWIDTH" val="863"/>
  <p:tag name="LATEXFORMWRAP" val="Vrai"/>
  <p:tag name="BITMAPVECTOR" val="0"/>
</p:tagLst>
</file>

<file path=ppt/tags/tag74.xml><?xml version="1.0" encoding="utf-8"?>
<p:tagLst xmlns:a="http://schemas.openxmlformats.org/drawingml/2006/main" xmlns:r="http://schemas.openxmlformats.org/officeDocument/2006/relationships" xmlns:p="http://schemas.openxmlformats.org/presentationml/2006/main">
  <p:tag name="OUTPUTDPI" val=" 1200"/>
  <p:tag name="ORIGINALHEIGHT" val=" 166"/>
  <p:tag name="ORIGINALWIDTH" val=" 2210"/>
  <p:tag name="OUTPUTTYPE" val="PNG"/>
  <p:tag name="IGUANATEXVERSION" val="162"/>
  <p:tag name="LATEXADDIN" val="\documentclass{article}&#10;\usepackage{amsmath}&#10;\usepackage{xcolor}&#10;\pagestyle{empty}&#10;\begin{document}&#10;&#10;$-(K^-) \; \frac{T_f-T_C}{h^-} =&#10;-(K^+) \; \frac{T_F-T_f}{h^+} +&#10;{\color{red}\mathcal{O}}(h^\pm)&#10;%\vartheta(h^\pm)\\&#10;$&#10;\end{document}"/>
  <p:tag name="IGUANATEXSIZE" val="20"/>
  <p:tag name="IGUANATEXCURSOR" val="187"/>
  <p:tag name="TRANSPARENCY" val="Vrai"/>
  <p:tag name="CHOOSECOLOR" val="Faux"/>
  <p:tag name="COLORHEX" val="000000"/>
  <p:tag name="LATEXENGINEID" val="0"/>
  <p:tag name="TEMPFOLDER" val="/Users/Giovanni/Library/Containers/com.microsoft.Powerpoint/Data/tmp/TemporaryItems/"/>
  <p:tag name="LATEXFORMHEIGHT" val=" 320"/>
  <p:tag name="LATEXFORMWIDTH" val=" 592.8"/>
  <p:tag name="LATEXFORMWRAP" val="Vrai"/>
  <p:tag name="BITMAPVECTOR" val="0"/>
</p:tagLst>
</file>

<file path=ppt/tags/tag75.xml><?xml version="1.0" encoding="utf-8"?>
<p:tagLst xmlns:a="http://schemas.openxmlformats.org/drawingml/2006/main" xmlns:r="http://schemas.openxmlformats.org/officeDocument/2006/relationships" xmlns:p="http://schemas.openxmlformats.org/presentationml/2006/main">
  <p:tag name="OUTPUTDPI" val="1200"/>
  <p:tag name="ORIGINALHEIGHT" val="1459.318"/>
  <p:tag name="ORIGINALWIDTH" val="5661.042"/>
  <p:tag name="OUTPUTTYPE" val="PNG"/>
  <p:tag name="IGUANATEXVERSION" val="161"/>
  <p:tag name="LATEXADDIN" val="\documentclass{article}&#10;\usepackage{amsmath}&#10;\usepackage{xcolor}&#10;\pagestyle{empty}&#10;\begin{document}&#10;&#10;\begin{minipage}{16cm}&#10;De l'égalité de gauche, on en déduit :&#10;$&#10;T_f&#10;= &#10;\dfrac{\frac{K^-}{h^-}}{\frac{K^-}{h^-} +&#10;\frac{K^+}{h^+}} T_C+&#10;\; \dfrac{\frac{K^+}{h^+}}{\frac{K^-}{h^-} +&#10;\frac{K^+}{h^+}} T_F.&#10;$&#10;En injectant dans l'un des termes de gauche et en appliquant l'égalité de droite, on obtient :&#10;$$\dfrac{h^- + h^+}{K^{ef\!f}} = \dfrac{h^-}{K^-} +&#10;\dfrac{h^+}{K^+}$$&#10;&#10;La conductivité effective $K^{ef\!f}$ est donc égale à la moyenne harmonique des conductivités thermiques. \\Il est évident que dans un milieu homogène $K^{ef\!f} = K$,&#10;{\color{black}&#10;ce qui permet d'appliquer la formule pour $K^{ef\!f}$ à toutes les faces entre volumes de contrôle, ce qui permet d'homogénéiser les écritures&#10;}.&#10;\end{minipage}&#10;\end{document}"/>
  <p:tag name="IGUANATEXSIZE" val="20"/>
  <p:tag name="IGUANATEXCURSOR" val="654"/>
  <p:tag name="TRANSPARENCY" val="Vrai"/>
  <p:tag name="FILENAME" val=""/>
  <p:tag name="LATEXENGINEID" val="0"/>
  <p:tag name="TEMPFOLDER" val="c:\temp\"/>
  <p:tag name="LATEXFORMHEIGHT" val="320"/>
  <p:tag name="LATEXFORMWIDTH" val="504"/>
  <p:tag name="LATEXFORMWRAP" val="Vrai"/>
  <p:tag name="BITMAPVECTOR" val="0"/>
</p:tagLst>
</file>

<file path=ppt/tags/tag76.xml><?xml version="1.0" encoding="utf-8"?>
<p:tagLst xmlns:a="http://schemas.openxmlformats.org/drawingml/2006/main" xmlns:r="http://schemas.openxmlformats.org/officeDocument/2006/relationships" xmlns:p="http://schemas.openxmlformats.org/presentationml/2006/main">
  <p:tag name="OUTPUTDPI" val="1200"/>
  <p:tag name="ORIGINALHEIGHT" val="163.4795"/>
  <p:tag name="ORIGINALWIDTH" val="842.8947"/>
  <p:tag name="OUTPUTTYPE" val="PNG"/>
  <p:tag name="IGUANATEXVERSION" val="161"/>
  <p:tag name="LATEXADDIN" val="\documentclass{article}&#10;\usepackage{amsmath}&#10;\pagestyle{empty}&#10;\begin{document}&#10;&#10;$\equiv  -K^{ef\!f} \frac{T_F-T_C}{h^- + h^+}$&#10;\end{document}"/>
  <p:tag name="IGUANATEXSIZE" val="20"/>
  <p:tag name="IGUANATEXCURSOR" val="82"/>
  <p:tag name="TRANSPARENCY" val="Vrai"/>
  <p:tag name="FILENAME" val=""/>
  <p:tag name="LATEXENGINEID" val="0"/>
  <p:tag name="TEMPFOLDER" val="c:\temp\"/>
  <p:tag name="LATEXFORMHEIGHT" val="320"/>
  <p:tag name="LATEXFORMWIDTH" val="592.8"/>
  <p:tag name="LATEXFORMWRAP" val="Vrai"/>
  <p:tag name="BITMAPVECTOR" val="0"/>
</p:tagLst>
</file>

<file path=ppt/tags/tag77.xml><?xml version="1.0" encoding="utf-8"?>
<p:tagLst xmlns:a="http://schemas.openxmlformats.org/drawingml/2006/main" xmlns:r="http://schemas.openxmlformats.org/officeDocument/2006/relationships" xmlns:p="http://schemas.openxmlformats.org/presentationml/2006/main">
  <p:tag name="OUTPUTDPI" val="1200"/>
  <p:tag name="ORIGINALHEIGHT" val="373.4533"/>
  <p:tag name="ORIGINALWIDTH" val="1454.068"/>
  <p:tag name="OUTPUTTYPE" val="PNG"/>
  <p:tag name="IGUANATEXVERSION" val="161"/>
  <p:tag name="LATEXADDIN" val="\documentclass{article}&#10;\usepackage{amsmath}&#10;\pagestyle{empty}&#10;\begin{document}&#10;&#10;\[&#10;\begin{cases}&#10;h^- = x_{i+\frac{1}{2}} - x_i = \frac{w_i}{2} \\&#10;h^+ = x_{i+1} - x_{i+\frac{1}{2}} = \frac{w_{i+1}}{2}&#10;\end{cases}&#10;\]&#10;&#10;&#10;\end{document}"/>
  <p:tag name="IGUANATEXSIZE" val="20"/>
  <p:tag name="IGUANATEXCURSOR" val="196"/>
  <p:tag name="TRANSPARENCY" val="Vrai"/>
  <p:tag name="FILENAME" val=""/>
  <p:tag name="LATEXENGINEID" val="0"/>
  <p:tag name="TEMPFOLDER" val="c:\temp\"/>
  <p:tag name="LATEXFORMHEIGHT" val="320"/>
  <p:tag name="LATEXFORMWIDTH" val="385"/>
  <p:tag name="LATEXFORMWRAP" val="Vrai"/>
  <p:tag name="BITMAPVECTOR" val="0"/>
</p:tagLst>
</file>

<file path=ppt/tags/tag78.xml><?xml version="1.0" encoding="utf-8"?>
<p:tagLst xmlns:a="http://schemas.openxmlformats.org/drawingml/2006/main" xmlns:r="http://schemas.openxmlformats.org/officeDocument/2006/relationships" xmlns:p="http://schemas.openxmlformats.org/presentationml/2006/main">
  <p:tag name="OUTPUTDPI" val="1200"/>
  <p:tag name="ORIGINALHEIGHT" val="90.73866"/>
  <p:tag name="ORIGINALWIDTH" val="89.23882"/>
  <p:tag name="OUTPUTTYPE" val="PNG"/>
  <p:tag name="IGUANATEXVERSION" val="161"/>
  <p:tag name="LATEXADDIN" val="\documentclass{article}&#10;\usepackage{amsmath}&#10;\pagestyle{empty}&#10;\begin{document}&#10;&#10;&#10;$C$&#10;&#10;\end{document}"/>
  <p:tag name="IGUANATEXSIZE" val="20"/>
  <p:tag name="IGUANATEXCURSOR" val="85"/>
  <p:tag name="TRANSPARENCY" val="Vrai"/>
  <p:tag name="FILENAME" val=""/>
  <p:tag name="LATEXENGINEID" val="0"/>
  <p:tag name="TEMPFOLDER" val="c:\temp\"/>
  <p:tag name="LATEXFORMHEIGHT" val="320"/>
  <p:tag name="LATEXFORMWIDTH" val="385"/>
  <p:tag name="LATEXFORMWRAP" val="Vrai"/>
  <p:tag name="BITMAPVECTOR" val="0"/>
</p:tagLst>
</file>

<file path=ppt/tags/tag79.xml><?xml version="1.0" encoding="utf-8"?>
<p:tagLst xmlns:a="http://schemas.openxmlformats.org/drawingml/2006/main" xmlns:r="http://schemas.openxmlformats.org/officeDocument/2006/relationships" xmlns:p="http://schemas.openxmlformats.org/presentationml/2006/main">
  <p:tag name="OUTPUTDPI" val="1200"/>
  <p:tag name="ORIGINALHEIGHT" val="84.73937"/>
  <p:tag name="ORIGINALWIDTH" val="89.23882"/>
  <p:tag name="OUTPUTTYPE" val="PNG"/>
  <p:tag name="IGUANATEXVERSION" val="161"/>
  <p:tag name="LATEXADDIN" val="\documentclass{article}&#10;\usepackage{amsmath}&#10;\pagestyle{empty}&#10;\begin{document}&#10;&#10;$F$&#10;&#10;&#10;\end{document}"/>
  <p:tag name="IGUANATEXSIZE" val="20"/>
  <p:tag name="IGUANATEXCURSOR" val="84"/>
  <p:tag name="TRANSPARENCY" val="Vrai"/>
  <p:tag name="FILENAME" val=""/>
  <p:tag name="LATEXENGINEID" val="0"/>
  <p:tag name="TEMPFOLDER" val="c:\temp\"/>
  <p:tag name="LATEXFORMHEIGHT" val="320"/>
  <p:tag name="LATEXFORMWIDTH" val="385"/>
  <p:tag name="LATEXFORMWRAP" val="Vrai"/>
  <p:tag name="BITMAPVECTOR" val="0"/>
</p:tagLst>
</file>

<file path=ppt/tags/tag80.xml><?xml version="1.0" encoding="utf-8"?>
<p:tagLst xmlns:a="http://schemas.openxmlformats.org/drawingml/2006/main" xmlns:r="http://schemas.openxmlformats.org/officeDocument/2006/relationships" xmlns:p="http://schemas.openxmlformats.org/presentationml/2006/main">
  <p:tag name="OUTPUTDPI" val="1200"/>
  <p:tag name="ORIGINALHEIGHT" val="74.24071"/>
  <p:tag name="ORIGINALWIDTH" val="98.98764"/>
  <p:tag name="OUTPUTTYPE" val="PNG"/>
  <p:tag name="IGUANATEXVERSION" val="161"/>
  <p:tag name="LATEXADDIN" val="\documentclass{article}&#10;\usepackage{amsmath}&#10;\pagestyle{empty}&#10;\begin{document}&#10;&#10;$$&#10;x_{i}&#10;$$&#10;&#10;&#10;\end{document}"/>
  <p:tag name="IGUANATEXSIZE" val="18"/>
  <p:tag name="IGUANATEXCURSOR" val="84"/>
  <p:tag name="TRANSPARENCY" val="Vrai"/>
  <p:tag name="FILENAME" val=""/>
  <p:tag name="LATEXENGINEID" val="0"/>
  <p:tag name="TEMPFOLDER" val="c:\temp\"/>
  <p:tag name="LATEXFORMHEIGHT" val="447.6"/>
  <p:tag name="LATEXFORMWIDTH" val="709.8"/>
  <p:tag name="LATEXFORMWRAP" val="Vrai"/>
  <p:tag name="BITMAPVECTOR" val="0"/>
</p:tagLst>
</file>

<file path=ppt/tags/tag81.xml><?xml version="1.0" encoding="utf-8"?>
<p:tagLst xmlns:a="http://schemas.openxmlformats.org/drawingml/2006/main" xmlns:r="http://schemas.openxmlformats.org/officeDocument/2006/relationships" xmlns:p="http://schemas.openxmlformats.org/presentationml/2006/main">
  <p:tag name="OUTPUTDPI" val="1200"/>
  <p:tag name="ORIGINALHEIGHT" val="83.98952"/>
  <p:tag name="ORIGINALWIDTH" val="221.2224"/>
  <p:tag name="OUTPUTTYPE" val="PNG"/>
  <p:tag name="IGUANATEXVERSION" val="161"/>
  <p:tag name="LATEXADDIN" val="\documentclass{article}&#10;\usepackage{amsmath}&#10;\pagestyle{empty}&#10;\begin{document}&#10;&#10;$$&#10;x_{i+1}&#10;$$&#10;&#10;&#10;\end{document}"/>
  <p:tag name="IGUANATEXSIZE" val="18"/>
  <p:tag name="IGUANATEXCURSOR" val="90"/>
  <p:tag name="TRANSPARENCY" val="Vrai"/>
  <p:tag name="FILENAME" val=""/>
  <p:tag name="LATEXENGINEID" val="0"/>
  <p:tag name="TEMPFOLDER" val="c:\temp\"/>
  <p:tag name="LATEXFORMHEIGHT" val="447.6"/>
  <p:tag name="LATEXFORMWIDTH" val="709.8"/>
  <p:tag name="LATEXFORMWRAP" val="Vrai"/>
  <p:tag name="BITMAPVECTOR" val="0"/>
</p:tagLst>
</file>

<file path=ppt/tags/tag82.xml><?xml version="1.0" encoding="utf-8"?>
<p:tagLst xmlns:a="http://schemas.openxmlformats.org/drawingml/2006/main" xmlns:r="http://schemas.openxmlformats.org/officeDocument/2006/relationships" xmlns:p="http://schemas.openxmlformats.org/presentationml/2006/main">
  <p:tag name="OUTPUTDPI" val="1200"/>
  <p:tag name="ORIGINALHEIGHT" val="115.4856"/>
  <p:tag name="ORIGINALWIDTH" val="237.7203"/>
  <p:tag name="OUTPUTTYPE" val="PNG"/>
  <p:tag name="IGUANATEXVERSION" val="161"/>
  <p:tag name="LATEXADDIN" val="\documentclass{article}&#10;\usepackage{amsmath}&#10;\pagestyle{empty}&#10;\begin{document}&#10;&#10;$$&#10;x_{i+\frac{1}{2}}&#10;$$&#10;&#10;&#10;\end{document}"/>
  <p:tag name="IGUANATEXSIZE" val="18"/>
  <p:tag name="IGUANATEXCURSOR" val="99"/>
  <p:tag name="TRANSPARENCY" val="Vrai"/>
  <p:tag name="FILENAME" val=""/>
  <p:tag name="LATEXENGINEID" val="0"/>
  <p:tag name="TEMPFOLDER" val="c:\temp\"/>
  <p:tag name="LATEXFORMHEIGHT" val="447.6"/>
  <p:tag name="LATEXFORMWIDTH" val="709.8"/>
  <p:tag name="LATEXFORMWRAP" val="Vrai"/>
  <p:tag name="BITMAPVECTOR" val="0"/>
</p:tagLst>
</file>

<file path=ppt/tags/tag83.xml><?xml version="1.0" encoding="utf-8"?>
<p:tagLst xmlns:a="http://schemas.openxmlformats.org/drawingml/2006/main" xmlns:r="http://schemas.openxmlformats.org/officeDocument/2006/relationships" xmlns:p="http://schemas.openxmlformats.org/presentationml/2006/main">
  <p:tag name="OUTPUTDPI" val="1200"/>
  <p:tag name="ORIGINALHEIGHT" val="113.2358"/>
  <p:tag name="ORIGINALWIDTH" val="62.99213"/>
  <p:tag name="OUTPUTTYPE" val="PNG"/>
  <p:tag name="IGUANATEXVERSION" val="161"/>
  <p:tag name="LATEXADDIN" val="\documentclass{article}&#10;\usepackage{amsmath}&#10;\pagestyle{empty}&#10;\begin{document}&#10;&#10;&#10;$f$&#10;&#10;\end{document}"/>
  <p:tag name="IGUANATEXSIZE" val="20"/>
  <p:tag name="IGUANATEXCURSOR" val="85"/>
  <p:tag name="TRANSPARENCY" val="Vrai"/>
  <p:tag name="FILENAME" val=""/>
  <p:tag name="LATEXENGINEID" val="0"/>
  <p:tag name="TEMPFOLDER" val="c:\temp\"/>
  <p:tag name="LATEXFORMHEIGHT" val="320"/>
  <p:tag name="LATEXFORMWIDTH" val="385"/>
  <p:tag name="LATEXFORMWRAP" val="Vrai"/>
  <p:tag name="BITMAPVECTOR" val="0"/>
</p:tagLst>
</file>

<file path=ppt/tags/tag84.xml><?xml version="1.0" encoding="utf-8"?>
<p:tagLst xmlns:a="http://schemas.openxmlformats.org/drawingml/2006/main" xmlns:r="http://schemas.openxmlformats.org/officeDocument/2006/relationships" xmlns:p="http://schemas.openxmlformats.org/presentationml/2006/main">
  <p:tag name="OUTPUTDPI" val="1200"/>
  <p:tag name="ORIGINALHEIGHT" val="100.4874"/>
  <p:tag name="ORIGINALWIDTH" val="135.7331"/>
  <p:tag name="OUTPUTTYPE" val="PNG"/>
  <p:tag name="IGUANATEXVERSION" val="161"/>
  <p:tag name="LATEXADDIN" val="\documentclass{article}&#10;\usepackage{amsmath}&#10;\pagestyle{empty}&#10;\begin{document}&#10;&#10;$h^{+}$&#10;&#10;&#10;\end{document}"/>
  <p:tag name="IGUANATEXSIZE" val="20"/>
  <p:tag name="IGUANATEXCURSOR" val="88"/>
  <p:tag name="TRANSPARENCY" val="Vrai"/>
  <p:tag name="FILENAME" val=""/>
  <p:tag name="LATEXENGINEID" val="0"/>
  <p:tag name="TEMPFOLDER" val="c:\temp\"/>
  <p:tag name="LATEXFORMHEIGHT" val="320"/>
  <p:tag name="LATEXFORMWIDTH" val="385"/>
  <p:tag name="LATEXFORMWRAP" val="Vrai"/>
  <p:tag name="BITMAPVECTOR" val="0"/>
</p:tagLst>
</file>

<file path=ppt/tags/tag85.xml><?xml version="1.0" encoding="utf-8"?>
<p:tagLst xmlns:a="http://schemas.openxmlformats.org/drawingml/2006/main" xmlns:r="http://schemas.openxmlformats.org/officeDocument/2006/relationships" xmlns:p="http://schemas.openxmlformats.org/presentationml/2006/main">
  <p:tag name="OUTPUTDPI" val="1200"/>
  <p:tag name="ORIGINALHEIGHT" val="87.73905"/>
  <p:tag name="ORIGINALWIDTH" val="134.2332"/>
  <p:tag name="OUTPUTTYPE" val="PNG"/>
  <p:tag name="IGUANATEXVERSION" val="161"/>
  <p:tag name="LATEXADDIN" val="\documentclass{article}&#10;\usepackage{amsmath}&#10;\pagestyle{empty}&#10;\begin{document}&#10;&#10;$h^{-}$&#10;&#10;&#10;\end{document}"/>
  <p:tag name="IGUANATEXSIZE" val="20"/>
  <p:tag name="IGUANATEXCURSOR" val="86"/>
  <p:tag name="TRANSPARENCY" val="Vrai"/>
  <p:tag name="FILENAME" val=""/>
  <p:tag name="LATEXENGINEID" val="0"/>
  <p:tag name="TEMPFOLDER" val="c:\temp\"/>
  <p:tag name="LATEXFORMHEIGHT" val="320"/>
  <p:tag name="LATEXFORMWIDTH" val="385"/>
  <p:tag name="LATEXFORMWRAP" val="Vrai"/>
  <p:tag name="BITMAPVECTOR" val="0"/>
</p:tagLst>
</file>

<file path=ppt/tags/tag86.xml><?xml version="1.0" encoding="utf-8"?>
<p:tagLst xmlns:a="http://schemas.openxmlformats.org/drawingml/2006/main" xmlns:r="http://schemas.openxmlformats.org/officeDocument/2006/relationships" xmlns:p="http://schemas.openxmlformats.org/presentationml/2006/main">
  <p:tag name="OUTPUTDPI" val=" 1200"/>
  <p:tag name="ORIGINALHEIGHT" val=" 134.9832"/>
  <p:tag name="ORIGINALWIDTH" val=" 1948.256"/>
  <p:tag name="OUTPUTTYPE" val="PNG"/>
  <p:tag name="IGUANATEXVERSION" val="162"/>
  <p:tag name="LATEXADDIN" val="\documentclass{article}&#10;\usepackage{amsmath}&#10;\pagestyle{empty}&#10;\begin{document}&#10;&#10;\subsection*{Implémentation en python}&#10;&#10;&#10;\end{document}"/>
  <p:tag name="IGUANATEXSIZE" val="20"/>
  <p:tag name="IGUANATEXCURSOR" val="118"/>
  <p:tag name="TRANSPARENCY" val="Vrai"/>
  <p:tag name="CHOOSECOLOR" val="Faux"/>
  <p:tag name="COLORHEX" val="000000"/>
  <p:tag name="FILENAME" val=""/>
  <p:tag name="LATEXENGINEID" val="0"/>
  <p:tag name="TEMPFOLDER" val="c:\temp\"/>
  <p:tag name="LATEXFORMHEIGHT" val=" 320"/>
  <p:tag name="LATEXFORMWIDTH" val=" 385"/>
  <p:tag name="LATEXFORMWRAP" val="Vrai"/>
  <p:tag name="BITMAPVECTOR" val="0"/>
</p:tagLst>
</file>

<file path=ppt/tags/tag87.xml><?xml version="1.0" encoding="utf-8"?>
<p:tagLst xmlns:a="http://schemas.openxmlformats.org/drawingml/2006/main" xmlns:r="http://schemas.openxmlformats.org/officeDocument/2006/relationships" xmlns:p="http://schemas.openxmlformats.org/presentationml/2006/main">
  <p:tag name="OUTPUTDPI" val="1200"/>
  <p:tag name="ORIGINALHEIGHT" val="134.2332"/>
  <p:tag name="ORIGINALWIDTH" val="1961.755"/>
  <p:tag name="OUTPUTTYPE" val="PNG"/>
  <p:tag name="IGUANATEXVERSION" val="161"/>
  <p:tag name="LATEXADDIN" val="\documentclass{article}&#10;\usepackage{amsmath}&#10;\pagestyle{empty}&#10;\begin{document}&#10;&#10;\subsection*{Implémentation en Matlab}&#10;&#10;&#10;\end{document}"/>
  <p:tag name="IGUANATEXSIZE" val="20"/>
  <p:tag name="IGUANATEXCURSOR" val="112"/>
  <p:tag name="TRANSPARENCY" val="Vrai"/>
  <p:tag name="FILENAME" val=""/>
  <p:tag name="LATEXENGINEID" val="0"/>
  <p:tag name="TEMPFOLDER" val="c:\temp\"/>
  <p:tag name="LATEXFORMHEIGHT" val="320"/>
  <p:tag name="LATEXFORMWIDTH" val="385"/>
  <p:tag name="LATEXFORMWRAP" val="Vrai"/>
  <p:tag name="BITMAPVECTOR" val="0"/>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3544</TotalTime>
  <Words>818</Words>
  <Application>Microsoft Office PowerPoint</Application>
  <PresentationFormat>Grand écran</PresentationFormat>
  <Paragraphs>201</Paragraphs>
  <Slides>19</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19</vt:i4>
      </vt:variant>
    </vt:vector>
  </HeadingPairs>
  <TitlesOfParts>
    <vt:vector size="27" baseType="lpstr">
      <vt:lpstr>Arial</vt:lpstr>
      <vt:lpstr>Arial Black</vt:lpstr>
      <vt:lpstr>Calibri</vt:lpstr>
      <vt:lpstr>Calibri Light</vt:lpstr>
      <vt:lpstr>Consolas</vt:lpstr>
      <vt:lpstr>Courier New</vt:lpstr>
      <vt:lpstr>Euclid</vt:lpstr>
      <vt:lpstr>Thème Office</vt:lpstr>
      <vt:lpstr>Méthode des volumes finis  J.-C. TOUSSAINT,  G. GHIGLIOTTI</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Méthode des volumes finis  Application à l’équation de diffusion advection</dc:title>
  <dc:creator>toussaij</dc:creator>
  <cp:lastModifiedBy>toussaij</cp:lastModifiedBy>
  <cp:revision>329</cp:revision>
  <cp:lastPrinted>2025-05-23T08:43:21Z</cp:lastPrinted>
  <dcterms:created xsi:type="dcterms:W3CDTF">2025-05-07T14:14:36Z</dcterms:created>
  <dcterms:modified xsi:type="dcterms:W3CDTF">2025-08-02T15:49:32Z</dcterms:modified>
</cp:coreProperties>
</file>