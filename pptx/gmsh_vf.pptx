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50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5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28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50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7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94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87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00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33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40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53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C8F38-0BDD-48AA-8B47-A65FE1014269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2183D-1593-4E64-AC63-BBE56B237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30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image" Target="../media/image8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6.png"/><Relationship Id="rId17" Type="http://schemas.openxmlformats.org/officeDocument/2006/relationships/image" Target="../media/image17.png"/><Relationship Id="rId2" Type="http://schemas.openxmlformats.org/officeDocument/2006/relationships/tags" Target="../tags/tag9.xml"/><Relationship Id="rId16" Type="http://schemas.openxmlformats.org/officeDocument/2006/relationships/image" Target="../media/image10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5.png"/><Relationship Id="rId5" Type="http://schemas.openxmlformats.org/officeDocument/2006/relationships/tags" Target="../tags/tag12.xml"/><Relationship Id="rId1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tags" Target="../tags/tag11.xml"/><Relationship Id="rId9" Type="http://schemas.openxmlformats.org/officeDocument/2006/relationships/image" Target="../media/image13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\documentclass{article}&#10;\usepackage{amsmath}&#10;\usepackage[paperwidth=25cm]{geometry}&#10;\pagestyle{empty}&#10;\begin{document}&#10;&#10;\subsection*{GMSH  }&#10;Gmsh est un logiciel libre de génération de maillages (mesh generator) développé initialement par Christophe Geuzaine et Jean-François Remacle. Il est largement utilisé dans la modélisation numérique et les méthodes de calcul par éléments finis (FEM), volumes finis (FVM) ou autres approches discrètes.\\&#10;&#10;Ses principales caractéristiques :&#10;&#10;Interface graphique et langage de script : Gmsh peut être utilisé via une interface graphique interactive, mais aussi à travers des fichiers de script (.geo) permettant de définir géométrie, maillage et conditions aux limites.\\&#10;&#10;Support de géométries complexes : il permet de décrire des géométries allant des formes simples (lignes, surfaces, volumes) à des structures 3D très complexes.\\&#10;&#10;Génération de maillages 1D, 2D et 3D : Gmsh produit des maillages structurés ou non structurés avec des éléments de type segment, triangle, quadrangle, tétraèdre, hexaèdre, prisme ou pyramide. \\&#10;&#10;Maillage adaptatif : possibilité de raffiner localement le maillage en fonction d’un champ (par exemple un gradient de solution numérique).\\&#10;&#10;Interopérabilité : nombreux formats d'exportation du maillage existent en particulier .msh .\\&#10;&#10;En résumé, Gmsh est un outil polyvalent et accessible qui sert de passerelle entre la définition géométrique et la simulation numérique, très apprécié dans le monde académique et industriel grâce à sa flexibilité et à sa gratuité.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04" y="483254"/>
            <a:ext cx="11327999" cy="61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6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484087" y="1714618"/>
            <a:ext cx="40511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Lucida Console" panose="020B0609040504020204" pitchFamily="49" charset="0"/>
              </a:rPr>
              <a:t>cl1 = 0.05;  cl2 = 0.05; cl3 = 0.05;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smtClean="0">
                <a:latin typeface="Lucida Console" panose="020B0609040504020204" pitchFamily="49" charset="0"/>
              </a:rPr>
              <a:t>L = 1;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R=0.5;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smtClean="0">
                <a:latin typeface="Lucida Console" panose="020B0609040504020204" pitchFamily="49" charset="0"/>
              </a:rPr>
              <a:t>Point(1) = {0, 0, 0, cl1};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Point(2) = {+R, 0, 0, cl1};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…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Point(13) = {+0, -L, 0, cl2};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smtClean="0">
                <a:latin typeface="Lucida Console" panose="020B0609040504020204" pitchFamily="49" charset="0"/>
              </a:rPr>
              <a:t>Circle(1) = {2, 1, 4};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…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Circle(4) = {5, 1, 2};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smtClean="0">
                <a:latin typeface="Lucida Console" panose="020B0609040504020204" pitchFamily="49" charset="0"/>
              </a:rPr>
              <a:t>Line(5) = {13, 7};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…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Line(16) = {5, 13};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 Loop(1) = {13, 7, 8, -14, -1};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Plane Surface(1) = {1};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…</a:t>
            </a:r>
          </a:p>
          <a:p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 Loop(5) = {2, 3, 4, 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Plane Surface(5) = {5};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309511" y="914399"/>
            <a:ext cx="523252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Lucida Console" panose="020B0609040504020204" pitchFamily="49" charset="0"/>
              </a:rPr>
              <a:t>Physical Surface("source", 17) = {5};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Physical Surface("isolant", 22) = {2, 1, 4, 3};</a:t>
            </a:r>
          </a:p>
          <a:p>
            <a:endParaRPr lang="fr-FR" sz="1400" dirty="0" smtClean="0">
              <a:latin typeface="Lucida Console" panose="020B0609040504020204" pitchFamily="49" charset="0"/>
            </a:endParaRPr>
          </a:p>
          <a:p>
            <a:r>
              <a:rPr lang="fr-FR" sz="1400" dirty="0" smtClean="0">
                <a:latin typeface="Lucida Console" panose="020B0609040504020204" pitchFamily="49" charset="0"/>
              </a:rPr>
              <a:t>Physical </a:t>
            </a:r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("</a:t>
            </a:r>
            <a:r>
              <a:rPr lang="fr-FR" sz="1400" dirty="0" err="1" smtClean="0">
                <a:latin typeface="Lucida Console" panose="020B0609040504020204" pitchFamily="49" charset="0"/>
              </a:rPr>
              <a:t>left</a:t>
            </a:r>
            <a:r>
              <a:rPr lang="fr-FR" sz="1400" dirty="0" smtClean="0">
                <a:latin typeface="Lucida Console" panose="020B0609040504020204" pitchFamily="49" charset="0"/>
              </a:rPr>
              <a:t>", 18) = {10, 11};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Physical </a:t>
            </a:r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("down", 19) = {12, 5};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Physical </a:t>
            </a:r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("right", 20) = {7, 6};</a:t>
            </a:r>
          </a:p>
          <a:p>
            <a:r>
              <a:rPr lang="fr-FR" sz="1400" dirty="0" smtClean="0">
                <a:latin typeface="Lucida Console" panose="020B0609040504020204" pitchFamily="49" charset="0"/>
              </a:rPr>
              <a:t>Physical </a:t>
            </a:r>
            <a:r>
              <a:rPr lang="fr-FR" sz="1400" dirty="0" err="1" smtClean="0">
                <a:latin typeface="Lucida Console" panose="020B0609040504020204" pitchFamily="49" charset="0"/>
              </a:rPr>
              <a:t>Curve</a:t>
            </a:r>
            <a:r>
              <a:rPr lang="fr-FR" sz="1400" dirty="0" smtClean="0">
                <a:latin typeface="Lucida Console" panose="020B0609040504020204" pitchFamily="49" charset="0"/>
              </a:rPr>
              <a:t>("top", 21) = {9, 8};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511" y="2431823"/>
            <a:ext cx="5715294" cy="442617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524934" y="287866"/>
            <a:ext cx="8787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latin typeface="Euclid" panose="02020503060505020303" pitchFamily="18" charset="0"/>
              </a:rPr>
              <a:t>Exemple de script </a:t>
            </a:r>
            <a:r>
              <a:rPr lang="fr-FR" sz="3200" dirty="0" err="1" smtClean="0">
                <a:latin typeface="Euclid" panose="02020503060505020303" pitchFamily="18" charset="0"/>
              </a:rPr>
              <a:t>geo</a:t>
            </a:r>
            <a:r>
              <a:rPr lang="fr-FR" sz="3200" dirty="0" smtClean="0">
                <a:latin typeface="Euclid" panose="02020503060505020303" pitchFamily="18" charset="0"/>
              </a:rPr>
              <a:t> pour décrire la géométrie</a:t>
            </a:r>
            <a:endParaRPr lang="fr-FR" sz="3200" dirty="0">
              <a:latin typeface="Euclid" panose="02020503060505020303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63157" y="1129011"/>
            <a:ext cx="4946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Script (.</a:t>
            </a:r>
            <a:r>
              <a:rPr lang="fr-FR" sz="2400" dirty="0" err="1" smtClean="0"/>
              <a:t>geo</a:t>
            </a:r>
            <a:r>
              <a:rPr lang="fr-FR" sz="2400" dirty="0" smtClean="0"/>
              <a:t>) pour décrire la géométrie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1860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86" y="1230168"/>
            <a:ext cx="5715798" cy="44297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24934" y="287866"/>
            <a:ext cx="7908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latin typeface="Euclid" panose="02020503060505020303" pitchFamily="18" charset="0"/>
              </a:rPr>
              <a:t>Maillage conforme en triangles et segments</a:t>
            </a:r>
            <a:endParaRPr lang="fr-FR" sz="3200" dirty="0">
              <a:latin typeface="Euclid" panose="02020503060505020303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439" y="1278294"/>
            <a:ext cx="2076740" cy="421063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86" y="1333683"/>
            <a:ext cx="2086266" cy="374384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312" y="3667926"/>
            <a:ext cx="2781688" cy="53347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654" y="4828004"/>
            <a:ext cx="1800476" cy="1686160"/>
          </a:xfrm>
          <a:prstGeom prst="rect">
            <a:avLst/>
          </a:prstGeom>
        </p:spPr>
      </p:pic>
      <p:sp>
        <p:nvSpPr>
          <p:cNvPr id="10" name="Flèche vers le haut 9"/>
          <p:cNvSpPr/>
          <p:nvPr/>
        </p:nvSpPr>
        <p:spPr>
          <a:xfrm rot="5400000">
            <a:off x="9047747" y="3595071"/>
            <a:ext cx="256674" cy="54650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vers le haut 10"/>
          <p:cNvSpPr/>
          <p:nvPr/>
        </p:nvSpPr>
        <p:spPr>
          <a:xfrm rot="10800000">
            <a:off x="10798218" y="4241451"/>
            <a:ext cx="256674" cy="54650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13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284" y="0"/>
            <a:ext cx="11835291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FV_lib.struct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assign_BCs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ASSIGN_BCS - Assigne les conditions aux limites de Dirichlet et de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robinn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Dictionnaire pour les conditions de Dirichlet : clé = nom de région, valeur = scalaire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cfd.dirichlet_map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Exemples de conditions de Dirichlet (commentés comme dans l'original)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cfd.dirichlet_map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'] =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(Td = lambda x, y: 300)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cfd.dirichlet_map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['right'] =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(Td = 500)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Dictionnaire pour les conditions de Robin </a:t>
            </a:r>
            <a:endParaRPr lang="fr-FR" b="0" dirty="0" smtClean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cfd.robin_map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    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cfd.robin_map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'top'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hcv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cfd.robin_map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'down'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hcv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Dictionnaire pour les conditions de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Stefan</a:t>
            </a:r>
            <a:endParaRPr lang="fr-FR" b="0" dirty="0" smtClean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cfd.stefan_map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    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cfd.stefan_map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'top'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Tsur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cfd.stefan_map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'down'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Tsur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cfd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6311351" y="88900"/>
            <a:ext cx="5880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Assign_BCs</a:t>
            </a:r>
            <a:r>
              <a:rPr lang="fr-FR" sz="2800" dirty="0" smtClean="0"/>
              <a:t> : CONDITIONS AUX LIMITES</a:t>
            </a:r>
            <a:endParaRPr lang="fr-FR" sz="2800" dirty="0"/>
          </a:p>
        </p:txBody>
      </p:sp>
      <p:grpSp>
        <p:nvGrpSpPr>
          <p:cNvPr id="10" name="Groupe 9"/>
          <p:cNvGrpSpPr/>
          <p:nvPr/>
        </p:nvGrpSpPr>
        <p:grpSpPr>
          <a:xfrm>
            <a:off x="7920989" y="3417213"/>
            <a:ext cx="3446715" cy="3063240"/>
            <a:chOff x="7920989" y="3417213"/>
            <a:chExt cx="3446715" cy="3063240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6"/>
            <a:srcRect l="39693" t="18655" b="12138"/>
            <a:stretch/>
          </p:blipFill>
          <p:spPr>
            <a:xfrm>
              <a:off x="7920989" y="3417213"/>
              <a:ext cx="3446715" cy="3063240"/>
            </a:xfrm>
            <a:prstGeom prst="rect">
              <a:avLst/>
            </a:prstGeom>
          </p:spPr>
        </p:pic>
        <p:pic>
          <p:nvPicPr>
            <p:cNvPr id="5" name="Image 4" descr="\documentclass{article}&#10;\usepackage{amsmath}&#10;\pagestyle{empty}&#10;\begin{document}&#10;&#10;convection + radiation&#10;&#10;&#10;\end{document}" title="IguanaTex Bitmap Display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289" y="3726256"/>
              <a:ext cx="2260114" cy="176914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6" name="Image 5" descr="\documentclass{article}&#10;\usepackage{amsmath}&#10;\pagestyle{empty}&#10;\begin{document}&#10;&#10;convection + radiation&#10;&#10;&#10;\end{document}" title="IguanaTex Bitmap Display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59" y="6303539"/>
              <a:ext cx="2260114" cy="176914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8" name="Image 7" descr="\documentclass{article}&#10;\usepackage{amsmath}&#10;\pagestyle{empty}&#10;\begin{document}&#10;&#10;$q_n=0$ par défaut&#10;&#10;&#10;\end{document}" title="IguanaTex Bitmap Displa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94980" y="4915965"/>
              <a:ext cx="1730743" cy="2043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9" name="Image 8" descr="\documentclass{article}&#10;\usepackage{amsmath}&#10;\pagestyle{empty}&#10;\begin{document}&#10;&#10;$q_n=0$ par défaut&#10;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909031" y="4846661"/>
              <a:ext cx="1730743" cy="204343"/>
            </a:xfrm>
            <a:prstGeom prst="rect">
              <a:avLst/>
            </a:prstGeom>
            <a:solidFill>
              <a:srgbClr val="FFFFFF"/>
            </a:solidFill>
          </p:spPr>
        </p:pic>
      </p:grpSp>
    </p:spTree>
    <p:extLst>
      <p:ext uri="{BB962C8B-B14F-4D97-AF65-F5344CB8AC3E}">
        <p14:creationId xmlns:p14="http://schemas.microsoft.com/office/powerpoint/2010/main" val="212521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76461" y="292479"/>
            <a:ext cx="11582017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FV_lib.struct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assign_properties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Assigne les propriétés des matériaux aux régions du maillage CFD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objet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contenant les données du maillage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objet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avec les propriétés assignées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Dictionnaire pour les propriétés : clé = nom de région, valeur =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des propriétés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.properties_map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Définition des propriétés par région    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.properties_map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'isolant'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.properties_map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'source'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627446" y="152400"/>
            <a:ext cx="656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Assign_properties</a:t>
            </a:r>
            <a:r>
              <a:rPr lang="fr-FR" sz="2800" dirty="0" smtClean="0"/>
              <a:t> : PROPRIETES PHYSIQUES</a:t>
            </a: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/>
          <a:srcRect l="39693" t="18655" b="12138"/>
          <a:stretch/>
        </p:blipFill>
        <p:spPr>
          <a:xfrm>
            <a:off x="8103869" y="675620"/>
            <a:ext cx="3446715" cy="3063240"/>
          </a:xfrm>
          <a:prstGeom prst="rect">
            <a:avLst/>
          </a:prstGeom>
        </p:spPr>
      </p:pic>
      <p:pic>
        <p:nvPicPr>
          <p:cNvPr id="5" name="Image 4" descr="\documentclass{article}&#10;\usepackage{amsmath}&#10;\pagestyle{empty}&#10;\begin{document}&#10;&#10;$Q=0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854" y="1189971"/>
            <a:ext cx="578743" cy="20434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Image 6" descr="\documentclass{article}&#10;\usepackage{amsmath}&#10;\pagestyle{empty}&#10;\begin{document}&#10;&#10;$Q=1000 W \cdot m^{-3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482" y="2260072"/>
            <a:ext cx="1763657" cy="23177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72000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72375" y="486383"/>
            <a:ext cx="1145538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FV_lib.struct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scipy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sparse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linalg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scipy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sparse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csr_matrix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FV_impl.matrix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build_diffusion_matrix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apply_BCs_to_diffusion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apply_periodic_BCs_to_diffusion_matrix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solve_linear_system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Résout le système linéaire et stocke la solution dans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cfd.T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""« </a:t>
            </a:r>
          </a:p>
          <a:p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fr-FR" b="0" dirty="0" err="1" smtClean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Matrice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de diffusion construite:"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- Taille: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.MD.shape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- Éléments non-nuls: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.MD.nnz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-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Sparsité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.MD.nnz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.MD.shape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.MD.shape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*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Résolution du système linéaire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scipy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sparse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spsolve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.VQ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275491" y="127000"/>
            <a:ext cx="6916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solve_linear_system</a:t>
            </a:r>
            <a:r>
              <a:rPr lang="fr-FR" sz="2800" dirty="0" smtClean="0"/>
              <a:t> : SOLVEUR LINEAIRE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02080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22591" y="0"/>
            <a:ext cx="10948831" cy="7571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solve_nonlinear_system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Tguess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Résout le système non-linéaire et stocke la solution dans 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cfd.T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Tguess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.cell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Told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niter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rtol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0, 1e-8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niter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Construit la matrice de diffusion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build_diffusion_matrix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Applique les conditions aux limites Dirichlet ou Robin        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apply_BCs_to_diffusion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Résolution du système linéaire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scipy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sparse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spsolve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.MD,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.VQ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'Temperature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min 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max 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.T-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Told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Told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rtol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Told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"nombre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d'itérations 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niter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7409922" y="0"/>
            <a:ext cx="47820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solve_nonlinear_system</a:t>
            </a:r>
            <a:r>
              <a:rPr lang="fr-FR" sz="2800" dirty="0" smtClean="0"/>
              <a:t> : </a:t>
            </a:r>
          </a:p>
          <a:p>
            <a:endParaRPr lang="fr-FR" sz="2800" dirty="0"/>
          </a:p>
          <a:p>
            <a:r>
              <a:rPr lang="fr-FR" sz="2800" dirty="0" smtClean="0"/>
              <a:t>SOLVEUR NON-LINEAIRE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4712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2900" y="0"/>
            <a:ext cx="778290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 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.mesh_name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select_file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read_gmsh_msh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Affiche le maillage et les régions surfaciques    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plot_regions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Affiche les cellules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plot_cells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Définit les propriétés physiques par région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assign_properties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Définit les conditions aux limites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assign_BCs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Construit le vecteur source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build_source_vector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7723762" y="233464"/>
            <a:ext cx="4317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py_FV_main</a:t>
            </a:r>
            <a:r>
              <a:rPr lang="fr-FR" sz="2800" dirty="0" smtClean="0"/>
              <a:t> : principal (1/2)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6173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2900" y="0"/>
            <a:ext cx="841608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Résout le système linéaire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solve_nonlinear_system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Représente les données brutes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plot_raw_sol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Représente les données lissés et 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isovaleurs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plot_smoothed_sol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Trace le profil de température de [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xmin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0] à [</a:t>
            </a:r>
            <a:r>
              <a:rPr lang="fr-FR" b="0" dirty="0" err="1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xmax</a:t>
            </a:r>
            <a:r>
              <a:rPr lang="fr-FR" b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0]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cutline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.ymin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cfd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.ymax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"Erreur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lors de la lecture du maillage: 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fr-FR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traceback</a:t>
            </a:r>
            <a:endParaRPr lang="fr-FR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traceback</a:t>
            </a:r>
            <a:r>
              <a:rPr lang="fr-FR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print_exc</a:t>
            </a:r>
            <a:r>
              <a:rPr lang="fr-FR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7723762" y="233464"/>
            <a:ext cx="4317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py_FV_main</a:t>
            </a:r>
            <a:r>
              <a:rPr lang="fr-FR" sz="2800" dirty="0" smtClean="0"/>
              <a:t> : principal (2/2)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00050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7560" y="206152"/>
            <a:ext cx="2976258" cy="306632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5056" y="502136"/>
            <a:ext cx="4395963" cy="294788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730614"/>
            <a:ext cx="4395963" cy="299517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11"/>
          <a:srcRect t="2449"/>
          <a:stretch/>
        </p:blipFill>
        <p:spPr>
          <a:xfrm>
            <a:off x="4323690" y="3806815"/>
            <a:ext cx="3885158" cy="303634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101" y="3730614"/>
            <a:ext cx="4026199" cy="3123622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V="1">
            <a:off x="6121400" y="3452410"/>
            <a:ext cx="12700" cy="3401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3732063" y="-11081"/>
            <a:ext cx="4788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latin typeface="Euclid" panose="02020503060505020303" pitchFamily="18" charset="0"/>
              </a:rPr>
              <a:t>Simulation de la température</a:t>
            </a:r>
            <a:endParaRPr lang="fr-FR" sz="2800" dirty="0">
              <a:latin typeface="Euclid" panose="02020503060505020303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601846" y="3545948"/>
            <a:ext cx="289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Résultats filtrés + isothermes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8382650" y="3545948"/>
            <a:ext cx="192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Evolution selon </a:t>
            </a:r>
            <a:r>
              <a:rPr lang="fr-FR" dirty="0" err="1" smtClean="0"/>
              <a:t>Oy</a:t>
            </a:r>
            <a:endParaRPr lang="fr-FR" dirty="0"/>
          </a:p>
        </p:txBody>
      </p:sp>
      <p:grpSp>
        <p:nvGrpSpPr>
          <p:cNvPr id="23" name="Groupe 22"/>
          <p:cNvGrpSpPr/>
          <p:nvPr/>
        </p:nvGrpSpPr>
        <p:grpSpPr>
          <a:xfrm>
            <a:off x="204832" y="415914"/>
            <a:ext cx="3238931" cy="2878574"/>
            <a:chOff x="117198" y="448825"/>
            <a:chExt cx="3446715" cy="3063240"/>
          </a:xfrm>
        </p:grpSpPr>
        <p:sp>
          <p:nvSpPr>
            <p:cNvPr id="12" name="ZoneTexte 11"/>
            <p:cNvSpPr txBox="1"/>
            <p:nvPr/>
          </p:nvSpPr>
          <p:spPr>
            <a:xfrm>
              <a:off x="520700" y="3142733"/>
              <a:ext cx="1578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Résultats bruts</a:t>
              </a:r>
              <a:endParaRPr lang="fr-FR" dirty="0"/>
            </a:p>
          </p:txBody>
        </p:sp>
        <p:grpSp>
          <p:nvGrpSpPr>
            <p:cNvPr id="15" name="Groupe 14"/>
            <p:cNvGrpSpPr/>
            <p:nvPr/>
          </p:nvGrpSpPr>
          <p:grpSpPr>
            <a:xfrm>
              <a:off x="117198" y="448825"/>
              <a:ext cx="3446715" cy="3063240"/>
              <a:chOff x="7920989" y="3417213"/>
              <a:chExt cx="3446715" cy="3063240"/>
            </a:xfrm>
          </p:grpSpPr>
          <p:pic>
            <p:nvPicPr>
              <p:cNvPr id="16" name="Image 15"/>
              <p:cNvPicPr>
                <a:picLocks noChangeAspect="1"/>
              </p:cNvPicPr>
              <p:nvPr/>
            </p:nvPicPr>
            <p:blipFill rotWithShape="1">
              <a:blip r:embed="rId13"/>
              <a:srcRect l="39693" t="18655" b="12138"/>
              <a:stretch/>
            </p:blipFill>
            <p:spPr>
              <a:xfrm>
                <a:off x="7920989" y="3417213"/>
                <a:ext cx="3446715" cy="3063240"/>
              </a:xfrm>
              <a:prstGeom prst="rect">
                <a:avLst/>
              </a:prstGeom>
            </p:spPr>
          </p:pic>
          <p:pic>
            <p:nvPicPr>
              <p:cNvPr id="17" name="Image 16" descr="\documentclass{article}&#10;\usepackage{amsmath}&#10;\pagestyle{empty}&#10;\begin{document}&#10;&#10;convection + radiation&#10;&#10;&#10;\end{document}" title="IguanaTex Bitmap Display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14289" y="3726256"/>
                <a:ext cx="2260114" cy="176914"/>
              </a:xfrm>
              <a:prstGeom prst="rect">
                <a:avLst/>
              </a:prstGeom>
              <a:solidFill>
                <a:srgbClr val="FFFFFF"/>
              </a:solidFill>
            </p:spPr>
          </p:pic>
          <p:pic>
            <p:nvPicPr>
              <p:cNvPr id="18" name="Image 17" descr="\documentclass{article}&#10;\usepackage{amsmath}&#10;\pagestyle{empty}&#10;\begin{document}&#10;&#10;convection + radiation&#10;&#10;&#10;\end{document}" title="IguanaTex Bitmap Display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40559" y="6303539"/>
                <a:ext cx="2260114" cy="176914"/>
              </a:xfrm>
              <a:prstGeom prst="rect">
                <a:avLst/>
              </a:prstGeom>
              <a:solidFill>
                <a:srgbClr val="FFFFFF"/>
              </a:solidFill>
            </p:spPr>
          </p:pic>
          <p:pic>
            <p:nvPicPr>
              <p:cNvPr id="19" name="Image 18" descr="\documentclass{article}&#10;\usepackage{amsmath}&#10;\pagestyle{empty}&#10;\begin{document}&#10;&#10;$q_n=0$ par défaut&#10;&#10;&#10;\end{document}" title="IguanaTex Bitmap Display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7294980" y="4915965"/>
                <a:ext cx="1730743" cy="204343"/>
              </a:xfrm>
              <a:prstGeom prst="rect">
                <a:avLst/>
              </a:prstGeom>
              <a:solidFill>
                <a:srgbClr val="FFFFFF"/>
              </a:solidFill>
            </p:spPr>
          </p:pic>
          <p:pic>
            <p:nvPicPr>
              <p:cNvPr id="20" name="Image 19" descr="\documentclass{article}&#10;\usepackage{amsmath}&#10;\pagestyle{empty}&#10;\begin{document}&#10;&#10;$q_n=0$ par défaut&#10;&#10;&#10;\end{document}" title="IguanaTex Bitmap Display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9909031" y="4846661"/>
                <a:ext cx="1730743" cy="204343"/>
              </a:xfrm>
              <a:prstGeom prst="rect">
                <a:avLst/>
              </a:prstGeom>
              <a:solidFill>
                <a:srgbClr val="FFFFFF"/>
              </a:solidFill>
            </p:spPr>
          </p:pic>
        </p:grpSp>
        <p:pic>
          <p:nvPicPr>
            <p:cNvPr id="21" name="Image 20" descr="\documentclass{article}&#10;\usepackage{amsmath}&#10;\pagestyle{empty}&#10;\begin{document}&#10;&#10;$Q=0$&#10;&#10;&#10;\end{document}" title="IguanaTex Bitmap Display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356" y="1052510"/>
              <a:ext cx="578743" cy="2043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9" name="Image 8" descr="\documentclass{article}&#10;\usepackage{amsmath}&#10;\pagestyle{empty}&#10;\begin{document}&#10;&#10;$Q=1000$&#10;&#10;&#10;\end{document}" title="IguanaTex Bitmap Display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7361" y="2135695"/>
              <a:ext cx="920229" cy="204342"/>
            </a:xfrm>
            <a:prstGeom prst="rect">
              <a:avLst/>
            </a:prstGeom>
            <a:solidFill>
              <a:srgbClr val="FFFFFF"/>
            </a:solidFill>
          </p:spPr>
        </p:pic>
      </p:grpSp>
      <p:sp>
        <p:nvSpPr>
          <p:cNvPr id="24" name="ZoneTexte 23"/>
          <p:cNvSpPr txBox="1"/>
          <p:nvPr/>
        </p:nvSpPr>
        <p:spPr>
          <a:xfrm>
            <a:off x="525777" y="3543265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Résultats </a:t>
            </a:r>
            <a:r>
              <a:rPr lang="fr-FR" dirty="0" smtClean="0"/>
              <a:t>bruts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57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6.832"/>
  <p:tag name="ORIGINALWIDTH" val="6194.226"/>
  <p:tag name="OUTPUTTYPE" val="PNG"/>
  <p:tag name="IGUANATEXVERSION" val="160"/>
  <p:tag name="LATEXADDIN" val="\documentclass{article}&#10;\usepackage{amsmath}&#10;\usepackage[paperwidth=25cm]{geometry}&#10;\pagestyle{empty}&#10;\begin{document}&#10;&#10;\subsection*{GMSH  }&#10;Gmsh est un logiciel libre de génération de maillages (mesh generator) développé initialement par Christophe Geuzaine et Jean-François Remacle. Il est largement utilisé dans la modélisation numérique et les méthodes de calcul par éléments finis (FEM), volumes finis (FVM) ou autres approches discrètes.\\&#10;&#10;Ses principales caractéristiques :&#10;&#10;Interface graphique et langage de script : Gmsh peut être utilisé via une interface graphique interactive, mais aussi à travers des fichiers de script (.geo) permettant de définir géométrie, maillage et conditions aux limites.\\&#10;&#10;Support de géométries complexes : il permet de décrire des géométries allant des formes simples (lignes, surfaces, volumes) à des structures 3D très complexes.\\&#10;&#10;Génération de maillages 1D, 2D et 3D : Gmsh produit des maillages structurés ou non structurés avec des éléments de type segment, triangle, quadrangle, tétraèdre, hexaèdre, prisme ou pyramide. \\&#10;&#10;Maillage adaptatif : possibilité de raffiner localement le maillage en fonction d’un champ (par exemple un gradient de solution numérique).\\&#10;&#10;Interopérabilité : nombreux formats d'exportation du maillage existent en particulier .msh .\\&#10;&#10;En résumé, Gmsh est un outil polyvalent et accessible qui sert de passerelle entre la définition géométrique et la simulation numérique, très apprécié dans le monde académique et industriel grâce à sa flexibilité et à sa gratuité.&#10;&#10;&#10;\end{document}"/>
  <p:tag name="IGUANATEXSIZE" val="18"/>
  <p:tag name="IGUANATEXCURSOR" val="87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235.845"/>
  <p:tag name="OUTPUTTYPE" val="PNG"/>
  <p:tag name="IGUANATEXVERSION" val="160"/>
  <p:tag name="LATEXADDIN" val="\documentclass{article}&#10;\usepackage{amsmath}&#10;\pagestyle{empty}&#10;\begin{document}&#10;&#10;convection + radiation&#10;&#10;&#10;\end{document}"/>
  <p:tag name="IGUANATEXSIZE" val="18"/>
  <p:tag name="IGUANATEXCURSOR" val="10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235.845"/>
  <p:tag name="OUTPUTTYPE" val="PNG"/>
  <p:tag name="IGUANATEXVERSION" val="160"/>
  <p:tag name="LATEXADDIN" val="\documentclass{article}&#10;\usepackage{amsmath}&#10;\pagestyle{empty}&#10;\begin{document}&#10;&#10;convection + radiation&#10;&#10;&#10;\end{document}"/>
  <p:tag name="IGUANATEXSIZE" val="18"/>
  <p:tag name="IGUANATEXCURSOR" val="10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46.3817"/>
  <p:tag name="OUTPUTTYPE" val="PNG"/>
  <p:tag name="IGUANATEXVERSION" val="160"/>
  <p:tag name="LATEXADDIN" val="\documentclass{article}&#10;\usepackage{amsmath}&#10;\pagestyle{empty}&#10;\begin{document}&#10;&#10;$q_n=0$ par défaut&#10;&#10;&#10;\end{document}"/>
  <p:tag name="IGUANATEXSIZE" val="18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46.3817"/>
  <p:tag name="OUTPUTTYPE" val="PNG"/>
  <p:tag name="IGUANATEXVERSION" val="160"/>
  <p:tag name="LATEXADDIN" val="\documentclass{article}&#10;\usepackage{amsmath}&#10;\pagestyle{empty}&#10;\begin{document}&#10;&#10;$q_n=0$ par défaut&#10;&#10;&#10;\end{document}"/>
  <p:tag name="IGUANATEXSIZE" val="18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316.4605"/>
  <p:tag name="OUTPUTTYPE" val="PNG"/>
  <p:tag name="IGUANATEXVERSION" val="160"/>
  <p:tag name="LATEXADDIN" val="\documentclass{article}&#10;\usepackage{amsmath}&#10;\pagestyle{empty}&#10;\begin{document}&#10;&#10;$Q=0$&#10;&#10;&#10;\end{document}"/>
  <p:tag name="IGUANATEXSIZE" val="18"/>
  <p:tag name="IGUANATEXCURSOR" val="86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7342"/>
  <p:tag name="ORIGINALWIDTH" val="964.3795"/>
  <p:tag name="OUTPUTTYPE" val="PNG"/>
  <p:tag name="IGUANATEXVERSION" val="160"/>
  <p:tag name="LATEXADDIN" val="\documentclass{article}&#10;\usepackage{amsmath}&#10;\pagestyle{empty}&#10;\begin{document}&#10;&#10;$Q=1000 W \cdot m^{-3}$&#10;&#10;&#10;\end{document}"/>
  <p:tag name="IGUANATEXSIZE" val="18"/>
  <p:tag name="IGUANATEXCURSOR" val="10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316.4605"/>
  <p:tag name="OUTPUTTYPE" val="PNG"/>
  <p:tag name="IGUANATEXVERSION" val="160"/>
  <p:tag name="LATEXADDIN" val="\documentclass{article}&#10;\usepackage{amsmath}&#10;\pagestyle{empty}&#10;\begin{document}&#10;&#10;$Q=0$&#10;&#10;&#10;\end{document}"/>
  <p:tag name="IGUANATEXSIZE" val="18"/>
  <p:tag name="IGUANATEXCURSOR" val="86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503.1871"/>
  <p:tag name="OUTPUTTYPE" val="PNG"/>
  <p:tag name="IGUANATEXVERSION" val="160"/>
  <p:tag name="LATEXADDIN" val="\documentclass{article}&#10;\usepackage{amsmath}&#10;\pagestyle{empty}&#10;\begin{document}&#10;&#10;$Q=1000$&#10;&#10;&#10;\end{document}"/>
  <p:tag name="IGUANATEXSIZE" val="18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235.845"/>
  <p:tag name="OUTPUTTYPE" val="PNG"/>
  <p:tag name="IGUANATEXVERSION" val="160"/>
  <p:tag name="LATEXADDIN" val="\documentclass{article}&#10;\usepackage{amsmath}&#10;\pagestyle{empty}&#10;\begin{document}&#10;&#10;convection + radiation&#10;&#10;&#10;\end{document}"/>
  <p:tag name="IGUANATEXSIZE" val="18"/>
  <p:tag name="IGUANATEXCURSOR" val="10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235.845"/>
  <p:tag name="OUTPUTTYPE" val="PNG"/>
  <p:tag name="IGUANATEXVERSION" val="160"/>
  <p:tag name="LATEXADDIN" val="\documentclass{article}&#10;\usepackage{amsmath}&#10;\pagestyle{empty}&#10;\begin{document}&#10;&#10;convection + radiation&#10;&#10;&#10;\end{document}"/>
  <p:tag name="IGUANATEXSIZE" val="18"/>
  <p:tag name="IGUANATEXCURSOR" val="103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46.3817"/>
  <p:tag name="OUTPUTTYPE" val="PNG"/>
  <p:tag name="IGUANATEXVERSION" val="160"/>
  <p:tag name="LATEXADDIN" val="\documentclass{article}&#10;\usepackage{amsmath}&#10;\pagestyle{empty}&#10;\begin{document}&#10;&#10;$q_n=0$ par défaut&#10;&#10;&#10;\end{document}"/>
  <p:tag name="IGUANATEXSIZE" val="18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946.3817"/>
  <p:tag name="OUTPUTTYPE" val="PNG"/>
  <p:tag name="IGUANATEXVERSION" val="160"/>
  <p:tag name="LATEXADDIN" val="\documentclass{article}&#10;\usepackage{amsmath}&#10;\pagestyle{empty}&#10;\begin{document}&#10;&#10;$q_n=0$ par défaut&#10;&#10;&#10;\end{document}"/>
  <p:tag name="IGUANATEXSIZE" val="18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319</Words>
  <Application>Microsoft Office PowerPoint</Application>
  <PresentationFormat>Grand écran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Euclid</vt:lpstr>
      <vt:lpstr>Lucida Console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toussaij</dc:creator>
  <cp:lastModifiedBy>toussaij</cp:lastModifiedBy>
  <cp:revision>13</cp:revision>
  <dcterms:created xsi:type="dcterms:W3CDTF">2025-09-15T12:10:08Z</dcterms:created>
  <dcterms:modified xsi:type="dcterms:W3CDTF">2025-09-15T19:17:49Z</dcterms:modified>
</cp:coreProperties>
</file>