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8" r:id="rId2"/>
    <p:sldId id="270" r:id="rId3"/>
    <p:sldId id="292" r:id="rId4"/>
    <p:sldId id="269" r:id="rId5"/>
    <p:sldId id="275" r:id="rId6"/>
    <p:sldId id="276" r:id="rId7"/>
    <p:sldId id="277" r:id="rId8"/>
    <p:sldId id="279" r:id="rId9"/>
    <p:sldId id="278" r:id="rId10"/>
    <p:sldId id="280" r:id="rId11"/>
    <p:sldId id="281" r:id="rId12"/>
  </p:sldIdLst>
  <p:sldSz cx="12192000" cy="6858000"/>
  <p:notesSz cx="6797675"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84" d="100"/>
          <a:sy n="84" d="100"/>
        </p:scale>
        <p:origin x="13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36DE70FF-228E-47FB-94DE-7A280A394D15}" type="datetimeFigureOut">
              <a:rPr lang="fr-FR" smtClean="0"/>
              <a:t>15/09/2025</a:t>
            </a:fld>
            <a:endParaRPr lang="fr-FR"/>
          </a:p>
        </p:txBody>
      </p:sp>
      <p:sp>
        <p:nvSpPr>
          <p:cNvPr id="4" name="Espace réservé du pied de page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888D0975-E02E-49E3-9733-C9E6F6444EE7}" type="slidenum">
              <a:rPr lang="fr-FR" smtClean="0"/>
              <a:t>‹N°›</a:t>
            </a:fld>
            <a:endParaRPr lang="fr-FR"/>
          </a:p>
        </p:txBody>
      </p:sp>
    </p:spTree>
    <p:extLst>
      <p:ext uri="{BB962C8B-B14F-4D97-AF65-F5344CB8AC3E}">
        <p14:creationId xmlns:p14="http://schemas.microsoft.com/office/powerpoint/2010/main" val="4158898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A5B44191-EE3B-4515-966B-1DCEE858949A}" type="datetimeFigureOut">
              <a:rPr lang="fr-FR" smtClean="0"/>
              <a:t>15/09/2025</a:t>
            </a:fld>
            <a:endParaRPr lang="fr-FR"/>
          </a:p>
        </p:txBody>
      </p:sp>
      <p:sp>
        <p:nvSpPr>
          <p:cNvPr id="4" name="Espace réservé de l'image des diapositives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33639F0E-33EF-4D64-BCF3-BE7B36DBC362}" type="slidenum">
              <a:rPr lang="fr-FR" smtClean="0"/>
              <a:t>‹N°›</a:t>
            </a:fld>
            <a:endParaRPr lang="fr-FR"/>
          </a:p>
        </p:txBody>
      </p:sp>
    </p:spTree>
    <p:extLst>
      <p:ext uri="{BB962C8B-B14F-4D97-AF65-F5344CB8AC3E}">
        <p14:creationId xmlns:p14="http://schemas.microsoft.com/office/powerpoint/2010/main" val="1888690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0375C402-EA8E-4276-B15E-D4A7F024FD7A}"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78010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1C674B68-9166-4443-BC44-4BD685F6CB38}"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450851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341179DE-063C-497B-A5AC-85B3543D1B84}"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591595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CEEC9F39-C892-4A4C-A5C0-F59DD566CAD7}" type="datetime1">
              <a:rPr lang="fr-FR" smtClean="0"/>
              <a:t>15/09/2025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873220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1FE7EA54-438A-40D2-BF6C-5F69B26699BC}" type="datetime1">
              <a:rPr lang="fr-FR" smtClean="0"/>
              <a:t>15/09/2025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199590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35006FC9-6F87-4FDA-B85C-B5427941757A}" type="datetime1">
              <a:rPr lang="fr-FR" smtClean="0"/>
              <a:t>15/09/2025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1353705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D73EB4F-84FA-40BF-9C9F-9615600430BB}" type="datetime1">
              <a:rPr lang="fr-FR" smtClean="0"/>
              <a:t>15/09/2025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548793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05730B66-DB65-4B29-B850-1504EBFED8A3}" type="datetime1">
              <a:rPr lang="fr-FR" smtClean="0"/>
              <a:t>15/09/2025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76448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9816439E-E20C-49AC-84CD-E7D925C27FE1}" type="datetime1">
              <a:rPr lang="fr-FR" smtClean="0"/>
              <a:t>15/09/2025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28986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97D8EBC-A87C-4B64-9B4D-AC23646450FB}"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872407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5EBB2A33-88D4-4999-9FB7-3C265F88DBA2}"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192109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530916-6FA0-4CE1-A61F-4E8083C4FE60}" type="datetime1">
              <a:rPr lang="fr-FR" smtClean="0"/>
              <a:t>15/09/2025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13DDC6-9977-4A69-882A-1641CFA73689}" type="slidenum">
              <a:rPr lang="fr-FR" smtClean="0"/>
              <a:t>‹N°›</a:t>
            </a:fld>
            <a:endParaRPr lang="fr-FR"/>
          </a:p>
        </p:txBody>
      </p:sp>
    </p:spTree>
    <p:extLst>
      <p:ext uri="{BB962C8B-B14F-4D97-AF65-F5344CB8AC3E}">
        <p14:creationId xmlns:p14="http://schemas.microsoft.com/office/powerpoint/2010/main" val="3298298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3.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image" Target="../media/image1.png"/><Relationship Id="rId10" Type="http://schemas.openxmlformats.org/officeDocument/2006/relationships/image" Target="../media/image6.png"/><Relationship Id="rId4" Type="http://schemas.openxmlformats.org/officeDocument/2006/relationships/slideLayout" Target="../slideLayouts/slideLayout7.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6.xml"/><Relationship Id="rId7" Type="http://schemas.openxmlformats.org/officeDocument/2006/relationships/image" Target="../media/image4.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slideLayout" Target="../slideLayouts/slideLayout7.xml"/><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1.xml"/><Relationship Id="rId13" Type="http://schemas.openxmlformats.org/officeDocument/2006/relationships/image" Target="../media/image14.png"/><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image" Target="../media/image13.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12.png"/><Relationship Id="rId5" Type="http://schemas.openxmlformats.org/officeDocument/2006/relationships/tags" Target="../tags/tag11.xml"/><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tags" Target="../tags/tag10.xml"/><Relationship Id="rId9" Type="http://schemas.openxmlformats.org/officeDocument/2006/relationships/image" Target="../media/image10.png"/><Relationship Id="rId1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7.xml"/><Relationship Id="rId1" Type="http://schemas.openxmlformats.org/officeDocument/2006/relationships/tags" Target="../tags/tag14.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7.xml"/><Relationship Id="rId1" Type="http://schemas.openxmlformats.org/officeDocument/2006/relationships/tags" Target="../tags/tag20.xml"/></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23.xml"/><Relationship Id="rId7" Type="http://schemas.openxmlformats.org/officeDocument/2006/relationships/image" Target="../media/image27.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descr="\documentclass{article}&#10;\usepackage{amsmath, amssymb}&#10;\usepackage{xcolor}&#10;\usepackage[paperwidth=25cm]{geometry}&#10;\pagestyle{empty}&#10;\begin{document}&#10;&#10;&#10;\section*{Exercice 2.33 modifié}&#10;&#10;L'oxydation lente des particules de charbon dans une couche plane d'épaisseur $L = 1$ m&#10;génère une densité volumique de puissance $Q = 10$ W/m$^3$. En moyenne par jour, la surface supérieure de la couche transfère la chaleur par convection à l'air ambiant pour lequel $h = 8$ W/m$^2 \cdot$ K et $T_{\infty} = 30$°C, tout en recevant un rayonnement solaire d'une quantité $G_s = 500$ W/m$^2$. L'absorptivité solaire et l'émissivité de la surface sont respectivement $\alpha_s = \varepsilon = 0.95$. On tiendra compte du rayonnement de l'atmosphère dont $T_{sur}=20^\circ C$.&#10;\end{document}&#10;"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281170" y="119271"/>
            <a:ext cx="11329371" cy="1867887"/>
          </a:xfrm>
          <a:prstGeom prst="rect">
            <a:avLst/>
          </a:prstGeom>
        </p:spPr>
      </p:pic>
      <p:pic>
        <p:nvPicPr>
          <p:cNvPr id="12" name="Image 11"/>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4981050" y="2087608"/>
            <a:ext cx="6625372" cy="4505140"/>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a:t>
            </a:fld>
            <a:endParaRPr lang="fr-FR"/>
          </a:p>
        </p:txBody>
      </p:sp>
      <p:grpSp>
        <p:nvGrpSpPr>
          <p:cNvPr id="8" name="Groupe 7"/>
          <p:cNvGrpSpPr/>
          <p:nvPr/>
        </p:nvGrpSpPr>
        <p:grpSpPr>
          <a:xfrm>
            <a:off x="215772" y="2479735"/>
            <a:ext cx="4578478" cy="2899201"/>
            <a:chOff x="215772" y="2086035"/>
            <a:chExt cx="4578478" cy="2899201"/>
          </a:xfrm>
        </p:grpSpPr>
        <p:grpSp>
          <p:nvGrpSpPr>
            <p:cNvPr id="3" name="Groupe 2"/>
            <p:cNvGrpSpPr/>
            <p:nvPr/>
          </p:nvGrpSpPr>
          <p:grpSpPr>
            <a:xfrm>
              <a:off x="215772" y="2556489"/>
              <a:ext cx="4529645" cy="2428747"/>
              <a:chOff x="224565" y="2660087"/>
              <a:chExt cx="4529645" cy="2428747"/>
            </a:xfrm>
          </p:grpSpPr>
          <p:pic>
            <p:nvPicPr>
              <p:cNvPr id="4" name="Image 3"/>
              <p:cNvPicPr>
                <a:picLocks noChangeAspect="1"/>
              </p:cNvPicPr>
              <p:nvPr/>
            </p:nvPicPr>
            <p:blipFill>
              <a:blip r:embed="rId7"/>
              <a:stretch>
                <a:fillRect/>
              </a:stretch>
            </p:blipFill>
            <p:spPr>
              <a:xfrm>
                <a:off x="224565" y="2660087"/>
                <a:ext cx="4529645" cy="2428747"/>
              </a:xfrm>
              <a:prstGeom prst="rect">
                <a:avLst/>
              </a:prstGeom>
            </p:spPr>
          </p:pic>
          <p:sp>
            <p:nvSpPr>
              <p:cNvPr id="13" name="ZoneTexte 12"/>
              <p:cNvSpPr txBox="1"/>
              <p:nvPr/>
            </p:nvSpPr>
            <p:spPr>
              <a:xfrm>
                <a:off x="4258753" y="4500438"/>
                <a:ext cx="471604" cy="307777"/>
              </a:xfrm>
              <a:prstGeom prst="rect">
                <a:avLst/>
              </a:prstGeom>
              <a:solidFill>
                <a:schemeClr val="bg1"/>
              </a:solidFill>
            </p:spPr>
            <p:txBody>
              <a:bodyPr wrap="none" rtlCol="0">
                <a:spAutoFit/>
              </a:bodyPr>
              <a:lstStyle/>
              <a:p>
                <a:r>
                  <a:rPr lang="fr-FR" sz="1400" dirty="0"/>
                  <a:t>k</a:t>
                </a:r>
                <a:r>
                  <a:rPr lang="fr-FR" sz="1400" dirty="0" smtClean="0"/>
                  <a:t>, Q</a:t>
                </a:r>
                <a:endParaRPr lang="fr-FR" sz="1400" dirty="0"/>
              </a:p>
            </p:txBody>
          </p:sp>
          <p:pic>
            <p:nvPicPr>
              <p:cNvPr id="6" name="Image 5"/>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1073888" y="4382495"/>
                <a:ext cx="2335542" cy="235885"/>
              </a:xfrm>
              <a:prstGeom prst="rect">
                <a:avLst/>
              </a:prstGeom>
              <a:solidFill>
                <a:schemeClr val="bg1"/>
              </a:solidFill>
            </p:spPr>
          </p:pic>
        </p:grpSp>
        <p:pic>
          <p:nvPicPr>
            <p:cNvPr id="5" name="Image 4"/>
            <p:cNvPicPr>
              <a:picLocks noChangeAspect="1"/>
            </p:cNvPicPr>
            <p:nvPr/>
          </p:nvPicPr>
          <p:blipFill>
            <a:blip r:embed="rId9"/>
            <a:stretch>
              <a:fillRect/>
            </a:stretch>
          </p:blipFill>
          <p:spPr>
            <a:xfrm>
              <a:off x="437828" y="2087608"/>
              <a:ext cx="1649713" cy="766912"/>
            </a:xfrm>
            <a:prstGeom prst="rect">
              <a:avLst/>
            </a:prstGeom>
          </p:spPr>
        </p:pic>
        <p:pic>
          <p:nvPicPr>
            <p:cNvPr id="7" name="Image 6"/>
            <p:cNvPicPr>
              <a:picLocks noChangeAspect="1"/>
            </p:cNvPicPr>
            <p:nvPr/>
          </p:nvPicPr>
          <p:blipFill>
            <a:blip r:embed="rId10"/>
            <a:stretch>
              <a:fillRect/>
            </a:stretch>
          </p:blipFill>
          <p:spPr>
            <a:xfrm>
              <a:off x="366691" y="2086035"/>
              <a:ext cx="4427559" cy="163228"/>
            </a:xfrm>
            <a:prstGeom prst="rect">
              <a:avLst/>
            </a:prstGeom>
          </p:spPr>
        </p:pic>
      </p:grpSp>
    </p:spTree>
    <p:extLst>
      <p:ext uri="{BB962C8B-B14F-4D97-AF65-F5344CB8AC3E}">
        <p14:creationId xmlns:p14="http://schemas.microsoft.com/office/powerpoint/2010/main" val="41673352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documentclass{article}&#10;\usepackage{amsmath, amssymb}&#10;\usepackage{xcolor}&#10;\usepackage[paperwidth=18cm]{geometry}&#10;\pagestyle{empty}&#10;\begin{document}&#10;&#10;&#10;\textbf{(a)} Pour une conduction unidimensionnelle en régime permanent, avec une génération volumique de chaleur uniforme et des propriétés constantes, l’équation de diffusion thermique est :&#10;\begin{equation}&#10;\dfrac{d}{dx} \left( k \dfrac{dT}{dx} \right) + Q =0&#10;\end{equation}&#10;La distribution parabolique de température, sachant que $k=C^{te}$, vérifie cette équation.&#10;&#10;On note que la distribution de température doit être quadratique, avec une valeur maximale à $x = 0$. À $x = 0$, le flux de chaleur est&#10;&#10;\begin{equation}&#10;q_x''(0) = -k \left. \frac{dT}{dx} \right|_{x=0} = -k \left[ 0 + \frac{Q \; L^2}{2k} \left( 0 - \frac{2x}{L^2} \right) \right]_{x=0} = 0&#10;\end{equation}&#10;&#10;de sorte que le gradient en $x = 0$ est nul. Par conséquent, le fond est isolé.&#10;&#10; &#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210404" y="383023"/>
            <a:ext cx="7247238" cy="3587658"/>
          </a:xfrm>
          <a:prstGeom prst="rect">
            <a:avLst/>
          </a:prstGeom>
        </p:spPr>
      </p:pic>
      <p:pic>
        <p:nvPicPr>
          <p:cNvPr id="14" name="Image 13"/>
          <p:cNvPicPr>
            <a:picLocks noChangeAspect="1"/>
          </p:cNvPicPr>
          <p:nvPr/>
        </p:nvPicPr>
        <p:blipFill>
          <a:blip r:embed="rId6"/>
          <a:stretch>
            <a:fillRect/>
          </a:stretch>
        </p:blipFill>
        <p:spPr>
          <a:xfrm>
            <a:off x="8841981" y="3569677"/>
            <a:ext cx="2652874" cy="1422442"/>
          </a:xfrm>
          <a:prstGeom prst="rect">
            <a:avLst/>
          </a:prstGeom>
        </p:spPr>
      </p:pic>
      <p:pic>
        <p:nvPicPr>
          <p:cNvPr id="15" name="Image 14"/>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9108231" y="5148617"/>
            <a:ext cx="2335542" cy="235885"/>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2</a:t>
            </a:fld>
            <a:endParaRPr lang="fr-FR"/>
          </a:p>
        </p:txBody>
      </p:sp>
      <p:grpSp>
        <p:nvGrpSpPr>
          <p:cNvPr id="13" name="Groupe 12"/>
          <p:cNvGrpSpPr/>
          <p:nvPr/>
        </p:nvGrpSpPr>
        <p:grpSpPr>
          <a:xfrm>
            <a:off x="7573875" y="383023"/>
            <a:ext cx="4484828" cy="2646485"/>
            <a:chOff x="7573875" y="383023"/>
            <a:chExt cx="4484828" cy="2646485"/>
          </a:xfrm>
        </p:grpSpPr>
        <p:pic>
          <p:nvPicPr>
            <p:cNvPr id="8" name="Image 7"/>
            <p:cNvPicPr>
              <a:picLocks noChangeAspect="1"/>
            </p:cNvPicPr>
            <p:nvPr/>
          </p:nvPicPr>
          <p:blipFill>
            <a:blip r:embed="rId8"/>
            <a:stretch>
              <a:fillRect/>
            </a:stretch>
          </p:blipFill>
          <p:spPr>
            <a:xfrm>
              <a:off x="7573875" y="383023"/>
              <a:ext cx="4484828" cy="2646485"/>
            </a:xfrm>
            <a:prstGeom prst="rect">
              <a:avLst/>
            </a:prstGeom>
          </p:spPr>
        </p:pic>
        <p:pic>
          <p:nvPicPr>
            <p:cNvPr id="10" name="Image 9" descr="\documentclass{article}&#10;\usepackage{amsmath}&#10;\usepackage{xcolor}&#10;\pagestyle{empty}&#10;\begin{document}&#10;&#10;{\color{red} ATTENTION: T(x) en abs., x en ord.}&#10;&#10;&#10;&#10;&#10;\end{document}" title="IguanaTex Bitmap Display"/>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8075038" y="2411315"/>
              <a:ext cx="3359695" cy="203581"/>
            </a:xfrm>
            <a:prstGeom prst="rect">
              <a:avLst/>
            </a:prstGeom>
          </p:spPr>
        </p:pic>
        <p:cxnSp>
          <p:nvCxnSpPr>
            <p:cNvPr id="12" name="Connecteur droit avec flèche 11"/>
            <p:cNvCxnSpPr/>
            <p:nvPr/>
          </p:nvCxnSpPr>
          <p:spPr>
            <a:xfrm flipV="1">
              <a:off x="11777663" y="2205446"/>
              <a:ext cx="0" cy="45679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ZoneTexte 10"/>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2007300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Image 59" descr="\documentclass{article}&#10;\usepackage{amsmath}&#10;\usepackage[paperwidth=23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10;\begin{document}&#10;&#10;\subsection*{b) Conservation du flux thermique en surface}&#10;&#10;Sur la surface supérieure, la conservation du flux thermique impose par unité de surface:&#10;&#10;$$&#10;\lim_{e \rightarrow 0} Q\; e +\alpha_s\; G_s- \rtvector{q}''_{\text{cond}} \cdot \rtvector{n}_{12} - &#10;\rtvector{q}''_{\text{conv}} \cdot \rtvector{n}_{21} - \rtvector{q}''_{\text{rad}} \cdot \rtvector{n}_{21} =0&#10;$$&#10;&#10;\noindent&#10;où $\rtvector{n}_{21} = -\rtvector{n}_{12}$ et Q une fonction constante par morceaux.&#10;&#10;\noindent Comme $\lim_{e \rightarrow 0} Q\; e=0$, l'expression se réduit à:&#10;&#10;$$\alpha_s\; G_s-\rtvector{q}''_{\text{cond}} \cdot \rtvector{n}_{12} - &#10;\rtvector{q}''_{\text{conv}} \cdot \rtvector{n}_{21} - \rtvector{q}''_{\text{rad}} \cdot \rtvector{n}_{21} &#10;=0&#10;$$&#10;&#10;avec $$\rtvector{q}''_{\text{cond}}\cdot \rtvector{n}_{12} = -k \; \left. \dfrac{\partial T}{\partial x} \right|_L\; \rtvector{e}_{x} \cdot \rtvector{n}_{12} =k \; \left. \dfrac{\partial T}{\partial x} \right|_L$$.&#10;Comme $&#10;T(x) = T_s + \frac{Q\;L^2}{2k}\left(1 - \frac{x^2}{L^2}\right)&#10;$, on a en $x=L$:&#10;$\rtvector{q}''_{\text{cond}}\cdot \rtvector{n}_{12} = k \; \left. \dfrac{\partial T}{\partial x} \right|_L = -Q\;L&#10;$.&#10;&#10;$$\rtvector{q}_{\text{conv}} \cdot \rtvector{n}_{21}  + \rtvector{q}_{\text{rad}} \cdot \rtvector{n}_{21} =&#10; h(T_s-T_\infty) + \epsilon \sigma (T_s^4-T_{sur}^4) &#10;$$&#10;&#10;Le bilan s'écrit finalement:&#10;\begin{equation*}&#10;\alpha_s \; G_S  + Q\; L - h(T_s - T_\infty) - \varepsilon\sigma (T_s^4 -T_{sur}^4) = 0&#10;\end{equation*}&#10;\end{document}" title="IguanaTex Bitmap Display"/>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320292" y="449096"/>
            <a:ext cx="8801855" cy="5465149"/>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3</a:t>
            </a:fld>
            <a:endParaRPr lang="fr-FR"/>
          </a:p>
        </p:txBody>
      </p:sp>
      <p:sp>
        <p:nvSpPr>
          <p:cNvPr id="18" name="ZoneTexte 17"/>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grpSp>
        <p:nvGrpSpPr>
          <p:cNvPr id="45" name="Groupe 44"/>
          <p:cNvGrpSpPr/>
          <p:nvPr/>
        </p:nvGrpSpPr>
        <p:grpSpPr>
          <a:xfrm>
            <a:off x="9280328" y="255257"/>
            <a:ext cx="2626815" cy="3253276"/>
            <a:chOff x="9500248" y="255257"/>
            <a:chExt cx="2626815" cy="3253276"/>
          </a:xfrm>
        </p:grpSpPr>
        <p:sp>
          <p:nvSpPr>
            <p:cNvPr id="17" name="ZoneTexte 16"/>
            <p:cNvSpPr txBox="1"/>
            <p:nvPr/>
          </p:nvSpPr>
          <p:spPr>
            <a:xfrm>
              <a:off x="11091641" y="879846"/>
              <a:ext cx="301686" cy="369332"/>
            </a:xfrm>
            <a:prstGeom prst="rect">
              <a:avLst/>
            </a:prstGeom>
            <a:noFill/>
          </p:spPr>
          <p:txBody>
            <a:bodyPr wrap="none" rtlCol="0">
              <a:spAutoFit/>
            </a:bodyPr>
            <a:lstStyle/>
            <a:p>
              <a:r>
                <a:rPr lang="fr-FR" dirty="0" smtClean="0"/>
                <a:t>1</a:t>
              </a:r>
              <a:endParaRPr lang="fr-FR" dirty="0"/>
            </a:p>
          </p:txBody>
        </p:sp>
        <p:sp>
          <p:nvSpPr>
            <p:cNvPr id="24" name="ZoneTexte 23"/>
            <p:cNvSpPr txBox="1"/>
            <p:nvPr/>
          </p:nvSpPr>
          <p:spPr>
            <a:xfrm>
              <a:off x="11093477" y="1745024"/>
              <a:ext cx="301686" cy="369332"/>
            </a:xfrm>
            <a:prstGeom prst="rect">
              <a:avLst/>
            </a:prstGeom>
            <a:noFill/>
          </p:spPr>
          <p:txBody>
            <a:bodyPr wrap="none" rtlCol="0">
              <a:spAutoFit/>
            </a:bodyPr>
            <a:lstStyle/>
            <a:p>
              <a:r>
                <a:rPr lang="fr-FR" dirty="0"/>
                <a:t>2</a:t>
              </a:r>
            </a:p>
          </p:txBody>
        </p:sp>
        <p:cxnSp>
          <p:nvCxnSpPr>
            <p:cNvPr id="20" name="Connecteur droit 19"/>
            <p:cNvCxnSpPr/>
            <p:nvPr/>
          </p:nvCxnSpPr>
          <p:spPr>
            <a:xfrm rot="5400000">
              <a:off x="10383109" y="1026440"/>
              <a:ext cx="0" cy="1336431"/>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a:xfrm rot="5400000">
              <a:off x="10383110" y="580963"/>
              <a:ext cx="0" cy="1336431"/>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p:nvPr/>
          </p:nvCxnSpPr>
          <p:spPr>
            <a:xfrm rot="5400000">
              <a:off x="10157039" y="1920728"/>
              <a:ext cx="45214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p:nvPr/>
          </p:nvCxnSpPr>
          <p:spPr>
            <a:xfrm rot="5400000" flipH="1">
              <a:off x="10157039" y="1023206"/>
              <a:ext cx="45214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5" name="Image 24" descr="\documentclass{article}&#10;\usepackage{amsmath}&#10;\pagestyle{empty}&#10;\begin{document}&#10;&#10;$n_{21}=n_{ext}$&#10;&#10;&#10;\end{document}" title="IguanaTex Bitmap Display"/>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10005393" y="928911"/>
              <a:ext cx="1129144" cy="150857"/>
            </a:xfrm>
            <a:prstGeom prst="rect">
              <a:avLst/>
            </a:prstGeom>
          </p:spPr>
        </p:pic>
        <p:sp>
          <p:nvSpPr>
            <p:cNvPr id="32" name="ZoneTexte 31"/>
            <p:cNvSpPr txBox="1"/>
            <p:nvPr/>
          </p:nvSpPr>
          <p:spPr>
            <a:xfrm flipV="1">
              <a:off x="11496450" y="255257"/>
              <a:ext cx="284052" cy="369332"/>
            </a:xfrm>
            <a:prstGeom prst="rect">
              <a:avLst/>
            </a:prstGeom>
            <a:noFill/>
          </p:spPr>
          <p:txBody>
            <a:bodyPr wrap="none" rtlCol="0">
              <a:spAutoFit/>
            </a:bodyPr>
            <a:lstStyle/>
            <a:p>
              <a:r>
                <a:rPr lang="fr-FR" dirty="0" smtClean="0"/>
                <a:t>x</a:t>
              </a:r>
              <a:endParaRPr lang="fr-FR" dirty="0"/>
            </a:p>
          </p:txBody>
        </p:sp>
        <p:pic>
          <p:nvPicPr>
            <p:cNvPr id="7" name="Image 6" descr="\documentclass{article}&#10;\usepackage{amsmath}&#10;\pagestyle{empty}&#10;\begin{document}&#10;&#10;$n_{12}$&#10;&#10;&#10;\end{document}" title="IguanaTex Bitmap Display"/>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9992261" y="1903341"/>
              <a:ext cx="336762" cy="149333"/>
            </a:xfrm>
            <a:prstGeom prst="rect">
              <a:avLst/>
            </a:prstGeom>
          </p:spPr>
        </p:pic>
        <p:sp>
          <p:nvSpPr>
            <p:cNvPr id="3" name="Rectangle 2"/>
            <p:cNvSpPr/>
            <p:nvPr/>
          </p:nvSpPr>
          <p:spPr>
            <a:xfrm>
              <a:off x="9766355" y="1283719"/>
              <a:ext cx="1336432" cy="37791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descr="\documentclass{article}&#10;\usepackage{amsmath}&#10;\pagestyle{empty}&#10;\begin{document}&#10;&#10;$$Q$$&#10;&#10;&#10;\end{document}" title="IguanaTex Bitmap Display"/>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10236847" y="1385053"/>
              <a:ext cx="157714" cy="204343"/>
            </a:xfrm>
            <a:prstGeom prst="rect">
              <a:avLst/>
            </a:prstGeom>
          </p:spPr>
        </p:pic>
        <p:cxnSp>
          <p:nvCxnSpPr>
            <p:cNvPr id="11" name="Connecteur droit avec flèche 10"/>
            <p:cNvCxnSpPr/>
            <p:nvPr/>
          </p:nvCxnSpPr>
          <p:spPr>
            <a:xfrm>
              <a:off x="9646297" y="1255528"/>
              <a:ext cx="6350" cy="41245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2" name="Image 11" descr="\documentclass{article}&#10;\usepackage{amsmath}&#10;\pagestyle{empty}&#10;\begin{document}&#10;&#10;$$e$$&#10;&#10;&#10;\end{document}" title="IguanaTex Bitmap Display"/>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9500248" y="1435101"/>
              <a:ext cx="89143" cy="102857"/>
            </a:xfrm>
            <a:prstGeom prst="rect">
              <a:avLst/>
            </a:prstGeom>
          </p:spPr>
        </p:pic>
        <p:grpSp>
          <p:nvGrpSpPr>
            <p:cNvPr id="44" name="Groupe 43"/>
            <p:cNvGrpSpPr/>
            <p:nvPr/>
          </p:nvGrpSpPr>
          <p:grpSpPr>
            <a:xfrm>
              <a:off x="10697282" y="369333"/>
              <a:ext cx="776323" cy="3103072"/>
              <a:chOff x="10315318" y="369333"/>
              <a:chExt cx="776323" cy="3103072"/>
            </a:xfrm>
          </p:grpSpPr>
          <p:cxnSp>
            <p:nvCxnSpPr>
              <p:cNvPr id="31" name="Connecteur droit avec flèche 30"/>
              <p:cNvCxnSpPr/>
              <p:nvPr/>
            </p:nvCxnSpPr>
            <p:spPr>
              <a:xfrm flipV="1">
                <a:off x="11042444" y="369333"/>
                <a:ext cx="49197" cy="31030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32"/>
              <p:cNvCxnSpPr/>
              <p:nvPr/>
            </p:nvCxnSpPr>
            <p:spPr>
              <a:xfrm flipH="1">
                <a:off x="10315318" y="3472405"/>
                <a:ext cx="7271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40" name="Image 39" descr="\documentclass{article}&#10;\usepackage{amsmath}&#10;\pagestyle{empty}&#10;\begin{document}&#10;&#10;&#10;$x=0$&#10;&#10;\end{document}" title="IguanaTex Bitmap Display"/>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11560176" y="3352190"/>
              <a:ext cx="533486" cy="156343"/>
            </a:xfrm>
            <a:prstGeom prst="rect">
              <a:avLst/>
            </a:prstGeom>
          </p:spPr>
        </p:pic>
        <p:pic>
          <p:nvPicPr>
            <p:cNvPr id="41" name="Image 40" descr="\documentclass{article}&#10;\usepackage{amsmath}&#10;\pagestyle{empty}&#10;\begin{document}&#10;&#10;&#10;$x=L$&#10;&#10;\end{document}" title="IguanaTex Bitmap Display"/>
            <p:cNvPicPr>
              <a:picLocks noChangeAspect="1"/>
            </p:cNvPicPr>
            <p:nvPr>
              <p:custDataLst>
                <p:tags r:id="rId7"/>
              </p:custDataLst>
            </p:nvPr>
          </p:nvPicPr>
          <p:blipFill>
            <a:blip r:embed="rId15" cstate="print">
              <a:extLst>
                <a:ext uri="{28A0092B-C50C-407E-A947-70E740481C1C}">
                  <a14:useLocalDpi xmlns:a14="http://schemas.microsoft.com/office/drawing/2010/main" val="0"/>
                </a:ext>
              </a:extLst>
            </a:blip>
            <a:stretch>
              <a:fillRect/>
            </a:stretch>
          </p:blipFill>
          <p:spPr>
            <a:xfrm>
              <a:off x="11552434" y="1385053"/>
              <a:ext cx="574629" cy="157714"/>
            </a:xfrm>
            <a:prstGeom prst="rect">
              <a:avLst/>
            </a:prstGeom>
          </p:spPr>
        </p:pic>
      </p:grpSp>
    </p:spTree>
    <p:extLst>
      <p:ext uri="{BB962C8B-B14F-4D97-AF65-F5344CB8AC3E}">
        <p14:creationId xmlns:p14="http://schemas.microsoft.com/office/powerpoint/2010/main" val="7265504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descr="\documentclass{article}&#10;\usepackage{amsmath}&#10;\usepackage[paperwidth=23cm]{geometry}&#10;\pagestyle{empty}&#10;\begin{document}&#10;&#10;\begin{equation}&#10;Q\; L - h(T_s - T_\infty) + 0.95G_S - \varepsilon\sigma (T_s^4-T_{sur}^4) = 0&#10;\end{equation}&#10;&#10;Numériquement, on a:&#10;\begin{equation}&#10;10 \times 1\, - 8\,(T_s - 303) + 0.95 \times 500\, - 0.95 \times 5.67 \times 10^{-8}\,(T_s^4-293^4) = 0&#10;\end{equation}&#10;&#10;\begin{equation}&#10;T_s = 331.72\,\text{K} = 58.6^{\circ} \text{C}&#10;\end{equation}&#10;&#10;En $x=0$&#10;\begin{equation}&#10;T(0) = T_s + \frac{Q\;L^2}{2k} = 77.8^{\circ} \text{C}&#10;\end{equation}&#10;&#10;Sans prendre en compte $G_{sur}$, on sous-estime $T_s = = 305.20 K = 32.05^\circ C$&#10;L’effet est naturellement d'augmenter les valeurs de&#10;$T_s$ donc de $T(0)$ prédites par ce modèle.&#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232063" y="630179"/>
            <a:ext cx="10409139" cy="3461492"/>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4</a:t>
            </a:fld>
            <a:endParaRPr lang="fr-FR"/>
          </a:p>
        </p:txBody>
      </p:sp>
      <p:sp>
        <p:nvSpPr>
          <p:cNvPr id="4" name="ZoneTexte 3"/>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pic>
        <p:nvPicPr>
          <p:cNvPr id="12" name="Image 11"/>
          <p:cNvPicPr>
            <a:picLocks noChangeAspect="1"/>
          </p:cNvPicPr>
          <p:nvPr/>
        </p:nvPicPr>
        <p:blipFill>
          <a:blip r:embed="rId4"/>
          <a:stretch>
            <a:fillRect/>
          </a:stretch>
        </p:blipFill>
        <p:spPr>
          <a:xfrm>
            <a:off x="1413785" y="4170712"/>
            <a:ext cx="4242597" cy="2550763"/>
          </a:xfrm>
          <a:prstGeom prst="rect">
            <a:avLst/>
          </a:prstGeom>
        </p:spPr>
      </p:pic>
    </p:spTree>
    <p:extLst>
      <p:ext uri="{BB962C8B-B14F-4D97-AF65-F5344CB8AC3E}">
        <p14:creationId xmlns:p14="http://schemas.microsoft.com/office/powerpoint/2010/main" val="2371336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74602" y="101689"/>
            <a:ext cx="11326623" cy="6602051"/>
          </a:xfrm>
          <a:prstGeom prst="rect">
            <a:avLst/>
          </a:prstGeom>
        </p:spPr>
      </p:pic>
      <p:grpSp>
        <p:nvGrpSpPr>
          <p:cNvPr id="4" name="Groupe 3"/>
          <p:cNvGrpSpPr/>
          <p:nvPr/>
        </p:nvGrpSpPr>
        <p:grpSpPr>
          <a:xfrm>
            <a:off x="8801057" y="4040142"/>
            <a:ext cx="2160000" cy="2160000"/>
            <a:chOff x="8975228" y="4508228"/>
            <a:chExt cx="2160000" cy="2160000"/>
          </a:xfrm>
        </p:grpSpPr>
        <p:sp>
          <p:nvSpPr>
            <p:cNvPr id="2" name="Ellipse 1"/>
            <p:cNvSpPr>
              <a:spLocks noChangeAspect="1"/>
            </p:cNvSpPr>
            <p:nvPr/>
          </p:nvSpPr>
          <p:spPr>
            <a:xfrm>
              <a:off x="9696000" y="5229000"/>
              <a:ext cx="718457" cy="7184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llipse 2"/>
            <p:cNvSpPr>
              <a:spLocks noChangeAspect="1"/>
            </p:cNvSpPr>
            <p:nvPr/>
          </p:nvSpPr>
          <p:spPr>
            <a:xfrm>
              <a:off x="8975228" y="4508228"/>
              <a:ext cx="2160000" cy="2160000"/>
            </a:xfrm>
            <a:prstGeom prst="ellipse">
              <a:avLst/>
            </a:prstGeom>
            <a:solidFill>
              <a:schemeClr val="accent1">
                <a:alpha val="5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5" name="Espace réservé du numéro de diapositive 4"/>
          <p:cNvSpPr>
            <a:spLocks noGrp="1"/>
          </p:cNvSpPr>
          <p:nvPr>
            <p:ph type="sldNum" sz="quarter" idx="12"/>
          </p:nvPr>
        </p:nvSpPr>
        <p:spPr/>
        <p:txBody>
          <a:bodyPr/>
          <a:lstStyle/>
          <a:p>
            <a:fld id="{CB13DDC6-9977-4A69-882A-1641CFA73689}" type="slidenum">
              <a:rPr lang="fr-FR" smtClean="0"/>
              <a:t>5</a:t>
            </a:fld>
            <a:endParaRPr lang="fr-FR"/>
          </a:p>
        </p:txBody>
      </p:sp>
    </p:spTree>
    <p:extLst>
      <p:ext uri="{BB962C8B-B14F-4D97-AF65-F5344CB8AC3E}">
        <p14:creationId xmlns:p14="http://schemas.microsoft.com/office/powerpoint/2010/main" val="14460773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21847" y="215989"/>
            <a:ext cx="11307423" cy="6362050"/>
          </a:xfrm>
          <a:prstGeom prst="rect">
            <a:avLst/>
          </a:prstGeom>
        </p:spPr>
      </p:pic>
      <p:sp>
        <p:nvSpPr>
          <p:cNvPr id="9" name="Espace réservé du numéro de diapositive 8"/>
          <p:cNvSpPr>
            <a:spLocks noGrp="1"/>
          </p:cNvSpPr>
          <p:nvPr>
            <p:ph type="sldNum" sz="quarter" idx="12"/>
          </p:nvPr>
        </p:nvSpPr>
        <p:spPr/>
        <p:txBody>
          <a:bodyPr/>
          <a:lstStyle/>
          <a:p>
            <a:fld id="{CB13DDC6-9977-4A69-882A-1641CFA73689}" type="slidenum">
              <a:rPr lang="fr-FR" smtClean="0"/>
              <a:t>6</a:t>
            </a:fld>
            <a:endParaRPr lang="fr-FR"/>
          </a:p>
        </p:txBody>
      </p:sp>
      <p:sp>
        <p:nvSpPr>
          <p:cNvPr id="4" name="ZoneTexte 3"/>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42652169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21847" y="215990"/>
            <a:ext cx="11306045" cy="6470392"/>
          </a:xfrm>
          <a:prstGeom prst="rect">
            <a:avLst/>
          </a:prstGeom>
        </p:spPr>
      </p:pic>
      <p:sp>
        <p:nvSpPr>
          <p:cNvPr id="9" name="Espace réservé du numéro de diapositive 8"/>
          <p:cNvSpPr>
            <a:spLocks noGrp="1"/>
          </p:cNvSpPr>
          <p:nvPr>
            <p:ph type="sldNum" sz="quarter" idx="12"/>
          </p:nvPr>
        </p:nvSpPr>
        <p:spPr/>
        <p:txBody>
          <a:bodyPr/>
          <a:lstStyle/>
          <a:p>
            <a:fld id="{CB13DDC6-9977-4A69-882A-1641CFA73689}" type="slidenum">
              <a:rPr lang="fr-FR" smtClean="0"/>
              <a:t>7</a:t>
            </a:fld>
            <a:endParaRPr lang="fr-FR"/>
          </a:p>
        </p:txBody>
      </p:sp>
      <p:sp>
        <p:nvSpPr>
          <p:cNvPr id="4" name="ZoneTexte 3"/>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37922923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21846" y="85888"/>
            <a:ext cx="11306050" cy="6772112"/>
          </a:xfrm>
          <a:prstGeom prst="rect">
            <a:avLst/>
          </a:prstGeom>
        </p:spPr>
      </p:pic>
      <p:sp>
        <p:nvSpPr>
          <p:cNvPr id="7" name="Espace réservé du numéro de diapositive 6"/>
          <p:cNvSpPr>
            <a:spLocks noGrp="1"/>
          </p:cNvSpPr>
          <p:nvPr>
            <p:ph type="sldNum" sz="quarter" idx="12"/>
          </p:nvPr>
        </p:nvSpPr>
        <p:spPr/>
        <p:txBody>
          <a:bodyPr/>
          <a:lstStyle/>
          <a:p>
            <a:fld id="{CB13DDC6-9977-4A69-882A-1641CFA73689}" type="slidenum">
              <a:rPr lang="fr-FR" smtClean="0"/>
              <a:t>8</a:t>
            </a:fld>
            <a:endParaRPr lang="fr-FR"/>
          </a:p>
        </p:txBody>
      </p:sp>
      <p:sp>
        <p:nvSpPr>
          <p:cNvPr id="4" name="ZoneTexte 3"/>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30931874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21849" y="215992"/>
            <a:ext cx="10964566" cy="6256454"/>
          </a:xfrm>
          <a:prstGeom prst="rect">
            <a:avLst/>
          </a:prstGeom>
        </p:spPr>
      </p:pic>
      <p:sp>
        <p:nvSpPr>
          <p:cNvPr id="9" name="Espace réservé du numéro de diapositive 8"/>
          <p:cNvSpPr>
            <a:spLocks noGrp="1"/>
          </p:cNvSpPr>
          <p:nvPr>
            <p:ph type="sldNum" sz="quarter" idx="12"/>
          </p:nvPr>
        </p:nvSpPr>
        <p:spPr/>
        <p:txBody>
          <a:bodyPr/>
          <a:lstStyle/>
          <a:p>
            <a:fld id="{CB13DDC6-9977-4A69-882A-1641CFA73689}" type="slidenum">
              <a:rPr lang="fr-FR" smtClean="0"/>
              <a:t>9</a:t>
            </a:fld>
            <a:endParaRPr lang="fr-FR"/>
          </a:p>
        </p:txBody>
      </p:sp>
      <p:sp>
        <p:nvSpPr>
          <p:cNvPr id="4" name="ZoneTexte 3"/>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36564145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21849" y="215992"/>
            <a:ext cx="11306033" cy="5809364"/>
          </a:xfrm>
          <a:prstGeom prst="rect">
            <a:avLst/>
          </a:prstGeom>
        </p:spPr>
      </p:pic>
      <p:sp>
        <p:nvSpPr>
          <p:cNvPr id="7" name="Espace réservé du numéro de diapositive 6"/>
          <p:cNvSpPr>
            <a:spLocks noGrp="1"/>
          </p:cNvSpPr>
          <p:nvPr>
            <p:ph type="sldNum" sz="quarter" idx="12"/>
          </p:nvPr>
        </p:nvSpPr>
        <p:spPr/>
        <p:txBody>
          <a:bodyPr/>
          <a:lstStyle/>
          <a:p>
            <a:fld id="{CB13DDC6-9977-4A69-882A-1641CFA73689}" type="slidenum">
              <a:rPr lang="fr-FR" smtClean="0"/>
              <a:t>10</a:t>
            </a:fld>
            <a:endParaRPr lang="fr-FR"/>
          </a:p>
        </p:txBody>
      </p:sp>
      <p:sp>
        <p:nvSpPr>
          <p:cNvPr id="4" name="ZoneTexte 3"/>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30972610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p:cNvSpPr>
            <a:spLocks noGrp="1"/>
          </p:cNvSpPr>
          <p:nvPr>
            <p:ph type="sldNum" sz="quarter" idx="12"/>
          </p:nvPr>
        </p:nvSpPr>
        <p:spPr/>
        <p:txBody>
          <a:bodyPr/>
          <a:lstStyle/>
          <a:p>
            <a:fld id="{CB13DDC6-9977-4A69-882A-1641CFA73689}" type="slidenum">
              <a:rPr lang="fr-FR" smtClean="0"/>
              <a:t>11</a:t>
            </a:fld>
            <a:endParaRPr lang="fr-FR"/>
          </a:p>
        </p:txBody>
      </p:sp>
      <p:pic>
        <p:nvPicPr>
          <p:cNvPr id="9" name="Image 8"/>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188306" y="727621"/>
            <a:ext cx="7549708" cy="2439769"/>
          </a:xfrm>
          <a:prstGeom prst="rect">
            <a:avLst/>
          </a:prstGeom>
        </p:spPr>
      </p:pic>
      <p:pic>
        <p:nvPicPr>
          <p:cNvPr id="3" name="Image 2"/>
          <p:cNvPicPr>
            <a:picLocks noChangeAspect="1"/>
          </p:cNvPicPr>
          <p:nvPr/>
        </p:nvPicPr>
        <p:blipFill>
          <a:blip r:embed="rId6"/>
          <a:stretch>
            <a:fillRect/>
          </a:stretch>
        </p:blipFill>
        <p:spPr>
          <a:xfrm>
            <a:off x="744689" y="468086"/>
            <a:ext cx="7194222" cy="4920344"/>
          </a:xfrm>
          <a:prstGeom prst="rect">
            <a:avLst/>
          </a:prstGeom>
        </p:spPr>
      </p:pic>
      <p:grpSp>
        <p:nvGrpSpPr>
          <p:cNvPr id="10" name="Groupe 9"/>
          <p:cNvGrpSpPr/>
          <p:nvPr/>
        </p:nvGrpSpPr>
        <p:grpSpPr>
          <a:xfrm>
            <a:off x="9015726" y="3426925"/>
            <a:ext cx="1693456" cy="1693456"/>
            <a:chOff x="8975228" y="4508228"/>
            <a:chExt cx="2160000" cy="2160000"/>
          </a:xfrm>
        </p:grpSpPr>
        <p:sp>
          <p:nvSpPr>
            <p:cNvPr id="11" name="Ellipse 10"/>
            <p:cNvSpPr>
              <a:spLocks noChangeAspect="1"/>
            </p:cNvSpPr>
            <p:nvPr/>
          </p:nvSpPr>
          <p:spPr>
            <a:xfrm>
              <a:off x="9696000" y="5229000"/>
              <a:ext cx="718457" cy="7184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p:cNvSpPr>
              <a:spLocks noChangeAspect="1"/>
            </p:cNvSpPr>
            <p:nvPr/>
          </p:nvSpPr>
          <p:spPr>
            <a:xfrm>
              <a:off x="8975228" y="4508228"/>
              <a:ext cx="2160000" cy="2160000"/>
            </a:xfrm>
            <a:prstGeom prst="ellipse">
              <a:avLst/>
            </a:prstGeom>
            <a:solidFill>
              <a:schemeClr val="accent1">
                <a:alpha val="5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4" name="Image 3" descr="\documentclass{article}&#10;\usepackage{amsmath}&#10;\pagestyle{empty}&#10;\begin{document}&#10;&#10;&#10;\begin{equation*}&#10;T(R_e) =  T_\infty + \frac{Q R_i^3}{3h R_e^2} = 308.3K\end{equation*}&#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4430347" y="1947505"/>
            <a:ext cx="3117258" cy="556800"/>
          </a:xfrm>
          <a:prstGeom prst="rect">
            <a:avLst/>
          </a:prstGeom>
        </p:spPr>
      </p:pic>
      <p:pic>
        <p:nvPicPr>
          <p:cNvPr id="5" name="Image 4" descr="\documentclass{article}&#10;\usepackage{amsmath}&#10;\pagestyle{empty}&#10;\begin{document}&#10;&#10;sphère et couronne 3D&#10;&#10;&#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8872714" y="5176945"/>
            <a:ext cx="2218971" cy="202971"/>
          </a:xfrm>
          <a:prstGeom prst="rect">
            <a:avLst/>
          </a:prstGeom>
        </p:spPr>
      </p:pic>
      <p:sp>
        <p:nvSpPr>
          <p:cNvPr id="13" name="ZoneTexte 12"/>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77631047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1021.372"/>
  <p:tag name="ORIGINALWIDTH" val="6194.976"/>
  <p:tag name="OUTPUTTYPE" val="PNG"/>
  <p:tag name="IGUANATEXVERSION" val="160"/>
  <p:tag name="LATEXADDIN" val="\documentclass{article}&#10;\usepackage{amsmath, amssymb}&#10;\usepackage{xcolor}&#10;\usepackage[paperwidth=25cm]{geometry}&#10;\pagestyle{empty}&#10;\begin{document}&#10;&#10;&#10;\section*{Exercice 2.33 modifié}&#10;&#10;L'oxydation lente des particules de charbon dans une couche plane d'épaisseur $L = 1$ m&#10;génère une densité volumique de puissance $Q = 10$ W/m$^3$. En moyenne par jour, la surface supérieure de la couche transfère la chaleur par convection à l'air ambiant pour lequel $h = 8$ W/m$^2 \cdot$ K et $T_{\infty} = 30$°C, tout en recevant un rayonnement solaire d'une quantité $G_s = 500$ W/m$^2$. L'absorptivité solaire et l'émissivité de la surface sont respectivement $\alpha_s = \varepsilon = 0.95$. On tiendra compte du rayonnement de l'atmosphère dont $T_{sur}=20^\circ C$.&#10;\end{document}&#10;"/>
  <p:tag name="IGUANATEXSIZE" val="18"/>
  <p:tag name="IGUANATEXCURSOR" val="181"/>
  <p:tag name="TRANSPARENCY" val="Vrai"/>
  <p:tag name="FILENAME" val=""/>
  <p:tag name="LATEXENGINEID" val="0"/>
  <p:tag name="TEMPFOLDER" val="c:\temp\"/>
  <p:tag name="LATEXFORMHEIGHT" val="509.4"/>
  <p:tag name="LATEXFORMWIDTH" val="596.4"/>
  <p:tag name="LATEXFORMWRAP" val="Vrai"/>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2463.442"/>
  <p:tag name="ORIGINALWIDTH" val="3622.797"/>
  <p:tag name="OUTPUTTYPE" val="PNG"/>
  <p:tag name="IGUANATEXVERSION" val="161"/>
  <p:tag name="LATEXADDIN" val="\documentclass{article}&#10;\usepackage{amsmath}&#10;\usepackage[paperwidth=15cm]{geometry}&#10;\pagestyle{empty}&#10;\begin{document}&#10;&#10;\begin{enumerate}&#10;\item[(a)] Écrivez la forme en régime permanent de l'équation de diffusion de la chaleur pour la couche de charbon. Vérifiez, par substitution directe, que cette équation est satisfaite par une distribution de température de la forme&#10;\begin{equation}&#10;T(x) = T_s + \frac{Q\;L^2}{2k}\left(1 - \frac{x^2}{L^2}\right)&#10;\end{equation}&#10;À partir de cette distribution, que pouvez-vous dire sur les conditions à la surface inférieure ($x = 0$) ? Donnez l'allure de la distribution de température et ses caractéristiques principales.&#10;&#10;\item[(b)] Obtenez une expression pour le taux de transfert de chaleur par conduction par unité de surface à $x = L$. En appliquant un bilan énergétique à une surface de contrôle autour de la surface supérieure de la couche, obtenez une expression pour $T_s$. Évaluez $T_s$ et $T(0)$ pour les conditions prescrites.&#10;&#10;\end{enumerate}&#10;&#10;\end{document}"/>
  <p:tag name="IGUANATEXSIZE" val="18"/>
  <p:tag name="IGUANATEXCURSOR" val="629"/>
  <p:tag name="TRANSPARENCY" val="Vrai"/>
  <p:tag name="FILENAME" val=""/>
  <p:tag name="LATEXENGINEID" val="0"/>
  <p:tag name="TEMPFOLDER" val="c:\temp\"/>
  <p:tag name="LATEXFORMHEIGHT" val="438"/>
  <p:tag name="LATEXFORMWIDTH" val="622.2"/>
  <p:tag name="LATEXFORMWRAP" val="Vrai"/>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 1200"/>
  <p:tag name="ORIGINALHEIGHT" val=" 128.9839"/>
  <p:tag name="ORIGINALWIDTH" val=" 1277.09"/>
  <p:tag name="OUTPUTTYPE" val="PNG"/>
  <p:tag name="IGUANATEXVERSION" val="162"/>
  <p:tag name="LATEXADDIN" val="\documentclass{article}&#10;\usepackage{amsmath}&#10;\usepackage{siunitx}&#10;\pagestyle{empty}&#10;\begin{document}&#10;&#10;$$k_{coal} = \SI{0.26}{\watt\per\meter\per\kelvin}$$&#10;\end{document}"/>
  <p:tag name="IGUANATEXSIZE" val="18"/>
  <p:tag name="IGUANATEXCURSOR" val="101"/>
  <p:tag name="TRANSPARENCY" val="Vrai"/>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2206.974"/>
  <p:tag name="ORIGINALWIDTH" val="4458.193"/>
  <p:tag name="OUTPUTTYPE" val="PNG"/>
  <p:tag name="IGUANATEXVERSION" val="160"/>
  <p:tag name="LATEXADDIN" val="\documentclass{article}&#10;\usepackage{amsmath, amssymb}&#10;\usepackage{xcolor}&#10;\usepackage[paperwidth=18cm]{geometry}&#10;\pagestyle{empty}&#10;\begin{document}&#10;&#10;&#10;\textbf{(a)} Pour une conduction unidimensionnelle en régime permanent, avec une génération volumique de chaleur uniforme et des propriétés constantes, l’équation de diffusion thermique est :&#10;\begin{equation}&#10;\dfrac{d}{dx} \left( k \dfrac{dT}{dx} \right) + Q =0&#10;\end{equation}&#10;La distribution parabolique de température, sachant que $k=C^{te}$, vérifie cette équation.&#10;&#10;On note que la distribution de température doit être quadratique, avec une valeur maximale à $x = 0$. À $x = 0$, le flux de chaleur est&#10;&#10;\begin{equation}&#10;q_x''(0) = -k \left. \frac{dT}{dx} \right|_{x=0} = -k \left[ 0 + \frac{Q \; L^2}{2k} \left( 0 - \frac{2x}{L^2} \right) \right]_{x=0} = 0&#10;\end{equation}&#10;&#10;de sorte que le gradient en $x = 0$ est nul. Par conséquent, le fond est isolé.&#10;&#10; &#10;\end{document}"/>
  <p:tag name="IGUANATEXSIZE" val="16"/>
  <p:tag name="IGUANATEXCURSOR" val="908"/>
  <p:tag name="TRANSPARENCY" val="Vrai"/>
  <p:tag name="FILENAME" val=""/>
  <p:tag name="LATEXENGINEID" val="0"/>
  <p:tag name="TEMPFOLDER" val="c:\temp\"/>
  <p:tag name="LATEXFORMHEIGHT" val="509.4"/>
  <p:tag name="LATEXFORMWIDTH" val="596.4"/>
  <p:tag name="LATEXFORMWRAP" val="Vrai"/>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 1200"/>
  <p:tag name="ORIGINALHEIGHT" val=" 128.9839"/>
  <p:tag name="ORIGINALWIDTH" val=" 1277.09"/>
  <p:tag name="OUTPUTTYPE" val="PNG"/>
  <p:tag name="IGUANATEXVERSION" val="162"/>
  <p:tag name="LATEXADDIN" val="\documentclass{article}&#10;\usepackage{amsmath}&#10;\usepackage{siunitx}&#10;\pagestyle{empty}&#10;\begin{document}&#10;&#10;$$k_{coal} = \SI{0.26}{\watt\per\meter\per\kelvin}$$&#10;\end{document}"/>
  <p:tag name="IGUANATEXSIZE" val="18"/>
  <p:tag name="IGUANATEXCURSOR" val="101"/>
  <p:tag name="TRANSPARENCY" val="Vrai"/>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066.742"/>
  <p:tag name="OUTPUTTYPE" val="PNG"/>
  <p:tag name="IGUANATEXVERSION" val="160"/>
  <p:tag name="LATEXADDIN" val="\documentclass{article}&#10;\usepackage{amsmath}&#10;\usepackage{xcolor}&#10;\pagestyle{empty}&#10;\begin{document}&#10;&#10;{\color{red} ATTENTION: T(x) en abs., x en ord.}&#10;&#10;&#10;&#10;&#10;\end{document}"/>
  <p:tag name="IGUANATEXSIZE" val="16"/>
  <p:tag name="IGUANATEXCURSOR" val="137"/>
  <p:tag name="TRANSPARENCY" val="Vrai"/>
  <p:tag name="FILENAME" val=""/>
  <p:tag name="LATEXENGINEID" val="0"/>
  <p:tag name="TEMPFOLDER" val="c:\temp\"/>
  <p:tag name="LATEXFORMHEIGHT" val="320"/>
  <p:tag name="LATEXFORMWIDTH" val="385"/>
  <p:tag name="LATEXFORMWRAP" val="Vrai"/>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2988.376"/>
  <p:tag name="ORIGINALWIDTH" val="4812.898"/>
  <p:tag name="OUTPUTTYPE" val="PNG"/>
  <p:tag name="IGUANATEXVERSION" val="160"/>
  <p:tag name="LATEXADDIN" val="\documentclass{article}&#10;\usepackage{amsmath}&#10;\usepackage[paperwidth=23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10;\begin{document}&#10;&#10;\subsection*{b) Conservation du flux thermique en surface}&#10;&#10;Sur la surface supérieure, la conservation du flux thermique impose par unité de surface:&#10;&#10;$$&#10;\lim_{e \rightarrow 0} Q\; e +\alpha_s\; G_s- \rtvector{q}''_{\text{cond}} \cdot \rtvector{n}_{12} - &#10;\rtvector{q}''_{\text{conv}} \cdot \rtvector{n}_{21} - \rtvector{q}''_{\text{rad}} \cdot \rtvector{n}_{21} =0&#10;$$&#10;&#10;\noindent&#10;où $\rtvector{n}_{21} = -\rtvector{n}_{12}$ et Q une fonction constante par morceaux.&#10;&#10;\noindent Comme $\lim_{e \rightarrow 0} Q\; e=0$, l'expression se réduit à:&#10;&#10;$$\alpha_s\; G_s-\rtvector{q}''_{\text{cond}} \cdot \rtvector{n}_{12} - &#10;\rtvector{q}''_{\text{conv}} \cdot \rtvector{n}_{21} - \rtvector{q}''_{\text{rad}} \cdot \rtvector{n}_{21} &#10;=0&#10;$$&#10;&#10;avec $$\rtvector{q}''_{\text{cond}}\cdot \rtvector{n}_{12} = -k \; \left. \dfrac{\partial T}{\partial x} \right|_L\; \rtvector{e}_{x} \cdot \rtvector{n}_{12} =k \; \left. \dfrac{\partial T}{\partial x} \right|_L$$.&#10;Comme $&#10;T(x) = T_s + \frac{Q\;L^2}{2k}\left(1 - \frac{x^2}{L^2}\right)&#10;$, on a en $x=L$:&#10;$\rtvector{q}''_{\text{cond}}\cdot \rtvector{n}_{12} = k \; \left. \dfrac{\partial T}{\partial x} \right|_L = -Q\;L&#10;$.&#10;&#10;$$\rtvector{q}_{\text{conv}} \cdot \rtvector{n}_{21}  + \rtvector{q}_{\text{rad}} \cdot \rtvector{n}_{21} =&#10; h(T_s-T_\infty) + \epsilon \sigma (T_s^4-T_{sur}^4) &#10;$$&#10;&#10;Le bilan s'écrit finalement:&#10;\begin{equation*}&#10;\alpha_s \; G_S  + Q\; L - h(T_s - T_\infty) - \varepsilon\sigma (T_s^4 -T_{sur}^4) = 0&#10;\end{equation*}&#10;\end{document}"/>
  <p:tag name="IGUANATEXSIZE" val="18"/>
  <p:tag name="IGUANATEXCURSOR" val="1064"/>
  <p:tag name="TRANSPARENCY" val="Vrai"/>
  <p:tag name="FILENAME" val=""/>
  <p:tag name="LATEXENGINEID" val="0"/>
  <p:tag name="TEMPFOLDER" val="c:\temp\"/>
  <p:tag name="LATEXFORMHEIGHT" val="468.6"/>
  <p:tag name="LATEXFORMWIDTH" val="715.2"/>
  <p:tag name="LATEXFORMWRAP" val="Vrai"/>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74.24071"/>
  <p:tag name="ORIGINALWIDTH" val="555.6805"/>
  <p:tag name="OUTPUTTYPE" val="PNG"/>
  <p:tag name="IGUANATEXVERSION" val="160"/>
  <p:tag name="LATEXADDIN" val="\documentclass{article}&#10;\usepackage{amsmath}&#10;\pagestyle{empty}&#10;\begin{document}&#10;&#10;$n_{21}=n_{ext}$&#10;&#10;&#10;\end{document}"/>
  <p:tag name="IGUANATEXSIZE" val="20"/>
  <p:tag name="IGUANATEXCURSOR" val="96"/>
  <p:tag name="TRANSPARENCY" val="Vrai"/>
  <p:tag name="FILENAME" val=""/>
  <p:tag name="LATEXENGINEID" val="0"/>
  <p:tag name="TEMPFOLDER" val="c:\temp\"/>
  <p:tag name="LATEXFORMHEIGHT" val="320"/>
  <p:tag name="LATEXFORMWIDTH" val="385"/>
  <p:tag name="LATEXFORMWRAP" val="Vrai"/>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165.7293"/>
  <p:tag name="OUTPUTTYPE" val="PNG"/>
  <p:tag name="IGUANATEXVERSION" val="160"/>
  <p:tag name="LATEXADDIN" val="\documentclass{article}&#10;\usepackage{amsmath}&#10;\pagestyle{empty}&#10;\begin{document}&#10;&#10;$n_{12}$&#10;&#10;&#10;\end{document}"/>
  <p:tag name="IGUANATEXSIZE" val="20"/>
  <p:tag name="IGUANATEXCURSOR" val="88"/>
  <p:tag name="TRANSPARENCY" val="Vrai"/>
  <p:tag name="FILENAME" val=""/>
  <p:tag name="LATEXENGINEID" val="0"/>
  <p:tag name="TEMPFOLDER" val="c:\temp\"/>
  <p:tag name="LATEXFORMHEIGHT" val="320"/>
  <p:tag name="LATEXFORMWIDTH" val="385"/>
  <p:tag name="LATEXFORMWRAP" val="Vrai"/>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86.23921"/>
  <p:tag name="OUTPUTTYPE" val="PNG"/>
  <p:tag name="IGUANATEXVERSION" val="160"/>
  <p:tag name="LATEXADDIN" val="\documentclass{article}&#10;\usepackage{amsmath}&#10;\pagestyle{empty}&#10;\begin{document}&#10;&#10;$$Q$$&#10;&#10;&#10;\end{document}"/>
  <p:tag name="IGUANATEXSIZE" val="18"/>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48.74394"/>
  <p:tag name="OUTPUTTYPE" val="PNG"/>
  <p:tag name="IGUANATEXVERSION" val="160"/>
  <p:tag name="LATEXADDIN" val="\documentclass{article}&#10;\usepackage{amsmath}&#10;\pagestyle{empty}&#10;\begin{document}&#10;&#10;$$e$$&#10;&#10;&#10;\end{document}"/>
  <p:tag name="IGUANATEXSIZE" val="18"/>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85.48929"/>
  <p:tag name="ORIGINALWIDTH" val="291.7135"/>
  <p:tag name="OUTPUTTYPE" val="PNG"/>
  <p:tag name="IGUANATEXVERSION" val="160"/>
  <p:tag name="LATEXADDIN" val="\documentclass{article}&#10;\usepackage{amsmath}&#10;\pagestyle{empty}&#10;\begin{document}&#10;&#10;&#10;$x=0$&#10;&#10;\end{document}"/>
  <p:tag name="IGUANATEXSIZE" val="18"/>
  <p:tag name="IGUANATEXCURSOR" val="87"/>
  <p:tag name="TRANSPARENCY" val="Vrai"/>
  <p:tag name="FILENAME" val=""/>
  <p:tag name="LATEXENGINEID" val="0"/>
  <p:tag name="TEMPFOLDER" val="c:\temp\"/>
  <p:tag name="LATEXFORMHEIGHT" val="320"/>
  <p:tag name="LATEXFORMWIDTH" val="385"/>
  <p:tag name="LATEXFORMWRAP" val="Vrai"/>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86.23921"/>
  <p:tag name="ORIGINALWIDTH" val="314.2107"/>
  <p:tag name="OUTPUTTYPE" val="PNG"/>
  <p:tag name="IGUANATEXVERSION" val="160"/>
  <p:tag name="LATEXADDIN" val="\documentclass{article}&#10;\usepackage{amsmath}&#10;\pagestyle{empty}&#10;\begin{document}&#10;&#10;&#10;$x=L$&#10;&#10;\end{document}"/>
  <p:tag name="IGUANATEXSIZE" val="18"/>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1892.763"/>
  <p:tag name="ORIGINALWIDTH" val="5691.789"/>
  <p:tag name="OUTPUTTYPE" val="PNG"/>
  <p:tag name="IGUANATEXVERSION" val="160"/>
  <p:tag name="LATEXADDIN" val="\documentclass{article}&#10;\usepackage{amsmath}&#10;\usepackage[paperwidth=23cm]{geometry}&#10;\pagestyle{empty}&#10;\begin{document}&#10;&#10;\begin{equation}&#10;Q\; L - h(T_s - T_\infty) + 0.95G_S - \varepsilon\sigma (T_s^4-T_{sur}^4) = 0&#10;\end{equation}&#10;&#10;Numériquement, on a:&#10;\begin{equation}&#10;10 \times 1\, - 8\,(T_s - 303) + 0.95 \times 500\, - 0.95 \times 5.67 \times 10^{-8}\,(T_s^4-293^4) = 0&#10;\end{equation}&#10;&#10;\begin{equation}&#10;T_s = 331.72\,\text{K} = 58.6^{\circ} \text{C}&#10;\end{equation}&#10;&#10;En $x=0$&#10;\begin{equation}&#10;T(0) = T_s + \frac{Q\;L^2}{2k} = 77.8^{\circ} \text{C}&#10;\end{equation}&#10;&#10;Sans prendre en compte $G_{sur}$, on sous-estime $T_s = = 305.20 K = 32.05^\circ C$&#10;L’effet est naturellement d'augmenter les valeurs de&#10;$T_s$ donc de $T(0)$ prédites par ce modèle.&#10;\end{document}"/>
  <p:tag name="IGUANATEXSIZE" val="18"/>
  <p:tag name="IGUANATEXCURSOR" val="716"/>
  <p:tag name="TRANSPARENCY" val="Vrai"/>
  <p:tag name="FILENAME" val=""/>
  <p:tag name="LATEXENGINEID" val="0"/>
  <p:tag name="TEMPFOLDER" val="c:\temp\"/>
  <p:tag name="LATEXFORMHEIGHT" val="320"/>
  <p:tag name="LATEXFORMWIDTH" val="630.6"/>
  <p:tag name="LATEXFORMWRAP" val="Vrai"/>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 1200"/>
  <p:tag name="ORIGINALHEIGHT" val=" 3610.049"/>
  <p:tag name="ORIGINALWIDTH" val=" 6193.476"/>
  <p:tag name="OUTPUTTYPE" val="PNG"/>
  <p:tag name="IGUANATEXVERSION" val="162"/>
  <p:tag name="LATEXADDIN" val="\documentclass{article}&#10;\usepackage{amsmath, amssymb}&#10;\usepackage{xcolor}&#10;\usepackage[paperwidth=25cm]{geometry}&#10;\pagestyle{empty}&#10;\begin{document}&#10;&#10;\subsection*{Exercice : distribution de température dans un système sphérique composite}&#10;&#10;Le système est composé d'une source de chaleur sphérique de rayon $R_i$&#10;entourée d'une coque sphérique isolante d'épaisseur constante $R_e-R_i$ de même centre.&#10;Les conductivités thermiques sont notées $k_1$ et $k_2$. &#10;La densité volumique de puissance thermique générée par la source&#10;est noté $Q$.&#10;&#10;L'extérieur de la couche isolante échange de la chaleur par convection avec un gaz à la température $T_\infty$.&#10;On note $h$ le coefficient d'échange.&#10;&#10;On se place à l'équilibre thermodynamique, quelles sont les hypothèses pour que la distribution de température&#10;soit solution de :&#10;\begin{equation}&#10;\frac{1}{r^2}\frac{\partial}{\partial r}\left(k(r)\; r^2\frac{\partial T}{\partial r}\right) + Q(r) = 0&#10;\end{equation}&#10;&#10;Ecrire les relations de continuité aux 2 interfaces.&#10;&#10;&#10;Déterminer analytiquement la distribution de température dans le cœur (D1 : $r \in [0, R_i[$ ) et dans la coque sphérique (D2 : $r \in [R_i, R_e[$ ). La solution analytique est de la forme : &#10;\begin{align}&#10;T(r) &amp;= a_1 r^2 + b_1 \quad \text{pour } r \in [0, R_i[ \\&#10;T(r) &amp;= -a_2 / r + b_2 \quad \text{pour } r \in [R_i, R_e[&#10;\end{align}&#10;Déterminer les expressions des coefficients $a_i$ et $b_i$.&#10;&#10;&#10;Montrer que l'expression de la température en surface est donnée par :&#10;\begin{equation}&#10;T(R_e) = T_\infty + \frac{Q}{3h} \frac{R_i^3}{R_e^2}&#10;\end{equation}&#10;où $R_i$ et $R_e$ sont les rayons des sphères de centre commun O.&#10;&#10;\end{document}&#10;"/>
  <p:tag name="IGUANATEXSIZE" val="18"/>
  <p:tag name="IGUANATEXCURSOR" val="1514"/>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 1200"/>
  <p:tag name="ORIGINALHEIGHT" val=" 3478.815"/>
  <p:tag name="ORIGINALWIDTH" val=" 6182.977"/>
  <p:tag name="OUTPUTTYPE" val="PNG"/>
  <p:tag name="IGUANATEXVERSION" val="162"/>
  <p:tag name="LATEXADDIN" val="\documentclass{article}&#10;\usepackage{amsmath, amssymb}&#10;\usepackage{xcolor}&#10;\usepackage[paperwidth=25cm]{geometry}&#10;\pagestyle{empty}&#10;\begin{document}&#10;&#10;\subsection*{Relations de continuité aux interfaces}&#10;&#10;\noindent&#10;Interface $r = R_i$ (cœur/coque):&#10;\begin{align}&#10;\text{Continuité de température : } &amp;\quad T_1(R_i) = T_2(R_i) \\&#10;\text{Continuité du flux thermique : } &amp;\quad -k_1 \left.\frac{dT_1}{dr}\right|_{r=R_i} = -k_2 \left.\frac{dT_2}{dr}\right|_{r=R_i}&#10;\end{align}&#10;&#10;\noindent&#10;Interface $r = R_e$ (coque/extérieur):&#10;\begin{equation}&#10;\text{Condition de convection : } \quad -k_2 \left.\frac{dT_2}{dr}\right|_{r=R_e} = h(T_2(R_e) - T_\infty)&#10;\end{equation}&#10;&#10;\subsection*{Domaine D1 : Cœur ($r \in [0, R_i[$)}&#10;&#10;Dans le cœur, $k(r) = k_1$ et $Q(r) = Q$ (constante). L'équation devient après développement :&#10;\begin{equation}&#10;\frac{d}{dr}\left(k_1 \; r^2\frac{dT_1}{dr}\right) = -Q r^2&#10;\end{equation}&#10;&#10;\noindent&#10;Première intégration :&#10;\begin{equation}&#10;r^2\frac{dT_1}{dr} = -\frac{Q}{k_1} \frac{r^3}{3} + C&#10;\end{equation}&#10;&#10;\noindent&#10;Pour que la température soit finie en $r = 0$, il faut $C = 0$.&#10;\end{document}&#10;"/>
  <p:tag name="IGUANATEXSIZE" val="18"/>
  <p:tag name="IGUANATEXCURSOR" val="643"/>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 1200"/>
  <p:tag name="ORIGINALHEIGHT" val=" 3538.058"/>
  <p:tag name="ORIGINALWIDTH" val=" 6182.228"/>
  <p:tag name="OUTPUTTYPE" val="PNG"/>
  <p:tag name="IGUANATEXVERSION" val="162"/>
  <p:tag name="LATEXADDIN" val="\documentclass{article}&#10;\usepackage{amsmath, amssymb}&#10;\usepackage{xcolor}&#10;\usepackage[paperwidth=25cm]{geometry}&#10;\pagestyle{empty}&#10;\begin{document}&#10;&#10;\noindent&#10;Donc :&#10;\begin{equation}&#10;\frac{dT_1}{dr} = -\frac{Q}{3k_1} r&#10;\end{equation}&#10;&#10;Deuxième intégration :&#10;\begin{equation}&#10;T_1(r) = -\frac{Q}{6k_1} r^2 + b_1&#10;\end{equation}&#10;&#10;En posant $a_1 = -\frac{Q}{6k_1}$, on obtient :&#10;\begin{equation}&#10;\boxed{T_1(r) = a_1 r^2 + b_1 \quad \text{avec } a_1 = -\frac{Q}{6k_1}}&#10;\end{equation}&#10;&#10;\subsection*{Domaine D2 : Coque ($r \in [R_i, R_e[$)}&#10;&#10;Dans la coque, $k(r) = k_2$ et $Q(r) = 0$. L'équation devient :&#10;\begin{equation}&#10;\frac{1}{r^2}\frac{d}{dr}\left(k_2 r^2\frac{dT_2}{dr}\right) = 0&#10;\end{equation}&#10;&#10;\begin{equation}&#10;\frac{d}{dr}\left(r^2\frac{dT_2}{dr}\right) = 0&#10;\end{equation}&#10;&#10;Première intégration :&#10;\begin{equation}&#10;r^2\frac{dT_2}{dr} = a_2&#10;\end{equation}&#10;&#10;\end{document}&#10;"/>
  <p:tag name="IGUANATEXSIZE" val="18"/>
  <p:tag name="IGUANATEXCURSOR" val="841"/>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 1200"/>
  <p:tag name="ORIGINALHEIGHT" val=" 3703.037"/>
  <p:tag name="ORIGINALWIDTH" val=" 6182.228"/>
  <p:tag name="OUTPUTTYPE" val="PNG"/>
  <p:tag name="IGUANATEXVERSION" val="162"/>
  <p:tag name="LATEXADDIN" val="\documentclass{article}&#10;\usepackage{amsmath, amssymb}&#10;\usepackage{xcolor}&#10;\usepackage[paperwidth=25cm]{geometry}&#10;\pagestyle{empty}&#10;\begin{document}&#10;&#10;\begin{equation}&#10;\frac{dT_2}{dr} = \frac{a_2}{r^2}&#10;\end{equation}&#10;&#10;Deuxième intégration :&#10;\begin{equation}&#10;T_2(r) = -\frac{a_2}{r} + b_2&#10;\end{equation}&#10;&#10;\subsection*{Application des conditions aux limites}&#10;&#10;\textbf{Condition 1 : Continuité de température en $r = R_i$}&#10;\begin{equation}&#10;a_1 R_i^2 + b_1 = -\frac{a_2}{R_i} + b_2 &#10;\end{equation}&#10;&#10;\noindent&#10;\textbf{Condition 2 : Continuité du flux en $r = R_i$}&#10;\begin{align}&#10;\frac{dT_1}{dr}\bigg|_{r=R_i} &amp;= 2a_1 R_i = -\frac{Q}{3k_1} R_i \\&#10;\frac{dT_2}{dr}\bigg|_{r=R_i} &amp;= \frac{a_2}{R_i^2}&#10;\end{align}&#10;&#10;\noindent&#10;La continuité du flux donne :&#10;\begin{equation}&#10;k_1 \left(-\frac{Q}{3k_1} R_i\right) = k_2 \frac{a_2}{R_i^2}&#10;\end{equation}&#10;&#10;\begin{equation}&#10;\boxed{a_2 = -\frac{Q R_i^3}{3k_2}} &#10;\end{equation}&#10;&#10;\end{document}&#10;"/>
  <p:tag name="IGUANATEXSIZE" val="18"/>
  <p:tag name="IGUANATEXCURSOR" val="712"/>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 1200"/>
  <p:tag name="ORIGINALHEIGHT" val=" 3421.073"/>
  <p:tag name="ORIGINALWIDTH" val=" 5995.5"/>
  <p:tag name="OUTPUTTYPE" val="PNG"/>
  <p:tag name="IGUANATEXVERSION" val="162"/>
  <p:tag name="LATEXADDIN" val="\documentclass{article}&#10;\usepackage{amsmath, amssymb}&#10;\usepackage{xcolor}&#10;\usepackage[paperwidth=25cm]{geometry}&#10;\pagestyle{empty}&#10;\begin{document}&#10;&#10;&#10;\textbf{Condition 3 : Convection en $r = R_e$}&#10;\begin{equation}&#10;-k_2 \frac{a_2}{R_e^2} = h\left(-\frac{a_2}{R_e} + b_2 - T_\infty\right)&#10;\end{equation}&#10;&#10;En substituant l'expression de $a_2$ :&#10;\begin{equation}&#10;-k_2 \left(-\frac{Q R_i^3}{3k_2 R_e^2}\right) = h\left(\frac{Q R_i^3}{3k_2 R_e} + b_2 - T_\infty\right)&#10;\end{equation}&#10;&#10;\begin{equation}&#10;\boxed{b_2 = T_\infty + \frac{Q R_i^3}{3h R_e^2} - \frac{Q R_i^3}{3k_2 R_e}} &#10;\end{equation}&#10;&#10;De l'équation (1) :&#10;\begin{equation}&#10;b_1 = -\frac{a_2}{R_i} + b_2 - a_1 R_i^2&#10;\end{equation}&#10;&#10;En substituant les valeurs :&#10;\begin{equation}&#10;b_1 = \frac{Q R_i^3}{3k_2 R_i} + T_\infty + \frac{Q R_i^3}{3h R_e^2} - \frac{Q R_i^3}{3k_2 R_e} + \frac{Q R_i^2}{6k_1}&#10;\end{equation}&#10;&#10;\begin{equation}&#10;\boxed{b_1 = T_\infty + \frac{Q R_i^3}{3h R_e^2} + \frac{Q R_i^2}{6k_1} + \frac{Q R_i^2}{3k_2}\left(1 - \frac{R_i}{R_e}\right)} &#10;\end{equation}&#10;\end{document}&#10;"/>
  <p:tag name="IGUANATEXSIZE" val="18"/>
  <p:tag name="IGUANATEXCURSOR" val="279"/>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 1200"/>
  <p:tag name="ORIGINALHEIGHT" val=" 3176.603"/>
  <p:tag name="ORIGINALWIDTH" val=" 6182.228"/>
  <p:tag name="OUTPUTTYPE" val="PNG"/>
  <p:tag name="IGUANATEXVERSION" val="162"/>
  <p:tag name="LATEXADDIN" val="\documentclass{article}&#10;\usepackage{amsmath, amssymb}&#10;\usepackage{esint} % Pour \oiint&#10;\usepackage{xcolor}&#10;\usepackage[paperwidth=25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begin{document}&#10;&#10;\subsection*{Température en surface}&#10;&#10;La température en surface ($r = R_e$) est :&#10;\begin{equation}&#10;T(R_e) = T_2(R_e) = -\frac{a_2}{R_e} + b_2&#10;\end{equation}&#10;&#10;\noindent&#10;En substituant les expressions de $a_2$ et $b_2$ :&#10;\begin{equation}&#10;T(R_e) = \frac{Q R_i^3}{3k_2 R_e} + T_\infty + \frac{Q R_i^3}{3h R_e^2} - \frac{Q R_i^3}{3k_2 R_e}&#10;\end{equation}&#10;&#10;\begin{equation}&#10;\boxed{T(R_e) = T_\infty + \frac{Q R_i^3}{3h R_e^2}}&#10;\end{equation}&#10;&#10;\subsection*{En utilisant le théorème de Gauss}&#10;&#10;En régime permanent, l'équation de la chaleur s'apparente à une équation de Poisson : $ \div (-k \nabla T) =Q$&#10;&#10;\begin{equation}&#10;\rtvector{q} = \oiint_{S_e} \rtvector{q}'' \cdot \rtvector{n} \; dS = &#10;h\; \left(T(R_e) - T_\infty \right) _; 4 \pi\; R_e^2 = \int_V d^3r \; Q = Q \;\dfrac{4 \pi}{3} R_i^3&#10;\end{equation}&#10;&#10;\noindent&#10;On en déduit l'expression de $T(R_e)$.&#10;\end{document}&#10;"/>
  <p:tag name="IGUANATEXSIZE" val="18"/>
  <p:tag name="IGUANATEXCURSOR" val="1845"/>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 1200"/>
  <p:tag name="ORIGINALHEIGHT" val=" 1334.083"/>
  <p:tag name="ORIGINALWIDTH" val=" 4128.234"/>
  <p:tag name="OUTPUTTYPE" val="PNG"/>
  <p:tag name="IGUANATEXVERSION" val="162"/>
  <p:tag name="LATEXADDIN" val="\documentclass{article}&#10;\usepackage{amsmath, amssymb}&#10;\usepackage{xcolor}&#10;\usepackage[paperwidth=25cm]{geometry}&#10;\usepackage{amsfonts}&#10;\usepackage{fancyhdr}&#10;\usepackage{graphicx}&#10;\usepackage{booktabs}&#10;\usepackage{array}&#10;\usepackage{siunitx}&#10;\usepackage{listings}&#10;\usepackage{xcolor}&#10;\usepackage{float}&#10;\pagestyle{empty}&#10;\begin{document}&#10;&#10;\begin{table}[h]&#10;\centering&#10;\label{tab:parametres}&#10;\begin{tabular}{lccc}&#10;\toprule&#10;\textbf{Paramètre} &amp; \textbf{Symbole} &amp; \textbf{Valeur} &amp; \textbf{Unité} \\&#10;\midrule&#10;Conductivité thermique du cœur &amp; $k_1$ &amp; 200 &amp; \si{\watt\per\meter\per\kelvin} \\&#10;Conductivité thermique de la coque &amp; $k_2$ &amp; 10 &amp; \si{\watt\per\meter\per\kelvin} \\&#10;Densité volumique de puissance &amp; $Q$ &amp; 1000 &amp; \si{\watt\per\meter\cubed} \\&#10;Coefficient d'échange convectif &amp; $h$ &amp; 10 &amp; \si{\watt\per\meter\squared\per\kelvin} \\&#10;Température ambiante &amp; $T_a$ &amp; 300 &amp; \si{\kelvin} \\&#10;Rayon intérieur &amp; $R_i$ &amp; 1 &amp; \si{\meter} \\&#10;Rayon extérieur &amp; $R_e$ &amp; 2 &amp; \si{\meter} \\&#10;\bottomrule&#10;\end{tabular}&#10;\end{table}&#10;&#10;&#10;\end{document}&#10;"/>
  <p:tag name="IGUANATEXSIZE" val="18"/>
  <p:tag name="IGUANATEXCURSOR" val="365"/>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304.462"/>
  <p:tag name="ORIGINALWIDTH" val="1704.537"/>
  <p:tag name="OUTPUTTYPE" val="PNG"/>
  <p:tag name="IGUANATEXVERSION" val="160"/>
  <p:tag name="LATEXADDIN" val="\documentclass{article}&#10;\usepackage{amsmath}&#10;\pagestyle{empty}&#10;\begin{document}&#10;&#10;&#10;\begin{equation*}&#10;T(R_e) =  T_\infty + \frac{Q R_i^3}{3h R_e^2} = 308.3K\end{equation*}&#10;&#10;\end{document}"/>
  <p:tag name="IGUANATEXSIZE" val="18"/>
  <p:tag name="IGUANATEXCURSOR" val="168"/>
  <p:tag name="TRANSPARENCY" val="Vrai"/>
  <p:tag name="FILENAME" val=""/>
  <p:tag name="LATEXENGINEID" val="0"/>
  <p:tag name="TEMPFOLDER" val="c:\temp\"/>
  <p:tag name="LATEXFORMHEIGHT" val="320"/>
  <p:tag name="LATEXFORMWIDTH" val="385"/>
  <p:tag name="LATEXFORMWRAP" val="Vrai"/>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110.9861"/>
  <p:tag name="ORIGINALWIDTH" val="1213.348"/>
  <p:tag name="OUTPUTTYPE" val="PNG"/>
  <p:tag name="IGUANATEXVERSION" val="160"/>
  <p:tag name="LATEXADDIN" val="\documentclass{article}&#10;\usepackage{amsmath}&#10;\pagestyle{empty}&#10;\begin{document}&#10;&#10;sphère et couronne 3D&#10;&#10;&#10;\end{document}"/>
  <p:tag name="IGUANATEXSIZE" val="18"/>
  <p:tag name="IGUANATEXCURSOR" val="81"/>
  <p:tag name="TRANSPARENCY" val="Vrai"/>
  <p:tag name="FILENAME" val=""/>
  <p:tag name="LATEXENGINEID" val="0"/>
  <p:tag name="TEMPFOLDER" val="c:\temp\"/>
  <p:tag name="LATEXFORMHEIGHT" val="320"/>
  <p:tag name="LATEXFORMWIDTH" val="385"/>
  <p:tag name="LATEXFORMWRAP" val="Vrai"/>
  <p:tag name="BITMAPVECTOR" val="0"/>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1506</TotalTime>
  <Words>26</Words>
  <Application>Microsoft Office PowerPoint</Application>
  <PresentationFormat>Grand écran</PresentationFormat>
  <Paragraphs>24</Paragraphs>
  <Slides>11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toussaij</dc:creator>
  <cp:lastModifiedBy>toussaij</cp:lastModifiedBy>
  <cp:revision>163</cp:revision>
  <cp:lastPrinted>2025-07-22T13:09:33Z</cp:lastPrinted>
  <dcterms:created xsi:type="dcterms:W3CDTF">2025-06-16T06:26:42Z</dcterms:created>
  <dcterms:modified xsi:type="dcterms:W3CDTF">2025-09-15T13:41:09Z</dcterms:modified>
</cp:coreProperties>
</file>