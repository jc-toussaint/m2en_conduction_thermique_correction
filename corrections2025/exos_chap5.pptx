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96" r:id="rId2"/>
    <p:sldId id="319" r:id="rId3"/>
    <p:sldId id="321" r:id="rId4"/>
    <p:sldId id="322" r:id="rId5"/>
    <p:sldId id="324" r:id="rId6"/>
    <p:sldId id="297" r:id="rId7"/>
    <p:sldId id="323" r:id="rId8"/>
    <p:sldId id="298" r:id="rId9"/>
    <p:sldId id="299" r:id="rId10"/>
    <p:sldId id="300" r:id="rId11"/>
    <p:sldId id="301" r:id="rId12"/>
    <p:sldId id="302" r:id="rId13"/>
    <p:sldId id="303" r:id="rId14"/>
    <p:sldId id="304" r:id="rId15"/>
    <p:sldId id="306" r:id="rId16"/>
    <p:sldId id="305" r:id="rId17"/>
    <p:sldId id="308" r:id="rId18"/>
    <p:sldId id="325" r:id="rId19"/>
    <p:sldId id="326" r:id="rId20"/>
    <p:sldId id="309" r:id="rId21"/>
    <p:sldId id="310"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5" autoAdjust="0"/>
    <p:restoredTop sz="94660"/>
  </p:normalViewPr>
  <p:slideViewPr>
    <p:cSldViewPr snapToGrid="0">
      <p:cViewPr varScale="1">
        <p:scale>
          <a:sx n="82" d="100"/>
          <a:sy n="82" d="100"/>
        </p:scale>
        <p:origin x="96"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8D394-F502-454E-9F36-4C3E42B833D4}" type="datetimeFigureOut">
              <a:rPr lang="fr-FR" smtClean="0"/>
              <a:t>10/10/2025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FFAAB5-BEBF-45C2-9C14-0905C34B566F}" type="slidenum">
              <a:rPr lang="fr-FR" smtClean="0"/>
              <a:t>‹N°›</a:t>
            </a:fld>
            <a:endParaRPr lang="fr-FR"/>
          </a:p>
        </p:txBody>
      </p:sp>
    </p:spTree>
    <p:extLst>
      <p:ext uri="{BB962C8B-B14F-4D97-AF65-F5344CB8AC3E}">
        <p14:creationId xmlns:p14="http://schemas.microsoft.com/office/powerpoint/2010/main" val="1689241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210B9089-E6A1-499E-82A3-7C029AF6D6DF}"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7801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90C0DCA-EBE7-4F71-80B5-BFC358ED77B2}"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45085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EF288095-5655-4CBE-8F92-59860B4428BA}"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5915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15C3AFA4-15FC-4AF0-BCC0-4BF1E61291D9}" type="datetime1">
              <a:rPr lang="fr-FR" smtClean="0"/>
              <a:t>10/10/2025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322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44EF6E7-1D9A-4B01-845E-66C5B356990A}" type="datetime1">
              <a:rPr lang="fr-FR" smtClean="0"/>
              <a:t>10/10/2025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1995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19B2EF2F-1D10-45A9-A3D8-B3D0EC325573}" type="datetime1">
              <a:rPr lang="fr-FR" smtClean="0"/>
              <a:t>10/10/2025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35370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713D462-591B-4EA7-92EC-1EE55BFF2F3A}" type="datetime1">
              <a:rPr lang="fr-FR" smtClean="0"/>
              <a:t>10/10/2025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548793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6669BCD8-0DAB-41E1-A3FB-FB2B3AFF0AF1}" type="datetime1">
              <a:rPr lang="fr-FR" smtClean="0"/>
              <a:t>10/10/2025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7644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5AFCEE05-FC8B-4B05-930C-93D9EBF42A5C}" type="datetime1">
              <a:rPr lang="fr-FR" smtClean="0"/>
              <a:t>10/10/2025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289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0E2937E-0A87-4E33-9A67-33400583D166}"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240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8FB7CE0-3306-4E1C-B41D-476DC1409EF5}" type="datetime1">
              <a:rPr lang="fr-FR" smtClean="0"/>
              <a:t>10/10/2025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9210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6B147-D64F-4278-BE72-29207D7C7A64}" type="datetime1">
              <a:rPr lang="fr-FR" smtClean="0"/>
              <a:t>10/10/2025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3DDC6-9977-4A69-882A-1641CFA73689}" type="slidenum">
              <a:rPr lang="fr-FR" smtClean="0"/>
              <a:t>‹N°›</a:t>
            </a:fld>
            <a:endParaRPr lang="fr-FR"/>
          </a:p>
        </p:txBody>
      </p:sp>
    </p:spTree>
    <p:extLst>
      <p:ext uri="{BB962C8B-B14F-4D97-AF65-F5344CB8AC3E}">
        <p14:creationId xmlns:p14="http://schemas.microsoft.com/office/powerpoint/2010/main" val="329829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10.xml"/><Relationship Id="rId7" Type="http://schemas.openxmlformats.org/officeDocument/2006/relationships/image" Target="../media/image1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slideLayout" Target="../slideLayouts/slideLayout2.xml"/><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13.xml"/><Relationship Id="rId7" Type="http://schemas.openxmlformats.org/officeDocument/2006/relationships/image" Target="../media/image17.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0.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tags" Target="../tags/tag28.xml"/><Relationship Id="rId7" Type="http://schemas.openxmlformats.org/officeDocument/2006/relationships/slideLayout" Target="../slideLayouts/slideLayout2.xml"/><Relationship Id="rId12" Type="http://schemas.openxmlformats.org/officeDocument/2006/relationships/image" Target="../media/image38.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37.png"/><Relationship Id="rId5" Type="http://schemas.openxmlformats.org/officeDocument/2006/relationships/tags" Target="../tags/tag30.xml"/><Relationship Id="rId10" Type="http://schemas.openxmlformats.org/officeDocument/2006/relationships/image" Target="../media/image36.png"/><Relationship Id="rId4" Type="http://schemas.openxmlformats.org/officeDocument/2006/relationships/tags" Target="../tags/tag29.xml"/><Relationship Id="rId9"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10;\usepackage{xcolor}&#10;\usepackage[paperwidth=23cm]{geometry}&#10;\pagestyle{empty}&#10;&#10;\usepackage{siunitx}&#10;&#10;&#10;\begin{document}&#10;&#10;\subsection*{Système radial}&#10;&#10;Pour un cylindre infini de rayon $r_o$, qui est à une température uniforme initiale et qui subit un changement des conditions de convection, une solution exacte en série peut être obtenue pour la dépendance temporelle de la distribution radiale de température, et une approximation à un terme peut être utilisée pour certaines conditions.&#10;&#10;Le cylindre infini est une idéalisation qui permet l'hypothèse d'une conduction unidimensionnelle dans la direction radiale. Il s'agit d'une approximation raisonnable pour des cylindres ayant $L/r_o &gt; 10$.&#10;&#10;Sans source de chaleur et dans l'hypothèse d'une conductivité thermique constante, l'Équation se réduit alors à&#10;&#10;\begin{equation}&#10;\frac{1}{r}\frac{\partial}{\partial r}\left(r\frac{\partial T}{\partial r}\right) = \frac{1}{\alpha} \frac{\partial T}{\partial t} \quad \text{avec} \quad&#10;\alpha = \frac{k}{\rho c}.&#10;\end{equation}&#10;&#10;Pour résoudre l'Équation ci-dessus pour la distribution de température $T(x, t)$, il est nécessaire de spécifier une \textit{condition initiale} et deux \textit{conditions aux limites}. On choisit ici, la condition initiale uniforme suivante:&#10;\begin{equation}&#10;T(r, 0) = T_i&#10;\end{equation}&#10;et les 2 conditions aux limites : &#10;$&#10;\frac{\partial T}{\partial r}\bigg|_{r=0} = 0&#10;$&#10;et&#10;$&#10;-k \frac{\partial T}{\partial r}\bigg|_{r=r_o} = h[T(r_o, t) - T_\infty]&#10;$&#10;&#10;On introduit le nombre de Fourier $Fo = \alpha t/r_0^2$ et $r^* = r/r_o$.&#10;On note $\theta^* = \dfrac{T - T_\infty}{T_i - T_\infty}$.&#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35030" y="182881"/>
            <a:ext cx="10416001" cy="5882060"/>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a:t>
            </a:fld>
            <a:endParaRPr lang="fr-FR"/>
          </a:p>
        </p:txBody>
      </p:sp>
      <p:pic>
        <p:nvPicPr>
          <p:cNvPr id="5" name="Image 4"/>
          <p:cNvPicPr>
            <a:picLocks noChangeAspect="1"/>
          </p:cNvPicPr>
          <p:nvPr/>
        </p:nvPicPr>
        <p:blipFill>
          <a:blip r:embed="rId4"/>
          <a:stretch>
            <a:fillRect/>
          </a:stretch>
        </p:blipFill>
        <p:spPr>
          <a:xfrm>
            <a:off x="8425259" y="2759101"/>
            <a:ext cx="2868469" cy="1914537"/>
          </a:xfrm>
          <a:prstGeom prst="rect">
            <a:avLst/>
          </a:prstGeom>
        </p:spPr>
      </p:pic>
    </p:spTree>
    <p:extLst>
      <p:ext uri="{BB962C8B-B14F-4D97-AF65-F5344CB8AC3E}">
        <p14:creationId xmlns:p14="http://schemas.microsoft.com/office/powerpoint/2010/main" val="2115451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documentclass{article}&#10;\usepackage{amsmath}&#10;\usepackage{xcolor}&#10;\usepackage[paperwidth=23cm]{geometry}&#10;\pagestyle{empty}&#10;&#10;\usepackage{siunitx}&#10;&#10;&#10;\begin{document}&#10;&#10;&#10;L'équation de la chaleur sans source devient en introduisant la température réduite $\theta^*$:&#10;&#10;\begin{equation}&#10;\frac{1}{r}\frac{\partial}{\partial r}\left(r\frac{\partial \theta^*}{\partial r}\right) = \frac{1}{\alpha} \frac{\partial \theta^*}{\partial t} &#10;\end{equation}&#10;puis en introduisant les dimensions réduites :&#10;&#10;\begin{equation}&#10;\frac{1}{r^*}\frac{\partial}{\partial r^*}\left(r^*\frac{\partial \theta^*}{\partial r^*}\right) =  \frac{\partial \theta^*}{\partial F\!o} &#10;\end{equation}&#10;&#10;On se propose de résoudre cette équation par la méthode des séparations de variables : &#10;\begin{equation}&#10;\theta^*(r^*, F\!o) = R(r^*) \; F(F\!o)&#10;\end{equation}&#10;&#10;La condition initiale s'écrit : $\theta(r^*, 0)=1$.&#10;\noindent&#10;Les 2 conditions aux limites d'écrivent : &#10;\begin{equation}&#10;\frac{\partial \theta^*}{\partial r^*}\bigg|_{r^*=0} = 0&#10;\end{equation}&#10;et&#10;\begin{equation}&#10;-k \frac{\partial \theta^*}{\partial r^*}\bigg|_{r^*=1} = h \; \theta^*(1, F\!o) \quad \text{ou}&#10;\quad \frac{\partial \theta^*}{\partial r^*}\bigg|_{r^*=1} = -Bi \; \theta^*(1, F\!o)&#10;\end{equation}&#10;&#10;On obtient :&#10;\begin{equation} \frac{1}{R}&#10;\frac{1}{r^*}\frac{\partial}{\partial r^*}\left(r^*\frac{\partial R}{\partial r^*}\right) =  &#10;\frac{1}{F} \frac{\partial F}{\partial F\!o} = - \zeta_n ^2&#10;\end{equation}&#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35030" y="182885"/>
            <a:ext cx="10400915" cy="6204351"/>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a:t>
            </a:fld>
            <a:endParaRPr lang="fr-FR"/>
          </a:p>
        </p:txBody>
      </p:sp>
      <p:pic>
        <p:nvPicPr>
          <p:cNvPr id="5" name="Image 4"/>
          <p:cNvPicPr>
            <a:picLocks noChangeAspect="1"/>
          </p:cNvPicPr>
          <p:nvPr/>
        </p:nvPicPr>
        <p:blipFill>
          <a:blip r:embed="rId4"/>
          <a:stretch>
            <a:fillRect/>
          </a:stretch>
        </p:blipFill>
        <p:spPr>
          <a:xfrm>
            <a:off x="9075889" y="508270"/>
            <a:ext cx="2868469" cy="1914537"/>
          </a:xfrm>
          <a:prstGeom prst="rect">
            <a:avLst/>
          </a:prstGeom>
        </p:spPr>
      </p:pic>
    </p:spTree>
    <p:extLst>
      <p:ext uri="{BB962C8B-B14F-4D97-AF65-F5344CB8AC3E}">
        <p14:creationId xmlns:p14="http://schemas.microsoft.com/office/powerpoint/2010/main" val="24752334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23" descr="\documentclass{article}&#10;\usepackage{amsmath}&#10;\usepackage{xcolor}&#10;\usepackage[paperwidth=23cm]{geometry}&#10;\pagestyle{empty}&#10;&#10;\usepackage{siunitx}&#10;&#10;&#10;\begin{document}&#10;&#10;On obtient, en anticipant le fait que la constante $\zeta_n$ n'est pas unique :&#10;\begin{equation} \frac{1}{R}&#10;\frac{1}{r^*}\frac{\partial}{\partial r^*}\left(r^*\frac{\partial R}{\partial r^*}\right) =  &#10;\frac{1}{F} \frac{\partial F}{\partial F\!o} = - \zeta_n ^2&#10;\end{equation}&#10;On en extrait 2 équations :&#10;\begin{equation} \frac{1}{r^*}\frac{\partial}{\partial r^*}\left(r^*\frac{\partial R}{\partial r^*}\right) + \zeta_n ^2 \; R =0&#10;\quad \text{et} \quad&#10;\frac{\partial F}{\partial F\!o} + \zeta_n ^2 \; F =0&#10;\end{equation}&#10;&#10;La solution génrale de la première équation est une combinaison linéaire de la fonction de Bessel de première espèce d'ordre 0, $J_0(\zeta_n \; r^*)$ &#10;et de la fonction de Neuman dite de seconde espèce d'ordre 0, $Y_0(\zeta_n \; r^*)$.&#10;On exclut cette dernière car elle est singulière en $r^*=0$. \\&#10;&#10;La solution de la seconde équation est $F(F\!o) \propto \exp(-\zeta_n^2 \; F\!o)$.&#10;&#10;Donc, sous forme adimensionnelle, la température est :&#10;\begin{equation*}&#10;\theta^*(r^*, F\!o) = \sum_{n=1}^{\infty} C_n \exp(-\zeta_n^2 F\!o) J_0(\zeta_n r^*) &#10;\end{equation*}&#10;&#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26240" y="508268"/>
            <a:ext cx="10417361" cy="4963212"/>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3</a:t>
            </a:fld>
            <a:endParaRPr lang="fr-FR"/>
          </a:p>
        </p:txBody>
      </p:sp>
      <p:pic>
        <p:nvPicPr>
          <p:cNvPr id="5" name="Image 4"/>
          <p:cNvPicPr>
            <a:picLocks noChangeAspect="1"/>
          </p:cNvPicPr>
          <p:nvPr/>
        </p:nvPicPr>
        <p:blipFill>
          <a:blip r:embed="rId4"/>
          <a:stretch>
            <a:fillRect/>
          </a:stretch>
        </p:blipFill>
        <p:spPr>
          <a:xfrm>
            <a:off x="9067097" y="754455"/>
            <a:ext cx="2868469" cy="1914537"/>
          </a:xfrm>
          <a:prstGeom prst="rect">
            <a:avLst/>
          </a:prstGeom>
        </p:spPr>
      </p:pic>
    </p:spTree>
    <p:extLst>
      <p:ext uri="{BB962C8B-B14F-4D97-AF65-F5344CB8AC3E}">
        <p14:creationId xmlns:p14="http://schemas.microsoft.com/office/powerpoint/2010/main" val="8354134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10;\usepackage{xcolor}&#10;\usepackage[paperwidth=20cm]{geometry}&#10;\pagestyle{empty}&#10;&#10;\usepackage{siunitx}&#10;&#10;&#10;\begin{document}&#10;&#10;\subsection*{Exercice}&#10;\begin{itemize}&#10;\item Montrer que la condition aux limites s'écrit :&#10;$\frac{\partial \theta^*}{\partial r^*}\bigg|_{r^*=1} = -Bi \; \theta^*(1, F\!o)$.&#10;En utilisant $J_0'(x) = -J_1(x)$, montrer que l'on obtient une relation implicite&#10;permettant de définir les constantes $\zeta_n$.&#10;\item Montrer que la condition initiale $\theta^*(r^*, 0)=1$ permet de définir les constantes $C_n$&#10;en utilisant les identités valides $\forall \zeta_n$ (ATTENTION $\zeta_n$ n'est pas un zéro de $J_0$): &#10;$$\int_0^1 r^* \left[J_0(\zeta_n r^*)\right]^2  dr^* = &#10;\frac{1}{2} \left[ J_0(\zeta_n)^2 + J_1(\zeta_n)^2 \right]$$ et &#10;$$\int_0^1 r^* J_0(\zeta_n r^*) dr^* = \frac{J_1(\zeta_n)}{\zeta_n}$$.&#10;\end{itemize}&#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96622" y="165302"/>
            <a:ext cx="9055539" cy="4162291"/>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4</a:t>
            </a:fld>
            <a:endParaRPr lang="fr-FR"/>
          </a:p>
        </p:txBody>
      </p:sp>
      <p:pic>
        <p:nvPicPr>
          <p:cNvPr id="6" name="Image 5"/>
          <p:cNvPicPr>
            <a:picLocks noChangeAspect="1"/>
          </p:cNvPicPr>
          <p:nvPr/>
        </p:nvPicPr>
        <p:blipFill>
          <a:blip r:embed="rId4"/>
          <a:stretch>
            <a:fillRect/>
          </a:stretch>
        </p:blipFill>
        <p:spPr>
          <a:xfrm>
            <a:off x="6940904" y="3200409"/>
            <a:ext cx="4412896" cy="3481575"/>
          </a:xfrm>
          <a:prstGeom prst="rect">
            <a:avLst/>
          </a:prstGeom>
        </p:spPr>
      </p:pic>
      <p:pic>
        <p:nvPicPr>
          <p:cNvPr id="5" name="Image 4"/>
          <p:cNvPicPr>
            <a:picLocks noChangeAspect="1"/>
          </p:cNvPicPr>
          <p:nvPr/>
        </p:nvPicPr>
        <p:blipFill>
          <a:blip r:embed="rId5"/>
          <a:stretch>
            <a:fillRect/>
          </a:stretch>
        </p:blipFill>
        <p:spPr>
          <a:xfrm>
            <a:off x="9543006" y="579046"/>
            <a:ext cx="2364251" cy="1578001"/>
          </a:xfrm>
          <a:prstGeom prst="rect">
            <a:avLst/>
          </a:prstGeom>
        </p:spPr>
      </p:pic>
    </p:spTree>
    <p:extLst>
      <p:ext uri="{BB962C8B-B14F-4D97-AF65-F5344CB8AC3E}">
        <p14:creationId xmlns:p14="http://schemas.microsoft.com/office/powerpoint/2010/main" val="10901300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 18" descr="\documentclass{article}&#10;\usepackage{amsmath}&#10;\usepackage{xcolor}&#10;\usepackage[paperwidth=23cm]{geometry}&#10;\pagestyle{empty}&#10;&#10;\usepackage{siunitx}&#10;&#10;&#10;\begin{document}&#10;&#10;\begin{itemize}&#10;\item A l'instant initial, $\theta^*(r^*, 0)=1$; plus précisément, on a:&#10;\begin{equation}&#10;\theta^*(r^*, 0)= \sum_{n=1}^{\infty} C_n \; J_0(\zeta_n r^*) \quad \text{pour} \quad r^* \le 1&#10;\end{equation}&#10;\end{itemize}&#10;&#10;Condition aux limites :&#10;\begin{equation}&#10;\frac{\partial \theta^*}{\partial r^*}\bigg|_{r^*=1} = -Bi \; \theta^*(1, 0)&#10;\end{equation}&#10;&#10;\subsection*{Détermination des $\zeta_n$}&#10;&#10;En utilisant $J_0'(x) = -J_1(x)$ :&#10;\begin{equation}&#10;\boxed{\zeta_n J_1(\zeta_n) = Bi \; J_0(\zeta_n)}&#10;\end{equation}&#10;&#10;Les $\zeta_n$ sont les racines positives de cette équation transcendante.&#10;&#10;On multiplie par $r^* J_0(\zeta_m r^*)$ et on intègre :&#10;\begin{equation}&#10;\int_0^1 r^* J_0(\zeta_m r^*) \, dr^* = C_m \int_0^1 r^* J_0^2(\zeta_m r^*) \, dr^* &#10;\end{equation}&#10;et comme&#10;$\int_0^1 r^* J_0(\zeta_n r^*) dr^* = \frac{J_1(\zeta_n)}{\zeta_n} = \frac{Bi \; J_0(\zeta_n)}{\zeta_n^2}$&#10;et $\int_0^1 r^* \left[J_0(\zeta_n r^*)\right]^2  dr^* = &#10;\frac{1}{2} \left[ J_0(\zeta_n)^2 + J_1(\zeta_n)^2 \right]$&#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413785" y="652579"/>
            <a:ext cx="10400895" cy="5703771"/>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5</a:t>
            </a:fld>
            <a:endParaRPr lang="fr-FR"/>
          </a:p>
        </p:txBody>
      </p:sp>
      <p:sp>
        <p:nvSpPr>
          <p:cNvPr id="26" name="ZoneTexte 25"/>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0086908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documentclass{article}&#10;\usepackage{amsmath}&#10;\usepackage{xcolor}&#10;\usepackage[paperwidth=23cm]{geometry}&#10;\pagestyle{empty}&#10;&#10;\usepackage{siunitx}&#10;&#10;&#10;\begin{document}&#10;&#10;\begin{itemize}&#10;\item On obtient:&#10;\begin{equation}&#10;C_n = \frac{2}{\zeta_n} \frac{J_1(\zeta_n)}{J_0^2(\zeta_n) + J_1^2(\zeta_n)} &#10;\end{equation}&#10;&#10;\item On rapppelle que les valeurs discrètes de $\zeta_n$ sont les racines positives de l'équation transcendante :&#10;&#10;\begin{equation}&#10;\zeta_n J_1(\zeta_n)  = Bi \;J_0(\zeta_n)\quad \text{où} \quad Bi = \frac{hr_o}{k}&#10;\end{equation}&#10;\end{itemize}&#10;&#10;La solution finale s'écrit :&#10;\begin{equation*}&#10;\boxed{&#10;\theta^*(r^*, F\!o) = \sum_{n=1}^{\infty} \frac{2}{\zeta_n} \frac{J_1(\zeta_n)}{J_0^2(\zeta_n) + J_1^2(\zeta_n)} &#10; \exp(-\zeta_n^2 F\!o) \; J_0(\zeta_n r^*) &#10;}&#10;\end{equation*}&#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660498" y="689035"/>
            <a:ext cx="10058037" cy="346696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6</a:t>
            </a:fld>
            <a:endParaRPr lang="fr-FR"/>
          </a:p>
        </p:txBody>
      </p:sp>
      <p:pic>
        <p:nvPicPr>
          <p:cNvPr id="8" name="Image 7" descr="\documentclass{article}&#10;\usepackage{amsmath}&#10;\usepackage{xcolor}&#10;\usepackage[paperwidth=23cm]{geometry}&#10;\pagestyle{empty}&#10;&#10;\usepackage{siunitx}&#10;&#10;&#10;\begin{document}&#10;&#10;\subsection*{Exercice}&#10;\begin{itemize}&#10;\item Donner l'expression de la solution dans la limite des grands temps.&#10;\item Trouver l'expression de l'énergie totale dissipée en fonction du temps.&#10;\end{itemize}&#10;\end{document}" title="IguanaTex Bitmap Display"/>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1660498" y="4958298"/>
            <a:ext cx="7472914" cy="1110857"/>
          </a:xfrm>
          <a:prstGeom prst="rect">
            <a:avLst/>
          </a:prstGeom>
        </p:spPr>
      </p:pic>
      <p:sp>
        <p:nvSpPr>
          <p:cNvPr id="26" name="ZoneTexte 25"/>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019465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13DDC6-9977-4A69-882A-1641CFA73689}" type="slidenum">
              <a:rPr lang="fr-FR" smtClean="0"/>
              <a:t>7</a:t>
            </a:fld>
            <a:endParaRPr lang="fr-FR"/>
          </a:p>
        </p:txBody>
      </p:sp>
      <p:sp>
        <p:nvSpPr>
          <p:cNvPr id="26" name="ZoneTexte 25"/>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4" name="Image 3"/>
          <p:cNvPicPr>
            <a:picLocks noChangeAspect="1"/>
          </p:cNvPicPr>
          <p:nvPr/>
        </p:nvPicPr>
        <p:blipFill>
          <a:blip r:embed="rId5"/>
          <a:stretch>
            <a:fillRect/>
          </a:stretch>
        </p:blipFill>
        <p:spPr>
          <a:xfrm>
            <a:off x="357525" y="919412"/>
            <a:ext cx="6312906" cy="3761206"/>
          </a:xfrm>
          <a:prstGeom prst="rect">
            <a:avLst/>
          </a:prstGeom>
        </p:spPr>
      </p:pic>
      <p:sp>
        <p:nvSpPr>
          <p:cNvPr id="5" name="ZoneTexte 4"/>
          <p:cNvSpPr txBox="1"/>
          <p:nvPr/>
        </p:nvSpPr>
        <p:spPr>
          <a:xfrm>
            <a:off x="7241682" y="1174514"/>
            <a:ext cx="3712619" cy="2062103"/>
          </a:xfrm>
          <a:prstGeom prst="rect">
            <a:avLst/>
          </a:prstGeom>
          <a:noFill/>
        </p:spPr>
        <p:txBody>
          <a:bodyPr wrap="none" rtlCol="0">
            <a:spAutoFit/>
          </a:bodyPr>
          <a:lstStyle/>
          <a:p>
            <a:r>
              <a:rPr lang="fr-FR" sz="1600" dirty="0"/>
              <a:t>Intersections approximatives avec </a:t>
            </a:r>
            <a:r>
              <a:rPr lang="fr-FR" sz="1600" dirty="0" smtClean="0"/>
              <a:t>Bi </a:t>
            </a:r>
            <a:r>
              <a:rPr lang="fr-FR" sz="1600" dirty="0"/>
              <a:t>= 0.1:</a:t>
            </a:r>
          </a:p>
          <a:p>
            <a:r>
              <a:rPr lang="fr-FR" sz="1600" dirty="0"/>
              <a:t>  </a:t>
            </a:r>
            <a:r>
              <a:rPr lang="el-GR" sz="1600" dirty="0"/>
              <a:t>ζ_1 ≈ 0.4417</a:t>
            </a:r>
          </a:p>
          <a:p>
            <a:r>
              <a:rPr lang="el-GR" sz="1600" dirty="0"/>
              <a:t>  ζ_2 ≈ 3.8577</a:t>
            </a:r>
          </a:p>
          <a:p>
            <a:r>
              <a:rPr lang="el-GR" sz="1600" dirty="0"/>
              <a:t>  ζ_3 ≈ 7.0298</a:t>
            </a:r>
          </a:p>
          <a:p>
            <a:r>
              <a:rPr lang="el-GR" sz="1600" dirty="0"/>
              <a:t>  ζ_4 ≈ 10.1833</a:t>
            </a:r>
          </a:p>
          <a:p>
            <a:r>
              <a:rPr lang="el-GR" sz="1600" dirty="0"/>
              <a:t>  ζ_5 ≈ 13.3312</a:t>
            </a:r>
          </a:p>
          <a:p>
            <a:r>
              <a:rPr lang="el-GR" sz="1600" dirty="0"/>
              <a:t>  ζ_6 ≈ 16.4767</a:t>
            </a:r>
          </a:p>
          <a:p>
            <a:r>
              <a:rPr lang="el-GR" sz="1600" dirty="0"/>
              <a:t>  ζ_7 ≈ 19.6210</a:t>
            </a:r>
            <a:endParaRPr lang="fr-FR" sz="1600" dirty="0"/>
          </a:p>
        </p:txBody>
      </p:sp>
      <p:pic>
        <p:nvPicPr>
          <p:cNvPr id="8" name="Image 7"/>
          <p:cNvPicPr>
            <a:picLocks noChangeAspect="1"/>
          </p:cNvPicPr>
          <p:nvPr/>
        </p:nvPicPr>
        <p:blipFill>
          <a:blip r:embed="rId6"/>
          <a:stretch>
            <a:fillRect/>
          </a:stretch>
        </p:blipFill>
        <p:spPr>
          <a:xfrm>
            <a:off x="6762391" y="3602364"/>
            <a:ext cx="5225393" cy="3255636"/>
          </a:xfrm>
          <a:prstGeom prst="rect">
            <a:avLst/>
          </a:prstGeom>
        </p:spPr>
      </p:pic>
      <p:pic>
        <p:nvPicPr>
          <p:cNvPr id="19" name="Image 18" descr="\documentclass{article}&#10;\usepackage{amsmath}&#10;\pagestyle{empty}&#10;\begin{document}&#10;&#10;\noindent&#10;On limite la série à un nombre fini de termes $n_c$ : &#10;\begin{equation*}&#10;\theta^*(r^*, F\!o) = \sum_{n=1}^{n_{c}} \frac{2}{\zeta_n} \frac{J_1(\zeta_n)}{J_0^2(\zeta_n) + J_1^2(\zeta_n)} &#10; \exp(-\zeta_n^2 F\!o) \; J_0(\zeta_n r^*) &#10;\end{equation*}&#10;Pour obtenir des tracés corrects, il faut étudier&#10;$\theta^*(r^*, F\!o)$ \\ dans un intervalle tel que&#10;$\exp(-\zeta_{n_c}^2 F\!o_{min}) \ll 1$.&#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13839" y="4636122"/>
            <a:ext cx="6736456" cy="1887088"/>
          </a:xfrm>
          <a:prstGeom prst="rect">
            <a:avLst/>
          </a:prstGeom>
          <a:solidFill>
            <a:srgbClr val="FFFFFF"/>
          </a:solidFill>
        </p:spPr>
      </p:pic>
      <p:pic>
        <p:nvPicPr>
          <p:cNvPr id="17" name="Image 16" descr="\documentclass{article}&#10;\usepackage{amsmath}&#10;\pagestyle{empty}&#10;\begin{document}&#10;&#10;Profils de température &#10;pour $F\!o \in [1, 10]$.&#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7329319" y="3475123"/>
            <a:ext cx="4423619" cy="254476"/>
          </a:xfrm>
          <a:prstGeom prst="rect">
            <a:avLst/>
          </a:prstGeom>
          <a:solidFill>
            <a:srgbClr val="FFFFFF"/>
          </a:solidFill>
        </p:spPr>
      </p:pic>
      <p:pic>
        <p:nvPicPr>
          <p:cNvPr id="6" name="Image 5" descr="\documentclass{article}&#10;\usepackage{amsmath}&#10;\usepackage{xcolor}&#10;\usepackage[paperwidth=23cm]{geometry}&#10;\pagestyle{empty}&#10;&#10;\usepackage{siunitx}&#10;&#10;&#10;\begin{document}&#10;&#10;Les valeurs discrètes de $\zeta_n$ sont les racines positives de l'équation transcendante :&#10;&#10;\begin{equation}&#10;\zeta_n \frac{J_1(\zeta_n)}{J_0(\zeta_n)} = Bi \quad \text{où} \quad Bi = \frac{hr_o}{k}&#10;\end{equation}&#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719914" y="70335"/>
            <a:ext cx="10058038" cy="992914"/>
          </a:xfrm>
          <a:prstGeom prst="rect">
            <a:avLst/>
          </a:prstGeom>
        </p:spPr>
      </p:pic>
    </p:spTree>
    <p:extLst>
      <p:ext uri="{BB962C8B-B14F-4D97-AF65-F5344CB8AC3E}">
        <p14:creationId xmlns:p14="http://schemas.microsoft.com/office/powerpoint/2010/main" val="24540632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18655" y="382386"/>
            <a:ext cx="10415995" cy="202148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8</a:t>
            </a:fld>
            <a:endParaRPr lang="fr-FR"/>
          </a:p>
        </p:txBody>
      </p:sp>
      <p:pic>
        <p:nvPicPr>
          <p:cNvPr id="15" name="Image 14"/>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18657" y="2559917"/>
            <a:ext cx="6098741" cy="3930512"/>
          </a:xfrm>
          <a:prstGeom prst="rect">
            <a:avLst/>
          </a:prstGeom>
        </p:spPr>
      </p:pic>
      <p:grpSp>
        <p:nvGrpSpPr>
          <p:cNvPr id="17" name="Groupe 16"/>
          <p:cNvGrpSpPr/>
          <p:nvPr/>
        </p:nvGrpSpPr>
        <p:grpSpPr>
          <a:xfrm>
            <a:off x="6679066" y="2403870"/>
            <a:ext cx="5067458" cy="3346957"/>
            <a:chOff x="6679066" y="2403870"/>
            <a:chExt cx="5067458" cy="3346957"/>
          </a:xfrm>
        </p:grpSpPr>
        <p:pic>
          <p:nvPicPr>
            <p:cNvPr id="6" name="Image 5"/>
            <p:cNvPicPr>
              <a:picLocks noChangeAspect="1"/>
            </p:cNvPicPr>
            <p:nvPr/>
          </p:nvPicPr>
          <p:blipFill>
            <a:blip r:embed="rId7"/>
            <a:stretch>
              <a:fillRect/>
            </a:stretch>
          </p:blipFill>
          <p:spPr>
            <a:xfrm>
              <a:off x="6679066" y="2403870"/>
              <a:ext cx="5067458" cy="3164807"/>
            </a:xfrm>
            <a:prstGeom prst="rect">
              <a:avLst/>
            </a:prstGeom>
          </p:spPr>
        </p:pic>
        <p:pic>
          <p:nvPicPr>
            <p:cNvPr id="16" name="Image 15"/>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6975309" y="5584884"/>
              <a:ext cx="4474971" cy="165943"/>
            </a:xfrm>
            <a:prstGeom prst="rect">
              <a:avLst/>
            </a:prstGeom>
          </p:spPr>
        </p:pic>
      </p:grpSp>
    </p:spTree>
    <p:extLst>
      <p:ext uri="{BB962C8B-B14F-4D97-AF65-F5344CB8AC3E}">
        <p14:creationId xmlns:p14="http://schemas.microsoft.com/office/powerpoint/2010/main" val="2961951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71274" y="365956"/>
            <a:ext cx="10418735" cy="563656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9</a:t>
            </a:fld>
            <a:endParaRPr lang="fr-FR"/>
          </a:p>
        </p:txBody>
      </p:sp>
    </p:spTree>
    <p:extLst>
      <p:ext uri="{BB962C8B-B14F-4D97-AF65-F5344CB8AC3E}">
        <p14:creationId xmlns:p14="http://schemas.microsoft.com/office/powerpoint/2010/main" val="996989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64468" y="447804"/>
            <a:ext cx="10413240" cy="5637937"/>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10</a:t>
            </a:fld>
            <a:endParaRPr lang="fr-FR"/>
          </a:p>
        </p:txBody>
      </p:sp>
    </p:spTree>
    <p:extLst>
      <p:ext uri="{BB962C8B-B14F-4D97-AF65-F5344CB8AC3E}">
        <p14:creationId xmlns:p14="http://schemas.microsoft.com/office/powerpoint/2010/main" val="32805660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76546" y="298335"/>
            <a:ext cx="10418729" cy="6009592"/>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11</a:t>
            </a:fld>
            <a:endParaRPr lang="fr-FR"/>
          </a:p>
        </p:txBody>
      </p:sp>
    </p:spTree>
    <p:extLst>
      <p:ext uri="{BB962C8B-B14F-4D97-AF65-F5344CB8AC3E}">
        <p14:creationId xmlns:p14="http://schemas.microsoft.com/office/powerpoint/2010/main" val="41886604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55676" y="500560"/>
            <a:ext cx="10399532" cy="569964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12</a:t>
            </a:fld>
            <a:endParaRPr lang="fr-FR"/>
          </a:p>
        </p:txBody>
      </p:sp>
    </p:spTree>
    <p:extLst>
      <p:ext uri="{BB962C8B-B14F-4D97-AF65-F5344CB8AC3E}">
        <p14:creationId xmlns:p14="http://schemas.microsoft.com/office/powerpoint/2010/main" val="5859513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55676" y="500558"/>
            <a:ext cx="10400903" cy="5323878"/>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13</a:t>
            </a:fld>
            <a:endParaRPr lang="fr-FR"/>
          </a:p>
        </p:txBody>
      </p:sp>
      <p:pic>
        <p:nvPicPr>
          <p:cNvPr id="5" name="Imag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61005" y="3059723"/>
            <a:ext cx="4681904" cy="3121269"/>
          </a:xfrm>
          <a:prstGeom prst="rect">
            <a:avLst/>
          </a:prstGeom>
        </p:spPr>
      </p:pic>
    </p:spTree>
    <p:extLst>
      <p:ext uri="{BB962C8B-B14F-4D97-AF65-F5344CB8AC3E}">
        <p14:creationId xmlns:p14="http://schemas.microsoft.com/office/powerpoint/2010/main" val="42178261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46883" y="702780"/>
            <a:ext cx="10400903" cy="5194961"/>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14</a:t>
            </a:fld>
            <a:endParaRPr lang="fr-FR"/>
          </a:p>
        </p:txBody>
      </p:sp>
      <p:pic>
        <p:nvPicPr>
          <p:cNvPr id="12" name="Image 11"/>
          <p:cNvPicPr>
            <a:picLocks noChangeAspect="1"/>
          </p:cNvPicPr>
          <p:nvPr/>
        </p:nvPicPr>
        <p:blipFill rotWithShape="1">
          <a:blip r:embed="rId4"/>
          <a:srcRect l="30772" r="34875"/>
          <a:stretch/>
        </p:blipFill>
        <p:spPr>
          <a:xfrm>
            <a:off x="9982200" y="238325"/>
            <a:ext cx="1740877" cy="3164807"/>
          </a:xfrm>
          <a:prstGeom prst="rect">
            <a:avLst/>
          </a:prstGeom>
        </p:spPr>
      </p:pic>
      <p:pic>
        <p:nvPicPr>
          <p:cNvPr id="14" name="Image 13"/>
          <p:cNvPicPr>
            <a:picLocks noChangeAspect="1"/>
          </p:cNvPicPr>
          <p:nvPr/>
        </p:nvPicPr>
        <p:blipFill rotWithShape="1">
          <a:blip r:embed="rId4"/>
          <a:srcRect l="64026"/>
          <a:stretch/>
        </p:blipFill>
        <p:spPr>
          <a:xfrm>
            <a:off x="9982200" y="3297338"/>
            <a:ext cx="1822941" cy="3164807"/>
          </a:xfrm>
          <a:prstGeom prst="rect">
            <a:avLst/>
          </a:prstGeom>
        </p:spPr>
      </p:pic>
    </p:spTree>
    <p:extLst>
      <p:ext uri="{BB962C8B-B14F-4D97-AF65-F5344CB8AC3E}">
        <p14:creationId xmlns:p14="http://schemas.microsoft.com/office/powerpoint/2010/main" val="8936960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15</a:t>
            </a:fld>
            <a:endParaRPr lang="fr-FR"/>
          </a:p>
        </p:txBody>
      </p:sp>
      <p:pic>
        <p:nvPicPr>
          <p:cNvPr id="9" name="Image 8" descr="\documentclass{article}&#10;\usepackage{amsmath}&#10;\usepackage{xcolor}&#10;\usepackage[paperwidth=20cm]{geometry}&#10;\pagestyle{empty}&#10;&#10;\usepackage{siunitx}&#10;&#10;&#10;\begin{document}&#10;&#10;\subsection*{Chauffage périodique}&#10;&#10;Dans de nombreuses applications pratiques, les conditions aux limites ne sont pas constantes, et des solutions analytiques ont été obtenues pour des situations où les conditions varient avec le temps. Une situation impliquant des conditions aux limites non constantes est le chauffage périodique, qui décrit diverses applications, telles que le traitement thermique de matériaux utilisant des lasers pulsés, ou se produit naturellement dans des situations telles que celles impliquant la collecte d'énergie solaire.&#10;&#10;Considérons, par exemple, le solide semi-infini de la Figure ci-contre et supposons que la température de surface&#10;est une fonction périodique du temps, décrite par $T(0, t) = T_i + \Delta T \sin \omega t$, la solution de l'équation de la chaleur 1D sans source :&#10;\begin{equation}&#10;\frac{\partial T}{\partial t} = \alpha \frac{\partial^2 T}{\partial x^2}&#10;\end{equation}&#10;soumise à la condition aux limites intérieure $T(x \to \infty, t) = T_i$ est dans la limite des grands temps&#10;(limite quasi-stationnaire):&#10;&#10;\begin{equation}&#10;\frac{T(x, t) - T_i}{\Delta T} = \exp[-x\sqrt{\omega/2\alpha}] \sin[\omega t - x\sqrt{\omega/2\alpha}] &#10;\end{equation}&#10;&#10;Cette solution montre que toutes les températures fluctuent périodiquement autour d'une valeur moyenne invariante dans le temps telle que $&lt;T(x,t)&gt;_t = T_i$. &#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42673" y="445086"/>
            <a:ext cx="9058281" cy="5706509"/>
          </a:xfrm>
          <a:prstGeom prst="rect">
            <a:avLst/>
          </a:prstGeom>
        </p:spPr>
      </p:pic>
      <p:pic>
        <p:nvPicPr>
          <p:cNvPr id="10" name="Image 9"/>
          <p:cNvPicPr>
            <a:picLocks noChangeAspect="1"/>
          </p:cNvPicPr>
          <p:nvPr/>
        </p:nvPicPr>
        <p:blipFill>
          <a:blip r:embed="rId4"/>
          <a:stretch>
            <a:fillRect/>
          </a:stretch>
        </p:blipFill>
        <p:spPr>
          <a:xfrm>
            <a:off x="9471424" y="1439047"/>
            <a:ext cx="2720576" cy="1966130"/>
          </a:xfrm>
          <a:prstGeom prst="rect">
            <a:avLst/>
          </a:prstGeom>
        </p:spPr>
      </p:pic>
    </p:spTree>
    <p:extLst>
      <p:ext uri="{BB962C8B-B14F-4D97-AF65-F5344CB8AC3E}">
        <p14:creationId xmlns:p14="http://schemas.microsoft.com/office/powerpoint/2010/main" val="28350033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16</a:t>
            </a:fld>
            <a:endParaRPr lang="fr-FR"/>
          </a:p>
        </p:txBody>
      </p:sp>
      <p:pic>
        <p:nvPicPr>
          <p:cNvPr id="22" name="Image 21" descr="\documentclass{article}&#10;\usepackage{amsmath}&#10;\usepackage{xcolor}&#10;\usepackage[paperwidth=20cm]{geometry}&#10;\pagestyle{empty}&#10;&#10;\usepackage{siunitx}&#10;&#10;&#10;\begin{document}&#10;&#10;La solution de l'équation de la chaleur 1D sans source &#10;soumise à la condition aux limites intérieure $T(x \to \infty, t) = T_i$ est dans la limite des grands temps:&#10;&#10;\begin{equation}&#10;\frac{T(x, t) - T_i}{\Delta T} = \exp[-x\sqrt{\omega/2\alpha}] \sin[\omega t - x\sqrt{\omega/2\alpha}] &#10;\end{equation}&#10;&#10;Selon les abscisses considérés dans le solide, les fluctuations ont un décalage temporel relatif à la température de surface. &#10;&#10;De plus, l'amplitude des fluctuations dans le matériau décroît exponentiellement avec la distance de la surface. En cohérence avec la définition antérieure de la profondeur de pénétration thermique, $\delta_p$ peut être définie comme l'emplacement en $x$ où l'amplitude de la fluctuation de température est réduite d'environ 90\% par rapport à celle de la surface. &#10;&#10;On en déduit que $\delta_p = 4\sqrt{\alpha/\omega}$. Le flux de chaleur à la surface peut être déterminé en appliquant la loi de Fourier en $x = 0$, ce qui donne&#10;&#10;\begin{equation}&#10;q_s''(t) = k\Delta T \sqrt{\omega/\alpha} \sin(\omega t + \pi/4) &#10;\end{equation}&#10;&#10;Cette relation révèle que le flux de chaleur de surface est périodique, avec une valeur moyenne nulle dans le temps.&#10;&#10;Le chauffage périodique peut également se produire dans des configurations bidimensionnelles, comme le montre la Figure ci-contre. Pour cette géométrie, un état stationnaire peut être atteint avec un chauffage constant de la bande placée sur un solide semi-infini. &#10;\end{document}&#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0399" y="427502"/>
            <a:ext cx="9061026" cy="5533709"/>
          </a:xfrm>
          <a:prstGeom prst="rect">
            <a:avLst/>
          </a:prstGeom>
        </p:spPr>
      </p:pic>
      <p:pic>
        <p:nvPicPr>
          <p:cNvPr id="10" name="Image 9"/>
          <p:cNvPicPr>
            <a:picLocks noChangeAspect="1"/>
          </p:cNvPicPr>
          <p:nvPr/>
        </p:nvPicPr>
        <p:blipFill>
          <a:blip r:embed="rId5"/>
          <a:stretch>
            <a:fillRect/>
          </a:stretch>
        </p:blipFill>
        <p:spPr>
          <a:xfrm>
            <a:off x="9471424" y="946678"/>
            <a:ext cx="2720576" cy="1966130"/>
          </a:xfrm>
          <a:prstGeom prst="rect">
            <a:avLst/>
          </a:prstGeom>
        </p:spPr>
      </p:pic>
      <p:grpSp>
        <p:nvGrpSpPr>
          <p:cNvPr id="21" name="Groupe 20"/>
          <p:cNvGrpSpPr/>
          <p:nvPr/>
        </p:nvGrpSpPr>
        <p:grpSpPr>
          <a:xfrm>
            <a:off x="9639078" y="4385529"/>
            <a:ext cx="2385267" cy="1691787"/>
            <a:chOff x="9639078" y="4385529"/>
            <a:chExt cx="2385267" cy="1691787"/>
          </a:xfrm>
        </p:grpSpPr>
        <p:pic>
          <p:nvPicPr>
            <p:cNvPr id="19" name="Image 18"/>
            <p:cNvPicPr>
              <a:picLocks noChangeAspect="1"/>
            </p:cNvPicPr>
            <p:nvPr/>
          </p:nvPicPr>
          <p:blipFill>
            <a:blip r:embed="rId6"/>
            <a:stretch>
              <a:fillRect/>
            </a:stretch>
          </p:blipFill>
          <p:spPr>
            <a:xfrm>
              <a:off x="9639078" y="4385529"/>
              <a:ext cx="2385267" cy="1691787"/>
            </a:xfrm>
            <a:prstGeom prst="rect">
              <a:avLst/>
            </a:prstGeom>
          </p:spPr>
        </p:pic>
        <p:pic>
          <p:nvPicPr>
            <p:cNvPr id="20" name="Image 19" descr="\documentclass{article}&#10;\usepackage{amsmath}&#10;\pagestyle{empty}&#10;\begin{document}&#10;&#10;cas 2D&#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0535893" y="5598867"/>
              <a:ext cx="722286" cy="175238"/>
            </a:xfrm>
            <a:prstGeom prst="rect">
              <a:avLst/>
            </a:prstGeom>
            <a:solidFill>
              <a:srgbClr val="FFFFFF"/>
            </a:solidFill>
          </p:spPr>
        </p:pic>
      </p:grpSp>
    </p:spTree>
    <p:extLst>
      <p:ext uri="{BB962C8B-B14F-4D97-AF65-F5344CB8AC3E}">
        <p14:creationId xmlns:p14="http://schemas.microsoft.com/office/powerpoint/2010/main" val="40039919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17</a:t>
            </a:fld>
            <a:endParaRPr lang="fr-FR"/>
          </a:p>
        </p:txBody>
      </p:sp>
      <p:pic>
        <p:nvPicPr>
          <p:cNvPr id="6" name="Image 5" descr="\documentclass{article}&#10;\usepackage{amsmath}&#10;\usepackage{amsfonts}&#10;\usepackage{xcolor}&#10;\usepackage[paperwidth=23cm]{geometry}&#10;\usepackage{enumitem} % Package recommandé pour contrôler les listes&#10;\usepackage{setspace} % Pour l'interligne général&#10;\pagestyle{empty}&#10;&#10;\usepackage{siunitx}&#10;&#10;&#10;\begin{document}&#10;&#10;\subsection*{Exercice : solution dans la limite quasi-stationnaire (équilibre dynamique)}&#10;&#10;Considérons un solide semi-infini dont la température de surface est une fonction périodique du temps, décrite par :&#10;\begin{equation}&#10;T(0, t) = T_i + \Delta T \sin \omega t&#10;\end{equation}&#10;Notre but est de calculer la solution de l'équation de la chaleur 1D sans source :&#10;\begin{equation}&#10;\frac{\partial T}{\partial t} = \alpha \frac{\partial^2 T}{\partial x^2}&#10;\end{equation}&#10;soumise à la condition aux limites intérieure $T(x \to \infty, t) = T_i$.&#10;&#10;\begin{enumerate}[itemsep=0pt, parsep=0pt]&#10;\item Poser $\theta(x,t) = T(x,t) - T_i$. Que deviennent l'équation précédente et les conditions aux limites?&#10;\item Chercher une solution de la forme $\theta(x,t) = \text{Re}[\phi(x,t)]$ où :&#10;\begin{equation}&#10;\phi(x,t) = A(x) e^{i\omega t} \quad \text{où} \quad A(x) \in \mathbb{C}&#10;\end{equation}&#10;\item Montrer qu'en substituant $\theta$ par $\phi$ dans l'équation de la chaleur, ceci revient à résoudre l'équation différentielle ordinaire :&#10;\begin{equation}&#10;\frac{d^2 A}{dx^2} - \frac{i\omega}{\alpha} A = 0&#10;\end{equation}&#10;\item Résoudre l'équation caractéristique associée.&#10;\item Retrouver la solution dans la limite quasi-stationnaire en tenant compte des conditions aux limites.&#10;\end{enumerate}&#10;&#10;Reprendre le problème en imposant un flux de chaleur $q_s''(t)$, fonction sinusoïdale du temps en $x=0$.&#10;\end{document}&#10;"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15888" y="146151"/>
            <a:ext cx="10417367" cy="6508789"/>
          </a:xfrm>
          <a:prstGeom prst="rect">
            <a:avLst/>
          </a:prstGeom>
        </p:spPr>
      </p:pic>
      <p:pic>
        <p:nvPicPr>
          <p:cNvPr id="10" name="Image 9"/>
          <p:cNvPicPr>
            <a:picLocks noChangeAspect="1"/>
          </p:cNvPicPr>
          <p:nvPr/>
        </p:nvPicPr>
        <p:blipFill>
          <a:blip r:embed="rId4"/>
          <a:stretch>
            <a:fillRect/>
          </a:stretch>
        </p:blipFill>
        <p:spPr>
          <a:xfrm>
            <a:off x="9066978" y="964263"/>
            <a:ext cx="2720576" cy="1966130"/>
          </a:xfrm>
          <a:prstGeom prst="rect">
            <a:avLst/>
          </a:prstGeom>
        </p:spPr>
      </p:pic>
    </p:spTree>
    <p:extLst>
      <p:ext uri="{BB962C8B-B14F-4D97-AF65-F5344CB8AC3E}">
        <p14:creationId xmlns:p14="http://schemas.microsoft.com/office/powerpoint/2010/main" val="10056623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13DDC6-9977-4A69-882A-1641CFA73689}" type="slidenum">
              <a:rPr lang="fr-FR" smtClean="0"/>
              <a:t>18</a:t>
            </a:fld>
            <a:endParaRPr lang="fr-FR"/>
          </a:p>
        </p:txBody>
      </p:sp>
      <p:sp>
        <p:nvSpPr>
          <p:cNvPr id="3" name="ZoneTexte 2"/>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18" name="Image 17" descr="\documentclass{article}&#10;\usepackage{amsmath}&#10;\usepackage{amsfonts}&#10;\usepackage{xcolor}&#10;\usepackage{cancel}&#10;\usepackage[paperwidth=23cm]{geometry}&#10;\usepackage{enumitem} % Package recommandé pour contrôler les listes&#10;\usepackage{setspace} % Pour l'interligne général&#10;\pagestyle{empty}&#10;&#10;\usepackage{siunitx}&#10;&#10;&#10;\begin{document}&#10;&#10;Notre but est de calculer la solution de l'équation de la chaleur 1D sans source :&#10;\begin{equation}&#10;\frac{\partial T}{\partial t} = \alpha \frac{\partial^2 T}{\partial x^2}&#10;\end{equation}&#10;soumise à la condition aux limites intérieure $T(x \to \infty, t) = T_i$.&#10;&#10;\begin{enumerate}[itemsep=0pt, parsep=0pt]&#10;\item En posant $\theta(x,t) = T(x,t) - T_i = \Delta T \sin \omega t&#10;$. L'équation précédente devient :&#10;\begin{equation}&#10;\frac{\partial \theta}{\partial t} = \alpha \frac{\partial^2 \theta}{\partial x^2}&#10;\end{equation}&#10;avec les conditions aux limites : $\theta(0,t) = \Delta T \sin \omega t$ et $\theta(x\rightarrow \infty, t)=0$.&#10;&#10;\item On cherche une solution de la forme $\theta(x,t) = \text{Re}[\phi(x,t)]$ où :&#10;\begin{equation}&#10;\phi(x,t) = A(x) e^{i\omega t} \quad \text{où} \quad A(x) \in \mathbb{C}&#10;\end{equation}&#10;&#10;\item En substituant $\theta$ par $\phi$ dans l'équation de la chaleur, ceci revient à résoudre l'équation différentielle ordinaire :&#10;\begin{equation}&#10;\frac{d^2 A}{dx^2} - \frac{i\omega}{\alpha} A = 0&#10;\end{equation}&#10;\item L'équation caractéristique associée qui revient à chercher des solutions de la forme $\exp(rt)$ s'écrit&#10; $r^2 - \frac{i\omega}{\alpha}=0$ d'où &#10;$r = \pm \frac{1+i}{\sqrt{2}} \sqrt{\frac{\omega}{\alpha}} = \pm (1+i) \sqrt{\frac{\omega}{2\alpha}}$.&#10;\item En tenant compte du comportement lorsque $x \rightarrow \infty$, on a:&#10;$A(x) = a \; \exp(-rx) + b \; \cancel{\exp(+rx)}$ avec $a \in \mathbb{C}$.&#10;\end{enumerate}&#10;&#10;\end{document}&#10;"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283398" y="184666"/>
            <a:ext cx="10415992" cy="6374384"/>
          </a:xfrm>
          <a:prstGeom prst="rect">
            <a:avLst/>
          </a:prstGeom>
        </p:spPr>
      </p:pic>
    </p:spTree>
    <p:extLst>
      <p:ext uri="{BB962C8B-B14F-4D97-AF65-F5344CB8AC3E}">
        <p14:creationId xmlns:p14="http://schemas.microsoft.com/office/powerpoint/2010/main" val="30639535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13DDC6-9977-4A69-882A-1641CFA73689}" type="slidenum">
              <a:rPr lang="fr-FR" smtClean="0"/>
              <a:t>19</a:t>
            </a:fld>
            <a:endParaRPr lang="fr-FR"/>
          </a:p>
        </p:txBody>
      </p:sp>
      <p:sp>
        <p:nvSpPr>
          <p:cNvPr id="3" name="ZoneTexte 2"/>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27" name="Image 26" descr="\documentclass{article}&#10;\usepackage{amsmath}&#10;\usepackage{amsfonts}&#10;\usepackage{xcolor}&#10;\usepackage[paperwidth=23cm]{geometry}&#10;\usepackage{enumitem} % Package recommandé pour contrôler les listes&#10;\usepackage{setspace} % Pour l'interligne général&#10;\pagestyle{empty}&#10;&#10;\usepackage{siunitx}&#10;&#10;\begin{document}&#10;&#10;Les conditions aux limites : $\theta(0,t) = \Delta T \sin \omega t$ et $\theta(x\rightarrow \infty, t)=0$.&#10;&#10;\begin{enumerate}&#10;&#10;\item &#10;&#10;On a $A(x) = a \exp(-rx)$ avec $a \in \mathbb{C}$.&#10;&#10;\begin{equation}&#10;\phi(x,t) = a \exp(-rx) e^{i\omega t} \quad \text{où} \quad r = (1+i) \sqrt{\frac{\omega}{2\alpha}}&#10;\end{equation}&#10;en notant que $\theta(x,t) = \text{Re}[\phi(x,t)]$.&#10;\item Comme $\theta(0,t) = \Delta T \; \sin \omega t$, alors on peut choisir&#10;$\phi(0,t) = -i \; \Delta T \; e^{i\omega t}$ donc $a=-i\; \Delta T$&#10;&#10;\item On a: $\phi(x,t) = -i\; \Delta T \exp(-\sqrt{\frac{\omega}{2\alpha}} x) &#10;\exp i (\omega t -\sqrt{\frac{\omega}{2\alpha}} x)$&#10;ou encore&#10;\begin{equation}&#10;\phi(x,t) = \Delta T \exp\Big(-\sqrt{\frac{\omega}{2\alpha}} x\Big) &#10;\exp i \Big(\omega t -\sqrt{\frac{\omega}{2\alpha}} x -\frac{\pi}{2}\Big)&#10;\end{equation}&#10;&#10;\item En prenant la partie réelle, on obtient :&#10;\begin{equation}&#10;\theta(x,t) = \Delta T&#10; \exp \Big(-x \sqrt{\frac{\omega}{2\alpha}}\Big) \sin \Big(\omega t - x \sqrt{\frac{\omega}{2\alpha}}\Big)&#10;\end{equation}&#10;\end{enumerate}&#10;&#10;\end{document}&#10;"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953442" y="548080"/>
            <a:ext cx="10122489" cy="5097591"/>
          </a:xfrm>
          <a:prstGeom prst="rect">
            <a:avLst/>
          </a:prstGeom>
        </p:spPr>
      </p:pic>
    </p:spTree>
    <p:extLst>
      <p:ext uri="{BB962C8B-B14F-4D97-AF65-F5344CB8AC3E}">
        <p14:creationId xmlns:p14="http://schemas.microsoft.com/office/powerpoint/2010/main" val="35568397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20</a:t>
            </a:fld>
            <a:endParaRPr lang="fr-FR"/>
          </a:p>
        </p:txBody>
      </p:sp>
      <p:pic>
        <p:nvPicPr>
          <p:cNvPr id="64" name="Image 63" descr="\documentclass{article}&#10;\usepackage{amsmath}&#10;\usepackage{amsfonts}&#10;\usepackage{xcolor}&#10;\usepackage[paperwidth=18cm]{geometry}&#10;\usepackage{enumitem} % Package recommandé pour contrôler les listes&#10;\usepackage{setspace} % Pour l'interligne général&#10;\pagestyle{empty}&#10;&#10;\usepackage{siunitx}&#10;&#10;&#10;\begin{document}&#10;&#10;\subsection*{Exercice : chauffage périodique dans une configuration 2D}&#10;&#10;Considérons un solide semi-infini dont la température de surface est imposée par des bandes de chauffage.&#10;Elle est une fonction périodique du temps et de la coordonnée $y$, décrite par :&#10;\begin{equation*}&#10;T(0, t) = T_i + \Delta T \cos(ky) \sin (\omega t) \quad \text{avec} \quad k=\frac{2 \pi}{P}&#10;\end{equation*}&#10;en se limitant au premier terme de la série de Fourier selon $y$.&#10;&#10;\end{document}&#10;" title="IguanaTex Bitmap Display"/>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467318" y="136006"/>
            <a:ext cx="7243580" cy="2102856"/>
          </a:xfrm>
          <a:prstGeom prst="rect">
            <a:avLst/>
          </a:prstGeom>
        </p:spPr>
      </p:pic>
      <p:grpSp>
        <p:nvGrpSpPr>
          <p:cNvPr id="27" name="Groupe 26"/>
          <p:cNvGrpSpPr/>
          <p:nvPr/>
        </p:nvGrpSpPr>
        <p:grpSpPr>
          <a:xfrm>
            <a:off x="8214946" y="665887"/>
            <a:ext cx="3534507" cy="1572975"/>
            <a:chOff x="3692769" y="5047633"/>
            <a:chExt cx="3534507" cy="1572975"/>
          </a:xfrm>
        </p:grpSpPr>
        <p:grpSp>
          <p:nvGrpSpPr>
            <p:cNvPr id="28" name="Groupe 27"/>
            <p:cNvGrpSpPr/>
            <p:nvPr/>
          </p:nvGrpSpPr>
          <p:grpSpPr>
            <a:xfrm>
              <a:off x="3692769" y="5047633"/>
              <a:ext cx="3534507" cy="1572975"/>
              <a:chOff x="3692769" y="5047633"/>
              <a:chExt cx="3534507" cy="1572975"/>
            </a:xfrm>
          </p:grpSpPr>
          <p:pic>
            <p:nvPicPr>
              <p:cNvPr id="31" name="Image 30" descr="\documentclass{article}&#10;\usepackage{amsmath}&#10;\pagestyle{empty}&#10;\begin{document}&#10;&#10;\begin{equation*}&#10;T(0,y, t) = T_i + \Delta T \sum_k \;  \cos(ky) \sin (\omega t)&#10;\end{equation*}&#10;&#10;&#10;\end{document}" title="IguanaTex Bitmap Display"/>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4187022" y="5047633"/>
                <a:ext cx="3033601" cy="382933"/>
              </a:xfrm>
              <a:prstGeom prst="rect">
                <a:avLst/>
              </a:prstGeom>
              <a:solidFill>
                <a:srgbClr val="FFFFFF"/>
              </a:solidFill>
            </p:spPr>
          </p:pic>
          <p:grpSp>
            <p:nvGrpSpPr>
              <p:cNvPr id="32" name="Groupe 31"/>
              <p:cNvGrpSpPr/>
              <p:nvPr/>
            </p:nvGrpSpPr>
            <p:grpSpPr>
              <a:xfrm>
                <a:off x="3692769" y="5389685"/>
                <a:ext cx="3534507" cy="1230923"/>
                <a:chOff x="3692769" y="5389685"/>
                <a:chExt cx="3534507" cy="1230923"/>
              </a:xfrm>
            </p:grpSpPr>
            <p:sp>
              <p:nvSpPr>
                <p:cNvPr id="33" name="Rectangle 32"/>
                <p:cNvSpPr/>
                <p:nvPr/>
              </p:nvSpPr>
              <p:spPr>
                <a:xfrm>
                  <a:off x="3851031" y="5389685"/>
                  <a:ext cx="646089" cy="8792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p:cNvSpPr/>
                <p:nvPr/>
              </p:nvSpPr>
              <p:spPr>
                <a:xfrm>
                  <a:off x="5143209" y="5389685"/>
                  <a:ext cx="646089" cy="8792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à coins arrondis 34"/>
                <p:cNvSpPr/>
                <p:nvPr/>
              </p:nvSpPr>
              <p:spPr>
                <a:xfrm>
                  <a:off x="3692769" y="5477608"/>
                  <a:ext cx="3534507" cy="11430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6" name="Connecteur droit avec flèche 35"/>
                <p:cNvCxnSpPr/>
                <p:nvPr/>
              </p:nvCxnSpPr>
              <p:spPr>
                <a:xfrm>
                  <a:off x="5458037" y="5477608"/>
                  <a:ext cx="80208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rot="5400000">
                  <a:off x="5053957" y="5878653"/>
                  <a:ext cx="80208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8" name="Image 37" descr="\documentclass{article}&#10;\usepackage{amsmath}&#10;\pagestyle{empty}&#10;\begin{document}&#10;&#10;$x$&#10;&#10;&#10;\end{document}" title="IguanaTex Bitmap Display"/>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5485421" y="6215183"/>
                  <a:ext cx="128000" cy="114286"/>
                </a:xfrm>
                <a:prstGeom prst="rect">
                  <a:avLst/>
                </a:prstGeom>
              </p:spPr>
            </p:pic>
            <p:pic>
              <p:nvPicPr>
                <p:cNvPr id="39" name="Image 38" descr="\documentclass{article}&#10;\usepackage{amsmath}&#10;\pagestyle{empty}&#10;\begin{document}&#10;&#10;$y$&#10;&#10;&#10;\end{document}" title="IguanaTex Bitmap Display"/>
                <p:cNvPicPr>
                  <a:picLocks noChangeAspect="1"/>
                </p:cNvPicPr>
                <p:nvPr>
                  <p:custDataLst>
                    <p:tags r:id="rId6"/>
                  </p:custDataLst>
                </p:nvPr>
              </p:nvPicPr>
              <p:blipFill>
                <a:blip r:embed="rId11" cstate="print">
                  <a:extLst>
                    <a:ext uri="{28A0092B-C50C-407E-A947-70E740481C1C}">
                      <a14:useLocalDpi xmlns:a14="http://schemas.microsoft.com/office/drawing/2010/main" val="0"/>
                    </a:ext>
                  </a:extLst>
                </a:blip>
                <a:stretch>
                  <a:fillRect/>
                </a:stretch>
              </p:blipFill>
              <p:spPr>
                <a:xfrm>
                  <a:off x="6171222" y="5555759"/>
                  <a:ext cx="118857" cy="163048"/>
                </a:xfrm>
                <a:prstGeom prst="rect">
                  <a:avLst/>
                </a:prstGeom>
              </p:spPr>
            </p:pic>
            <p:sp>
              <p:nvSpPr>
                <p:cNvPr id="40" name="Rectangle 39"/>
                <p:cNvSpPr/>
                <p:nvPr/>
              </p:nvSpPr>
              <p:spPr>
                <a:xfrm>
                  <a:off x="6439552" y="5389685"/>
                  <a:ext cx="646089" cy="8792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29" name="Connecteur droit 28"/>
            <p:cNvCxnSpPr/>
            <p:nvPr/>
          </p:nvCxnSpPr>
          <p:spPr>
            <a:xfrm>
              <a:off x="3851031" y="5699389"/>
              <a:ext cx="1292178" cy="0"/>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0" name="Image 29" descr="\documentclass{article}&#10;\usepackage{amsmath}&#10;\pagestyle{empty}&#10;\begin{document}&#10;&#10;$P$&#10;&#10;&#10;\end{document}" title="IguanaTex Bitmap Display"/>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4379022" y="5769729"/>
              <a:ext cx="146286" cy="137752"/>
            </a:xfrm>
            <a:prstGeom prst="rect">
              <a:avLst/>
            </a:prstGeom>
          </p:spPr>
        </p:pic>
      </p:grpSp>
      <p:pic>
        <p:nvPicPr>
          <p:cNvPr id="67" name="Image 66" descr="\documentclass{article}&#10;\usepackage{amsmath}&#10;\usepackage{amsfonts}&#10;\usepackage{xcolor}&#10;\usepackage[paperwidth=27cm]{geometry}&#10;\usepackage{enumitem} % Package recommandé pour contrôler les listes&#10;\usepackage{setspace} % Pour l'interligne général&#10;\pagestyle{empty}&#10;&#10;\usepackage{siunitx}&#10;&#10;&#10;\begin{document}&#10;&#10;Notre but est de calculer la solution de l'équation de la chaleur 1D sans source :&#10;\begin{equation*}&#10;\frac{\partial T}{\partial t} = \alpha \Big( \frac{\partial^2 T}{\partial x^2} + \frac{\partial^2 T}{\partial y^2}\Big)&#10;\end{equation*}&#10;soumise à la condition aux limites intérieure $T(x \to \infty, y, t) = T_i$, $\forall y$.&#10;&#10;\begin{enumerate}[itemsep=0pt, parsep=0pt]&#10;\item Poser $\theta(x,y, t) = T(x,y, t) - T_i$. Que deviennent l'équation précédente et les conditions aux limites?&#10;\item Chercher une solution de la forme $\theta(x,y,t) = \text{Re}[\phi(x,y,t)]$ où :&#10;\begin{equation*}&#10;\phi(x,y,t) = X(x) \; Y(y)\; e^{i\omega t} \quad \text{où} \quad X(x) \in \mathbb{C}&#10;\quad \text{et} \quad Y(y) \in \mathbb{C}&#10;\end{equation*}&#10;\item Montrer qu'en substituant $\theta$ par $\phi$ dans l'équation de la chaleur, ceci revient à résoudre l'équation aux dérivées partielles:&#10;\begin{equation*}&#10;    \frac{X''}{X} + \frac{Y''}{Y} - \frac{i\omega}{\alpha} = 0&#10;\end{equation*}&#10;\item Séparer de manière judicieuse les variables et montrer qu'il faut introduire une constante en $k^2$.&#10;\item Retrouver la solution dans la limite quasi-stationnaire en tenant compte des conditions aux limites.&#10;Définir $\delta_p$. Comparer-le avec le cas 1D.&#10;\end{enumerate}&#10;&#10;\end{document}&#10;" title="IguanaTex Bitmap Display"/>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483553" y="2434267"/>
            <a:ext cx="10870247" cy="4397103"/>
          </a:xfrm>
          <a:prstGeom prst="rect">
            <a:avLst/>
          </a:prstGeom>
        </p:spPr>
      </p:pic>
    </p:spTree>
    <p:extLst>
      <p:ext uri="{BB962C8B-B14F-4D97-AF65-F5344CB8AC3E}">
        <p14:creationId xmlns:p14="http://schemas.microsoft.com/office/powerpoint/2010/main" val="36999363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21</a:t>
            </a:fld>
            <a:endParaRPr lang="fr-FR"/>
          </a:p>
        </p:txBody>
      </p:sp>
      <p:pic>
        <p:nvPicPr>
          <p:cNvPr id="7" name="Imag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1815" y="0"/>
            <a:ext cx="5486411" cy="3657607"/>
          </a:xfrm>
          <a:prstGeom prst="rect">
            <a:avLst/>
          </a:prstGeom>
        </p:spPr>
      </p:pic>
      <p:pic>
        <p:nvPicPr>
          <p:cNvPr id="8" name="Imag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8882" y="8784"/>
            <a:ext cx="5486411" cy="3657607"/>
          </a:xfrm>
          <a:prstGeom prst="rect">
            <a:avLst/>
          </a:prstGeom>
        </p:spPr>
      </p:pic>
      <p:pic>
        <p:nvPicPr>
          <p:cNvPr id="9" name="Imag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1815" y="3385043"/>
            <a:ext cx="5486411" cy="3657607"/>
          </a:xfrm>
          <a:prstGeom prst="rect">
            <a:avLst/>
          </a:prstGeom>
        </p:spPr>
      </p:pic>
      <p:pic>
        <p:nvPicPr>
          <p:cNvPr id="10" name="Imag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38881" y="3345483"/>
            <a:ext cx="5486411" cy="3657607"/>
          </a:xfrm>
          <a:prstGeom prst="rect">
            <a:avLst/>
          </a:prstGeom>
        </p:spPr>
      </p:pic>
    </p:spTree>
    <p:extLst>
      <p:ext uri="{BB962C8B-B14F-4D97-AF65-F5344CB8AC3E}">
        <p14:creationId xmlns:p14="http://schemas.microsoft.com/office/powerpoint/2010/main" val="78692538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216.348"/>
  <p:tag name="ORIGINALWIDTH" val="5695.538"/>
  <p:tag name="OUTPUTTYPE" val="PNG"/>
  <p:tag name="IGUANATEXVERSION" val="160"/>
  <p:tag name="LATEXADDIN" val="\documentclass{article}&#10;\usepackage{amsmath}&#10;\usepackage{xcolor}&#10;\usepackage[paperwidth=23cm]{geometry}&#10;\pagestyle{empty}&#10;&#10;\usepackage{siunitx}&#10;&#10;&#10;\begin{document}&#10;&#10;\subsection*{Système radial}&#10;&#10;Pour un cylindre infini de rayon $r_o$, qui est à une température uniforme initiale et qui subit un changement des conditions de convection, une solution exacte en série peut être obtenue pour la dépendance temporelle de la distribution radiale de température, et une approximation à un terme peut être utilisée pour certaines conditions.&#10;&#10;Le cylindre infini est une idéalisation qui permet l'hypothèse d'une conduction unidimensionnelle dans la direction radiale. Il s'agit d'une approximation raisonnable pour des cylindres ayant $L/r_o &gt; 10$.&#10;&#10;Sans source de chaleur et dans l'hypothèse d'une conductivité thermique constante, l'Équation se réduit alors à&#10;&#10;\begin{equation}&#10;\frac{1}{r}\frac{\partial}{\partial r}\left(r\frac{\partial T}{\partial r}\right) = \frac{1}{\alpha} \frac{\partial T}{\partial t} \quad \text{avec} \quad&#10;\alpha = \frac{k}{\rho c}.&#10;\end{equation}&#10;&#10;Pour résoudre l'Équation ci-dessus pour la distribution de température $T(x, t)$, il est nécessaire de spécifier une \textit{condition initiale} et deux \textit{conditions aux limites}. On choisit ici, la condition initiale uniforme suivante:&#10;\begin{equation}&#10;T(r, 0) = T_i&#10;\end{equation}&#10;et les 2 conditions aux limites : &#10;$&#10;\frac{\partial T}{\partial r}\bigg|_{r=0} = 0&#10;$&#10;et&#10;$&#10;-k \frac{\partial T}{\partial r}\bigg|_{r=r_o} = h[T(r_o, t) - T_\infty]&#10;$&#10;&#10;On introduit le nombre de Fourier $Fo = \alpha t/r_0^2$ et $r^* = r/r_o$.&#10;On note $\theta^* = \dfrac{T - T_\infty}{T_i - T_\infty}$.&#10;\end{document}"/>
  <p:tag name="IGUANATEXSIZE" val="18"/>
  <p:tag name="IGUANATEXCURSOR" val="1620"/>
  <p:tag name="TRANSPARENCY" val="Vrai"/>
  <p:tag name="FILENAME" val=""/>
  <p:tag name="LATEXENGINEID" val="0"/>
  <p:tag name="TEMPFOLDER" val="c:\temp\"/>
  <p:tag name="LATEXFORMHEIGHT" val="423"/>
  <p:tag name="LATEXFORMWIDTH" val="754.8"/>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3392.576"/>
  <p:tag name="ORIGINALWIDTH" val="5687.289"/>
  <p:tag name="OUTPUTTYPE" val="PNG"/>
  <p:tag name="IGUANATEXVERSION" val="160"/>
  <p:tag name="LATEXADDIN" val="\documentclass{article}&#10;\usepackage{amsmath}&#10;\usepackage{xcolor}&#10;\usepackage[paperwidth=23cm]{geometry}&#10;\pagestyle{empty}&#10;&#10;\usepackage{siunitx}&#10;&#10;&#10;\begin{document}&#10;&#10;&#10;L'équation de la chaleur sans source devient en introduisant la température réduite $\theta^*$:&#10;&#10;\begin{equation}&#10;\frac{1}{r}\frac{\partial}{\partial r}\left(r\frac{\partial \theta^*}{\partial r}\right) = \frac{1}{\alpha} \frac{\partial \theta^*}{\partial t} &#10;\end{equation}&#10;puis en introduisant les dimensions réduites :&#10;&#10;\begin{equation}&#10;\frac{1}{r^*}\frac{\partial}{\partial r^*}\left(r^*\frac{\partial \theta^*}{\partial r^*}\right) =  \frac{\partial \theta^*}{\partial F\!o} &#10;\end{equation}&#10;&#10;On se propose de résoudre cette équation par la méthode des séparations de variables : &#10;\begin{equation}&#10;\theta^*(r^*, F\!o) = R(r^*) \; F(F\!o)&#10;\end{equation}&#10;&#10;La condition initiale s'écrit : $\theta(r^*, 0)=1$.&#10;\noindent&#10;Les 2 conditions aux limites d'écrivent : &#10;\begin{equation}&#10;\frac{\partial \theta^*}{\partial r^*}\bigg|_{r^*=0} = 0&#10;\end{equation}&#10;et&#10;\begin{equation}&#10;-k \frac{\partial \theta^*}{\partial r^*}\bigg|_{r^*=1} = h \; \theta^*(1, F\!o) \quad \text{ou}&#10;\quad \frac{\partial \theta^*}{\partial r^*}\bigg|_{r^*=1} = -Bi \; \theta^*(1, F\!o)&#10;\end{equation}&#10;&#10;On obtient :&#10;\begin{equation} \frac{1}{R}&#10;\frac{1}{r^*}\frac{\partial}{\partial r^*}\left(r^*\frac{\partial R}{\partial r^*}\right) =  &#10;\frac{1}{F} \frac{\partial F}{\partial F\!o} = - \zeta_n ^2&#10;\end{equation}&#10;\end{document}"/>
  <p:tag name="IGUANATEXSIZE" val="18"/>
  <p:tag name="IGUANATEXCURSOR" val="1196"/>
  <p:tag name="TRANSPARENCY" val="Vrai"/>
  <p:tag name="FILENAME" val=""/>
  <p:tag name="LATEXENGINEID" val="0"/>
  <p:tag name="TEMPFOLDER" val="c:\temp\"/>
  <p:tag name="LATEXFORMHEIGHT" val="423"/>
  <p:tag name="LATEXFORMWIDTH" val="754.8"/>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2713.911"/>
  <p:tag name="ORIGINALWIDTH" val="5696.288"/>
  <p:tag name="OUTPUTTYPE" val="PNG"/>
  <p:tag name="IGUANATEXVERSION" val="160"/>
  <p:tag name="LATEXADDIN" val="\documentclass{article}&#10;\usepackage{amsmath}&#10;\usepackage{xcolor}&#10;\usepackage[paperwidth=23cm]{geometry}&#10;\pagestyle{empty}&#10;&#10;\usepackage{siunitx}&#10;&#10;&#10;\begin{document}&#10;&#10;On obtient, en anticipant le fait que la constante $\zeta_n$ n'est pas unique :&#10;\begin{equation} \frac{1}{R}&#10;\frac{1}{r^*}\frac{\partial}{\partial r^*}\left(r^*\frac{\partial R}{\partial r^*}\right) =  &#10;\frac{1}{F} \frac{\partial F}{\partial F\!o} = - \zeta_n ^2&#10;\end{equation}&#10;On en extrait 2 équations :&#10;\begin{equation} \frac{1}{r^*}\frac{\partial}{\partial r^*}\left(r^*\frac{\partial R}{\partial r^*}\right) + \zeta_n ^2 \; R =0&#10;\quad \text{et} \quad&#10;\frac{\partial F}{\partial F\!o} + \zeta_n ^2 \; F =0&#10;\end{equation}&#10;&#10;La solution génrale de la première équation est une combinaison linéaire de la fonction de Bessel de première espèce d'ordre 0, $J_0(\zeta_n \; r^*)$ &#10;et de la fonction de Neuman dite de seconde espèce d'ordre 0, $Y_0(\zeta_n \; r^*)$.&#10;On exclut cette dernière car elle est singulière en $r^*=0$. \\&#10;&#10;La solution de la seconde équation est $F(F\!o) \propto \exp(-\zeta_n^2 \; F\!o)$.&#10;&#10;Donc, sous forme adimensionnelle, la température est :&#10;\begin{equation*}&#10;\theta^*(r^*, F\!o) = \sum_{n=1}^{\infty} C_n \exp(-\zeta_n^2 F\!o) J_0(\zeta_n r^*) &#10;\end{equation*}&#10;&#10;&#10;\end{document}"/>
  <p:tag name="IGUANATEXSIZE" val="18"/>
  <p:tag name="IGUANATEXCURSOR" val="989"/>
  <p:tag name="TRANSPARENCY" val="Vrai"/>
  <p:tag name="FILENAME" val=""/>
  <p:tag name="LATEXENGINEID" val="0"/>
  <p:tag name="TEMPFOLDER" val="c:\temp\"/>
  <p:tag name="LATEXFORMHEIGHT" val="423"/>
  <p:tag name="LATEXFORMWIDTH" val="754.8"/>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2275.966"/>
  <p:tag name="ORIGINALWIDTH" val="4951.631"/>
  <p:tag name="OUTPUTTYPE" val="PNG"/>
  <p:tag name="IGUANATEXVERSION" val="160"/>
  <p:tag name="LATEXADDIN" val="\documentclass{article}&#10;\usepackage{amsmath}&#10;\usepackage{xcolor}&#10;\usepackage[paperwidth=20cm]{geometry}&#10;\pagestyle{empty}&#10;&#10;\usepackage{siunitx}&#10;&#10;&#10;\begin{document}&#10;&#10;\subsection*{Exercice}&#10;\begin{itemize}&#10;\item Montrer que la condition aux limites s'écrit :&#10;$\frac{\partial \theta^*}{\partial r^*}\bigg|_{r^*=1} = -Bi \; \theta^*(1, F\!o)$.&#10;En utilisant $J_0'(x) = -J_1(x)$, montrer que l'on obtient une relation implicite&#10;permettant de définir les constantes $\zeta_n$.&#10;\item Montrer que la condition initiale $\theta^*(r^*, 0)=1$ permet de définir les constantes $C_n$&#10;en utilisant les identités valides $\forall \zeta_n$ (ATTENTION $\zeta_n$ n'est pas un zéro de $J_0$): &#10;$$\int_0^1 r^* \left[J_0(\zeta_n r^*)\right]^2  dr^* = &#10;\frac{1}{2} \left[ J_0(\zeta_n)^2 + J_1(\zeta_n)^2 \right]$$ et &#10;$$\int_0^1 r^* J_0(\zeta_n r^*) dr^* = \frac{J_1(\zeta_n)}{\zeta_n}$$.&#10;\end{itemize}&#10;&#10;\end{document}"/>
  <p:tag name="IGUANATEXSIZE" val="18"/>
  <p:tag name="IGUANATEXCURSOR" val="879"/>
  <p:tag name="TRANSPARENCY" val="Vrai"/>
  <p:tag name="FILENAME" val=""/>
  <p:tag name="LATEXENGINEID" val="0"/>
  <p:tag name="TEMPFOLDER" val="c:\temp\"/>
  <p:tag name="LATEXFORMHEIGHT" val="423"/>
  <p:tag name="LATEXFORMWIDTH" val="754.8"/>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118.86"/>
  <p:tag name="ORIGINALWIDTH" val="5687.289"/>
  <p:tag name="OUTPUTTYPE" val="PNG"/>
  <p:tag name="IGUANATEXVERSION" val="160"/>
  <p:tag name="LATEXADDIN" val="\documentclass{article}&#10;\usepackage{amsmath}&#10;\usepackage{xcolor}&#10;\usepackage[paperwidth=23cm]{geometry}&#10;\pagestyle{empty}&#10;&#10;\usepackage{siunitx}&#10;&#10;&#10;\begin{document}&#10;&#10;\begin{itemize}&#10;\item A l'instant initial, $\theta^*(r^*, 0)=1$; plus précisément, on a:&#10;\begin{equation}&#10;\theta^*(r^*, 0)= \sum_{n=1}^{\infty} C_n \; J_0(\zeta_n r^*) \quad \text{pour} \quad r^* \le 1&#10;\end{equation}&#10;\end{itemize}&#10;&#10;Condition aux limites :&#10;\begin{equation}&#10;\frac{\partial \theta^*}{\partial r^*}\bigg|_{r^*=1} = -Bi \; \theta^*(1, 0)&#10;\end{equation}&#10;&#10;\subsection*{Détermination des $\zeta_n$}&#10;&#10;En utilisant $J_0'(x) = -J_1(x)$ :&#10;\begin{equation}&#10;\boxed{\zeta_n J_1(\zeta_n) = Bi \; J_0(\zeta_n)}&#10;\end{equation}&#10;&#10;Les $\zeta_n$ sont les racines positives de cette équation transcendante.&#10;&#10;On multiplie par $r^* J_0(\zeta_m r^*)$ et on intègre :&#10;\begin{equation}&#10;\int_0^1 r^* J_0(\zeta_m r^*) \, dr^* = C_m \int_0^1 r^* J_0^2(\zeta_m r^*) \, dr^* &#10;\end{equation}&#10;et comme&#10;$\int_0^1 r^* J_0(\zeta_n r^*) dr^* = \frac{J_1(\zeta_n)}{\zeta_n} = \frac{Bi \; J_0(\zeta_n)}{\zeta_n^2}$&#10;et $\int_0^1 r^* \left[J_0(\zeta_n r^*)\right]^2  dr^* = &#10;\frac{1}{2} \left[ J_0(\zeta_n)^2 + J_1(\zeta_n)^2 \right]$&#10;\end{document}"/>
  <p:tag name="IGUANATEXSIZE" val="18"/>
  <p:tag name="IGUANATEXCURSOR" val="924"/>
  <p:tag name="TRANSPARENCY" val="Vrai"/>
  <p:tag name="FILENAME" val=""/>
  <p:tag name="LATEXENGINEID" val="0"/>
  <p:tag name="TEMPFOLDER" val="c:\temp\"/>
  <p:tag name="LATEXFORMHEIGHT" val="423"/>
  <p:tag name="LATEXFORMWIDTH" val="754.8"/>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895.763"/>
  <p:tag name="ORIGINALWIDTH" val="5499.813"/>
  <p:tag name="OUTPUTTYPE" val="PNG"/>
  <p:tag name="IGUANATEXVERSION" val="160"/>
  <p:tag name="LATEXADDIN" val="\documentclass{article}&#10;\usepackage{amsmath}&#10;\usepackage{xcolor}&#10;\usepackage[paperwidth=23cm]{geometry}&#10;\pagestyle{empty}&#10;&#10;\usepackage{siunitx}&#10;&#10;&#10;\begin{document}&#10;&#10;\begin{itemize}&#10;\item On obtient:&#10;\begin{equation}&#10;C_n = \frac{2}{\zeta_n} \frac{J_1(\zeta_n)}{J_0^2(\zeta_n) + J_1^2(\zeta_n)} &#10;\end{equation}&#10;&#10;\item On rapppelle que les valeurs discrètes de $\zeta_n$ sont les racines positives de l'équation transcendante :&#10;&#10;\begin{equation}&#10;\zeta_n J_1(\zeta_n)  = Bi \;J_0(\zeta_n)\quad \text{où} \quad Bi = \frac{hr_o}{k}&#10;\end{equation}&#10;\end{itemize}&#10;&#10;La solution finale s'écrit :&#10;\begin{equation*}&#10;\boxed{&#10;\theta^*(r^*, F\!o) = \sum_{n=1}^{\infty} \frac{2}{\zeta_n} \frac{J_1(\zeta_n)}{J_0^2(\zeta_n) + J_1^2(\zeta_n)} &#10; \exp(-\zeta_n^2 F\!o) \; J_0(\zeta_n r^*) &#10;}&#10;\end{equation*}&#10;&#10;\end{document}"/>
  <p:tag name="IGUANATEXSIZE" val="18"/>
  <p:tag name="IGUANATEXCURSOR" val="333"/>
  <p:tag name="TRANSPARENCY" val="Vrai"/>
  <p:tag name="FILENAME" val=""/>
  <p:tag name="LATEXENGINEID" val="0"/>
  <p:tag name="TEMPFOLDER" val="c:\temp\"/>
  <p:tag name="LATEXFORMHEIGHT" val="423"/>
  <p:tag name="LATEXFORMWIDTH" val="754.8"/>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607.4241"/>
  <p:tag name="ORIGINALWIDTH" val="4086.239"/>
  <p:tag name="OUTPUTTYPE" val="PNG"/>
  <p:tag name="IGUANATEXVERSION" val="160"/>
  <p:tag name="LATEXADDIN" val="\documentclass{article}&#10;\usepackage{amsmath}&#10;\usepackage{xcolor}&#10;\usepackage[paperwidth=23cm]{geometry}&#10;\pagestyle{empty}&#10;&#10;\usepackage{siunitx}&#10;&#10;&#10;\begin{document}&#10;&#10;\subsection*{Exercice}&#10;\begin{itemize}&#10;\item Donner l'expression de la solution dans la limite des grands temps.&#10;\item Trouver l'expression de l'énergie totale dissipée en fonction du temps.&#10;\end{itemize}&#10;\end{document}"/>
  <p:tag name="IGUANATEXSIZE" val="18"/>
  <p:tag name="IGUANATEXCURSOR" val="202"/>
  <p:tag name="TRANSPARENCY" val="Vrai"/>
  <p:tag name="FILENAME" val=""/>
  <p:tag name="LATEXENGINEID" val="0"/>
  <p:tag name="TEMPFOLDER" val="c:\temp\"/>
  <p:tag name="LATEXFORMHEIGHT" val="423"/>
  <p:tag name="LATEXFORMWIDTH" val="754.8"/>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031.871"/>
  <p:tag name="ORIGINALWIDTH" val="3683.54"/>
  <p:tag name="OUTPUTTYPE" val="PNG"/>
  <p:tag name="IGUANATEXVERSION" val="160"/>
  <p:tag name="LATEXADDIN" val="\documentclass{article}&#10;\usepackage{amsmath}&#10;\pagestyle{empty}&#10;\begin{document}&#10;&#10;\noindent&#10;On limite la série à un nombre fini de termes $n_c$ : &#10;\begin{equation*}&#10;\theta^*(r^*, F\!o) = \sum_{n=1}^{n_{c}} \frac{2}{\zeta_n} \frac{J_1(\zeta_n)}{J_0^2(\zeta_n) + J_1^2(\zeta_n)} &#10; \exp(-\zeta_n^2 F\!o) \; J_0(\zeta_n r^*) &#10;\end{equation*}&#10;Pour obtenir des tracés corrects, il faut étudier&#10;$\theta^*(r^*, F\!o)$ \\ dans un intervalle tel que&#10;$\exp(-\zeta_{n_c}^2 F\!o_{min}) \ll 1$.&#10;&#10;\end{document}"/>
  <p:tag name="IGUANATEXSIZE" val="18"/>
  <p:tag name="IGUANATEXCURSOR" val="202"/>
  <p:tag name="TRANSPARENCY" val="Faux"/>
  <p:tag name="FILENAME" val=""/>
  <p:tag name="LATEXENGINEID" val="0"/>
  <p:tag name="TEMPFOLDER" val="c:\temp\"/>
  <p:tag name="LATEXFORMHEIGHT" val="429"/>
  <p:tag name="LATEXFORMWIDTH" val="385"/>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76.978"/>
  <p:tag name="OUTPUTTYPE" val="PNG"/>
  <p:tag name="IGUANATEXVERSION" val="160"/>
  <p:tag name="LATEXADDIN" val="\documentclass{article}&#10;\usepackage{amsmath}&#10;\pagestyle{empty}&#10;\begin{document}&#10;&#10;Profils de température &#10;pour $F\!o \in [1, 10]$.&#10;&#10;&#10;\end{document}"/>
  <p:tag name="IGUANATEXSIZE" val="20"/>
  <p:tag name="IGUANATEXCURSOR" val="129"/>
  <p:tag name="TRANSPARENCY" val="Faux"/>
  <p:tag name="FILENAME" val=""/>
  <p:tag name="LATEXENGINEID" val="0"/>
  <p:tag name="TEMPFOLDER" val="c:\temp\"/>
  <p:tag name="LATEXFORMHEIGHT" val="320"/>
  <p:tag name="LATEXFORMWIDTH" val="385"/>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542.9321"/>
  <p:tag name="ORIGINALWIDTH" val="5499.813"/>
  <p:tag name="OUTPUTTYPE" val="PNG"/>
  <p:tag name="IGUANATEXVERSION" val="160"/>
  <p:tag name="LATEXADDIN" val="\documentclass{article}&#10;\usepackage{amsmath}&#10;\usepackage{xcolor}&#10;\usepackage[paperwidth=23cm]{geometry}&#10;\pagestyle{empty}&#10;&#10;\usepackage{siunitx}&#10;&#10;&#10;\begin{document}&#10;&#10;Les valeurs discrètes de $\zeta_n$ sont les racines positives de l'équation transcendante :&#10;&#10;\begin{equation}&#10;\zeta_n \frac{J_1(\zeta_n)}{J_0(\zeta_n)} = Bi \quad \text{où} \quad Bi = \frac{hr_o}{k}&#10;\end{equation}&#10;&#10;\end{document}"/>
  <p:tag name="IGUANATEXSIZE" val="18"/>
  <p:tag name="IGUANATEXCURSOR" val="377"/>
  <p:tag name="TRANSPARENCY" val="Vrai"/>
  <p:tag name="FILENAME" val=""/>
  <p:tag name="LATEXENGINEID" val="0"/>
  <p:tag name="TEMPFOLDER" val="c:\temp\"/>
  <p:tag name="LATEXFORMHEIGHT" val="423"/>
  <p:tag name="LATEXFORMWIDTH" val="754.8"/>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 1200"/>
  <p:tag name="ORIGINALHEIGHT" val=" 1105.362"/>
  <p:tag name="ORIGINALWIDTH" val=" 5695.538"/>
  <p:tag name="OUTPUTTYPE" val="PNG"/>
  <p:tag name="IGUANATEXVERSION" val="162"/>
  <p:tag name="LATEXADDIN" val="\documentclass{article}&#10;\usepackage{amsmath}&#10;\usepackage{xcolor}&#10;\usepackage[paperwidth=23cm]{geometry}&#10;\pagestyle{empty}&#10;&#10;\usepackage{siunitx}&#10;&#10;&#10;\begin{document}&#10;&#10;\subsection*{Système solide semi-infini}&#10;&#10;Une géométrie simple pour laquelle des solutions analytiques peuvent être obtenues, est celle du solide semi-infini. Ce type de solide s'étend théoriquement à l'infini dans toutes les directions sauf une, et se caractérise donc par une seule surface identifiable (voir figure). &#10;&#10;Si un changement brutal des conditions est imposé à cette surface, une conduction transitoire unidimensionnelle se produit à l'intérieur du solide. Le solide semi-infini constitue une idéalisation utile pour de nombreux problèmes pratiques.&#10;&#10;\end{document}"/>
  <p:tag name="IGUANATEXSIZE" val="18"/>
  <p:tag name="IGUANATEXCURSOR" val="728"/>
  <p:tag name="TRANSPARENCY" val="Vrai"/>
  <p:tag name="CHOOSECOLOR" val="Faux"/>
  <p:tag name="COLORHEX" val="000000"/>
  <p:tag name="FILENAME" val=""/>
  <p:tag name="LATEXENGINEID" val="0"/>
  <p:tag name="TEMPFOLDER" val="c:\temp\"/>
  <p:tag name="LATEXFORMHEIGHT" val=" 423"/>
  <p:tag name="LATEXFORMWIDTH" val=" 754.8"/>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 1200"/>
  <p:tag name="ORIGINALHEIGHT" val=" 2149.231"/>
  <p:tag name="ORIGINALWIDTH" val=" 3334.833"/>
  <p:tag name="OUTPUTTYPE" val="PNG"/>
  <p:tag name="IGUANATEXVERSION" val="162"/>
  <p:tag name="LATEXADDIN" val="\documentclass{article}&#10;\usepackage{amsmath}&#10;\usepackage{xcolor}&#10;\usepackage[paperwidth=13cm]{geometry}&#10;\pagestyle{empty}&#10;&#10;\usepackage{siunitx}&#10;&#10;&#10;\begin{document}&#10;&#10;Il peut notamment être utilisé pour déterminer la réponse transitoire d’un solide fini, tel qu’une dalle épaisse. Dans ce cas, l’approximation du solide semi-infini est raisonnable pour les premiers instants du régime transitoire, pendant lesquels la température à l’intérieur de la dalle (loin de la surface) reste essentiellement influencée de manière négligeable par le changement de conditions en surface.&#10;&#10;L’équation de la chaleur pour la conduction transitoire dans un solide semi-infini est donnée par :&#10;\begin{equation*}&#10;\frac{\partial^2 T}{\partial x^2} = \frac{1}{\alpha} \frac{\partial T}{\partial t} \quad \text{avec} \quad&#10;\alpha = \frac{k}{\rho c}.&#10;\end{equation*}&#10;avec condition initiale uniforme: $T(x, 0) = T_i$.&#10;On impose une condition aux limites à l'infini : $T(x \rightarrow \infty, t)=T_i$ \; $\forall t$.&#10;\end{document}"/>
  <p:tag name="IGUANATEXSIZE" val="18"/>
  <p:tag name="IGUANATEXCURSOR" val="929"/>
  <p:tag name="TRANSPARENCY" val="Vrai"/>
  <p:tag name="CHOOSECOLOR" val="Faux"/>
  <p:tag name="COLORHEX" val="000000"/>
  <p:tag name="FILENAME" val=""/>
  <p:tag name="LATEXENGINEID" val="0"/>
  <p:tag name="TEMPFOLDER" val="c:\temp\"/>
  <p:tag name="LATEXFORMHEIGHT" val=" 423"/>
  <p:tag name="LATEXFORMWIDTH" val=" 754.8"/>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 1200"/>
  <p:tag name="ORIGINALHEIGHT" val=" 90.73866"/>
  <p:tag name="ORIGINALWIDTH" val=" 2446.944"/>
  <p:tag name="OUTPUTTYPE" val="PNG"/>
  <p:tag name="IGUANATEXVERSION" val="162"/>
  <p:tag name="LATEXADDIN" val="\documentclass{article}&#10;\usepackage{amsmath}&#10;\usepackage{xcolor}&#10;\pagestyle{empty}&#10;\begin{document}&#10;&#10;{\color{red} Différentes conditions aux limites à en $x=0$.}&#10;&#10;&#10;\end{document}"/>
  <p:tag name="IGUANATEXSIZE" val="18"/>
  <p:tag name="IGUANATEXCURSOR" val="59"/>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 1200"/>
  <p:tag name="ORIGINALHEIGHT" val=" 3082.115"/>
  <p:tag name="ORIGINALWIDTH" val=" 5697.038"/>
  <p:tag name="OUTPUTTYPE" val="PNG"/>
  <p:tag name="IGUANATEXVERSION" val="162"/>
  <p:tag name="LATEXADDIN" val="\documentclass{article}&#10;\usepackage{amsmath}&#10;\usepackage{xcolor}&#10;\usepackage[paperwidth=23cm]{geometry}&#10;\pagestyle{empty}&#10;&#10;\usepackage{siunitx}&#10;&#10;&#10;\begin{document}&#10;&#10;\subsection*{Cas 1 : introduction à la Variable de Similarité}&#10;&#10;Le cas 1 de l'échelon en température à l'entrée peut être résolue en introduidant une \textbf{variable de similarité} $\eta$. L'équation de la chaleur, impliquant deux variables indépendantes ($x$ et $t$), se transforme en une équation différentielle ordinaire de $\eta$. Pour confirmer qu'une telle transformation est possible, nous devons examiner les propriétés de cette variable de similarité.&#10;&#10;La variable de similarité $\eta$ est généralement définie sous la forme :&#10;\begin{equation}&#10;\eta = \frac{x}{\sqrt{4 \alpha t}}&#10;\end{equation}&#10;où $\alpha$ est la diffusivité thermique du matériau.&#10;&#10;L'équation de la chaleur en une dimension s'écrit :&#10;\begin{equation}&#10;\frac{\partial T}{\partial t} = \alpha \frac{\partial^2 T}{\partial x^2}&#10;\end{equation}&#10;&#10;En utilisant la variable de similarité $\eta$, nous cherchons une solution de la forme :&#10;\begin{equation}&#10;T(x,t) = f(\eta) = f\left(\frac{x}{\sqrt{4 \alpha t}}\right)&#10;\end{equation}&#10;&#10;Pour effectuer la transformation, nous devons calculer les dérivées partielles.&#10;&#10;&#10;\end{document}"/>
  <p:tag name="IGUANATEXSIZE" val="18"/>
  <p:tag name="IGUANATEXCURSOR" val="1130"/>
  <p:tag name="TRANSPARENCY" val="Vrai"/>
  <p:tag name="CHOOSECOLOR" val="Faux"/>
  <p:tag name="COLORHEX" val="000000"/>
  <p:tag name="FILENAME" val=""/>
  <p:tag name="LATEXENGINEID" val="0"/>
  <p:tag name="TEMPFOLDER" val="c:\temp\"/>
  <p:tag name="LATEXFORMHEIGHT" val=" 423"/>
  <p:tag name="LATEXFORMWIDTH" val=" 754.8"/>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 1200"/>
  <p:tag name="ORIGINALHEIGHT" val=" 3082.865"/>
  <p:tag name="ORIGINALWIDTH" val=" 5694.039"/>
  <p:tag name="OUTPUTTYPE" val="PNG"/>
  <p:tag name="IGUANATEXVERSION" val="162"/>
  <p:tag name="LATEXADDIN" val="\documentclass{article}&#10;\usepackage{amsmath}&#10;\usepackage{xcolor}&#10;\usepackage[paperwidth=23cm]{geometry}&#10;\pagestyle{empty}&#10;&#10;\usepackage{siunitx}&#10;&#10;&#10;\begin{document}&#10;&#10;\subsection*{Dérivée par rapport au temps}&#10;\begin{equation}&#10;\frac{\partial T}{\partial t} = f'(\eta) \frac{\partial \eta}{\partial t} = &#10;f'(\eta) \cdot \left(-\frac{x}{2t\sqrt{4 \alpha t}}\right) = -\frac{\eta}{2t} f'(\eta)&#10;\end{equation}&#10;&#10;\subsection*{Dérivée par rapport à l'espace}&#10;\begin{equation}&#10;\frac{\partial T}{\partial x} = f'(\eta) \frac{\partial \eta}{\partial x} = f'(\eta) \cdot \frac{1}{\sqrt{4 \alpha t}} = \frac{f'(\eta)}{\sqrt{4 \alpha t}}&#10;\end{equation}&#10;&#10;\begin{equation}&#10;\frac{\partial^2 T}{\partial x^2} = \frac{\partial}{\partial x}\left(\frac{f'(\eta)}{\sqrt{4 \alpha t}}\right) = \frac{f''(\eta)}{4 \alpha t}&#10;\end{equation}&#10;&#10;\subsection*{Équation Différentielle Ordinaire Résultante}&#10;&#10;En substituant ces dérivées dans l'équation de la chaleur, nous obtenons après simplification :&#10;\begin{equation}&#10;f''(\eta) + 2 \eta f'(\eta) = 0&#10;\end{equation}&#10;avec les conditions aux limites : $f(\eta=0) = T_i$ et $f(\eta=\infty) = T_s$.&#10;&#10;Cette équation différentielle ordinaire peut être résolue par des méthodes classiques, confirmant ainsi la validité de l'approche par variable de similarité.&#10;&#10;\end{document}&#10;&#10;\end{document}"/>
  <p:tag name="IGUANATEXSIZE" val="18"/>
  <p:tag name="IGUANATEXCURSOR" val="946"/>
  <p:tag name="TRANSPARENCY" val="Vrai"/>
  <p:tag name="CHOOSECOLOR" val="Faux"/>
  <p:tag name="COLORHEX" val="000000"/>
  <p:tag name="FILENAME" val=""/>
  <p:tag name="LATEXENGINEID" val="0"/>
  <p:tag name="TEMPFOLDER" val="c:\temp\"/>
  <p:tag name="LATEXFORMHEIGHT" val=" 519.6"/>
  <p:tag name="LATEXFORMWIDTH" val=" 754.8"/>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 1200"/>
  <p:tag name="ORIGINALHEIGHT" val=" 3286.089"/>
  <p:tag name="ORIGINALWIDTH" val=" 5697.038"/>
  <p:tag name="OUTPUTTYPE" val="PNG"/>
  <p:tag name="IGUANATEXVERSION" val="162"/>
  <p:tag name="LATEXADDIN" val="\documentclass{article}&#10;\usepackage{amsmath}&#10;\usepackage{xcolor}&#10;\usepackage[paperwidth=23cm]{geometry}&#10;\pagestyle{empty}&#10;&#10;\usepackage{siunitx}&#10;&#10;&#10;\begin{document}&#10;&#10;En séparant les variables, on obtient :&#10;&#10;\begin{equation}&#10;\frac{d(df/d\eta)}{(df/d\eta)} = -2\eta \; d\eta&#10;\end{equation}&#10;&#10;En intégrant un première fois, il s'ensuit que :&#10;&#10;\begin{equation}&#10;\ln(df/d\eta) = -\eta^2 + C_1&#10;\end{equation}&#10;&#10;ou&#10;&#10;\begin{equation}&#10;\frac{df}{d\eta} = C_1 \exp(-\eta^2)&#10;\end{equation}&#10;&#10;En intégrant une seconde fois, on a :&#10;&#10;\begin{equation}&#10;f = C_1 \int_0^\eta \exp(-u^2) du + C_2&#10;\end{equation}&#10;&#10;L'expression finale peut être réécrite sous la forme :&#10;&#10;\begin{equation}&#10;f(\eta) = C_1 \int_0^\eta \exp(-u^2) du + C_2&#10;\end{equation}&#10;&#10;où $C_1$ et $C_2$ sont des constantes d'intégration qui seront déterminées en appliquant les conditions aux limites $f(\eta=0) = T_i$ et $f(\eta=\infty) = T_s$. &#10;&#10;\end{document}"/>
  <p:tag name="IGUANATEXSIZE" val="18"/>
  <p:tag name="IGUANATEXCURSOR" val="265"/>
  <p:tag name="TRANSPARENCY" val="Vrai"/>
  <p:tag name="CHOOSECOLOR" val="Faux"/>
  <p:tag name="COLORHEX" val="000000"/>
  <p:tag name="FILENAME" val=""/>
  <p:tag name="LATEXENGINEID" val="0"/>
  <p:tag name="TEMPFOLDER" val="c:\temp\"/>
  <p:tag name="LATEXFORMHEIGHT" val=" 519.6"/>
  <p:tag name="LATEXFORMWIDTH" val=" 754.8"/>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 1200"/>
  <p:tag name="ORIGINALHEIGHT" val=" 3116.61"/>
  <p:tag name="ORIGINALWIDTH" val=" 5686.539"/>
  <p:tag name="OUTPUTTYPE" val="PNG"/>
  <p:tag name="IGUANATEXVERSION" val="162"/>
  <p:tag name="LATEXADDIN" val="\documentclass{article}&#10;\usepackage{amsmath}&#10;\usepackage{xcolor}&#10;\usepackage[paperwidth=23cm]{geometry}&#10;\pagestyle{empty}&#10;&#10;\usepackage{siunitx}&#10;&#10;&#10;\begin{document}&#10;&#10;\subsection*{Détermination de $C_2$}&#10;&#10;En appliquant la première condition limite $f(0) = T_i$ :&#10;\begin{equation}&#10;f(0) = C_1 \int_0^0 \exp(-u^2) du + C_2 = C_2 = T_i&#10;\end{equation}&#10;&#10;Donc : $C_2 = T_i$&#10;&#10;\subsection*{Détermination de $C_1$}&#10;&#10;En appliquant la seconde condition limite $f(\infty) = T_s$ :&#10;\begin{equation}&#10;f(\infty) = C_1 \int_0^\infty \exp(-u^2) du + T_i = T_s&#10;\end{equation}&#10;&#10;L'intégrale $\int_0^\infty \exp(-u^2) du = \frac{\sqrt{\pi}}{2}$, donc :&#10;\begin{equation}&#10;C_1 \frac{\sqrt{\pi}}{2} + T_i = T_s&#10;\end{equation}&#10;&#10;D'où : $C_1 = \frac{2(T_s - T_i)}{\sqrt{\pi}}$&#10;&#10;\end{document}"/>
  <p:tag name="IGUANATEXSIZE" val="18"/>
  <p:tag name="IGUANATEXCURSOR" val="744"/>
  <p:tag name="TRANSPARENCY" val="Vrai"/>
  <p:tag name="CHOOSECOLOR" val="Faux"/>
  <p:tag name="COLORHEX" val="000000"/>
  <p:tag name="FILENAME" val=""/>
  <p:tag name="LATEXENGINEID" val="0"/>
  <p:tag name="TEMPFOLDER" val="c:\temp\"/>
  <p:tag name="LATEXFORMHEIGHT" val=" 519.6"/>
  <p:tag name="LATEXFORMWIDTH" val=" 754.8"/>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 1200"/>
  <p:tag name="ORIGINALHEIGHT" val=" 2911.136"/>
  <p:tag name="ORIGINALWIDTH" val=" 5687.289"/>
  <p:tag name="OUTPUTTYPE" val="PNG"/>
  <p:tag name="IGUANATEXVERSION" val="162"/>
  <p:tag name="LATEXADDIN" val="\documentclass{article}&#10;\usepackage{amsmath}&#10;\usepackage{xcolor}&#10;\usepackage[paperwidth=23cm]{geometry}&#10;\pagestyle{empty}&#10;&#10;\usepackage{siunitx}&#10;&#10;&#10;\begin{document}&#10;&#10;\subsection*{Cas 1 : Température de Surface Constante : $T(x=0, t)=T_i$}&#10;&#10;En substituant les valeurs des constantes, l'expression finale s'écrit :&#10;&#10;\begin{equation}&#10;f(\eta) = T_i + (T_s - T_i) \frac{2}{\sqrt{\pi}} \int_0^\eta \exp(-u^2) du&#10;\end{equation}&#10;&#10;ou, en utilisant la fonction d'erreur $\text{erf}(\eta) = \frac{2}{\sqrt{\pi}} \int_0^\eta \exp(-u^2) du$ :&#10;&#10;\begin{equation}&#10;f(\eta) = T_i + (T_s - T_i) \text{erf}(\eta)&#10;\end{equation}&#10;&#10;La distribution de température dans le milieu est donnée par :&#10;\begin{equation}&#10;\frac{T(x, t) - T_s}{T_i - T_s} = \text{erf}\left(\frac{x}{2\sqrt{\alpha t}}\right) &#10;\end{equation}&#10;&#10;Le flux de chaleur à la surface ($x = 0$) est :&#10;\begin{equation}&#10;q_s''(t) = \frac{k(T_s - T_i)}{\sqrt{\pi \alpha t}} &#10;\end{equation}&#10;où $k$ est la conductivité thermique du matériau.&#10;\end{document}"/>
  <p:tag name="IGUANATEXSIZE" val="18"/>
  <p:tag name="IGUANATEXCURSOR" val="970"/>
  <p:tag name="TRANSPARENCY" val="Vrai"/>
  <p:tag name="CHOOSECOLOR" val="Faux"/>
  <p:tag name="COLORHEX" val="000000"/>
  <p:tag name="FILENAME" val=""/>
  <p:tag name="LATEXENGINEID" val="0"/>
  <p:tag name="TEMPFOLDER" val="c:\temp\"/>
  <p:tag name="LATEXFORMHEIGHT" val=" 519.6"/>
  <p:tag name="LATEXFORMWIDTH" val=" 754.8"/>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 1200"/>
  <p:tag name="ORIGINALHEIGHT" val=" 2840.645"/>
  <p:tag name="ORIGINALWIDTH" val=" 5687.289"/>
  <p:tag name="OUTPUTTYPE" val="PNG"/>
  <p:tag name="IGUANATEXVERSION" val="162"/>
  <p:tag name="LATEXADDIN" val="\documentclass{article}&#10;\usepackage{amsmath}&#10;\usepackage{xcolor}&#10;\usepackage[paperwidth=23cm]{geometry}&#10;\pagestyle{empty}&#10;&#10;\usepackage{siunitx}&#10;&#10;&#10;\begin{document}&#10;&#10;&#10;\subsection*{Cas 2 : Flux de Chaleur de Surface Constant : $q''_s(x=0) = q''_o$}&#10;&#10;La distribution de température dans le milieu est donnée par :&#10;\begin{equation}&#10;T(x, t) - T_i = \frac{2q_o''(\alpha t/\pi)^{1/2}}{k} \exp\left(\frac{-x^2}{4\alpha t}\right) - \frac{q_o''x}{k} \text{erfc}\left(\frac{x}{2\sqrt{\alpha t}}\right)&#10;\end{equation}&#10;où $\text{erfc}(\eta)=1-\text{erf}(\eta)$.\\&#10;&#10;\subsection*{Cas 3 : Convection de Surface:}&#10;&#10;\begin{equation}&#10;-k \frac{\partial T}{\partial x}\bigg|_{x=0} = h[T_\infty - T(0, t)]&#10;\end{equation}&#10;&#10;\begin{align}&#10;\frac{T(x, t) - T_i}{T_\infty - T_i} &amp;= \text{erfc}\left(\frac{x}{2\sqrt{\alpha t}}\right) \\&#10;&amp;\quad - \exp\left(\frac{hx}{k} + \frac{h^2 \alpha t}{k^2}\right) \left[\text{erfc}\left(\frac{x}{2\sqrt{\alpha t}} + \frac{h\sqrt{\alpha t}}{k}\right)\right]&#10;\end{align}&#10;&#10;\end{document}"/>
  <p:tag name="IGUANATEXSIZE" val="18"/>
  <p:tag name="IGUANATEXCURSOR" val="547"/>
  <p:tag name="TRANSPARENCY" val="Vrai"/>
  <p:tag name="CHOOSECOLOR" val="Faux"/>
  <p:tag name="COLORHEX" val="000000"/>
  <p:tag name="FILENAME" val=""/>
  <p:tag name="LATEXENGINEID" val="0"/>
  <p:tag name="TEMPFOLDER" val="c:\temp\"/>
  <p:tag name="LATEXFORMHEIGHT" val=" 519.6"/>
  <p:tag name="LATEXFORMWIDTH" val=" 754.8"/>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3120.36"/>
  <p:tag name="ORIGINALWIDTH" val="4953.131"/>
  <p:tag name="OUTPUTTYPE" val="PNG"/>
  <p:tag name="IGUANATEXVERSION" val="160"/>
  <p:tag name="LATEXADDIN" val="\documentclass{article}&#10;\usepackage{amsmath}&#10;\usepackage{xcolor}&#10;\usepackage[paperwidth=20cm]{geometry}&#10;\pagestyle{empty}&#10;&#10;\usepackage{siunitx}&#10;&#10;&#10;\begin{document}&#10;&#10;\subsection*{Chauffage périodique}&#10;&#10;Dans de nombreuses applications pratiques, les conditions aux limites ne sont pas constantes, et des solutions analytiques ont été obtenues pour des situations où les conditions varient avec le temps. Une situation impliquant des conditions aux limites non constantes est le chauffage périodique, qui décrit diverses applications, telles que le traitement thermique de matériaux utilisant des lasers pulsés, ou se produit naturellement dans des situations telles que celles impliquant la collecte d'énergie solaire.&#10;&#10;Considérons, par exemple, le solide semi-infini de la Figure ci-contre et supposons que la température de surface&#10;est une fonction périodique du temps, décrite par $T(0, t) = T_i + \Delta T \sin \omega t$, la solution de l'équation de la chaleur 1D sans source :&#10;\begin{equation}&#10;\frac{\partial T}{\partial t} = \alpha \frac{\partial^2 T}{\partial x^2}&#10;\end{equation}&#10;soumise à la condition aux limites intérieure $T(x \to \infty, t) = T_i$ est dans la limite des grands temps&#10;(limite quasi-stationnaire):&#10;&#10;\begin{equation}&#10;\frac{T(x, t) - T_i}{\Delta T} = \exp[-x\sqrt{\omega/2\alpha}] \sin[\omega t - x\sqrt{\omega/2\alpha}] &#10;\end{equation}&#10;&#10;Cette solution montre que toutes les températures fluctuent périodiquement autour d'une valeur moyenne invariante dans le temps telle que $&lt;T(x,t)&gt;_t = T_i$. &#10;&#10;\end{document}"/>
  <p:tag name="IGUANATEXSIZE" val="18"/>
  <p:tag name="IGUANATEXCURSOR" val="0"/>
  <p:tag name="TRANSPARENCY" val="Vrai"/>
  <p:tag name="FILENAME" val=""/>
  <p:tag name="LATEXENGINEID" val="0"/>
  <p:tag name="TEMPFOLDER" val="c:\temp\"/>
  <p:tag name="LATEXFORMHEIGHT" val="423"/>
  <p:tag name="LATEXFORMWIDTH" val="754.8"/>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3025.872"/>
  <p:tag name="ORIGINALWIDTH" val="4954.63"/>
  <p:tag name="OUTPUTTYPE" val="PNG"/>
  <p:tag name="IGUANATEXVERSION" val="160"/>
  <p:tag name="LATEXADDIN" val="\documentclass{article}&#10;\usepackage{amsmath}&#10;\usepackage{xcolor}&#10;\usepackage[paperwidth=20cm]{geometry}&#10;\pagestyle{empty}&#10;&#10;\usepackage{siunitx}&#10;&#10;&#10;\begin{document}&#10;&#10;La solution de l'équation de la chaleur 1D sans source &#10;soumise à la condition aux limites intérieure $T(x \to \infty, t) = T_i$ est dans la limite des grands temps:&#10;&#10;\begin{equation}&#10;\frac{T(x, t) - T_i}{\Delta T} = \exp[-x\sqrt{\omega/2\alpha}] \sin[\omega t - x\sqrt{\omega/2\alpha}] &#10;\end{equation}&#10;&#10;Selon les abscisses considérés dans le solide, les fluctuations ont un décalage temporel relatif à la température de surface. &#10;&#10;De plus, l'amplitude des fluctuations dans le matériau décroît exponentiellement avec la distance de la surface. En cohérence avec la définition antérieure de la profondeur de pénétration thermique, $\delta_p$ peut être définie comme l'emplacement en $x$ où l'amplitude de la fluctuation de température est réduite d'environ 90\% par rapport à celle de la surface. &#10;&#10;On en déduit que $\delta_p = 4\sqrt{\alpha/\omega}$. Le flux de chaleur à la surface peut être déterminé en appliquant la loi de Fourier en $x = 0$, ce qui donne&#10;&#10;\begin{equation}&#10;q_s''(t) = k\Delta T \sqrt{\omega/\alpha} \sin(\omega t + \pi/4) &#10;\end{equation}&#10;&#10;Cette relation révèle que le flux de chaleur de surface est périodique, avec une valeur moyenne nulle dans le temps.&#10;&#10;Le chauffage périodique peut également se produire dans des configurations bidimensionnelles, comme le montre la Figure ci-contre. Pour cette géométrie, un état stationnaire peut être atteint avec un chauffage constant de la bande placée sur un solide semi-infini. &#10;\end{document}&#10;&#10;\end{document}"/>
  <p:tag name="IGUANATEXSIZE" val="18"/>
  <p:tag name="IGUANATEXCURSOR" val="1475"/>
  <p:tag name="TRANSPARENCY" val="Vrai"/>
  <p:tag name="FILENAME" val=""/>
  <p:tag name="LATEXENGINEID" val="0"/>
  <p:tag name="TEMPFOLDER" val="c:\temp\"/>
  <p:tag name="LATEXFORMHEIGHT" val="423"/>
  <p:tag name="LATEXFORMWIDTH" val="754.8"/>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355.4556"/>
  <p:tag name="OUTPUTTYPE" val="PNG"/>
  <p:tag name="IGUANATEXVERSION" val="160"/>
  <p:tag name="LATEXADDIN" val="\documentclass{article}&#10;\usepackage{amsmath}&#10;\pagestyle{empty}&#10;\begin{document}&#10;&#10;cas 2D&#10;&#10;&#10;\end{document}"/>
  <p:tag name="IGUANATEXSIZE" val="20"/>
  <p:tag name="IGUANATEXCURSOR" val="87"/>
  <p:tag name="TRANSPARENCY" val="Faux"/>
  <p:tag name="FILENAME" val=""/>
  <p:tag name="LATEXENGINEID" val="0"/>
  <p:tag name="TEMPFOLDER" val="c:\temp\"/>
  <p:tag name="LATEXFORMHEIGHT" val="320"/>
  <p:tag name="LATEXFORMWIDTH" val="385"/>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3559.055"/>
  <p:tag name="ORIGINALWIDTH" val="5696.288"/>
  <p:tag name="OUTPUTTYPE" val="PNG"/>
  <p:tag name="IGUANATEXVERSION" val="160"/>
  <p:tag name="LATEXADDIN" val="\documentclass{article}&#10;\usepackage{amsmath}&#10;\usepackage{amsfonts}&#10;\usepackage{xcolor}&#10;\usepackage[paperwidth=23cm]{geometry}&#10;\usepackage{enumitem} % Package recommandé pour contrôler les listes&#10;\usepackage{setspace} % Pour l'interligne général&#10;\pagestyle{empty}&#10;&#10;\usepackage{siunitx}&#10;&#10;&#10;\begin{document}&#10;&#10;\subsection*{Exercice : solution dans la limite quasi-stationnaire (équilibre dynamique)}&#10;&#10;Considérons un solide semi-infini dont la température de surface est une fonction périodique du temps, décrite par :&#10;\begin{equation}&#10;T(0, t) = T_i + \Delta T \sin \omega t&#10;\end{equation}&#10;Notre but est de calculer la solution de l'équation de la chaleur 1D sans source :&#10;\begin{equation}&#10;\frac{\partial T}{\partial t} = \alpha \frac{\partial^2 T}{\partial x^2}&#10;\end{equation}&#10;soumise à la condition aux limites intérieure $T(x \to \infty, t) = T_i$.&#10;&#10;\begin{enumerate}[itemsep=0pt, parsep=0pt]&#10;\item Poser $\theta(x,t) = T(x,t) - T_i$. Que deviennent l'équation précédente et les conditions aux limites?&#10;\item Chercher une solution de la forme $\theta(x,t) = \text{Re}[\phi(x,t)]$ où :&#10;\begin{equation}&#10;\phi(x,t) = A(x) e^{i\omega t} \quad \text{où} \quad A(x) \in \mathbb{C}&#10;\end{equation}&#10;\item Montrer qu'en substituant $\theta$ par $\phi$ dans l'équation de la chaleur, ceci revient à résoudre l'équation différentielle ordinaire :&#10;\begin{equation}&#10;\frac{d^2 A}{dx^2} - \frac{i\omega}{\alpha} A = 0&#10;\end{equation}&#10;\item Résoudre l'équation caractéristique associée.&#10;\item Retrouver la solution dans la limite quasi-stationnaire en tenant compte des conditions aux limites.&#10;\end{enumerate}&#10;&#10;Reprendre le problème en imposant un flux de chaleur $q_s''(t)$, fonction sinusoïdale du temps en $x=0$.&#10;\end{document}&#10;"/>
  <p:tag name="IGUANATEXSIZE" val="18"/>
  <p:tag name="IGUANATEXCURSOR" val="1679"/>
  <p:tag name="TRANSPARENCY" val="Vrai"/>
  <p:tag name="FILENAME" val=""/>
  <p:tag name="LATEXENGINEID" val="0"/>
  <p:tag name="TEMPFOLDER" val="c:\temp\"/>
  <p:tag name="LATEXFORMHEIGHT" val="520.8"/>
  <p:tag name="LATEXFORMWIDTH" val="754.8"/>
  <p:tag name="LATEXFORMWRAP" val="Vrai"/>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3485.564"/>
  <p:tag name="ORIGINALWIDTH" val="5695.538"/>
  <p:tag name="OUTPUTTYPE" val="PNG"/>
  <p:tag name="IGUANATEXVERSION" val="160"/>
  <p:tag name="LATEXADDIN" val="\documentclass{article}&#10;\usepackage{amsmath}&#10;\usepackage{amsfonts}&#10;\usepackage{xcolor}&#10;\usepackage{cancel}&#10;\usepackage[paperwidth=23cm]{geometry}&#10;\usepackage{enumitem} % Package recommandé pour contrôler les listes&#10;\usepackage{setspace} % Pour l'interligne général&#10;\pagestyle{empty}&#10;&#10;\usepackage{siunitx}&#10;&#10;&#10;\begin{document}&#10;&#10;Notre but est de calculer la solution de l'équation de la chaleur 1D sans source :&#10;\begin{equation}&#10;\frac{\partial T}{\partial t} = \alpha \frac{\partial^2 T}{\partial x^2}&#10;\end{equation}&#10;soumise à la condition aux limites intérieure $T(x \to \infty, t) = T_i$.&#10;&#10;\begin{enumerate}[itemsep=0pt, parsep=0pt]&#10;\item En posant $\theta(x,t) = T(x,t) - T_i = \Delta T \sin \omega t&#10;$. L'équation précédente devient :&#10;\begin{equation}&#10;\frac{\partial \theta}{\partial t} = \alpha \frac{\partial^2 \theta}{\partial x^2}&#10;\end{equation}&#10;avec les conditions aux limites : $\theta(0,t) = \Delta T \sin \omega t$ et $\theta(x\rightarrow \infty, t)=0$.&#10;&#10;\item On cherche une solution de la forme $\theta(x,t) = \text{Re}[\phi(x,t)]$ où :&#10;\begin{equation}&#10;\phi(x,t) = A(x) e^{i\omega t} \quad \text{où} \quad A(x) \in \mathbb{C}&#10;\end{equation}&#10;&#10;\item En substituant $\theta$ par $\phi$ dans l'équation de la chaleur, ceci revient à résoudre l'équation différentielle ordinaire :&#10;\begin{equation}&#10;\frac{d^2 A}{dx^2} - \frac{i\omega}{\alpha} A = 0&#10;\end{equation}&#10;\item L'équation caractéristique associée qui revient à chercher des solutions de la forme $\exp(rt)$ s'écrit&#10; $r^2 - \frac{i\omega}{\alpha}=0$ d'où &#10;$r = \pm \frac{1+i}{\sqrt{2}} \sqrt{\frac{\omega}{\alpha}} = \pm (1+i) \sqrt{\frac{\omega}{2\alpha}}$.&#10;\item En tenant compte du comportement lorsque $x \rightarrow \infty$, on a:&#10;$A(x) = a \; \exp(-rx) + b \; \cancel{\exp(+rx)}$ avec $a \in \mathbb{C}$.&#10;\end{enumerate}&#10;&#10;\end{document}&#10;"/>
  <p:tag name="IGUANATEXSIZE" val="18"/>
  <p:tag name="IGUANATEXCURSOR" val="1773"/>
  <p:tag name="TRANSPARENCY" val="Vrai"/>
  <p:tag name="FILENAME" val=""/>
  <p:tag name="LATEXENGINEID" val="0"/>
  <p:tag name="TEMPFOLDER" val="c:\temp\"/>
  <p:tag name="LATEXFORMHEIGHT" val="520.8"/>
  <p:tag name="LATEXFORMWIDTH" val="754.8"/>
  <p:tag name="LATEXFORMWRAP" val="Vrai"/>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2787.402"/>
  <p:tag name="ORIGINALWIDTH" val="5535.058"/>
  <p:tag name="OUTPUTTYPE" val="PNG"/>
  <p:tag name="IGUANATEXVERSION" val="160"/>
  <p:tag name="LATEXADDIN" val="\documentclass{article}&#10;\usepackage{amsmath}&#10;\usepackage{amsfonts}&#10;\usepackage{xcolor}&#10;\usepackage[paperwidth=23cm]{geometry}&#10;\usepackage{enumitem} % Package recommandé pour contrôler les listes&#10;\usepackage{setspace} % Pour l'interligne général&#10;\pagestyle{empty}&#10;&#10;\usepackage{siunitx}&#10;&#10;\begin{document}&#10;&#10;Les conditions aux limites : $\theta(0,t) = \Delta T \sin \omega t$ et $\theta(x\rightarrow \infty, t)=0$.&#10;&#10;\begin{enumerate}&#10;&#10;\item &#10;&#10;On a $A(x) = a \exp(-rx)$ avec $a \in \mathbb{C}$.&#10;&#10;\begin{equation}&#10;\phi(x,t) = a \exp(-rx) e^{i\omega t} \quad \text{où} \quad r = (1+i) \sqrt{\frac{\omega}{2\alpha}}&#10;\end{equation}&#10;en notant que $\theta(x,t) = \text{Re}[\phi(x,t)]$.&#10;\item Comme $\theta(0,t) = \Delta T \; \sin \omega t$, alors on peut choisir&#10;$\phi(0,t) = -i \; \Delta T \; e^{i\omega t}$ donc $a=-i\; \Delta T$&#10;&#10;\item On a: $\phi(x,t) = -i\; \Delta T \exp(-\sqrt{\frac{\omega}{2\alpha}} x) &#10;\exp i (\omega t -\sqrt{\frac{\omega}{2\alpha}} x)$&#10;ou encore&#10;\begin{equation}&#10;\phi(x,t) = \Delta T \exp\Big(-\sqrt{\frac{\omega}{2\alpha}} x\Big) &#10;\exp i \Big(\omega t -\sqrt{\frac{\omega}{2\alpha}} x -\frac{\pi}{2}\Big)&#10;\end{equation}&#10;&#10;\item En prenant la partie réelle, on obtient :&#10;\begin{equation}&#10;\theta(x,t) = \Delta T&#10; \exp \Big(-x \sqrt{\frac{\omega}{2\alpha}}\Big) \sin \Big(\omega t - x \sqrt{\frac{\omega}{2\alpha}}\Big)&#10;\end{equation}&#10;\end{enumerate}&#10;&#10;\end{document}&#10;"/>
  <p:tag name="IGUANATEXSIZE" val="18"/>
  <p:tag name="IGUANATEXCURSOR" val="771"/>
  <p:tag name="TRANSPARENCY" val="Vrai"/>
  <p:tag name="FILENAME" val=""/>
  <p:tag name="LATEXENGINEID" val="0"/>
  <p:tag name="TEMPFOLDER" val="c:\temp\"/>
  <p:tag name="LATEXFORMHEIGHT" val="520.8"/>
  <p:tag name="LATEXFORMWIDTH" val="754.8"/>
  <p:tag name="LATEXFORMWRAP" val="Vrai"/>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293.588"/>
  <p:tag name="ORIGINALWIDTH" val="4455.943"/>
  <p:tag name="OUTPUTTYPE" val="PNG"/>
  <p:tag name="IGUANATEXVERSION" val="160"/>
  <p:tag name="LATEXADDIN" val="\documentclass{article}&#10;\usepackage{amsmath}&#10;\usepackage{amsfonts}&#10;\usepackage{xcolor}&#10;\usepackage[paperwidth=18cm]{geometry}&#10;\usepackage{enumitem} % Package recommandé pour contrôler les listes&#10;\usepackage{setspace} % Pour l'interligne général&#10;\pagestyle{empty}&#10;&#10;\usepackage{siunitx}&#10;&#10;&#10;\begin{document}&#10;&#10;\subsection*{Exercice : chauffage périodique dans une configuration 2D}&#10;&#10;Considérons un solide semi-infini dont la température de surface est imposée par des bandes de chauffage.&#10;Elle est une fonction périodique du temps et de la coordonnée $y$, décrite par :&#10;\begin{equation*}&#10;T(0, t) = T_i + \Delta T \cos(ky) \sin (\omega t) \quad \text{avec} \quad k=\frac{2 \pi}{P}&#10;\end{equation*}&#10;en se limitant au premier terme de la série de Fourier selon $y$.&#10;&#10;\end{document}&#10;"/>
  <p:tag name="IGUANATEXSIZE" val="16"/>
  <p:tag name="IGUANATEXCURSOR" val="375"/>
  <p:tag name="TRANSPARENCY" val="Vrai"/>
  <p:tag name="FILENAME" val=""/>
  <p:tag name="LATEXENGINEID" val="0"/>
  <p:tag name="TEMPFOLDER" val="c:\temp\"/>
  <p:tag name="LATEXFORMHEIGHT" val="520.8"/>
  <p:tag name="LATEXFORMWIDTH" val="754.8"/>
  <p:tag name="LATEXFORMWRAP" val="Vrai"/>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2704.912"/>
  <p:tag name="ORIGINALWIDTH" val="6686.914"/>
  <p:tag name="OUTPUTTYPE" val="PNG"/>
  <p:tag name="IGUANATEXVERSION" val="160"/>
  <p:tag name="LATEXADDIN" val="\documentclass{article}&#10;\usepackage{amsmath}&#10;\usepackage{amsfonts}&#10;\usepackage{xcolor}&#10;\usepackage[paperwidth=27cm]{geometry}&#10;\usepackage{enumitem} % Package recommandé pour contrôler les listes&#10;\usepackage{setspace} % Pour l'interligne général&#10;\pagestyle{empty}&#10;&#10;\usepackage{siunitx}&#10;&#10;&#10;\begin{document}&#10;&#10;Notre but est de calculer la solution de l'équation de la chaleur 1D sans source :&#10;\begin{equation*}&#10;\frac{\partial T}{\partial t} = \alpha \Big( \frac{\partial^2 T}{\partial x^2} + \frac{\partial^2 T}{\partial y^2}\Big)&#10;\end{equation*}&#10;soumise à la condition aux limites intérieure $T(x \to \infty, y, t) = T_i$, $\forall y$.&#10;&#10;\begin{enumerate}[itemsep=0pt, parsep=0pt]&#10;\item Poser $\theta(x,y, t) = T(x,y, t) - T_i$. Que deviennent l'équation précédente et les conditions aux limites?&#10;\item Chercher une solution de la forme $\theta(x,y,t) = \text{Re}[\phi(x,y,t)]$ où :&#10;\begin{equation*}&#10;\phi(x,y,t) = X(x) \; Y(y)\; e^{i\omega t} \quad \text{où} \quad X(x) \in \mathbb{C}&#10;\quad \text{et} \quad Y(y) \in \mathbb{C}&#10;\end{equation*}&#10;\item Montrer qu'en substituant $\theta$ par $\phi$ dans l'équation de la chaleur, ceci revient à résoudre l'équation aux dérivées partielles:&#10;\begin{equation*}&#10;    \frac{X''}{X} + \frac{Y''}{Y} - \frac{i\omega}{\alpha} = 0&#10;\end{equation*}&#10;\item Séparer de manière judicieuse les variables et montrer qu'il faut introduire une constante en $k^2$.&#10;\item Retrouver la solution dans la limite quasi-stationnaire en tenant compte des conditions aux limites.&#10;Définir $\delta_p$. Comparer-le avec le cas 1D.&#10;\end{enumerate}&#10;&#10;\end{document}&#10;"/>
  <p:tag name="IGUANATEXSIZE" val="16"/>
  <p:tag name="IGUANATEXCURSOR" val="1540"/>
  <p:tag name="TRANSPARENCY" val="Vrai"/>
  <p:tag name="FILENAME" val=""/>
  <p:tag name="LATEXENGINEID" val="0"/>
  <p:tag name="TEMPFOLDER" val="c:\temp\"/>
  <p:tag name="LATEXFORMHEIGHT" val="520.8"/>
  <p:tag name="LATEXFORMWIDTH" val="754.8"/>
  <p:tag name="LATEXFORMWRAP" val="Vrai"/>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89.98874"/>
  <p:tag name="OUTPUTTYPE" val="PNG"/>
  <p:tag name="IGUANATEXVERSION" val="160"/>
  <p:tag name="LATEXADDIN" val="\documentclass{article}&#10;\usepackage{amsmath}&#10;\pagestyle{empty}&#10;\begin{document}&#10;&#10;$P$&#10;&#10;&#10;\end{document}"/>
  <p:tag name="IGUANATEXSIZE" val="16"/>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69.2164"/>
  <p:tag name="ORIGINALWIDTH" val="2132.733"/>
  <p:tag name="OUTPUTTYPE" val="PNG"/>
  <p:tag name="IGUANATEXVERSION" val="160"/>
  <p:tag name="LATEXADDIN" val="\documentclass{article}&#10;\usepackage{amsmath}&#10;\pagestyle{empty}&#10;\begin{document}&#10;&#10;\begin{equation*}&#10;T(0,y, t) = T_i + \Delta T \sum_k \;  \cos(ky) \sin (\omega t)&#10;\end{equation*}&#10;&#10;&#10;\end{document}"/>
  <p:tag name="IGUANATEXSIZE" val="14"/>
  <p:tag name="IGUANATEXCURSOR" val="125"/>
  <p:tag name="TRANSPARENCY" val="Faux"/>
  <p:tag name="FILENAME" val=""/>
  <p:tag name="LATEXENGINEID" val="0"/>
  <p:tag name="TEMPFOLDER" val="c:\temp\"/>
  <p:tag name="LATEXFORMHEIGHT" val="320"/>
  <p:tag name="LATEXFORMWIDTH" val="385"/>
  <p:tag name="LATEXFORMWRAP" val="Vrai"/>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2.99213"/>
  <p:tag name="OUTPUTTYPE" val="PNG"/>
  <p:tag name="IGUANATEXVERSION" val="160"/>
  <p:tag name="LATEXADDIN" val="\documentclass{article}&#10;\usepackage{amsmath}&#10;\pagestyle{empty}&#10;\begin{document}&#10;&#10;$x$&#10;&#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80.24"/>
  <p:tag name="ORIGINALWIDTH" val="58.49268"/>
  <p:tag name="OUTPUTTYPE" val="PNG"/>
  <p:tag name="IGUANATEXVERSION" val="160"/>
  <p:tag name="LATEXADDIN" val="\documentclass{article}&#10;\usepackage{amsmath}&#10;\pagestyle{empty}&#10;\begin{document}&#10;&#10;$y$&#10;&#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2048</TotalTime>
  <Words>61</Words>
  <Application>Microsoft Office PowerPoint</Application>
  <PresentationFormat>Grand écran</PresentationFormat>
  <Paragraphs>34</Paragraphs>
  <Slides>21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toussaij</dc:creator>
  <cp:lastModifiedBy>toussaij</cp:lastModifiedBy>
  <cp:revision>228</cp:revision>
  <dcterms:created xsi:type="dcterms:W3CDTF">2025-06-16T06:26:42Z</dcterms:created>
  <dcterms:modified xsi:type="dcterms:W3CDTF">2025-10-10T08:12:07Z</dcterms:modified>
</cp:coreProperties>
</file>