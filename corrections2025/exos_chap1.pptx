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87" r:id="rId2"/>
    <p:sldId id="288" r:id="rId3"/>
    <p:sldId id="289" r:id="rId4"/>
    <p:sldId id="290" r:id="rId5"/>
    <p:sldId id="291" r:id="rId6"/>
    <p:sldId id="292" r:id="rId7"/>
    <p:sldId id="313" r:id="rId8"/>
    <p:sldId id="316" r:id="rId9"/>
    <p:sldId id="317" r:id="rId10"/>
    <p:sldId id="315" r:id="rId11"/>
    <p:sldId id="314" r:id="rId12"/>
    <p:sldId id="295" r:id="rId13"/>
    <p:sldId id="296" r:id="rId14"/>
    <p:sldId id="297" r:id="rId15"/>
    <p:sldId id="298" r:id="rId16"/>
    <p:sldId id="312" r:id="rId17"/>
    <p:sldId id="299" r:id="rId18"/>
    <p:sldId id="300" r:id="rId19"/>
    <p:sldId id="301" r:id="rId20"/>
    <p:sldId id="302" r:id="rId21"/>
    <p:sldId id="303" r:id="rId22"/>
    <p:sldId id="308" r:id="rId23"/>
    <p:sldId id="335" r:id="rId24"/>
    <p:sldId id="309" r:id="rId25"/>
    <p:sldId id="307" r:id="rId26"/>
    <p:sldId id="304" r:id="rId27"/>
    <p:sldId id="305" r:id="rId28"/>
    <p:sldId id="306" r:id="rId29"/>
    <p:sldId id="319" r:id="rId30"/>
    <p:sldId id="320" r:id="rId31"/>
    <p:sldId id="332" r:id="rId32"/>
    <p:sldId id="333" r:id="rId33"/>
    <p:sldId id="334" r:id="rId3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4" d="100"/>
          <a:sy n="84" d="100"/>
        </p:scale>
        <p:origin x="13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DDB64-3F74-4A31-9DCF-E20F546DAE16}" type="datetimeFigureOut">
              <a:rPr lang="fr-FR" smtClean="0"/>
              <a:t>15/09/2025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135F6E-F159-4D74-BBD5-5E0E3D851145}" type="slidenum">
              <a:rPr lang="fr-FR" smtClean="0"/>
              <a:t>‹N°›</a:t>
            </a:fld>
            <a:endParaRPr lang="fr-FR"/>
          </a:p>
        </p:txBody>
      </p:sp>
    </p:spTree>
    <p:extLst>
      <p:ext uri="{BB962C8B-B14F-4D97-AF65-F5344CB8AC3E}">
        <p14:creationId xmlns:p14="http://schemas.microsoft.com/office/powerpoint/2010/main" val="3600464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67382A6E-BA34-416B-A5AC-94BA96485766}"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7801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54DC9EF-E709-41BD-A535-FCA0EF751BE1}"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45085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48420CA0-E8F4-40DF-9092-CAAEFF5F7A75}"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59159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C9D81EF-DEB4-4214-8671-C437A93F5580}"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322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E8F27790-96CE-47C7-B67B-C2FA84E56CB6}" type="datetime1">
              <a:rPr lang="fr-FR" smtClean="0"/>
              <a:t>15/09/2025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19959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2C5845EF-1D0D-4DD0-9B02-0E49029D12CA}" type="datetime1">
              <a:rPr lang="fr-FR" smtClean="0"/>
              <a:t>15/09/2025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35370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27C5361-2CB6-4F93-B8E3-4630FFB25A3D}" type="datetime1">
              <a:rPr lang="fr-FR" smtClean="0"/>
              <a:t>15/09/2025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548793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772E9A89-D1BE-4AC5-841D-FCB737D83235}"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7644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EF43D499-A851-422D-8CF2-19389A3022FF}"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28986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C61759FB-C273-4612-837D-95C03E79C690}"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240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8AD7EDC-57CA-4BFA-93EE-2A819EE8A2E3}"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9210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751AA-DD9B-4D70-9502-29F6545F88F2}" type="datetime1">
              <a:rPr lang="fr-FR" smtClean="0"/>
              <a:t>15/09/2025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3DDC6-9977-4A69-882A-1641CFA73689}" type="slidenum">
              <a:rPr lang="fr-FR" smtClean="0"/>
              <a:t>‹N°›</a:t>
            </a:fld>
            <a:endParaRPr lang="fr-FR"/>
          </a:p>
        </p:txBody>
      </p:sp>
    </p:spTree>
    <p:extLst>
      <p:ext uri="{BB962C8B-B14F-4D97-AF65-F5344CB8AC3E}">
        <p14:creationId xmlns:p14="http://schemas.microsoft.com/office/powerpoint/2010/main" val="3298298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tags" Target="../tags/tag5.xml"/><Relationship Id="rId7" Type="http://schemas.openxmlformats.org/officeDocument/2006/relationships/slideLayout" Target="../slideLayouts/slideLayout2.xml"/><Relationship Id="rId12" Type="http://schemas.openxmlformats.org/officeDocument/2006/relationships/image" Target="../media/image9.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image" Target="../media/image8.png"/><Relationship Id="rId5" Type="http://schemas.openxmlformats.org/officeDocument/2006/relationships/tags" Target="../tags/tag7.xml"/><Relationship Id="rId10" Type="http://schemas.openxmlformats.org/officeDocument/2006/relationships/image" Target="../media/image7.png"/><Relationship Id="rId4" Type="http://schemas.openxmlformats.org/officeDocument/2006/relationships/tags" Target="../tags/tag6.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4.xml"/><Relationship Id="rId7" Type="http://schemas.openxmlformats.org/officeDocument/2006/relationships/image" Target="../media/image18.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20.xml"/><Relationship Id="rId7" Type="http://schemas.openxmlformats.org/officeDocument/2006/relationships/image" Target="../media/image26.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slideLayout" Target="../slideLayouts/slideLayout2.xml"/><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6.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25.xml"/><Relationship Id="rId7" Type="http://schemas.openxmlformats.org/officeDocument/2006/relationships/image" Target="../media/image32.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31.png"/><Relationship Id="rId5" Type="http://schemas.openxmlformats.org/officeDocument/2006/relationships/slideLayout" Target="../slideLayouts/slideLayout1.xml"/><Relationship Id="rId10" Type="http://schemas.openxmlformats.org/officeDocument/2006/relationships/image" Target="../media/image35.png"/><Relationship Id="rId4" Type="http://schemas.openxmlformats.org/officeDocument/2006/relationships/tags" Target="../tags/tag26.xml"/><Relationship Id="rId9"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38.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tags" Target="../tags/tag32.xml"/><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Layout" Target="../slideLayouts/slideLayout7.xml"/><Relationship Id="rId11" Type="http://schemas.openxmlformats.org/officeDocument/2006/relationships/image" Target="../media/image43.png"/><Relationship Id="rId5" Type="http://schemas.openxmlformats.org/officeDocument/2006/relationships/tags" Target="../tags/tag34.xml"/><Relationship Id="rId10" Type="http://schemas.openxmlformats.org/officeDocument/2006/relationships/image" Target="../media/image42.png"/><Relationship Id="rId4" Type="http://schemas.openxmlformats.org/officeDocument/2006/relationships/tags" Target="../tags/tag33.xml"/><Relationship Id="rId9"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1.xml"/><Relationship Id="rId1" Type="http://schemas.openxmlformats.org/officeDocument/2006/relationships/tags" Target="../tags/tag35.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50.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image" Target="../media/image53.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55.pn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tags" Target="../tags/tag46.xml"/><Relationship Id="rId7" Type="http://schemas.openxmlformats.org/officeDocument/2006/relationships/image" Target="../media/image58.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tags" Target="../tags/tag49.xml"/><Relationship Id="rId7" Type="http://schemas.openxmlformats.org/officeDocument/2006/relationships/image" Target="../media/image6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0.png"/><Relationship Id="rId5" Type="http://schemas.openxmlformats.org/officeDocument/2006/relationships/slideLayout" Target="../slideLayouts/slideLayout2.xml"/><Relationship Id="rId4" Type="http://schemas.openxmlformats.org/officeDocument/2006/relationships/tags" Target="../tags/tag50.xml"/><Relationship Id="rId9"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2.xml"/><Relationship Id="rId1" Type="http://schemas.openxmlformats.org/officeDocument/2006/relationships/tags" Target="../tags/tag51.xml"/><Relationship Id="rId4" Type="http://schemas.openxmlformats.org/officeDocument/2006/relationships/image" Target="../media/image64.png"/></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69.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1.xml"/><Relationship Id="rId1" Type="http://schemas.openxmlformats.org/officeDocument/2006/relationships/tags" Target="../tags/tag60.xml"/></Relationships>
</file>

<file path=ppt/slides/_rels/slide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slideLayout" Target="../slideLayouts/slideLayout1.xml"/><Relationship Id="rId1" Type="http://schemas.openxmlformats.org/officeDocument/2006/relationships/tags" Target="../tags/tag61.xml"/></Relationships>
</file>

<file path=ppt/slides/_rels/slide31.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tags" Target="../tags/tag64.xml"/><Relationship Id="rId7" Type="http://schemas.openxmlformats.org/officeDocument/2006/relationships/image" Target="../media/image79.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78.png"/><Relationship Id="rId5" Type="http://schemas.openxmlformats.org/officeDocument/2006/relationships/slideLayout" Target="../slideLayouts/slideLayout1.xml"/><Relationship Id="rId10" Type="http://schemas.openxmlformats.org/officeDocument/2006/relationships/image" Target="../media/image82.png"/><Relationship Id="rId4" Type="http://schemas.openxmlformats.org/officeDocument/2006/relationships/tags" Target="../tags/tag65.xml"/><Relationship Id="rId9"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slideLayout" Target="../slideLayouts/slideLayout1.xml"/><Relationship Id="rId1" Type="http://schemas.openxmlformats.org/officeDocument/2006/relationships/tags" Target="../tags/tag66.xml"/><Relationship Id="rId4" Type="http://schemas.openxmlformats.org/officeDocument/2006/relationships/image" Target="../media/image84.png"/></Relationships>
</file>

<file path=ppt/slides/_rels/slide33.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image" Target="../media/image87.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1</a:t>
            </a:fld>
            <a:endParaRPr lang="fr-FR"/>
          </a:p>
        </p:txBody>
      </p:sp>
      <p:sp>
        <p:nvSpPr>
          <p:cNvPr id="5" name="ZoneTexte 4"/>
          <p:cNvSpPr txBox="1"/>
          <p:nvPr/>
        </p:nvSpPr>
        <p:spPr>
          <a:xfrm>
            <a:off x="620197" y="94873"/>
            <a:ext cx="9271705" cy="646331"/>
          </a:xfrm>
          <a:prstGeom prst="rect">
            <a:avLst/>
          </a:prstGeom>
          <a:noFill/>
        </p:spPr>
        <p:txBody>
          <a:bodyPr wrap="none" rtlCol="0">
            <a:spAutoFit/>
          </a:bodyPr>
          <a:lstStyle/>
          <a:p>
            <a:r>
              <a:rPr lang="fr-FR" sz="3600" dirty="0">
                <a:latin typeface="Euclid" panose="02020503060505020303" pitchFamily="18" charset="0"/>
              </a:rPr>
              <a:t>Exercice : </a:t>
            </a:r>
            <a:r>
              <a:rPr lang="fr-FR" sz="3600" dirty="0" smtClean="0">
                <a:latin typeface="Euclid" panose="02020503060505020303" pitchFamily="18" charset="0"/>
              </a:rPr>
              <a:t>cœur du réacteur de </a:t>
            </a:r>
            <a:r>
              <a:rPr lang="fr-FR" sz="3600" dirty="0" err="1" smtClean="0">
                <a:latin typeface="Euclid" panose="02020503060505020303" pitchFamily="18" charset="0"/>
              </a:rPr>
              <a:t>Super-Phénix</a:t>
            </a:r>
            <a:endParaRPr lang="fr-FR" sz="3600" dirty="0">
              <a:latin typeface="Euclid" panose="02020503060505020303" pitchFamily="18" charset="0"/>
            </a:endParaRPr>
          </a:p>
        </p:txBody>
      </p:sp>
      <p:pic>
        <p:nvPicPr>
          <p:cNvPr id="23" name="Image 2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02318" y="949745"/>
            <a:ext cx="9062098" cy="2732189"/>
          </a:xfrm>
          <a:prstGeom prst="rect">
            <a:avLst/>
          </a:prstGeom>
        </p:spPr>
      </p:pic>
      <p:pic>
        <p:nvPicPr>
          <p:cNvPr id="14" name="Objet 2"/>
          <p:cNvPicPr/>
          <p:nvPr/>
        </p:nvPicPr>
        <p:blipFill>
          <a:blip r:embed="rId5">
            <a:lum/>
            <a:alphaModFix/>
          </a:blip>
          <a:srcRect l="-2275" t="-214" r="-1653" b="-3155"/>
          <a:stretch>
            <a:fillRect/>
          </a:stretch>
        </p:blipFill>
        <p:spPr>
          <a:xfrm>
            <a:off x="475956" y="3681929"/>
            <a:ext cx="4254362" cy="3039546"/>
          </a:xfrm>
          <a:prstGeom prst="rect">
            <a:avLst/>
          </a:prstGeom>
          <a:noFill/>
          <a:ln>
            <a:noFill/>
            <a:prstDash/>
          </a:ln>
        </p:spPr>
      </p:pic>
      <p:pic>
        <p:nvPicPr>
          <p:cNvPr id="3" name="Image 2" descr="\documentclass{article}&#10;\usepackage{amsmath}&#10;\usepackage[paperwidth=14cm]{geometry}&#10;\pagestyle{empty}&#10;\begin{document}&#10;&#10;\noindent&#10;1. Calculer la puissance moyenne apportée dans un sous-canal, notée $\dot{E}_g$.\\&#10;2. Faire un bilan énergétique permettant de relier $\Delta T$, $q$, $C_p$  et &#10;$\dot{m}$ en kg/s.\\&#10;3. Calculer l’aire  de passage du caloporteur. \\&#10;4. Déterminer $\Delta T$ puis $T_{out}$.&#10;&#10;&#10;\end{document}" title="IguanaTex Bitmap Display"/>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932809" y="4368273"/>
            <a:ext cx="7033904" cy="1744761"/>
          </a:xfrm>
          <a:prstGeom prst="rect">
            <a:avLst/>
          </a:prstGeom>
        </p:spPr>
      </p:pic>
      <p:grpSp>
        <p:nvGrpSpPr>
          <p:cNvPr id="26" name="Groupe 25"/>
          <p:cNvGrpSpPr/>
          <p:nvPr/>
        </p:nvGrpSpPr>
        <p:grpSpPr>
          <a:xfrm>
            <a:off x="9538054" y="672348"/>
            <a:ext cx="2489405" cy="3306787"/>
            <a:chOff x="9538054" y="672348"/>
            <a:chExt cx="2489405" cy="3306787"/>
          </a:xfrm>
        </p:grpSpPr>
        <p:pic>
          <p:nvPicPr>
            <p:cNvPr id="24" name="Image 23"/>
            <p:cNvPicPr>
              <a:picLocks noChangeAspect="1"/>
            </p:cNvPicPr>
            <p:nvPr/>
          </p:nvPicPr>
          <p:blipFill>
            <a:blip r:embed="rId7"/>
            <a:stretch>
              <a:fillRect/>
            </a:stretch>
          </p:blipFill>
          <p:spPr>
            <a:xfrm>
              <a:off x="9538054" y="672348"/>
              <a:ext cx="2489405" cy="3286982"/>
            </a:xfrm>
            <a:prstGeom prst="rect">
              <a:avLst/>
            </a:prstGeom>
          </p:spPr>
        </p:pic>
        <p:sp>
          <p:nvSpPr>
            <p:cNvPr id="25" name="ZoneTexte 24"/>
            <p:cNvSpPr txBox="1"/>
            <p:nvPr/>
          </p:nvSpPr>
          <p:spPr>
            <a:xfrm>
              <a:off x="9538054" y="3609803"/>
              <a:ext cx="1174104" cy="369332"/>
            </a:xfrm>
            <a:prstGeom prst="rect">
              <a:avLst/>
            </a:prstGeom>
            <a:noFill/>
          </p:spPr>
          <p:txBody>
            <a:bodyPr wrap="none" rtlCol="0">
              <a:spAutoFit/>
            </a:bodyPr>
            <a:lstStyle/>
            <a:p>
              <a:r>
                <a:rPr lang="fr-FR" dirty="0" smtClean="0"/>
                <a:t>Image CEA</a:t>
              </a:r>
              <a:endParaRPr lang="fr-FR" dirty="0"/>
            </a:p>
          </p:txBody>
        </p:sp>
      </p:grpSp>
    </p:spTree>
    <p:extLst>
      <p:ext uri="{BB962C8B-B14F-4D97-AF65-F5344CB8AC3E}">
        <p14:creationId xmlns:p14="http://schemas.microsoft.com/office/powerpoint/2010/main" val="26017247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2</a:t>
            </a:fld>
            <a:endParaRPr lang="fr-FR"/>
          </a:p>
        </p:txBody>
      </p:sp>
      <p:pic>
        <p:nvPicPr>
          <p:cNvPr id="2" name="Image 1" descr="\documentclass[12pt]{article}&#10;\usepackage[utf8]{inputenc}&#10;\usepackage{amsmath}&#10;\usepackage{cancel}&#10;\usepackage[paperwidth=27cm]{geometry}&#10;\pagestyle{empty}&#10;&#10;\begin{document}&#10;1. La puissance totale est 3GW, $100000$ crayons combustibles soit une puissance de $3\; 10^9/10^5 = 30kW$ / crayon. La maille élémentaire (analogie avec la cristallo) est formée de 2 canaux et contient un crayon. La puissance apportée dans un sous-canal est donc $\dot{E}_g$ = 30kW/2 = 15kW de puissance thermique.&#10;&#10;2. système ouvert limité par un sous-canal cylindrique à base triangle équilatéral, de hauteur H = 1m. On est en régime permanent :&#10;$$&#10;\dot{m} \left( h + \tfrac{1}{2}V^2 + gz \right)_{\text{in}} &#10;- \dot{m} \left( h + \tfrac{1}{2}V^2 + gz \right)_{\text{out}} &#10;+ \cancel{q} - \cancel{\dot{W}} + \dot{E}_g = 0&#10;$$&#10;donc&#10;$$&#10;\dot{E}_g = \dot{m} \left( h + gz \right)_{\text{out}} &#10;- \dot{m} \left( h + gz \right)_{\text{in}}&#10;$$&#10;sachant que &#10;$\left(V^2\right)_{\text{in}} = \left(V^2\right)_{\text{out}}$ &#10;$$&#10;\dot{E}_g = \dot{m} \; c_p \; (T_{\text{out}} - T_{\text{in}})+&#10;\dot{m}\; g \left(z_{\text{out}} -z_{\text{in}}\right)&#10;$$&#10;d'où $T_{\text{out}} - T_{\text{in}} = \dfrac{\dot{E}_g}{\dot{m} \; c_p}&#10;- \dfrac{g\; H}{c_p}$&#10;&#10;3. Ne pas confondre le débit massique (kg/s) et la densité surfacique de débit massique (kg/m²/s), dont la valeur dans l’énoncé est $5.75\;10^3$ kg/m²/s. Il vérifie $\dot{m}= \rho \; V \;S$ où $S$ est la section de passage du caloporteur dans le sous-canal représentatif.&#10;&#10;\end{document}" title="IguanaTex Bitmap Display"/>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614049" y="324338"/>
            <a:ext cx="10869026" cy="5519849"/>
          </a:xfrm>
          <a:prstGeom prst="rect">
            <a:avLst/>
          </a:prstGeom>
        </p:spPr>
      </p:pic>
      <p:pic>
        <p:nvPicPr>
          <p:cNvPr id="26" name="Image 25" descr="\documentclass{article}&#10;\usepackage{amsmath}&#10;\pagestyle{empty}&#10;\begin{document}&#10;&#10;$$&#10;S = \frac{1}{2} \;\dfrac{\sqrt{3}}{2}\; (D+e)^2  - 3 \; \frac{1}{6} \pi \; \frac{D^2}{4} = 13.24 mm^2&#10;$$&#10;&#10;\end{document}" title="IguanaTex Bitmap Display"/>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8010390" y="4178266"/>
            <a:ext cx="3943619" cy="455924"/>
          </a:xfrm>
          <a:prstGeom prst="rect">
            <a:avLst/>
          </a:prstGeom>
        </p:spPr>
      </p:pic>
      <p:pic>
        <p:nvPicPr>
          <p:cNvPr id="42" name="Image 41" descr="\documentclass{article}&#10;\usepackage{amsmath}&#10;\pagestyle{empty}&#10;\usepackage{cancel}&#10;\usepackage[paperwidth=25cm]{geometry}&#10;\begin{document}&#10;&#10;&#10;4. Comme&#10;$\dfrac{\dot{E}_g}{\dot{m} \; c_p} \gg \dfrac{g\; H}{c_p}$,&#10;la différence de températures est : $T_{\text{out}} - T_{\text{in}} \approx \dfrac{\dot{E}_g}{\rho \; V \; S \; c_p} = 154.3$ K.&#10;&#10;\end{document}" title="IguanaTex Bitmap Display"/>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868382" y="5987501"/>
            <a:ext cx="10384766" cy="650668"/>
          </a:xfrm>
          <a:prstGeom prst="rect">
            <a:avLst/>
          </a:prstGeom>
        </p:spPr>
      </p:pic>
      <p:grpSp>
        <p:nvGrpSpPr>
          <p:cNvPr id="39" name="Groupe 38"/>
          <p:cNvGrpSpPr/>
          <p:nvPr/>
        </p:nvGrpSpPr>
        <p:grpSpPr>
          <a:xfrm>
            <a:off x="9285116" y="1849535"/>
            <a:ext cx="2322819" cy="2069269"/>
            <a:chOff x="9285116" y="1849535"/>
            <a:chExt cx="2322819" cy="2069269"/>
          </a:xfrm>
        </p:grpSpPr>
        <p:grpSp>
          <p:nvGrpSpPr>
            <p:cNvPr id="20" name="Groupe 19"/>
            <p:cNvGrpSpPr/>
            <p:nvPr/>
          </p:nvGrpSpPr>
          <p:grpSpPr>
            <a:xfrm>
              <a:off x="9285116" y="1849535"/>
              <a:ext cx="2322819" cy="2069269"/>
              <a:chOff x="3505486" y="4024353"/>
              <a:chExt cx="3095135" cy="2757282"/>
            </a:xfrm>
          </p:grpSpPr>
          <p:sp>
            <p:nvSpPr>
              <p:cNvPr id="15" name="Ellipse 14"/>
              <p:cNvSpPr/>
              <p:nvPr/>
            </p:nvSpPr>
            <p:spPr>
              <a:xfrm>
                <a:off x="4412972" y="4024353"/>
                <a:ext cx="1321995" cy="12861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p:cNvSpPr/>
              <p:nvPr/>
            </p:nvSpPr>
            <p:spPr>
              <a:xfrm>
                <a:off x="3505486" y="5495511"/>
                <a:ext cx="1321995" cy="12861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p:cNvSpPr/>
              <p:nvPr/>
            </p:nvSpPr>
            <p:spPr>
              <a:xfrm>
                <a:off x="5278626" y="5495511"/>
                <a:ext cx="1321995" cy="12861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Triangle isocèle 13"/>
              <p:cNvSpPr/>
              <p:nvPr/>
            </p:nvSpPr>
            <p:spPr>
              <a:xfrm>
                <a:off x="4166483" y="4667415"/>
                <a:ext cx="1773141" cy="1471158"/>
              </a:xfrm>
              <a:prstGeom prst="triangl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32" name="Connecteur droit avec flèche 31"/>
            <p:cNvCxnSpPr>
              <a:stCxn id="15" idx="2"/>
              <a:endCxn id="15" idx="6"/>
            </p:cNvCxnSpPr>
            <p:nvPr/>
          </p:nvCxnSpPr>
          <p:spPr>
            <a:xfrm>
              <a:off x="9966161" y="2332137"/>
              <a:ext cx="99212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3" name="Image 32" descr="\documentclass{article}&#10;\usepackage{amsmath}&#10;\pagestyle{empty}&#10;\begin{document}&#10;&#10;$d$&#10;&#10;&#10;\end{document}" title="IguanaTex Bitmap Display"/>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0382732" y="2109181"/>
              <a:ext cx="121905" cy="178286"/>
            </a:xfrm>
            <a:prstGeom prst="rect">
              <a:avLst/>
            </a:prstGeom>
          </p:spPr>
        </p:pic>
        <p:cxnSp>
          <p:nvCxnSpPr>
            <p:cNvPr id="35" name="Connecteur droit avec flèche 34"/>
            <p:cNvCxnSpPr/>
            <p:nvPr/>
          </p:nvCxnSpPr>
          <p:spPr>
            <a:xfrm>
              <a:off x="10277239" y="3436202"/>
              <a:ext cx="33857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6" name="Image 35" descr="\documentclass{article}&#10;\usepackage{amsmath}&#10;\pagestyle{empty}&#10;\begin{document}&#10;&#10;$e$&#10;&#10;&#10;\end{document}" title="IguanaTex Bitmap Display"/>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10391527" y="3498355"/>
              <a:ext cx="99048" cy="114286"/>
            </a:xfrm>
            <a:prstGeom prst="rect">
              <a:avLst/>
            </a:prstGeom>
          </p:spPr>
        </p:pic>
        <p:pic>
          <p:nvPicPr>
            <p:cNvPr id="38" name="Image 37" descr="\documentclass{article}&#10;\usepackage{amsmath}&#10;\pagestyle{empty}&#10;\begin{document}&#10;&#10;&#10;$S$&#10;&#10;\end{document}" title="IguanaTex Bitmap Display"/>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10365146" y="2944441"/>
              <a:ext cx="150857" cy="184381"/>
            </a:xfrm>
            <a:prstGeom prst="rect">
              <a:avLst/>
            </a:prstGeom>
          </p:spPr>
        </p:pic>
      </p:grpSp>
      <p:sp>
        <p:nvSpPr>
          <p:cNvPr id="17" name="ZoneTexte 16"/>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8317074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3</a:t>
            </a:fld>
            <a:endParaRPr lang="fr-FR"/>
          </a:p>
        </p:txBody>
      </p:sp>
      <p:pic>
        <p:nvPicPr>
          <p:cNvPr id="6" name="Image 5"/>
          <p:cNvPicPr>
            <a:picLocks noChangeAspect="1"/>
          </p:cNvPicPr>
          <p:nvPr/>
        </p:nvPicPr>
        <p:blipFill>
          <a:blip r:embed="rId3"/>
          <a:stretch>
            <a:fillRect/>
          </a:stretch>
        </p:blipFill>
        <p:spPr>
          <a:xfrm>
            <a:off x="6803918" y="3550734"/>
            <a:ext cx="4954283" cy="3170741"/>
          </a:xfrm>
          <a:prstGeom prst="rect">
            <a:avLst/>
          </a:prstGeom>
        </p:spPr>
      </p:pic>
      <p:pic>
        <p:nvPicPr>
          <p:cNvPr id="2" name="Image 1" descr="\documentclass[12pt,a4paper]{article}&#10;\usepackage[utf8]{inputenc}&#10;\usepackage[french]{babel}&#10;\usepackage[T1]{fontenc}&#10;\usepackage{amsmath}&#10;\usepackage{amssymb}&#10;\usepackage{siunitx}&#10;\usepackage[paperwidth=23cm]{geometry}&#10;&#10;\begin{document}&#10;&#10;\subsection*{Exercice}&#10;&#10;Les pales d'une éolienne font tourner un arbre principal à une vitesse relativement faible. La vitesse de rotation est augmentée par une boîte de vitesses qui a un rendement de $\eta_{gb} = 0.93$. À son tour, l'arbre de sortie de la boîte de vitesses entraîne un générateur électrique avec un rendement de $\eta_{gen} = 0.95$. La \textit{nacelle} cylindrique, qui abrite la boîte de vitesses, le générateur et l'équipement associé, a une longueur $L = \SI{6}{m}$ et un diamètre $D = \SI{3}{m}$.&#10;&#10;Si l'éolienne produit une puissance électrique $P = \SI{2.5}{MW}$, et que les températures de l'air ambiant et de l'environnement sont respectivement $T_{\infty} = \SI{25}{\celsius}$ et $T_{sur} = \SI{20}{\celsius}$, déterminer la température extérieure de la nacelle.&#10;&#10;\subsubsection*{Données}&#10;&#10;\begin{itemize}&#10;    \item Émissivité de la nacelle : $\varepsilon = 0.83$&#10;    \item Coefficient de transfert thermique \\par convection : $h = \SI{35}{W/m^2 \cdot K}$&#10;    \item La surface de la nacelle adjacente au moyeu des pales \\ peut être considérée comme adiabatique&#10;    \item L'irradiation solaire peut être négligée&#10;\end{itemize}&#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60512" y="271597"/>
            <a:ext cx="10416000" cy="14103771"/>
          </a:xfrm>
          <a:prstGeom prst="rect">
            <a:avLst/>
          </a:prstGeom>
        </p:spPr>
      </p:pic>
    </p:spTree>
    <p:extLst>
      <p:ext uri="{BB962C8B-B14F-4D97-AF65-F5344CB8AC3E}">
        <p14:creationId xmlns:p14="http://schemas.microsoft.com/office/powerpoint/2010/main" val="42033878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4</a:t>
            </a:fld>
            <a:endParaRPr lang="fr-FR"/>
          </a:p>
        </p:txBody>
      </p:sp>
      <p:pic>
        <p:nvPicPr>
          <p:cNvPr id="6" name="Image 5"/>
          <p:cNvPicPr>
            <a:picLocks noChangeAspect="1"/>
          </p:cNvPicPr>
          <p:nvPr/>
        </p:nvPicPr>
        <p:blipFill>
          <a:blip r:embed="rId3"/>
          <a:stretch>
            <a:fillRect/>
          </a:stretch>
        </p:blipFill>
        <p:spPr>
          <a:xfrm>
            <a:off x="6780170" y="113148"/>
            <a:ext cx="5160397" cy="3389984"/>
          </a:xfrm>
          <a:prstGeom prst="rect">
            <a:avLst/>
          </a:prstGeom>
        </p:spPr>
      </p:pic>
      <p:pic>
        <p:nvPicPr>
          <p:cNvPr id="5" name="Image 4" descr="\documentclass{article}&#10;\usepackage{amsmath}&#10;\pagestyle{empty}&#10;&#10;\usepackage{amsmath}&#10;\usepackage{amssymb}&#10;\usepackage{geometry}&#10;\usepackage{xcolor}&#10;\usepackage{cancel}&#10;&#10;\begin{document}&#10;&#10;\subsection*{\color{red}\textbf{Conservation de l'énergie totale}} &#10;\noindent&#10;Pour un système fermé, on a:&#10;$$&#10;\Delta E_{st}^{tot} = Q -W = {E}_{in}-{E}_{out} +\cancel{{E}_g} &#10;$$&#10;\noindent&#10;Pour un système fermé, durant un intervalle de temps $\Delta t$, on a:&#10;\begin{equation*}&#10;\frac{dE_{st}^{tot}}{dt} = \dot{E}_{in} - \dot{E}_{out}&#10;\end{equation*}&#10;En régime permanent, ceci se réduit à $\dot{E}_{in} - \dot{E}_{out} = 0$. &#10;&#10;\noindent&#10;Le terme $\dot{E}_{in}$ correspond au travail mécanique entrant dans la nacelle $\dot{W}$.&#10;&#10;\noindent Le terme $\dot{E}_{out}$ inclut la puissance électrique de sortie $P$ et le taux de transfert thermique quittant la nacelle ${q}$. Ainsi&#10;\begin{equation*}&#10;\dot{W} - P - {q} = 0&#10;\end{equation*}&#10;&#10;\subsection*{\color{red}\textbf{Alternative}} &#10;Ici, $\dot{E}_{\text{in}}$ correspond une fois de plus au travail mécanique $\dot{W}$. Cependant, $\dot{E}_{\text{out}}$ n'inclut ici que le taux de transfert de chaleur quittant la nacelle $q$. La puissance électrique apparaît dans le terme de génération, car {\color{red} l'énergie mécanique est convertie en énergie électrique dans le générateur}, donnant lieu à une source négative d'énergie mécanique. C'est-à-dire, $\dot{E}_g = -P$.&#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98182" y="643141"/>
            <a:ext cx="9778284" cy="5895771"/>
          </a:xfrm>
          <a:prstGeom prst="rect">
            <a:avLst/>
          </a:prstGeom>
        </p:spPr>
      </p:pic>
      <p:sp>
        <p:nvSpPr>
          <p:cNvPr id="7" name="ZoneTexte 6"/>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5374359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5</a:t>
            </a:fld>
            <a:endParaRPr lang="fr-FR"/>
          </a:p>
        </p:txBody>
      </p:sp>
      <p:pic>
        <p:nvPicPr>
          <p:cNvPr id="3" name="Image 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89039" y="518762"/>
            <a:ext cx="10864755" cy="3443809"/>
          </a:xfrm>
          <a:prstGeom prst="rect">
            <a:avLst/>
          </a:prstGeom>
        </p:spPr>
      </p:pic>
      <p:sp>
        <p:nvSpPr>
          <p:cNvPr id="5" name="ZoneTexte 4"/>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5613854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6</a:t>
            </a:fld>
            <a:endParaRPr lang="fr-FR"/>
          </a:p>
        </p:txBody>
      </p:sp>
      <p:pic>
        <p:nvPicPr>
          <p:cNvPr id="19" name="Image 18" descr="\documentclass{article}&#10;\usepackage{amsmath}&#10;&#10;\usepackage{amssymb}&#10;\usepackage{siunitx}&#10;&#10;\usepackage[utf8]{inputenc}&#10;\usepackage[french]{babel}&#10;\usepackage[T1]{fontenc}&#10;\usepackage{siunitx}&#10;\usepackage{xcolor}&#10;&#10;\usepackage[paperwidth=22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color{red}\textbf{Application des équations de taux}} \quad Le transfert thermique est dû à la convection et au rayonnement depuis la surface extérieure de la nacelle. Ainsi&#10;&#10;$${q_n} = \rtvector{q} \cdot \rtvector{n} = &#10;\rtvector{q}_{\text{conv}} \cdot \rtvector{n} + \rtvector{q}_{\text{rad}} \cdot \rtvector{n} &#10; = A \; [{q^n_{rad}}'' + {q^n_{conv}}'']&#10;$$&#10;&#10;\begin{equation*}&#10;= \left[ \pi DL + \frac{\pi D^2}{4} \right] \left[\varepsilon \sigma (T_s^4 - T_{sur}^4) + h(T_s - T_{\infty}) \right] = \SI{0{,}33e6}{W}&#10;\end{equation*}&#10;où $\left[ \pi DL + \frac{\pi D^2}{4} \right]= 20.25 \pi$ et $\epsilon \; \sigma  \approx 4.71\; 10^{-8}$, $h = \SI{35}{W/m^2 \cdot K}$, $T_{\infty} = \SI{298}{\kelvin}$ et $T_{sur} = \SI{293}{\kelvin}$.&#10;\\&#10;La température de surface de la nacelle peut être facilement déterminée par une méthode graphique. &#10;&#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85997" y="329592"/>
            <a:ext cx="11071971" cy="3070469"/>
          </a:xfrm>
          <a:prstGeom prst="rect">
            <a:avLst/>
          </a:prstGeom>
        </p:spPr>
      </p:pic>
      <p:grpSp>
        <p:nvGrpSpPr>
          <p:cNvPr id="16" name="Groupe 15"/>
          <p:cNvGrpSpPr/>
          <p:nvPr/>
        </p:nvGrpSpPr>
        <p:grpSpPr>
          <a:xfrm>
            <a:off x="795155" y="3550905"/>
            <a:ext cx="5368253" cy="3170570"/>
            <a:chOff x="3810917" y="3405168"/>
            <a:chExt cx="5626618" cy="3323164"/>
          </a:xfrm>
        </p:grpSpPr>
        <p:grpSp>
          <p:nvGrpSpPr>
            <p:cNvPr id="13" name="Groupe 12"/>
            <p:cNvGrpSpPr/>
            <p:nvPr/>
          </p:nvGrpSpPr>
          <p:grpSpPr>
            <a:xfrm>
              <a:off x="3810917" y="3405168"/>
              <a:ext cx="5626618" cy="3323164"/>
              <a:chOff x="3810917" y="3405168"/>
              <a:chExt cx="5626618" cy="3323164"/>
            </a:xfrm>
          </p:grpSpPr>
          <p:pic>
            <p:nvPicPr>
              <p:cNvPr id="18" name="Image 17"/>
              <p:cNvPicPr>
                <a:picLocks noChangeAspect="1"/>
              </p:cNvPicPr>
              <p:nvPr/>
            </p:nvPicPr>
            <p:blipFill>
              <a:blip r:embed="rId6"/>
              <a:stretch>
                <a:fillRect/>
              </a:stretch>
            </p:blipFill>
            <p:spPr>
              <a:xfrm>
                <a:off x="3810917" y="3405168"/>
                <a:ext cx="5626618" cy="3323164"/>
              </a:xfrm>
              <a:prstGeom prst="rect">
                <a:avLst/>
              </a:prstGeom>
            </p:spPr>
          </p:pic>
          <p:cxnSp>
            <p:nvCxnSpPr>
              <p:cNvPr id="12" name="Connecteur droit 11"/>
              <p:cNvCxnSpPr/>
              <p:nvPr/>
            </p:nvCxnSpPr>
            <p:spPr>
              <a:xfrm>
                <a:off x="7473462" y="4800600"/>
                <a:ext cx="0" cy="1635369"/>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pic>
          <p:nvPicPr>
            <p:cNvPr id="15" name="Image 14" descr="\documentclass{article}&#10;\usepackage{amsmath}&#10;\pagestyle{empty}&#10;&#10;\usepackage{amssymb}&#10;\usepackage{geometry}&#10;\usepackage{siunitx}&#10;&#10;\usepackage[utf8]{inputenc}&#10;\usepackage[french]{babel}&#10;\usepackage[T1]{fontenc}&#10;\usepackage{amsmath}&#10;\usepackage{amssymb}&#10;\usepackage{geometry}&#10;\usepackage{siunitx}&#10;\usepackage{xcolor}&#10;&#10;&#10;\begin{document}&#10;&#10;\color{red}&#10;$$&#10;T_s = \SI{416}{K} = \SI{143}{\celsius}&#10;$$&#10;&#10;\end{document}" title="IguanaTex Bitmap Display"/>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6220665" y="5779113"/>
              <a:ext cx="2252188" cy="225524"/>
            </a:xfrm>
            <a:prstGeom prst="rect">
              <a:avLst/>
            </a:prstGeom>
          </p:spPr>
        </p:pic>
      </p:grpSp>
      <p:pic>
        <p:nvPicPr>
          <p:cNvPr id="26" name="Image 25" descr="\documentclass{article}&#10;\usepackage{amsmath}&#10;&#10;\usepackage{amssymb}&#10;\usepackage{siunitx}&#10;&#10;\usepackage[utf8]{inputenc}&#10;\usepackage[french]{babel}&#10;\usepackage[T1]{fontenc}&#10;\usepackage{siunitx}&#10;\usepackage{xcolor}&#10;&#10;\usepackage[paperwidth=10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Complément:}&#10;Quelle est la valeur de la température de surface en négligeant le rayonnement?&#10;&#10;\noindent&#10;{\it Rep. $T_s=446.1K = 173.1^\circ C$.}&#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6731438" y="3773202"/>
            <a:ext cx="4520228" cy="1202743"/>
          </a:xfrm>
          <a:prstGeom prst="rect">
            <a:avLst/>
          </a:prstGeom>
        </p:spPr>
      </p:pic>
      <p:sp>
        <p:nvSpPr>
          <p:cNvPr id="10" name="ZoneTexte 9"/>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4245362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usepackage{siunitx}&#10;\usepackage{graphicx}&#10;&#10;\begin{document}&#10;&#10;\section*{Exercice : sèche-cheveux}&#10;&#10;Un sèche-cheveux est modélisé par un conduit circulaire. A l'entrée, un petit ventilateur aspire l'air ambiant. Un fil de résistance électrique enroulé chauffe l'air qui circule.&#10;&#10;a. Si le sèche-cheveux est conçu pour fonctionner avec une consommation électrique de $P_{\text{élec}} = \SI{500}{W}$ et pour chauffer l'air d'une température ambiante de $T_i = \SI{20}{\celsius}$ à une température de sortie de $T_o = \SI{45}{\celsius}$, à quel débit volumique $\dot{\forall}$ le ventilateur doit-il fonctionner ? &#10;&#10;Les pertes de chaleur du boîtier vers l'air ambiant et l'environnement peuvent être négligées. Si le conduit a un diamètre de $D = \SI{70}{mm}$, quelle est la vitesse de sortie $V_o$ de l'air ? &#10;La densité et la chaleur spécifique de l'air peuvent être approximées respectivement par $\rho = \SI{1.10}{kg/m^3}$ et $c_p = \SI{1007}{J/kg \cdot K}$.&#10;&#10;b. Considérons une longueur de conduit de sèche-cheveux de $L = \SI{150}{mm}$ et une émissivité de surface de $\varepsilon = 0.8$. Si le coefficient associé au transfert de chaleur par convection naturelle du boîtier vers l'air ambiant est $h = \SI{4}{W/m^2 \cdot K}$ et que la température de l'air et de l'environnement est $T_{\infty} = T_{\text{sur}} = \SI{20}{\celsius}$, confirmez que la perte de chaleur du boîtier est, en effet, négligeable.  Le boîtier peut être supposé avoir une température de surface moyenne de $T_s = \SI{40}{\celsius}$.&#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97797" y="184937"/>
            <a:ext cx="11329364" cy="4051199"/>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7</a:t>
            </a:fld>
            <a:endParaRPr lang="fr-FR"/>
          </a:p>
        </p:txBody>
      </p:sp>
      <p:pic>
        <p:nvPicPr>
          <p:cNvPr id="20" name="Image 19"/>
          <p:cNvPicPr>
            <a:picLocks noChangeAspect="1"/>
          </p:cNvPicPr>
          <p:nvPr/>
        </p:nvPicPr>
        <p:blipFill>
          <a:blip r:embed="rId4"/>
          <a:stretch>
            <a:fillRect/>
          </a:stretch>
        </p:blipFill>
        <p:spPr>
          <a:xfrm>
            <a:off x="2209606" y="4295108"/>
            <a:ext cx="7910394" cy="2219992"/>
          </a:xfrm>
          <a:prstGeom prst="rect">
            <a:avLst/>
          </a:prstGeom>
        </p:spPr>
      </p:pic>
    </p:spTree>
    <p:extLst>
      <p:ext uri="{BB962C8B-B14F-4D97-AF65-F5344CB8AC3E}">
        <p14:creationId xmlns:p14="http://schemas.microsoft.com/office/powerpoint/2010/main" val="545935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usepackage{siunitx}&#10;\usepackage{graphicx}&#10;&#10;\begin{document}&#10;&#10;\section*{HYPOTHÈSES}&#10;&#10;\begin{enumerate}&#10;\item Régime permanent&#10;\item Propriétés de l'air constantes&#10;\item Variations d'énergie potentielle et cinétique de l'écoulement d'air négligeables&#10;\item Travail effectué par le ventilateur négligeable&#10;\item Transfert de chaleur négligeable du boîtier du sèche-cheveux vers l'air ambiant (Partie a)&#10;\item Échange radiatif entre une petite surface et une grande enceinte (Partie b)&#10;\end{enumerate}&#10;&#10;\subsection*{Partie (a)}&#10;&#10;Pour une surface de contrôle autour du passage d'écoulement d'air à travers le sèche-cheveux, la conservation de l'énergie pour un système ouvert se réduit à :&#10;&#10;\begin{equation}&#10;\dot{m}(u + pv)_i - \dot{m}(u + pv)_o + \dot{E}_g = 0&#10;\end{equation}&#10;&#10;où $u + pv = h$ et $\dot{E}_g = P_{\text{élec}}$. Par conséquent, avec $\dot{m}(h_i - h_o) = \dot{m}c_p(T_i - T_o)$ :&#10;&#10;\begin{equation}&#10;\dot{m}c_p(T_i - T_o) + P_{\text{élec}} = 0&#10;\end{equation}&#10;&#10;\begin{equation}&#10;\dot{m} = \frac{P_{\text{élec}}}{c_p(T_o - T_i)} = \frac{\SI{500}{W}}{\SI{1007}{J/kg \cdot K}(\SI{25}{\celsius})} = \SI{0.0199}{kg/s}&#10;\end{equation}&#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700020" y="272861"/>
            <a:ext cx="11323878" cy="6364800"/>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8</a:t>
            </a:fld>
            <a:endParaRPr lang="fr-FR"/>
          </a:p>
        </p:txBody>
      </p:sp>
      <p:sp>
        <p:nvSpPr>
          <p:cNvPr id="5" name="ZoneTexte 4"/>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3638893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usepackage{siunitx}&#10;\usepackage{graphicx}&#10;&#10;\begin{document}&#10;&#10;\noindent&#10;Le débit volumique est :&#10;&#10;\begin{equation}&#10;\dot{\forall} = \frac{\dot{m}}{\rho} = \frac{\SI{0.0199}{kg/s}}{\SI{1.10}{kg/m^3}} = \boxed{\SI{0.0181}{m^3/s}} &#10;\end{equation}&#10;\noindent&#10;La vitesse de sortie est :&#10;&#10;\begin{equation}&#10;V_o = \frac{\dot{\forall}}{A_c} = \frac{4\dot{\forall}}{\pi D^2} = \frac{4 \times \SI{0.0181}{m^3/s}}{\pi(\SI{0.07}{m})^2} = \boxed{\SI{4.7}{m/s}}&#10;\end{equation}&#10;\vspace{-1.0cm}&#10;\subsection*{Partie (b)}&#10;\noindent&#10;Le transfert de chaleur du boîtier se fait par convection et rayonnement:&#10;\begin{equation}&#10;q = hA_s(T_s - T_{\infty}) + \varepsilon A_s \sigma(T_s^4 - T_{\text{sur}}^4)&#10;\end{equation}&#10;où $A_s = \pi DL = \pi(\SI{0.07}{m} \times \SI{0.15}{m}) = \SI{0.033}{m^2}$. Par conséquent :&#10;&#10;\begin{align}&#10;q &amp;= \SI{4}{W/m^2 \cdot K} \times \SI{0.033}{m^2} \times (20\si{K}) \\&#10;&amp;\quad + 0.8 \times \SI{0.033}{m^2} \times \SI{5.67e-8}{W/m^2 \cdot K^4} \times (313^4 - 293^4)\si{K^4}&#10;\end{align}&#10;&#10;\begin{equation}&#10;q = \SI{2.64}{W} + \SI{3.33}{W} = \boxed{\SI{5.97}{W}}&#10;\end{equation}&#10;\noindent&#10;La perte de chaleur est beaucoup plus faible que la puissance électrique, et l'hypothèse de perte de chaleur négligeable est justifiée.&#10;&#10;\section*{COMMENTAIRES}&#10;\noindent&#10;Bien que le débit massique soit invariant, le débit volumique augmente parce que l'air est chauffé lors de son passage à travers le sèche-cheveux, provoquant une réduction de la densité. Cependant, pour l'augmentation de température prescrite, le changement de $\rho$, et donc l'effet sur $\dot{V}$, est faible.&#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638481" y="176147"/>
            <a:ext cx="11326623" cy="8243660"/>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9</a:t>
            </a:fld>
            <a:endParaRPr lang="fr-FR"/>
          </a:p>
        </p:txBody>
      </p:sp>
      <p:sp>
        <p:nvSpPr>
          <p:cNvPr id="5" name="ZoneTexte 4"/>
          <p:cNvSpPr txBox="1"/>
          <p:nvPr/>
        </p:nvSpPr>
        <p:spPr>
          <a:xfrm>
            <a:off x="10778215" y="8792"/>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4286004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 Couleurs personnalisées&#10;\definecolor{solarblue}{RGB}{0,102,204}&#10;\definecolor{solarorange}{RGB}{255,102,0}&#10;&#10;\begin{document}&#10;&#10;\section*{Exercice 1-106 : capteur Solaire Plan à Plaque Plate (Çengel et al)}&#10;&#10;Un capteur solaire plan est utilisé pour chauffer l'eau en faisant circuler l'eau dans des tubes attachés à l'arrière d'une plaque absorbante mince. La plaque absorbante a une surface de 2~m$^2$ avec une émissivité et une absorptivité de 0.9. La température de surface de l'absorbeur est de 35°C, et le rayonnement solaire incident sur l'absorbeur est de 500~W/m$^2$ avec une température ambiante de 0°C. Le coefficient de transfert thermique par convection à la surface de l'absorbeur est de 5~W/m$^2$·K, tandis que la température ambiante est de 25°C.&#10;&#10;{Question :} si le débit d'eau est de 5~g/s avec une chaleur spécifique de 4.2~kJ/kg·K, déterminer l'élévation de température de l'eau. Quelle hypothèse simplificatrice faites-vous concernant l'isolant? Critiquer le &quot;design&quot; du dispositif.&#10;&#10;\subsubsection*{Données du Problème}&#10;&#10;\begin{itemize}[label=\textcolor{solarorange}{$\bullet$}]&#10;    \item Surface de l'absorbeur : $A = 2$~m$^2$&#10;    \item Émissivité et absorptivité : $\varepsilon = \alpha = 0.9$&#10;    \item Température de l'absorbeur : $T_s = 35$°C $= 308$~K&#10;    \item Rayonnement solaire incident : $G = 500$~W/m$^2$&#10;    \item Températures ambiante et env. : $T_\infty = T_{sur} = 25$°C $= 298$~K&#10;    \item Coefficient de convection : $h = 5$~W/m$^2$·K&#10;    \item Débit d'eau : $\dot{m} = 5$~g/s $= 0.005$~kg/s&#10;    \item Chaleur spécifique de l'eau : $c_p = 4.2$~kJ/kg·K $= 4200$~J/kg·K&#10;    \item Constante de Stefan-Boltzmann : $\sigma = 5.67 \times 10^{-8}$~W/m$^2$·K$^4$&#10;\end{itemize}&#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04366" y="272855"/>
            <a:ext cx="11330735" cy="6538970"/>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10</a:t>
            </a:fld>
            <a:endParaRPr lang="fr-FR"/>
          </a:p>
        </p:txBody>
      </p:sp>
      <p:grpSp>
        <p:nvGrpSpPr>
          <p:cNvPr id="18" name="Groupe 17"/>
          <p:cNvGrpSpPr/>
          <p:nvPr/>
        </p:nvGrpSpPr>
        <p:grpSpPr>
          <a:xfrm>
            <a:off x="7169604" y="3026846"/>
            <a:ext cx="4912216" cy="2143031"/>
            <a:chOff x="6416489" y="2743849"/>
            <a:chExt cx="5621882" cy="2452633"/>
          </a:xfrm>
        </p:grpSpPr>
        <p:pic>
          <p:nvPicPr>
            <p:cNvPr id="13" name="Image 12"/>
            <p:cNvPicPr>
              <a:picLocks noChangeAspect="1"/>
            </p:cNvPicPr>
            <p:nvPr/>
          </p:nvPicPr>
          <p:blipFill>
            <a:blip r:embed="rId6"/>
            <a:stretch>
              <a:fillRect/>
            </a:stretch>
          </p:blipFill>
          <p:spPr>
            <a:xfrm>
              <a:off x="6416489" y="2743849"/>
              <a:ext cx="5552136" cy="1292765"/>
            </a:xfrm>
            <a:prstGeom prst="rect">
              <a:avLst/>
            </a:prstGeom>
          </p:spPr>
        </p:pic>
        <p:pic>
          <p:nvPicPr>
            <p:cNvPr id="12" name="Image 11"/>
            <p:cNvPicPr>
              <a:picLocks noChangeAspect="1"/>
            </p:cNvPicPr>
            <p:nvPr/>
          </p:nvPicPr>
          <p:blipFill>
            <a:blip r:embed="rId7"/>
            <a:stretch>
              <a:fillRect/>
            </a:stretch>
          </p:blipFill>
          <p:spPr>
            <a:xfrm>
              <a:off x="6589599" y="3123662"/>
              <a:ext cx="5448772" cy="2072820"/>
            </a:xfrm>
            <a:prstGeom prst="rect">
              <a:avLst/>
            </a:prstGeom>
          </p:spPr>
        </p:pic>
        <p:pic>
          <p:nvPicPr>
            <p:cNvPr id="16" name="Image 15" descr="\documentclass{article}&#10;\usepackage{amsmath}&#10;\pagestyle{empty}&#10;\begin{document}&#10;&#10;$T_{sur} = T_a = 25^\circ C$&#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6686314" y="3292174"/>
              <a:ext cx="1780114" cy="196114"/>
            </a:xfrm>
            <a:prstGeom prst="rect">
              <a:avLst/>
            </a:prstGeom>
            <a:solidFill>
              <a:srgbClr val="FFFFFF"/>
            </a:solidFill>
          </p:spPr>
        </p:pic>
        <p:pic>
          <p:nvPicPr>
            <p:cNvPr id="17" name="Image 16" descr="\documentclass{article}&#10;\usepackage{amsmath}&#10;\pagestyle{empty}&#10;\begin{document}&#10;&#10;$q_{sol}$&#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953193" y="3659994"/>
              <a:ext cx="352000" cy="160000"/>
            </a:xfrm>
            <a:prstGeom prst="rect">
              <a:avLst/>
            </a:prstGeom>
            <a:solidFill>
              <a:srgbClr val="FFFFFF"/>
            </a:solidFill>
          </p:spPr>
        </p:pic>
      </p:grpSp>
    </p:spTree>
    <p:extLst>
      <p:ext uri="{BB962C8B-B14F-4D97-AF65-F5344CB8AC3E}">
        <p14:creationId xmlns:p14="http://schemas.microsoft.com/office/powerpoint/2010/main" val="29830362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documentclass{article}&#10;\usepackage[utf8]{inputenc}&#10;\usepackage[french]{babel}&#10;\usepackage[T1]{fontenc}&#10;\usepackage{amsmath}&#10;\usepackage{amssymb}&#10;\usepackage{amsfonts}&#10;\usepackage{xcolor}&#10;\usepackage{siunitx}&#10;\usepackage[paperwidth=18cm]{geometry}&#10;&#10;\usepackage{graphicx}&#10;\usepackage{xcolor}&#10;\usepackage{tikz}&#10;\usepackage{enumitem}&#10;&#10;\pagestyle{empty}&#10;&#10;% Couleurs personnalisées&#10;\definecolor{solarblue}{RGB}{0,102,204}&#10;\definecolor{solarorange}{RGB}{255,102,0}&#10;&#10;\begin{document}&#10;&#10;\subsection*{Données}&#10;\vspace{-0.5em}&#10;\begin{itemize}&#10;\setlength\itemsep{0em}&#10;\item $A = 2$~m$^2$, $\alpha = \varepsilon = 0.9$, $G = 500$~W/m$^2$&#10;\item $T_s = 35^\circ$C, $T_\infty = 25^\circ$C&#10;\item $h = 5$~W/m$^2\cdot$K, $\sigma = 5.67 \cdot 10^{-8}$~W/m$^2$·K$^4$&#10;\item $\dot{m} = 0.005$~kg/s, $c_p = 4200$~J/kg·K&#10;\end{itemize}&#10;&#10;\subsection*{Bilan Énergétique}&#10;&#10;\textbf{Absorption solaire} : &#10;\[&#10;Q_{\text{sol}} = \alpha G A = 0.9 \cdot 500 \cdot 2 = \textbf{900~W}&#10;\]&#10;&#10;\textbf{Pertes par convection} :&#10;\[&#10;Q_{\text{conv}} = h A (T_s - T_\infty) = 5 \cdot 2 \cdot 10 = \textbf{100~W}&#10;\]&#10;&#10;\textbf{Pertes par rayonnement} :&#10;\[&#10;Q_{\text{ray}} = \varepsilon \sigma A (T_s^4 - T_{sur}^4) \approx \textbf{112~W}&#10;\]&#10;&#10;\textbf{Énergie nette} :&#10;\[&#10;Q_{\text{net}} = 900 - 100 - 112 = \textbf{688~W}&#10;\]&#10;&#10;\textbf{Élévation de température} :&#10;\[&#10;\Delta T = \frac{Q_{\text{net}}}{\dot{m} c_p} = \frac{688}{0.005 \cdot 4200} \approx \boxed{32.8^\circ\text{C}}&#10;\]&#10;&#10;&#10;&#10;\end{document}&#10;"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75029" y="96962"/>
            <a:ext cx="5530819" cy="6509713"/>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11</a:t>
            </a:fld>
            <a:endParaRPr lang="fr-FR"/>
          </a:p>
        </p:txBody>
      </p:sp>
      <p:pic>
        <p:nvPicPr>
          <p:cNvPr id="22" name="Image 21" descr="\documentclass{article}&#10;\usepackage[utf8]{inputenc}&#10;\usepackage[french]{babel}&#10;\usepackage[T1]{fontenc}&#10;\usepackage{amsmath}&#10;\usepackage{amssymb}&#10;\usepackage{amsfonts}&#10;\usepackage{xcolor}&#10;\usepackage{siunitx}&#10;\usepackage[paperwidth=12cm]{geometry}&#10;\usepackage[utf8]{inputenc}&#10;\usepackage[french]{babel}&#10;\usepackage[T1]{fontenc}&#10;\usepackage{geometry}&#10;\usepackage{amsmath}&#10;\usepackage{amsfonts}&#10;\usepackage{amssymb}&#10;\usepackage{graphicx}&#10;\usepackage{xcolor}&#10;\usepackage{tikz}&#10;\usepackage{pgfplots}&#10;\usepackage{float}&#10;&#10;\usepackage{graphicx}&#10;\usepackage{xcolor}&#10;\usepackage{tikz}&#10;\usepackage{enumitem}&#10;&#10;\pagestyle{empty}&#10;&#10;% Couleurs personnalisées&#10;\definecolor{solarblue}{RGB}{0,102,204}&#10;\definecolor{solarorange}{RGB}{255,102,0}&#10;&#10;\begin{document}&#10;&#10;\subsection*{Critiques du dispositif}&#10;&#10;Dans le schéma analysé, les tubes d'eau ne sont en contact avec la plaque absorbante qu'au sommet des tubes circulaires. Cette configuration présente plusieurs problèmes critiques :&#10;\begin{enumerate}&#10;\item Le transfert de chaleur se fait uniquement par ces petites zones de contact, créant un goulot d'étranglement thermique.&#10;\item La chaleur captée par la plaque doit se propager latéralement avant d'atteindre les tubes, ce qui crée des gradients de température importants et des pertes thermiques.&#10;\item L'isolant autour des tubes, bien qu'il limite les pertes vers l'extérieur, ne facilite pas le transfert thermique latéral depuis la plaque absorbante vers les zones non directement en contact avec les tubes.&#10;&#10;\end{enumerate}&#10;&#10;\end{document}" title="IguanaTex Bitmap Display"/>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6724458" y="131071"/>
            <a:ext cx="4831085" cy="4398323"/>
          </a:xfrm>
          <a:prstGeom prst="rect">
            <a:avLst/>
          </a:prstGeom>
        </p:spPr>
      </p:pic>
      <p:grpSp>
        <p:nvGrpSpPr>
          <p:cNvPr id="24" name="Groupe 23"/>
          <p:cNvGrpSpPr/>
          <p:nvPr/>
        </p:nvGrpSpPr>
        <p:grpSpPr>
          <a:xfrm>
            <a:off x="7045258" y="5031060"/>
            <a:ext cx="4760958" cy="1008823"/>
            <a:chOff x="2114443" y="1472802"/>
            <a:chExt cx="4760958" cy="1008823"/>
          </a:xfrm>
        </p:grpSpPr>
        <p:pic>
          <p:nvPicPr>
            <p:cNvPr id="25" name="Image 24"/>
            <p:cNvPicPr>
              <a:picLocks noChangeAspect="1"/>
            </p:cNvPicPr>
            <p:nvPr/>
          </p:nvPicPr>
          <p:blipFill rotWithShape="1">
            <a:blip r:embed="rId6"/>
            <a:srcRect t="44300"/>
            <a:stretch/>
          </p:blipFill>
          <p:spPr>
            <a:xfrm>
              <a:off x="2114443" y="1472802"/>
              <a:ext cx="4760958" cy="1008823"/>
            </a:xfrm>
            <a:prstGeom prst="rect">
              <a:avLst/>
            </a:prstGeom>
          </p:spPr>
        </p:pic>
        <p:cxnSp>
          <p:nvCxnSpPr>
            <p:cNvPr id="26" name="Connecteur droit 25"/>
            <p:cNvCxnSpPr/>
            <p:nvPr/>
          </p:nvCxnSpPr>
          <p:spPr>
            <a:xfrm>
              <a:off x="2179320" y="2198370"/>
              <a:ext cx="309753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164080" y="2198370"/>
              <a:ext cx="3097530" cy="213360"/>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p:cNvSpPr txBox="1"/>
            <p:nvPr/>
          </p:nvSpPr>
          <p:spPr>
            <a:xfrm>
              <a:off x="2964180" y="1851476"/>
              <a:ext cx="574196" cy="276999"/>
            </a:xfrm>
            <a:prstGeom prst="rect">
              <a:avLst/>
            </a:prstGeom>
            <a:noFill/>
          </p:spPr>
          <p:txBody>
            <a:bodyPr wrap="none" rtlCol="0">
              <a:spAutoFit/>
            </a:bodyPr>
            <a:lstStyle/>
            <a:p>
              <a:r>
                <a:rPr lang="fr-FR" sz="1200" dirty="0" err="1" smtClean="0">
                  <a:latin typeface="Euclid" panose="02020503060505020303" pitchFamily="18" charset="0"/>
                </a:rPr>
                <a:t>Metal</a:t>
              </a:r>
              <a:endParaRPr lang="fr-FR" sz="1200" dirty="0">
                <a:latin typeface="Euclid" panose="02020503060505020303" pitchFamily="18" charset="0"/>
              </a:endParaRPr>
            </a:p>
          </p:txBody>
        </p:sp>
      </p:grpSp>
      <p:sp>
        <p:nvSpPr>
          <p:cNvPr id="11" name="ZoneTexte 10"/>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6331766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1954318"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1.4</a:t>
            </a:r>
            <a:endParaRPr lang="fr-FR" sz="2800" dirty="0"/>
          </a:p>
        </p:txBody>
      </p:sp>
      <p:pic>
        <p:nvPicPr>
          <p:cNvPr id="6" name="Image 5"/>
          <p:cNvPicPr>
            <a:picLocks noChangeAspect="1"/>
          </p:cNvPicPr>
          <p:nvPr/>
        </p:nvPicPr>
        <p:blipFill>
          <a:blip r:embed="rId6"/>
          <a:stretch>
            <a:fillRect/>
          </a:stretch>
        </p:blipFill>
        <p:spPr>
          <a:xfrm>
            <a:off x="429370" y="1736847"/>
            <a:ext cx="4122653" cy="2114913"/>
          </a:xfrm>
          <a:prstGeom prst="rect">
            <a:avLst/>
          </a:prstGeom>
        </p:spPr>
      </p:pic>
      <p:pic>
        <p:nvPicPr>
          <p:cNvPr id="12" name="Image 11" descr="\documentclass{article}&#10;\usepackage{amsmath}&#10;\usepackage[paperwidth=16cm]{geometry}&#10;\pagestyle{empty}&#10;\begin{document}&#10;&#10;Dans ce problème, il n'y a pas de composante d'énergie mécanique. Les termes d'énergie pertinents incluent donc le transfert de chaleur par convection et par rayonnement à partir de la surface, la génération d'énergie thermique due à l'effet Joule à l'intérieur du conducteur, et un changement du stockage d'énergie thermique. Puisque nous souhaitons déterminer la vitesse de variation de la température, la première loi (de la thermodynamique) doit être appliquée à un instant donné.&#10;&#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4642445" y="1652960"/>
            <a:ext cx="7249370" cy="1855543"/>
          </a:xfrm>
          <a:prstGeom prst="rect">
            <a:avLst/>
          </a:prstGeom>
        </p:spPr>
      </p:pic>
      <p:pic>
        <p:nvPicPr>
          <p:cNvPr id="14" name="Image 13" descr="\documentclass{article}&#10;\usepackage{amsmath}&#10;\usepackage{enumitem}&#10;\pagestyle{empty}&#10;\begin{document}&#10;&#10;$$&#10;\dot{E}_g - \dot{E}_{\text{out}} = \dot{E}_{\text{st}}&#10;$$&#10;où :&#10;\begin{itemize}[itemsep=0pt, topsep=0pt, parsep=0pt, partopsep=0pt]&#10;  \item \( \dot{E}_g \) est la puissance générée à l’intérieur du système par l’effet Joule ;&#10;  \item \( \dot{E}_{\text{out}} \) est la puissance perdue par le système par convection et rayonnement,&#10;  \item \( \dot{E}_{\text{st}} \) est le taux de variation de l’énergie stockée dans le système.&#10;\end{itemize}&#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4122653" y="3667046"/>
            <a:ext cx="7832227" cy="1509945"/>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12</a:t>
            </a:fld>
            <a:endParaRPr lang="fr-FR"/>
          </a:p>
        </p:txBody>
      </p:sp>
      <p:pic>
        <p:nvPicPr>
          <p:cNvPr id="18" name="Image 17" descr="\documentclass{article}&#10;\usepackage{amsmath}&#10;\usepackage{xcolor}&#10;\usepackage[paperwidth=25cm]{geometry}&#10;\pagestyle{empty}&#10;\begin{document}&#10;&#10;Paramètres: fil de cuivre non isolé \( (\rho = 8960\; \text{kg.m}^{-3}, \ c = 385\; \text{J.kg}^{-1}.\text{K}^{-1}, \ D = 1\,\text{mm},\ \varepsilon = 0.8,\ R'_e = 0.4\,\Omega/\text{m}) \) dans une enceinte de grande taille \( (T_{\text{sur}} = 300\,\text{K}) \), à l’intérieur de laquelle de l’air de refroidissement circule \( (h = 10\,\text{W}/\text{m}^2 . \text{K}^{-1},\ T_\infty = 300\,\text{K}) \).&#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650952" y="5608971"/>
            <a:ext cx="11321143" cy="810514"/>
          </a:xfrm>
          <a:prstGeom prst="rect">
            <a:avLst/>
          </a:prstGeom>
        </p:spPr>
      </p:pic>
      <p:pic>
        <p:nvPicPr>
          <p:cNvPr id="7" name="Image 6" descr="\documentclass{article}&#10;\usepackage{amsmath}&#10;\pagestyle{empty}&#10;\usepackage[paperwidth=21cm]{geometry}&#10;\begin{document}&#10;&#10;Un long cylindre conducteur de diamètre $D$ et de résistance électrique linéique $R'_e$ est initialement en équilibre thermique avec l'air ambiant et son environnement. Cet équilibre est perturbé lorsqu'un courant électrique continu $I$ traverse la tige. &#10;&#10;Calculer la variation de la température du système en fonction du temps pendant le passage du courant.&#10;&#10;\end{document}" title="IguanaTex Bitmap Display"/>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2383688" y="299379"/>
            <a:ext cx="9508127" cy="1267199"/>
          </a:xfrm>
          <a:prstGeom prst="rect">
            <a:avLst/>
          </a:prstGeom>
        </p:spPr>
      </p:pic>
    </p:spTree>
    <p:extLst>
      <p:ext uri="{BB962C8B-B14F-4D97-AF65-F5344CB8AC3E}">
        <p14:creationId xmlns:p14="http://schemas.microsoft.com/office/powerpoint/2010/main" val="41407479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documentclass{article}&#10;\usepackage{amsmath}&#10;\usepackage{xcolor}&#10;\pagestyle{empty}&#10;\begin{document}&#10;&#10;L'exercice suppose implicitement que le nombre de Biot vérifie $Bi = \frac{hD}{k} \ll 1$.&#10;Autrement dit que dans la température dans le cylindre $T$ est proche de celle de surface $T_s$.&#10;La conservation de l'énergie à chaque instant, &#10;$&#10;\dot{E}_g - \dot{E}_{\text{out}} = \dot{E}_{\text{st}}&#10;$&#10;donne&#10;$$&#10;R'_e\; I^2\; \;L - h ({\color{red} T}-T_\infty) \pi D L -\epsilon \sigma ({\color{red} T}^4-T_{sur}^4) \pi D L= &#10;\rho\; c \; \frac{d{\color{red} T}}{dt} \frac{\pi D^2}{4} \;L&#10;$$&#10;où la capacité calorifique $c \equiv c_p \equiv c_v$ dans un solide et dans un liquide incompressible.&#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893392" y="463347"/>
            <a:ext cx="8714668" cy="2768754"/>
          </a:xfrm>
          <a:prstGeom prst="rect">
            <a:avLst/>
          </a:prstGeom>
        </p:spPr>
      </p:pic>
      <p:pic>
        <p:nvPicPr>
          <p:cNvPr id="38" name="Image 37"/>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887303" y="4336448"/>
            <a:ext cx="9336380" cy="1799616"/>
          </a:xfrm>
          <a:prstGeom prst="rect">
            <a:avLst/>
          </a:prstGeom>
        </p:spPr>
      </p:pic>
      <p:pic>
        <p:nvPicPr>
          <p:cNvPr id="4" name="Image 3" descr="\documentclass{article}&#10;\usepackage{amsmath}&#10;\usepackage{xcolor}&#10;\pagestyle{empty}&#10;\begin{document}&#10;&#10;&#10;$$&#10;\frac{d{\color{red} T}}{dt}  =\dfrac{ R'_e\; I^2 - h ({\color{red} T}-T_\infty) \pi D  -\epsilon \sigma ({\color{red} T}^4-T_{sur}^4) \pi D}{\rho\; c \; \frac{\pi D^2}{4}}&#10;$$&#10;\end{document}" title="IguanaTex Bitmap Display"/>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1769359" y="3585688"/>
            <a:ext cx="5415622" cy="673523"/>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13</a:t>
            </a:fld>
            <a:endParaRPr lang="fr-FR"/>
          </a:p>
        </p:txBody>
      </p:sp>
      <p:sp>
        <p:nvSpPr>
          <p:cNvPr id="6" name="ZoneTexte 5"/>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8591273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ZoneTexte 14"/>
          <p:cNvSpPr txBox="1"/>
          <p:nvPr/>
        </p:nvSpPr>
        <p:spPr>
          <a:xfrm>
            <a:off x="432761" y="324232"/>
            <a:ext cx="8533105" cy="6124754"/>
          </a:xfrm>
          <a:prstGeom prst="rect">
            <a:avLst/>
          </a:prstGeom>
          <a:noFill/>
        </p:spPr>
        <p:txBody>
          <a:bodyPr wrap="none" rtlCol="0">
            <a:spAutoFit/>
          </a:bodyPr>
          <a:lstStyle/>
          <a:p>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numpy</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as</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np</a:t>
            </a:r>
            <a:endParaRPr lang="fr-FR" sz="1400" dirty="0">
              <a:solidFill>
                <a:srgbClr val="000000"/>
              </a:solidFill>
              <a:latin typeface="Consolas" panose="020B0609020204030204" pitchFamily="49" charset="0"/>
            </a:endParaRPr>
          </a:p>
          <a:p>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matplotlib</a:t>
            </a:r>
            <a:r>
              <a:rPr lang="fr-FR" sz="1400" dirty="0" err="1">
                <a:solidFill>
                  <a:srgbClr val="000000"/>
                </a:solidFill>
                <a:latin typeface="Consolas" panose="020B0609020204030204" pitchFamily="49" charset="0"/>
              </a:rPr>
              <a:t>.</a:t>
            </a:r>
            <a:r>
              <a:rPr lang="fr-FR" sz="1400" dirty="0" err="1">
                <a:solidFill>
                  <a:srgbClr val="267F99"/>
                </a:solidFill>
                <a:latin typeface="Consolas" panose="020B0609020204030204" pitchFamily="49" charset="0"/>
              </a:rPr>
              <a:t>pyplot</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as</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plt</a:t>
            </a:r>
            <a:endParaRPr lang="fr-FR" sz="1400" dirty="0">
              <a:solidFill>
                <a:srgbClr val="000000"/>
              </a:solidFill>
              <a:latin typeface="Consolas" panose="020B0609020204030204" pitchFamily="49" charset="0"/>
            </a:endParaRPr>
          </a:p>
          <a:p>
            <a:r>
              <a:rPr lang="fr-FR" sz="1400" dirty="0" err="1">
                <a:solidFill>
                  <a:srgbClr val="AF00DB"/>
                </a:solidFill>
                <a:latin typeface="Consolas" panose="020B0609020204030204" pitchFamily="49" charset="0"/>
              </a:rPr>
              <a:t>from</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scipy</a:t>
            </a:r>
            <a:r>
              <a:rPr lang="fr-FR" sz="1400" dirty="0" err="1">
                <a:solidFill>
                  <a:srgbClr val="000000"/>
                </a:solidFill>
                <a:latin typeface="Consolas" panose="020B0609020204030204" pitchFamily="49" charset="0"/>
              </a:rPr>
              <a:t>.</a:t>
            </a:r>
            <a:r>
              <a:rPr lang="fr-FR" sz="1400" dirty="0" err="1">
                <a:solidFill>
                  <a:srgbClr val="267F99"/>
                </a:solidFill>
                <a:latin typeface="Consolas" panose="020B0609020204030204" pitchFamily="49" charset="0"/>
              </a:rPr>
              <a:t>integrate</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solve_ivp</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8000"/>
                </a:solidFill>
                <a:latin typeface="Consolas" panose="020B0609020204030204" pitchFamily="49" charset="0"/>
              </a:rPr>
              <a:t># Paramètres physiques pour le cuivre</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rho</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8960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kg/m³</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c</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385</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J/(</a:t>
            </a:r>
            <a:r>
              <a:rPr lang="fr-FR" sz="1400" dirty="0" err="1">
                <a:solidFill>
                  <a:srgbClr val="008000"/>
                </a:solidFill>
                <a:latin typeface="Consolas" panose="020B0609020204030204" pitchFamily="49" charset="0"/>
              </a:rPr>
              <a:t>kg·K</a:t>
            </a:r>
            <a:r>
              <a:rPr lang="fr-FR" sz="1400" dirty="0">
                <a:solidFill>
                  <a:srgbClr val="008000"/>
                </a:solidFill>
                <a:latin typeface="Consolas" panose="020B0609020204030204" pitchFamily="49" charset="0"/>
              </a:rPr>
              <a:t>)</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8000"/>
                </a:solidFill>
                <a:latin typeface="Consolas" panose="020B0609020204030204" pitchFamily="49" charset="0"/>
              </a:rPr>
              <a:t># Paramètres du problème</a:t>
            </a:r>
            <a:endParaRPr lang="fr-FR" sz="1400" dirty="0">
              <a:solidFill>
                <a:srgbClr val="000000"/>
              </a:solidFill>
              <a:latin typeface="Consolas" panose="020B0609020204030204" pitchFamily="49" charset="0"/>
            </a:endParaRPr>
          </a:p>
          <a:p>
            <a:r>
              <a:rPr lang="fr-FR" sz="1400" dirty="0">
                <a:solidFill>
                  <a:srgbClr val="0070C1"/>
                </a:solidFill>
                <a:latin typeface="Consolas" panose="020B0609020204030204" pitchFamily="49" charset="0"/>
              </a:rPr>
              <a:t>D</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1e-3</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m</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Re</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0.4</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a:t>
            </a:r>
            <a:r>
              <a:rPr lang="el-GR" sz="1400" dirty="0">
                <a:solidFill>
                  <a:srgbClr val="008000"/>
                </a:solidFill>
                <a:latin typeface="Consolas" panose="020B0609020204030204" pitchFamily="49" charset="0"/>
              </a:rPr>
              <a:t>Ω/</a:t>
            </a:r>
            <a:r>
              <a:rPr lang="fr-FR" sz="1400" dirty="0">
                <a:solidFill>
                  <a:srgbClr val="008000"/>
                </a:solidFill>
                <a:latin typeface="Consolas" panose="020B0609020204030204" pitchFamily="49" charset="0"/>
              </a:rPr>
              <a:t>m</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300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K</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Tinf</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300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K</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100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W/(m²·K)</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epsilon</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0.8</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sigma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5.67e-8</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W/(m²·K⁴)</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8000"/>
                </a:solidFill>
                <a:latin typeface="Consolas" panose="020B0609020204030204" pitchFamily="49" charset="0"/>
              </a:rPr>
              <a:t># Courant électrique</a:t>
            </a:r>
            <a:endParaRPr lang="fr-FR" sz="1400" dirty="0">
              <a:solidFill>
                <a:srgbClr val="000000"/>
              </a:solidFill>
              <a:latin typeface="Consolas" panose="020B0609020204030204" pitchFamily="49" charset="0"/>
            </a:endParaRPr>
          </a:p>
          <a:p>
            <a:r>
              <a:rPr lang="fr-FR" sz="1400" dirty="0">
                <a:solidFill>
                  <a:srgbClr val="0070C1"/>
                </a:solidFill>
                <a:latin typeface="Consolas" panose="020B0609020204030204" pitchFamily="49" charset="0"/>
              </a:rPr>
              <a:t>I</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10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A</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00FF"/>
                </a:solidFill>
                <a:latin typeface="Consolas" panose="020B0609020204030204" pitchFamily="49" charset="0"/>
              </a:rPr>
              <a:t>def</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dT_dt</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smtClean="0">
                <a:solidFill>
                  <a:srgbClr val="001080"/>
                </a:solidFill>
                <a:latin typeface="Consolas" panose="020B0609020204030204" pitchFamily="49" charset="0"/>
              </a:rPr>
              <a:t>Tval</a:t>
            </a:r>
            <a:r>
              <a:rPr lang="fr-FR" sz="1400" dirty="0" smtClean="0">
                <a:solidFill>
                  <a:srgbClr val="000000"/>
                </a:solidFill>
                <a:latin typeface="Consolas" panose="020B0609020204030204" pitchFamily="49" charset="0"/>
              </a:rPr>
              <a:t> </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T</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0</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terme_joule</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Re</a:t>
            </a:r>
            <a:r>
              <a:rPr lang="fr-FR" sz="1400" dirty="0">
                <a:solidFill>
                  <a:srgbClr val="000000"/>
                </a:solidFill>
                <a:latin typeface="Consolas" panose="020B0609020204030204" pitchFamily="49" charset="0"/>
              </a:rPr>
              <a:t> * </a:t>
            </a:r>
            <a:r>
              <a:rPr lang="fr-FR" sz="1400" dirty="0">
                <a:solidFill>
                  <a:srgbClr val="0070C1"/>
                </a:solidFill>
                <a:latin typeface="Consolas" panose="020B0609020204030204" pitchFamily="49" charset="0"/>
              </a:rPr>
              <a:t>I</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terme_convection</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 * (</a:t>
            </a:r>
            <a:r>
              <a:rPr lang="fr-FR" sz="1400" dirty="0" err="1" smtClean="0">
                <a:solidFill>
                  <a:srgbClr val="001080"/>
                </a:solidFill>
                <a:latin typeface="Consolas" panose="020B0609020204030204" pitchFamily="49" charset="0"/>
              </a:rPr>
              <a:t>Tval</a:t>
            </a:r>
            <a:r>
              <a:rPr lang="fr-FR" sz="1400" dirty="0" smtClean="0">
                <a:solidFill>
                  <a:srgbClr val="000000"/>
                </a:solidFill>
                <a:latin typeface="Consolas" panose="020B0609020204030204" pitchFamily="49" charset="0"/>
              </a:rPr>
              <a:t> </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Tinf</a:t>
            </a:r>
            <a:r>
              <a:rPr lang="fr-FR" sz="1400" dirty="0">
                <a:solidFill>
                  <a:srgbClr val="000000"/>
                </a:solidFill>
                <a:latin typeface="Consolas" panose="020B0609020204030204" pitchFamily="49" charset="0"/>
              </a:rPr>
              <a:t>) * </a:t>
            </a:r>
            <a:r>
              <a:rPr lang="fr-FR" sz="1400" dirty="0" err="1">
                <a:solidFill>
                  <a:srgbClr val="267F99"/>
                </a:solidFill>
                <a:latin typeface="Consolas" panose="020B0609020204030204" pitchFamily="49" charset="0"/>
              </a:rPr>
              <a:t>np</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pi</a:t>
            </a:r>
            <a:r>
              <a:rPr lang="fr-FR" sz="1400" dirty="0">
                <a:solidFill>
                  <a:srgbClr val="000000"/>
                </a:solidFill>
                <a:latin typeface="Consolas" panose="020B0609020204030204" pitchFamily="49" charset="0"/>
              </a:rPr>
              <a:t> * </a:t>
            </a:r>
            <a:r>
              <a:rPr lang="fr-FR" sz="1400" dirty="0">
                <a:solidFill>
                  <a:srgbClr val="0070C1"/>
                </a:solidFill>
                <a:latin typeface="Consolas" panose="020B0609020204030204" pitchFamily="49" charset="0"/>
              </a:rPr>
              <a:t>D</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terme_rayonnement</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epsilon</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sigma</a:t>
            </a:r>
            <a:r>
              <a:rPr lang="fr-FR" sz="1400" dirty="0">
                <a:solidFill>
                  <a:srgbClr val="000000"/>
                </a:solidFill>
                <a:latin typeface="Consolas" panose="020B0609020204030204" pitchFamily="49" charset="0"/>
              </a:rPr>
              <a:t> * </a:t>
            </a:r>
            <a:r>
              <a:rPr lang="fr-FR" sz="1400" dirty="0" smtClean="0">
                <a:solidFill>
                  <a:srgbClr val="000000"/>
                </a:solidFill>
                <a:latin typeface="Consolas" panose="020B0609020204030204" pitchFamily="49" charset="0"/>
              </a:rPr>
              <a:t>(</a:t>
            </a:r>
            <a:r>
              <a:rPr lang="fr-FR" sz="1400" dirty="0" err="1" smtClean="0">
                <a:solidFill>
                  <a:srgbClr val="001080"/>
                </a:solidFill>
                <a:latin typeface="Consolas" panose="020B0609020204030204" pitchFamily="49" charset="0"/>
              </a:rPr>
              <a:t>Tval</a:t>
            </a:r>
            <a:r>
              <a:rPr lang="fr-FR" sz="1400" dirty="0" smtClean="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4</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4</a:t>
            </a:r>
            <a:r>
              <a:rPr lang="fr-FR" sz="1400" dirty="0">
                <a:solidFill>
                  <a:srgbClr val="000000"/>
                </a:solidFill>
                <a:latin typeface="Consolas" panose="020B0609020204030204" pitchFamily="49" charset="0"/>
              </a:rPr>
              <a:t>) * </a:t>
            </a:r>
            <a:r>
              <a:rPr lang="fr-FR" sz="1400" dirty="0" err="1">
                <a:solidFill>
                  <a:srgbClr val="267F99"/>
                </a:solidFill>
                <a:latin typeface="Consolas" panose="020B0609020204030204" pitchFamily="49" charset="0"/>
              </a:rPr>
              <a:t>np</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pi</a:t>
            </a:r>
            <a:r>
              <a:rPr lang="fr-FR" sz="1400" dirty="0">
                <a:solidFill>
                  <a:srgbClr val="000000"/>
                </a:solidFill>
                <a:latin typeface="Consolas" panose="020B0609020204030204" pitchFamily="49" charset="0"/>
              </a:rPr>
              <a:t> * </a:t>
            </a:r>
            <a:r>
              <a:rPr lang="fr-FR" sz="1400" dirty="0">
                <a:solidFill>
                  <a:srgbClr val="0070C1"/>
                </a:solidFill>
                <a:latin typeface="Consolas" panose="020B0609020204030204" pitchFamily="49" charset="0"/>
              </a:rPr>
              <a:t>D</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capacite_thermique</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rho</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c</a:t>
            </a:r>
            <a:r>
              <a:rPr lang="fr-FR" sz="1400" dirty="0">
                <a:solidFill>
                  <a:srgbClr val="000000"/>
                </a:solidFill>
                <a:latin typeface="Consolas" panose="020B0609020204030204" pitchFamily="49" charset="0"/>
              </a:rPr>
              <a:t> * (</a:t>
            </a:r>
            <a:r>
              <a:rPr lang="fr-FR" sz="1400" dirty="0" err="1">
                <a:solidFill>
                  <a:srgbClr val="267F99"/>
                </a:solidFill>
                <a:latin typeface="Consolas" panose="020B0609020204030204" pitchFamily="49" charset="0"/>
              </a:rPr>
              <a:t>np</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pi</a:t>
            </a:r>
            <a:r>
              <a:rPr lang="fr-FR" sz="1400" dirty="0">
                <a:solidFill>
                  <a:srgbClr val="000000"/>
                </a:solidFill>
                <a:latin typeface="Consolas" panose="020B0609020204030204" pitchFamily="49" charset="0"/>
              </a:rPr>
              <a:t> * </a:t>
            </a:r>
            <a:r>
              <a:rPr lang="fr-FR" sz="1400" dirty="0">
                <a:solidFill>
                  <a:srgbClr val="0070C1"/>
                </a:solidFill>
                <a:latin typeface="Consolas" panose="020B0609020204030204" pitchFamily="49" charset="0"/>
              </a:rPr>
              <a:t>D</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4</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dTdt</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terme_joule</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terme_convection</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terme_rayonnement</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capacite_thermique</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return</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dTdt</a:t>
            </a:r>
            <a:r>
              <a:rPr lang="fr-FR" sz="1400" dirty="0">
                <a:solidFill>
                  <a:srgbClr val="000000"/>
                </a:solidFill>
                <a:latin typeface="Consolas" panose="020B0609020204030204" pitchFamily="49" charset="0"/>
              </a:rPr>
              <a:t>]</a:t>
            </a:r>
            <a:endParaRPr lang="fr-FR" sz="1400" b="0" dirty="0">
              <a:solidFill>
                <a:srgbClr val="000000"/>
              </a:solidFill>
              <a:effectLst/>
              <a:latin typeface="Consolas" panose="020B0609020204030204" pitchFamily="49" charset="0"/>
            </a:endParaRPr>
          </a:p>
        </p:txBody>
      </p:sp>
      <p:sp>
        <p:nvSpPr>
          <p:cNvPr id="3" name="ZoneTexte 2"/>
          <p:cNvSpPr txBox="1"/>
          <p:nvPr/>
        </p:nvSpPr>
        <p:spPr>
          <a:xfrm>
            <a:off x="5031598" y="377029"/>
            <a:ext cx="7241085" cy="3754874"/>
          </a:xfrm>
          <a:prstGeom prst="rect">
            <a:avLst/>
          </a:prstGeom>
          <a:noFill/>
        </p:spPr>
        <p:txBody>
          <a:bodyPr wrap="none" rtlCol="0">
            <a:spAutoFit/>
          </a:bodyPr>
          <a:lstStyle/>
          <a:p>
            <a:r>
              <a:rPr lang="fr-FR" sz="1400" dirty="0">
                <a:solidFill>
                  <a:srgbClr val="008000"/>
                </a:solidFill>
                <a:latin typeface="Consolas" panose="020B0609020204030204" pitchFamily="49" charset="0"/>
              </a:rPr>
              <a:t># Conditions initiales et temps</a:t>
            </a:r>
            <a:endParaRPr lang="fr-FR" sz="1400" dirty="0">
              <a:solidFill>
                <a:srgbClr val="000000"/>
              </a:solidFill>
              <a:latin typeface="Consolas" panose="020B0609020204030204" pitchFamily="49" charset="0"/>
            </a:endParaRPr>
          </a:p>
          <a:p>
            <a:r>
              <a:rPr lang="fr-FR" sz="1400" dirty="0">
                <a:solidFill>
                  <a:srgbClr val="0070C1"/>
                </a:solidFill>
                <a:latin typeface="Consolas" panose="020B0609020204030204" pitchFamily="49" charset="0"/>
              </a:rPr>
              <a:t>T0</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300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K</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t_span</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100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intervalle de temps</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t_eval</a:t>
            </a:r>
            <a:r>
              <a:rPr lang="fr-FR" sz="1400" dirty="0">
                <a:solidFill>
                  <a:srgbClr val="000000"/>
                </a:solidFill>
                <a:latin typeface="Consolas" panose="020B0609020204030204" pitchFamily="49" charset="0"/>
              </a:rPr>
              <a:t> = </a:t>
            </a:r>
            <a:r>
              <a:rPr lang="fr-FR" sz="1400" dirty="0" err="1">
                <a:solidFill>
                  <a:srgbClr val="267F99"/>
                </a:solidFill>
                <a:latin typeface="Consolas" panose="020B0609020204030204" pitchFamily="49" charset="0"/>
              </a:rPr>
              <a:t>np</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linspace</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t_span</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0</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t_span</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1</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1000</a:t>
            </a:r>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points d'évaluation</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8000"/>
                </a:solidFill>
                <a:latin typeface="Consolas" panose="020B0609020204030204" pitchFamily="49" charset="0"/>
              </a:rPr>
              <a:t># Résolution avec RK45</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solution_rk45</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solve_ivp</a:t>
            </a:r>
            <a:r>
              <a:rPr lang="fr-FR" sz="1400" dirty="0">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dT_dt</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t_span</a:t>
            </a:r>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T0</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t_eval</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t_eval</a:t>
            </a:r>
            <a:r>
              <a:rPr lang="fr-FR" sz="1400" dirty="0">
                <a:solidFill>
                  <a:srgbClr val="000000"/>
                </a:solidFill>
                <a:latin typeface="Consolas" panose="020B0609020204030204" pitchFamily="49" charset="0"/>
              </a:rPr>
              <a:t>, </a:t>
            </a:r>
            <a:endParaRPr lang="fr-FR" sz="1400" dirty="0" smtClean="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err="1" smtClean="0">
                <a:solidFill>
                  <a:srgbClr val="001080"/>
                </a:solidFill>
                <a:latin typeface="Consolas" panose="020B0609020204030204" pitchFamily="49" charset="0"/>
              </a:rPr>
              <a:t>method</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'RK45'</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rtol</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1e-8</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atol</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1e-10</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8000"/>
                </a:solidFill>
                <a:latin typeface="Consolas" panose="020B0609020204030204" pitchFamily="49" charset="0"/>
              </a:rPr>
              <a:t># Tracé de l'évolution de la température avec le temps</a:t>
            </a:r>
            <a:endParaRPr lang="fr-FR" sz="1400" dirty="0">
              <a:solidFill>
                <a:srgbClr val="000000"/>
              </a:solidFill>
              <a:latin typeface="Consolas" panose="020B0609020204030204" pitchFamily="49" charset="0"/>
            </a:endParaRP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figure</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figsize</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10</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6</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plot</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solution_rk45</a:t>
            </a:r>
            <a:r>
              <a:rPr lang="fr-FR" sz="1400" dirty="0">
                <a:solidFill>
                  <a:srgbClr val="000000"/>
                </a:solidFill>
                <a:latin typeface="Consolas" panose="020B0609020204030204" pitchFamily="49" charset="0"/>
              </a:rPr>
              <a:t>.t, </a:t>
            </a:r>
            <a:r>
              <a:rPr lang="fr-FR" sz="1400" dirty="0">
                <a:solidFill>
                  <a:srgbClr val="001080"/>
                </a:solidFill>
                <a:latin typeface="Consolas" panose="020B0609020204030204" pitchFamily="49" charset="0"/>
              </a:rPr>
              <a:t>solution_rk45</a:t>
            </a:r>
            <a:r>
              <a:rPr lang="fr-FR" sz="1400" dirty="0">
                <a:solidFill>
                  <a:srgbClr val="000000"/>
                </a:solidFill>
                <a:latin typeface="Consolas" panose="020B0609020204030204" pitchFamily="49" charset="0"/>
              </a:rPr>
              <a:t>.y[</a:t>
            </a:r>
            <a:r>
              <a:rPr lang="fr-FR" sz="1400" dirty="0">
                <a:solidFill>
                  <a:srgbClr val="098658"/>
                </a:solidFill>
                <a:latin typeface="Consolas" panose="020B0609020204030204" pitchFamily="49" charset="0"/>
              </a:rPr>
              <a:t>0</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273</a:t>
            </a:r>
            <a:r>
              <a:rPr lang="fr-FR" sz="1400" dirty="0">
                <a:solidFill>
                  <a:srgbClr val="000000"/>
                </a:solidFill>
                <a:latin typeface="Consolas" panose="020B0609020204030204" pitchFamily="49" charset="0"/>
              </a:rPr>
              <a:t>, </a:t>
            </a:r>
            <a:r>
              <a:rPr lang="fr-FR" sz="1400" dirty="0">
                <a:solidFill>
                  <a:srgbClr val="A31515"/>
                </a:solidFill>
                <a:latin typeface="Consolas" panose="020B0609020204030204" pitchFamily="49" charset="0"/>
              </a:rPr>
              <a:t>'b-'</a:t>
            </a:r>
            <a:r>
              <a:rPr lang="fr-FR" sz="1400" dirty="0">
                <a:solidFill>
                  <a:srgbClr val="000000"/>
                </a:solidFill>
                <a:latin typeface="Consolas" panose="020B0609020204030204" pitchFamily="49" charset="0"/>
              </a:rPr>
              <a:t>, </a:t>
            </a:r>
            <a:endParaRPr lang="fr-FR" sz="1400" dirty="0" smtClean="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err="1" smtClean="0">
                <a:solidFill>
                  <a:srgbClr val="001080"/>
                </a:solidFill>
                <a:latin typeface="Consolas" panose="020B0609020204030204" pitchFamily="49" charset="0"/>
              </a:rPr>
              <a:t>linewidth</a:t>
            </a:r>
            <a:r>
              <a:rPr lang="fr-FR" sz="1400" dirty="0" smtClean="0">
                <a:solidFill>
                  <a:srgbClr val="000000"/>
                </a:solidFill>
                <a:latin typeface="Consolas" panose="020B0609020204030204" pitchFamily="49" charset="0"/>
              </a:rPr>
              <a:t>=</a:t>
            </a:r>
            <a:r>
              <a:rPr lang="fr-FR" sz="1400" dirty="0" smtClean="0">
                <a:solidFill>
                  <a:srgbClr val="098658"/>
                </a:solidFill>
                <a:latin typeface="Consolas" panose="020B0609020204030204" pitchFamily="49" charset="0"/>
              </a:rPr>
              <a:t>2</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label</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'RK45'</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xlabel</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'Temps (s)'</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ylabel</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'Température (C)'</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title</a:t>
            </a:r>
            <a:r>
              <a:rPr lang="fr-FR" sz="1400" dirty="0">
                <a:solidFill>
                  <a:srgbClr val="000000"/>
                </a:solidFill>
                <a:latin typeface="Consolas" panose="020B0609020204030204" pitchFamily="49" charset="0"/>
              </a:rPr>
              <a:t>(</a:t>
            </a:r>
            <a:r>
              <a:rPr lang="fr-FR" sz="1400" dirty="0" err="1">
                <a:solidFill>
                  <a:srgbClr val="0000FF"/>
                </a:solidFill>
                <a:latin typeface="Consolas" panose="020B0609020204030204" pitchFamily="49" charset="0"/>
              </a:rPr>
              <a:t>f</a:t>
            </a:r>
            <a:r>
              <a:rPr lang="fr-FR" sz="1400" dirty="0" err="1">
                <a:solidFill>
                  <a:srgbClr val="A31515"/>
                </a:solidFill>
                <a:latin typeface="Consolas" panose="020B0609020204030204" pitchFamily="49" charset="0"/>
              </a:rPr>
              <a:t>'Évolution</a:t>
            </a:r>
            <a:r>
              <a:rPr lang="fr-FR" sz="1400" dirty="0">
                <a:solidFill>
                  <a:srgbClr val="A31515"/>
                </a:solidFill>
                <a:latin typeface="Consolas" panose="020B0609020204030204" pitchFamily="49" charset="0"/>
              </a:rPr>
              <a:t> de la température avec le temps I=</a:t>
            </a:r>
            <a:r>
              <a:rPr lang="fr-FR" sz="1400" dirty="0">
                <a:solidFill>
                  <a:srgbClr val="0000FF"/>
                </a:solidFill>
                <a:latin typeface="Consolas" panose="020B0609020204030204" pitchFamily="49" charset="0"/>
              </a:rPr>
              <a:t>{</a:t>
            </a:r>
            <a:r>
              <a:rPr lang="fr-FR" sz="1400" dirty="0">
                <a:solidFill>
                  <a:srgbClr val="0070C1"/>
                </a:solidFill>
                <a:latin typeface="Consolas" panose="020B0609020204030204" pitchFamily="49" charset="0"/>
              </a:rPr>
              <a:t>I</a:t>
            </a:r>
            <a:r>
              <a:rPr lang="fr-FR" sz="1400" dirty="0">
                <a:solidFill>
                  <a:srgbClr val="0000FF"/>
                </a:solidFill>
                <a:latin typeface="Consolas" panose="020B0609020204030204" pitchFamily="49" charset="0"/>
              </a:rPr>
              <a:t>:.2f}</a:t>
            </a:r>
            <a:r>
              <a:rPr lang="fr-FR" sz="1400" dirty="0">
                <a:solidFill>
                  <a:srgbClr val="A31515"/>
                </a:solidFill>
                <a:latin typeface="Consolas" panose="020B0609020204030204" pitchFamily="49" charset="0"/>
              </a:rPr>
              <a:t> A'</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grid</a:t>
            </a:r>
            <a:r>
              <a:rPr lang="fr-FR" sz="1400" dirty="0">
                <a:solidFill>
                  <a:srgbClr val="000000"/>
                </a:solidFill>
                <a:latin typeface="Consolas" panose="020B0609020204030204" pitchFamily="49" charset="0"/>
              </a:rPr>
              <a:t>(</a:t>
            </a:r>
            <a:r>
              <a:rPr lang="fr-FR" sz="1400" dirty="0" err="1">
                <a:solidFill>
                  <a:srgbClr val="0070C1"/>
                </a:solidFill>
                <a:latin typeface="Consolas" panose="020B0609020204030204" pitchFamily="49" charset="0"/>
              </a:rPr>
              <a:t>True</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alpha</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0.3</a:t>
            </a:r>
            <a:r>
              <a:rPr lang="fr-FR" sz="1400" dirty="0">
                <a:solidFill>
                  <a:srgbClr val="000000"/>
                </a:solidFill>
                <a:latin typeface="Consolas" panose="020B0609020204030204" pitchFamily="49" charset="0"/>
              </a:rPr>
              <a:t>)</a:t>
            </a:r>
            <a:endParaRPr lang="fr-FR" sz="1400" b="0" dirty="0">
              <a:solidFill>
                <a:srgbClr val="000000"/>
              </a:solidFill>
              <a:effectLst/>
              <a:latin typeface="Consolas" panose="020B0609020204030204" pitchFamily="49" charset="0"/>
            </a:endParaRPr>
          </a:p>
        </p:txBody>
      </p:sp>
      <p:sp>
        <p:nvSpPr>
          <p:cNvPr id="2" name="Espace réservé du numéro de diapositive 1"/>
          <p:cNvSpPr>
            <a:spLocks noGrp="1"/>
          </p:cNvSpPr>
          <p:nvPr>
            <p:ph type="sldNum" sz="quarter" idx="12"/>
          </p:nvPr>
        </p:nvSpPr>
        <p:spPr/>
        <p:txBody>
          <a:bodyPr/>
          <a:lstStyle/>
          <a:p>
            <a:fld id="{CB13DDC6-9977-4A69-882A-1641CFA73689}" type="slidenum">
              <a:rPr lang="fr-FR" smtClean="0"/>
              <a:t>14</a:t>
            </a:fld>
            <a:endParaRPr lang="fr-FR"/>
          </a:p>
        </p:txBody>
      </p:sp>
      <p:sp>
        <p:nvSpPr>
          <p:cNvPr id="5" name="ZoneTexte 4"/>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6496364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24"/>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20705" y="1785137"/>
            <a:ext cx="6200387" cy="806095"/>
          </a:xfrm>
          <a:prstGeom prst="rect">
            <a:avLst/>
          </a:prstGeom>
        </p:spPr>
      </p:pic>
      <p:pic>
        <p:nvPicPr>
          <p:cNvPr id="29" name="Image 28"/>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320704" y="2966154"/>
            <a:ext cx="5971809" cy="1266286"/>
          </a:xfrm>
          <a:prstGeom prst="rect">
            <a:avLst/>
          </a:prstGeom>
        </p:spPr>
      </p:pic>
      <p:pic>
        <p:nvPicPr>
          <p:cNvPr id="20" name="Image 19"/>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321706" y="4457641"/>
            <a:ext cx="3629720" cy="557714"/>
          </a:xfrm>
          <a:prstGeom prst="rect">
            <a:avLst/>
          </a:prstGeom>
        </p:spPr>
      </p:pic>
      <p:pic>
        <p:nvPicPr>
          <p:cNvPr id="35" name="Image 34"/>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690336" y="5510894"/>
            <a:ext cx="8711619" cy="835048"/>
          </a:xfrm>
          <a:prstGeom prst="rect">
            <a:avLst/>
          </a:prstGeom>
        </p:spPr>
      </p:pic>
      <p:grpSp>
        <p:nvGrpSpPr>
          <p:cNvPr id="33" name="Groupe 32"/>
          <p:cNvGrpSpPr/>
          <p:nvPr/>
        </p:nvGrpSpPr>
        <p:grpSpPr>
          <a:xfrm>
            <a:off x="7613695" y="516305"/>
            <a:ext cx="4096003" cy="2537664"/>
            <a:chOff x="6758561" y="603961"/>
            <a:chExt cx="4834725" cy="2995336"/>
          </a:xfrm>
        </p:grpSpPr>
        <p:pic>
          <p:nvPicPr>
            <p:cNvPr id="31" name="Image 30"/>
            <p:cNvPicPr>
              <a:picLocks noChangeAspect="1"/>
            </p:cNvPicPr>
            <p:nvPr/>
          </p:nvPicPr>
          <p:blipFill>
            <a:blip r:embed="rId11"/>
            <a:stretch>
              <a:fillRect/>
            </a:stretch>
          </p:blipFill>
          <p:spPr>
            <a:xfrm>
              <a:off x="6758561" y="603961"/>
              <a:ext cx="4834725" cy="2995336"/>
            </a:xfrm>
            <a:prstGeom prst="rect">
              <a:avLst/>
            </a:prstGeom>
          </p:spPr>
        </p:pic>
        <p:sp>
          <p:nvSpPr>
            <p:cNvPr id="32" name="ZoneTexte 31"/>
            <p:cNvSpPr txBox="1"/>
            <p:nvPr/>
          </p:nvSpPr>
          <p:spPr>
            <a:xfrm>
              <a:off x="8920805" y="1237595"/>
              <a:ext cx="1817331" cy="363285"/>
            </a:xfrm>
            <a:prstGeom prst="rect">
              <a:avLst/>
            </a:prstGeom>
            <a:noFill/>
          </p:spPr>
          <p:txBody>
            <a:bodyPr wrap="none" rtlCol="0">
              <a:spAutoFit/>
            </a:bodyPr>
            <a:lstStyle/>
            <a:p>
              <a:r>
                <a:rPr lang="fr-FR" sz="1400" dirty="0" smtClean="0">
                  <a:solidFill>
                    <a:srgbClr val="FF0000"/>
                  </a:solidFill>
                </a:rPr>
                <a:t>Sans rayonnement</a:t>
              </a:r>
              <a:endParaRPr lang="fr-FR" sz="1400" dirty="0">
                <a:solidFill>
                  <a:srgbClr val="FF0000"/>
                </a:solidFill>
              </a:endParaRPr>
            </a:p>
          </p:txBody>
        </p:sp>
      </p:grpSp>
      <p:pic>
        <p:nvPicPr>
          <p:cNvPr id="34" name="Image 33"/>
          <p:cNvPicPr>
            <a:picLocks noChangeAspect="1"/>
          </p:cNvPicPr>
          <p:nvPr/>
        </p:nvPicPr>
        <p:blipFill>
          <a:blip r:embed="rId12"/>
          <a:stretch>
            <a:fillRect/>
          </a:stretch>
        </p:blipFill>
        <p:spPr>
          <a:xfrm>
            <a:off x="7613695" y="3053969"/>
            <a:ext cx="3934838" cy="2455788"/>
          </a:xfrm>
          <a:prstGeom prst="rect">
            <a:avLst/>
          </a:prstGeom>
        </p:spPr>
      </p:pic>
      <p:pic>
        <p:nvPicPr>
          <p:cNvPr id="7" name="Image 6"/>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133932" y="370516"/>
            <a:ext cx="8693340" cy="1174856"/>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15</a:t>
            </a:fld>
            <a:endParaRPr lang="fr-FR"/>
          </a:p>
        </p:txBody>
      </p:sp>
      <p:sp>
        <p:nvSpPr>
          <p:cNvPr id="12" name="ZoneTexte 11"/>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42041596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a:off x="2707191" y="3424676"/>
            <a:ext cx="5425910" cy="2568163"/>
          </a:xfrm>
          <a:prstGeom prst="rect">
            <a:avLst/>
          </a:prstGeom>
        </p:spPr>
      </p:pic>
      <p:pic>
        <p:nvPicPr>
          <p:cNvPr id="7" name="Image 6" descr="\documentclass{article}&#10;\usepackage{amsmath}&#10;\usepackage[paperwidth=20cm]{geometry}&#10;\pagestyle{empty}&#10;\begin{document}&#10;&#10;La thermorégulation chez l'être humain permet de maintenir une température interne constante $T_c = 37\,^{\circ}\mathrm{C}$. &#10;&#10;La surface extérieure de la peau est exposée à l'environnement et la surface intérieure se trouve à une température légèrement inférieure à la température centrale, soit $T_i = 35\,^{\circ}\mathrm{C} = 308\,\mathrm{K}$.&#10;&#10;Considérons une personne ayant une couche de peau/graisse d'épaisseur $L=3mm$ et une conductivité thermique effective de $k=0.3W/(m.K)$.&#10;La personne a une surface corporelle de $A=1.8 m^2$ et porte un maillot de bain.&#10;L'émissivité de la peau est $\epsilon=0.95$. On rappelle $\sigma \approx 5.67 \times 10^{-8} \; \mathrm{W \cdot m^{-2} \cdot K^{-4}}.$&#10;&#10;Calculer la température en surface de la peau $T_s$ dans les cas de la figure ci-dessous:&#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707191" y="554741"/>
            <a:ext cx="9058296" cy="2664686"/>
          </a:xfrm>
          <a:prstGeom prst="rect">
            <a:avLst/>
          </a:prstGeom>
        </p:spPr>
      </p:pic>
      <p:sp>
        <p:nvSpPr>
          <p:cNvPr id="8" name="ZoneTexte 7"/>
          <p:cNvSpPr txBox="1"/>
          <p:nvPr/>
        </p:nvSpPr>
        <p:spPr>
          <a:xfrm>
            <a:off x="429370" y="350760"/>
            <a:ext cx="1954318"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1.7</a:t>
            </a:r>
            <a:endParaRPr lang="fr-FR" sz="2800" dirty="0"/>
          </a:p>
        </p:txBody>
      </p:sp>
      <p:sp>
        <p:nvSpPr>
          <p:cNvPr id="2" name="Espace réservé du numéro de diapositive 1"/>
          <p:cNvSpPr>
            <a:spLocks noGrp="1"/>
          </p:cNvSpPr>
          <p:nvPr>
            <p:ph type="sldNum" sz="quarter" idx="12"/>
          </p:nvPr>
        </p:nvSpPr>
        <p:spPr/>
        <p:txBody>
          <a:bodyPr/>
          <a:lstStyle/>
          <a:p>
            <a:fld id="{CB13DDC6-9977-4A69-882A-1641CFA73689}" type="slidenum">
              <a:rPr lang="fr-FR" smtClean="0"/>
              <a:t>16</a:t>
            </a:fld>
            <a:endParaRPr lang="fr-FR"/>
          </a:p>
        </p:txBody>
      </p:sp>
    </p:spTree>
    <p:extLst>
      <p:ext uri="{BB962C8B-B14F-4D97-AF65-F5344CB8AC3E}">
        <p14:creationId xmlns:p14="http://schemas.microsoft.com/office/powerpoint/2010/main" val="20104072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Conservation du flux thermique en surface}&#10;&#10;En surface de la peau, sans source de chaleur surfacique additionnelle (qui serait modélisée par une distribution de Dirac), la conservation du flux thermique impose :&#10;&#10;$$-\rtvector{q}''_{\text{cond}} \cdot \rtvector{n}_{21} - &#10;\rtvector{q}''_{\text{conv}} \cdot \rtvector{n}_{12} - \rtvector{q}''_{\text{rad}} \cdot \rtvector{n}_{12} =0&#10;$$&#10;&#10;ou encore, comme $\rtvector{n}_{21} = -\rtvector{n}_{12}$ : &#10;$$\rtvector{q}''_{\text{cond}} \cdot \rtvector{n}_{12} = &#10;\rtvector{q}''_{\text{conv}} \cdot \rtvector{n}_{12} + \rtvector{q}''_{\text{rad}} \cdot \rtvector{n}_{12} &#10;$$&#10;&#10;avec $$\rtvector{q}''_{\text{cond}} = -k \; \dfrac{\partial T}{\partial x} \; \rtvector{e}_{x} &#10;= +k \dfrac{T_i-T_s}{L} \; \rtvector{e}_{x} \equiv +k \dfrac{T_i-T_s}{L} \; \rtvector{n}_{12} $$ et en remarquant que $\rtvector{n}_{12} \equiv \rtvector{n}_{ext}$, &#10;$$\rtvector{q}''_{\text{conv}} \cdot \rtvector{n}_{12} + \rtvector{q}''_{\text{rad}} \cdot \rtvector{n}_{12} =&#10; h(T_s-T_\infty) + \epsilon \sigma (T_s^4-T_{sur}^4)&#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13811" y="419502"/>
            <a:ext cx="10416010" cy="4193833"/>
          </a:xfrm>
          <a:prstGeom prst="rect">
            <a:avLst/>
          </a:prstGeom>
        </p:spPr>
      </p:pic>
      <p:pic>
        <p:nvPicPr>
          <p:cNvPr id="47" name="Image 46" descr="\documentclass{article}&#10;\usepackage{amsmath}&#10;\usepackage[paperwidth=23cm]{geometry}&#10;\pagestyle{empty}&#10;\begin{document}&#10;&#10;La température en surface $T_s$ est solution d'une&#10;équation polynomiale (non-linéaire) :&#10;$$&#10;+k\frac{T_i-T_s}{L} = h(T_s-T_\infty) + \epsilon \sigma (T_s^4-T_{sur}^4)&#10;$$&#10;&#10;\end{document}" title="IguanaTex Bitmap Display"/>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1114" y="4927972"/>
            <a:ext cx="8497373" cy="944914"/>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17</a:t>
            </a:fld>
            <a:endParaRPr lang="fr-FR"/>
          </a:p>
        </p:txBody>
      </p:sp>
      <p:grpSp>
        <p:nvGrpSpPr>
          <p:cNvPr id="40" name="Groupe 39"/>
          <p:cNvGrpSpPr/>
          <p:nvPr/>
        </p:nvGrpSpPr>
        <p:grpSpPr>
          <a:xfrm>
            <a:off x="9423039" y="1068062"/>
            <a:ext cx="2253715" cy="1644187"/>
            <a:chOff x="9985748" y="1068062"/>
            <a:chExt cx="2253715" cy="1644187"/>
          </a:xfrm>
        </p:grpSpPr>
        <p:cxnSp>
          <p:nvCxnSpPr>
            <p:cNvPr id="16" name="Connecteur droit 15"/>
            <p:cNvCxnSpPr/>
            <p:nvPr/>
          </p:nvCxnSpPr>
          <p:spPr>
            <a:xfrm>
              <a:off x="10700253" y="1191154"/>
              <a:ext cx="0" cy="133643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a:off x="10908939" y="1191153"/>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a:off x="10463462" y="1191152"/>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ZoneTexte 16"/>
            <p:cNvSpPr txBox="1"/>
            <p:nvPr/>
          </p:nvSpPr>
          <p:spPr>
            <a:xfrm>
              <a:off x="10201433" y="1068062"/>
              <a:ext cx="301686" cy="369332"/>
            </a:xfrm>
            <a:prstGeom prst="rect">
              <a:avLst/>
            </a:prstGeom>
            <a:noFill/>
          </p:spPr>
          <p:txBody>
            <a:bodyPr wrap="none" rtlCol="0">
              <a:spAutoFit/>
            </a:bodyPr>
            <a:lstStyle/>
            <a:p>
              <a:r>
                <a:rPr lang="fr-FR" dirty="0" smtClean="0"/>
                <a:t>1</a:t>
              </a:r>
              <a:endParaRPr lang="fr-FR" dirty="0"/>
            </a:p>
          </p:txBody>
        </p:sp>
        <p:sp>
          <p:nvSpPr>
            <p:cNvPr id="24" name="ZoneTexte 23"/>
            <p:cNvSpPr txBox="1"/>
            <p:nvPr/>
          </p:nvSpPr>
          <p:spPr>
            <a:xfrm>
              <a:off x="10887641" y="1068062"/>
              <a:ext cx="301686" cy="369332"/>
            </a:xfrm>
            <a:prstGeom prst="rect">
              <a:avLst/>
            </a:prstGeom>
            <a:noFill/>
          </p:spPr>
          <p:txBody>
            <a:bodyPr wrap="none" rtlCol="0">
              <a:spAutoFit/>
            </a:bodyPr>
            <a:lstStyle/>
            <a:p>
              <a:r>
                <a:rPr lang="fr-FR" dirty="0"/>
                <a:t>2</a:t>
              </a:r>
            </a:p>
          </p:txBody>
        </p:sp>
        <p:cxnSp>
          <p:nvCxnSpPr>
            <p:cNvPr id="19" name="Connecteur droit avec flèche 18"/>
            <p:cNvCxnSpPr/>
            <p:nvPr/>
          </p:nvCxnSpPr>
          <p:spPr>
            <a:xfrm>
              <a:off x="10908939" y="1859367"/>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flipH="1">
              <a:off x="10011417" y="1859367"/>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9" name="Image 38" descr="\documentclass{article}&#10;\usepackage{amsmath}&#10;\pagestyle{empty}&#10;\begin{document}&#10;&#10;$n_{21} \quad \quad \quad n_{12} \equiv n_{ext}$&#10;&#10;&#10;\end{document}" title="IguanaTex Bitmap Display"/>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985748" y="1982457"/>
              <a:ext cx="2253715" cy="156952"/>
            </a:xfrm>
            <a:prstGeom prst="rect">
              <a:avLst/>
            </a:prstGeom>
          </p:spPr>
        </p:pic>
        <p:cxnSp>
          <p:nvCxnSpPr>
            <p:cNvPr id="31" name="Connecteur droit avec flèche 30"/>
            <p:cNvCxnSpPr/>
            <p:nvPr/>
          </p:nvCxnSpPr>
          <p:spPr>
            <a:xfrm>
              <a:off x="10050403" y="2603922"/>
              <a:ext cx="135634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ZoneTexte 31"/>
            <p:cNvSpPr txBox="1"/>
            <p:nvPr/>
          </p:nvSpPr>
          <p:spPr>
            <a:xfrm>
              <a:off x="11359388" y="2342917"/>
              <a:ext cx="284052" cy="369332"/>
            </a:xfrm>
            <a:prstGeom prst="rect">
              <a:avLst/>
            </a:prstGeom>
            <a:noFill/>
          </p:spPr>
          <p:txBody>
            <a:bodyPr wrap="none" rtlCol="0">
              <a:spAutoFit/>
            </a:bodyPr>
            <a:lstStyle/>
            <a:p>
              <a:r>
                <a:rPr lang="fr-FR" dirty="0" smtClean="0"/>
                <a:t>x</a:t>
              </a:r>
              <a:endParaRPr lang="fr-FR" dirty="0"/>
            </a:p>
          </p:txBody>
        </p:sp>
      </p:grpSp>
      <p:sp>
        <p:nvSpPr>
          <p:cNvPr id="18" name="ZoneTexte 1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2936831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949051" y="649495"/>
            <a:ext cx="5345523" cy="1022475"/>
          </a:xfrm>
          <a:prstGeom prst="rect">
            <a:avLst/>
          </a:prstGeom>
        </p:spPr>
      </p:pic>
      <p:pic>
        <p:nvPicPr>
          <p:cNvPr id="10" name="Image 9"/>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949051" y="1958403"/>
            <a:ext cx="5846858" cy="691809"/>
          </a:xfrm>
          <a:prstGeom prst="rect">
            <a:avLst/>
          </a:prstGeom>
        </p:spPr>
      </p:pic>
      <p:graphicFrame>
        <p:nvGraphicFramePr>
          <p:cNvPr id="8" name="Tableau 7"/>
          <p:cNvGraphicFramePr>
            <a:graphicFrameLocks noGrp="1"/>
          </p:cNvGraphicFramePr>
          <p:nvPr>
            <p:extLst/>
          </p:nvPr>
        </p:nvGraphicFramePr>
        <p:xfrm>
          <a:off x="7356475" y="1748047"/>
          <a:ext cx="4273550" cy="1112520"/>
        </p:xfrm>
        <a:graphic>
          <a:graphicData uri="http://schemas.openxmlformats.org/drawingml/2006/table">
            <a:tbl>
              <a:tblPr firstRow="1" bandRow="1">
                <a:tableStyleId>{5C22544A-7EE6-4342-B048-85BDC9FD1C3A}</a:tableStyleId>
              </a:tblPr>
              <a:tblGrid>
                <a:gridCol w="1606550">
                  <a:extLst>
                    <a:ext uri="{9D8B030D-6E8A-4147-A177-3AD203B41FA5}">
                      <a16:colId xmlns:a16="http://schemas.microsoft.com/office/drawing/2014/main" val="1525554094"/>
                    </a:ext>
                  </a:extLst>
                </a:gridCol>
                <a:gridCol w="1166935">
                  <a:extLst>
                    <a:ext uri="{9D8B030D-6E8A-4147-A177-3AD203B41FA5}">
                      <a16:colId xmlns:a16="http://schemas.microsoft.com/office/drawing/2014/main" val="245050873"/>
                    </a:ext>
                  </a:extLst>
                </a:gridCol>
                <a:gridCol w="1500065">
                  <a:extLst>
                    <a:ext uri="{9D8B030D-6E8A-4147-A177-3AD203B41FA5}">
                      <a16:colId xmlns:a16="http://schemas.microsoft.com/office/drawing/2014/main" val="1468185738"/>
                    </a:ext>
                  </a:extLst>
                </a:gridCol>
              </a:tblGrid>
              <a:tr h="370840">
                <a:tc>
                  <a:txBody>
                    <a:bodyPr/>
                    <a:lstStyle/>
                    <a:p>
                      <a:r>
                        <a:rPr lang="fr-FR" baseline="0" dirty="0" smtClean="0"/>
                        <a:t> h</a:t>
                      </a:r>
                      <a:r>
                        <a:rPr lang="fr-FR" dirty="0" smtClean="0"/>
                        <a:t> (W m-2 K-1 )</a:t>
                      </a:r>
                      <a:endParaRPr lang="fr-FR" dirty="0"/>
                    </a:p>
                  </a:txBody>
                  <a:tcPr/>
                </a:tc>
                <a:tc>
                  <a:txBody>
                    <a:bodyPr/>
                    <a:lstStyle/>
                    <a:p>
                      <a:r>
                        <a:rPr lang="fr-FR" dirty="0" err="1" smtClean="0"/>
                        <a:t>Ts</a:t>
                      </a:r>
                      <a:r>
                        <a:rPr lang="fr-FR" dirty="0" smtClean="0"/>
                        <a:t> (K)</a:t>
                      </a:r>
                      <a:endParaRPr lang="fr-FR" dirty="0"/>
                    </a:p>
                  </a:txBody>
                  <a:tcPr/>
                </a:tc>
                <a:tc>
                  <a:txBody>
                    <a:bodyPr/>
                    <a:lstStyle/>
                    <a:p>
                      <a:r>
                        <a:rPr lang="fr-FR" baseline="0" dirty="0" smtClean="0"/>
                        <a:t> q</a:t>
                      </a:r>
                      <a:r>
                        <a:rPr lang="fr-FR" dirty="0" smtClean="0"/>
                        <a:t>(W)</a:t>
                      </a:r>
                      <a:endParaRPr lang="fr-FR" dirty="0"/>
                    </a:p>
                  </a:txBody>
                  <a:tcPr/>
                </a:tc>
                <a:extLst>
                  <a:ext uri="{0D108BD9-81ED-4DB2-BD59-A6C34878D82A}">
                    <a16:rowId xmlns:a16="http://schemas.microsoft.com/office/drawing/2014/main" val="1148870446"/>
                  </a:ext>
                </a:extLst>
              </a:tr>
              <a:tr h="370840">
                <a:tc>
                  <a:txBody>
                    <a:bodyPr/>
                    <a:lstStyle/>
                    <a:p>
                      <a:r>
                        <a:rPr lang="fr-FR" dirty="0" smtClean="0"/>
                        <a:t>2</a:t>
                      </a:r>
                      <a:endParaRPr lang="fr-FR" dirty="0"/>
                    </a:p>
                  </a:txBody>
                  <a:tcPr/>
                </a:tc>
                <a:tc>
                  <a:txBody>
                    <a:bodyPr/>
                    <a:lstStyle/>
                    <a:p>
                      <a:r>
                        <a:rPr lang="fr-FR" dirty="0" smtClean="0"/>
                        <a:t>307.78</a:t>
                      </a:r>
                      <a:endParaRPr lang="fr-FR" dirty="0"/>
                    </a:p>
                  </a:txBody>
                  <a:tcPr/>
                </a:tc>
                <a:tc>
                  <a:txBody>
                    <a:bodyPr/>
                    <a:lstStyle/>
                    <a:p>
                      <a:r>
                        <a:rPr lang="fr-FR" dirty="0" smtClean="0"/>
                        <a:t>39</a:t>
                      </a:r>
                      <a:endParaRPr lang="fr-FR" dirty="0"/>
                    </a:p>
                  </a:txBody>
                  <a:tcPr/>
                </a:tc>
                <a:extLst>
                  <a:ext uri="{0D108BD9-81ED-4DB2-BD59-A6C34878D82A}">
                    <a16:rowId xmlns:a16="http://schemas.microsoft.com/office/drawing/2014/main" val="2057562519"/>
                  </a:ext>
                </a:extLst>
              </a:tr>
              <a:tr h="370840">
                <a:tc>
                  <a:txBody>
                    <a:bodyPr/>
                    <a:lstStyle/>
                    <a:p>
                      <a:r>
                        <a:rPr lang="fr-FR" dirty="0" smtClean="0"/>
                        <a:t>200</a:t>
                      </a:r>
                      <a:endParaRPr lang="fr-FR" dirty="0"/>
                    </a:p>
                  </a:txBody>
                  <a:tcPr/>
                </a:tc>
                <a:tc>
                  <a:txBody>
                    <a:bodyPr/>
                    <a:lstStyle/>
                    <a:p>
                      <a:r>
                        <a:rPr lang="fr-FR" dirty="0" smtClean="0"/>
                        <a:t>300.67</a:t>
                      </a:r>
                      <a:endParaRPr lang="fr-FR" dirty="0"/>
                    </a:p>
                  </a:txBody>
                  <a:tcPr/>
                </a:tc>
                <a:tc>
                  <a:txBody>
                    <a:bodyPr/>
                    <a:lstStyle/>
                    <a:p>
                      <a:r>
                        <a:rPr lang="fr-FR" dirty="0" smtClean="0"/>
                        <a:t>1320</a:t>
                      </a:r>
                      <a:endParaRPr lang="fr-FR" dirty="0"/>
                    </a:p>
                  </a:txBody>
                  <a:tcPr/>
                </a:tc>
                <a:extLst>
                  <a:ext uri="{0D108BD9-81ED-4DB2-BD59-A6C34878D82A}">
                    <a16:rowId xmlns:a16="http://schemas.microsoft.com/office/drawing/2014/main" val="761779339"/>
                  </a:ext>
                </a:extLst>
              </a:tr>
            </a:tbl>
          </a:graphicData>
        </a:graphic>
      </p:graphicFrame>
      <p:pic>
        <p:nvPicPr>
          <p:cNvPr id="16" name="Image 15"/>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780111" y="3643789"/>
            <a:ext cx="8713138" cy="2169902"/>
          </a:xfrm>
          <a:prstGeom prst="rect">
            <a:avLst/>
          </a:prstGeom>
        </p:spPr>
      </p:pic>
      <p:cxnSp>
        <p:nvCxnSpPr>
          <p:cNvPr id="15" name="Connecteur droit 14"/>
          <p:cNvCxnSpPr/>
          <p:nvPr/>
        </p:nvCxnSpPr>
        <p:spPr>
          <a:xfrm>
            <a:off x="0" y="3147000"/>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Espace réservé du numéro de diapositive 1"/>
          <p:cNvSpPr>
            <a:spLocks noGrp="1"/>
          </p:cNvSpPr>
          <p:nvPr>
            <p:ph type="sldNum" sz="quarter" idx="12"/>
          </p:nvPr>
        </p:nvSpPr>
        <p:spPr/>
        <p:txBody>
          <a:bodyPr/>
          <a:lstStyle/>
          <a:p>
            <a:fld id="{CB13DDC6-9977-4A69-882A-1641CFA73689}" type="slidenum">
              <a:rPr lang="fr-FR" smtClean="0"/>
              <a:t>18</a:t>
            </a:fld>
            <a:endParaRPr lang="fr-FR"/>
          </a:p>
        </p:txBody>
      </p:sp>
      <p:sp>
        <p:nvSpPr>
          <p:cNvPr id="9" name="ZoneTexte 8"/>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0642313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141616" y="387835"/>
            <a:ext cx="8318481" cy="1699047"/>
          </a:xfrm>
          <a:prstGeom prst="rect">
            <a:avLst/>
          </a:prstGeom>
        </p:spPr>
      </p:pic>
      <p:sp>
        <p:nvSpPr>
          <p:cNvPr id="15" name="ZoneTexte 14"/>
          <p:cNvSpPr txBox="1"/>
          <p:nvPr/>
        </p:nvSpPr>
        <p:spPr>
          <a:xfrm>
            <a:off x="1053247" y="2069297"/>
            <a:ext cx="5949064" cy="4185761"/>
          </a:xfrm>
          <a:prstGeom prst="rect">
            <a:avLst/>
          </a:prstGeom>
          <a:noFill/>
        </p:spPr>
        <p:txBody>
          <a:bodyPr wrap="none" rtlCol="0">
            <a:spAutoFit/>
          </a:bodyPr>
          <a:lstStyle/>
          <a:p>
            <a:r>
              <a:rPr lang="fr-FR" sz="1400" dirty="0" smtClean="0">
                <a:solidFill>
                  <a:srgbClr val="001080"/>
                </a:solidFill>
                <a:latin typeface="Consolas" panose="020B0609020204030204" pitchFamily="49" charset="0"/>
              </a:rPr>
              <a:t>h</a:t>
            </a:r>
            <a:r>
              <a:rPr lang="fr-FR" sz="1400" dirty="0" smtClean="0">
                <a:solidFill>
                  <a:srgbClr val="000000"/>
                </a:solidFill>
                <a:latin typeface="Consolas" panose="020B0609020204030204" pitchFamily="49" charset="0"/>
              </a:rPr>
              <a:t>=</a:t>
            </a:r>
            <a:r>
              <a:rPr lang="fr-FR" sz="1400" dirty="0" smtClean="0">
                <a:solidFill>
                  <a:srgbClr val="098658"/>
                </a:solidFill>
                <a:latin typeface="Consolas" panose="020B0609020204030204" pitchFamily="49" charset="0"/>
              </a:rPr>
              <a:t>2</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epsilon</a:t>
            </a:r>
            <a:r>
              <a:rPr lang="fr-FR" sz="1400" dirty="0">
                <a:solidFill>
                  <a:srgbClr val="000000"/>
                </a:solidFill>
                <a:latin typeface="Consolas" panose="020B0609020204030204" pitchFamily="49" charset="0"/>
              </a:rPr>
              <a:t> = </a:t>
            </a:r>
            <a:r>
              <a:rPr lang="fr-FR" sz="1400" dirty="0" smtClean="0">
                <a:solidFill>
                  <a:srgbClr val="098658"/>
                </a:solidFill>
                <a:latin typeface="Consolas" panose="020B0609020204030204" pitchFamily="49" charset="0"/>
              </a:rPr>
              <a:t>0.95</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sigma</a:t>
            </a:r>
            <a:r>
              <a:rPr lang="fr-FR" sz="1400" dirty="0">
                <a:solidFill>
                  <a:srgbClr val="000000"/>
                </a:solidFill>
                <a:latin typeface="Consolas" panose="020B0609020204030204" pitchFamily="49" charset="0"/>
              </a:rPr>
              <a:t> = </a:t>
            </a:r>
            <a:r>
              <a:rPr lang="fr-FR" sz="1400" dirty="0" smtClean="0">
                <a:solidFill>
                  <a:srgbClr val="098658"/>
                </a:solidFill>
                <a:latin typeface="Consolas" panose="020B0609020204030204" pitchFamily="49" charset="0"/>
              </a:rPr>
              <a:t>5.670374419e-8</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Ti</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Tinf</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308</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297</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297</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k</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0.3</a:t>
            </a:r>
            <a:endParaRPr lang="fr-FR" sz="1400" dirty="0">
              <a:solidFill>
                <a:srgbClr val="000000"/>
              </a:solidFill>
              <a:latin typeface="Consolas" panose="020B0609020204030204" pitchFamily="49" charset="0"/>
            </a:endParaRPr>
          </a:p>
          <a:p>
            <a:r>
              <a:rPr lang="fr-FR" sz="1400" dirty="0">
                <a:solidFill>
                  <a:srgbClr val="0070C1"/>
                </a:solidFill>
                <a:latin typeface="Consolas" panose="020B0609020204030204" pitchFamily="49" charset="0"/>
              </a:rPr>
              <a:t>L</a:t>
            </a:r>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3e-3</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1.8</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00FF"/>
                </a:solidFill>
                <a:latin typeface="Consolas" panose="020B0609020204030204" pitchFamily="49" charset="0"/>
              </a:rPr>
              <a:t>def</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hr</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return</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epsilon</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sigma</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p>
          <a:p>
            <a:r>
              <a:rPr lang="fr-FR" sz="1400" dirty="0">
                <a:solidFill>
                  <a:srgbClr val="008000"/>
                </a:solidFill>
                <a:latin typeface="Consolas" panose="020B0609020204030204" pitchFamily="49" charset="0"/>
              </a:rPr>
              <a:t># </a:t>
            </a:r>
            <a:r>
              <a:rPr lang="fr-FR" sz="1400" dirty="0" err="1">
                <a:solidFill>
                  <a:srgbClr val="008000"/>
                </a:solidFill>
                <a:latin typeface="Consolas" panose="020B0609020204030204" pitchFamily="49" charset="0"/>
              </a:rPr>
              <a:t>guess</a:t>
            </a:r>
            <a:r>
              <a:rPr lang="fr-FR" sz="1400" dirty="0">
                <a:solidFill>
                  <a:srgbClr val="008000"/>
                </a:solidFill>
                <a:latin typeface="Consolas" panose="020B0609020204030204" pitchFamily="49" charset="0"/>
              </a:rPr>
              <a:t> value for </a:t>
            </a:r>
            <a:r>
              <a:rPr lang="fr-FR" sz="1400" dirty="0" err="1">
                <a:solidFill>
                  <a:srgbClr val="008000"/>
                </a:solidFill>
                <a:latin typeface="Consolas" panose="020B0609020204030204" pitchFamily="49" charset="0"/>
              </a:rPr>
              <a:t>Ts</a:t>
            </a:r>
            <a:r>
              <a:rPr lang="fr-FR" sz="1400" dirty="0">
                <a:solidFill>
                  <a:srgbClr val="008000"/>
                </a:solidFill>
                <a:latin typeface="Consolas" panose="020B0609020204030204" pitchFamily="49" charset="0"/>
              </a:rPr>
              <a:t>    </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Tinf</a:t>
            </a:r>
            <a:endParaRPr lang="fr-FR" sz="1400" dirty="0">
              <a:solidFill>
                <a:srgbClr val="000000"/>
              </a:solidFill>
              <a:latin typeface="Consolas" panose="020B0609020204030204" pitchFamily="49" charset="0"/>
            </a:endParaRPr>
          </a:p>
          <a:p>
            <a:r>
              <a:rPr lang="fr-FR" sz="1400" dirty="0">
                <a:solidFill>
                  <a:srgbClr val="008000"/>
                </a:solidFill>
                <a:latin typeface="Consolas" panose="020B0609020204030204" pitchFamily="49" charset="0"/>
              </a:rPr>
              <a:t># boucle de convergence (point fixe) </a:t>
            </a:r>
            <a:endParaRPr lang="fr-FR" sz="1400" dirty="0">
              <a:solidFill>
                <a:srgbClr val="000000"/>
              </a:solidFill>
              <a:latin typeface="Consolas" panose="020B0609020204030204" pitchFamily="49" charset="0"/>
            </a:endParaRPr>
          </a:p>
          <a:p>
            <a:r>
              <a:rPr lang="fr-FR" sz="1400" dirty="0">
                <a:solidFill>
                  <a:srgbClr val="AF00DB"/>
                </a:solidFill>
                <a:latin typeface="Consolas" panose="020B0609020204030204" pitchFamily="49" charset="0"/>
              </a:rPr>
              <a:t>for</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n</a:t>
            </a:r>
            <a:r>
              <a:rPr lang="fr-FR" sz="1400" dirty="0">
                <a:solidFill>
                  <a:srgbClr val="000000"/>
                </a:solidFill>
                <a:latin typeface="Consolas" panose="020B0609020204030204" pitchFamily="49" charset="0"/>
              </a:rPr>
              <a:t> </a:t>
            </a:r>
            <a:r>
              <a:rPr lang="fr-FR" sz="1400">
                <a:solidFill>
                  <a:srgbClr val="AF00DB"/>
                </a:solidFill>
                <a:latin typeface="Consolas" panose="020B0609020204030204" pitchFamily="49" charset="0"/>
              </a:rPr>
              <a:t>in</a:t>
            </a:r>
            <a:r>
              <a:rPr lang="fr-FR" sz="1400">
                <a:solidFill>
                  <a:srgbClr val="000000"/>
                </a:solidFill>
                <a:latin typeface="Consolas" panose="020B0609020204030204" pitchFamily="49" charset="0"/>
              </a:rPr>
              <a:t> </a:t>
            </a:r>
            <a:r>
              <a:rPr lang="fr-FR" sz="1400" smtClean="0">
                <a:solidFill>
                  <a:srgbClr val="267F99"/>
                </a:solidFill>
                <a:latin typeface="Consolas" panose="020B0609020204030204" pitchFamily="49" charset="0"/>
              </a:rPr>
              <a:t>range</a:t>
            </a:r>
            <a:r>
              <a:rPr lang="fr-FR" sz="1400" smtClean="0">
                <a:solidFill>
                  <a:srgbClr val="000000"/>
                </a:solidFill>
                <a:latin typeface="Consolas" panose="020B0609020204030204" pitchFamily="49" charset="0"/>
              </a:rPr>
              <a:t>(</a:t>
            </a:r>
            <a:r>
              <a:rPr lang="fr-FR" sz="1400" smtClean="0">
                <a:solidFill>
                  <a:srgbClr val="098658"/>
                </a:solidFill>
                <a:latin typeface="Consolas" panose="020B0609020204030204" pitchFamily="49" charset="0"/>
              </a:rPr>
              <a:t>50</a:t>
            </a:r>
            <a:r>
              <a:rPr lang="fr-FR" sz="1400" smtClean="0">
                <a:solidFill>
                  <a:srgbClr val="000000"/>
                </a:solidFill>
                <a:latin typeface="Consolas" panose="020B0609020204030204" pitchFamily="49" charset="0"/>
              </a:rPr>
              <a:t>): </a:t>
            </a:r>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k</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L</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Ti</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Tinf</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hr</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k</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L</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hr</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print</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n</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p>
          <a:p>
            <a:r>
              <a:rPr lang="fr-FR" sz="1400" dirty="0">
                <a:solidFill>
                  <a:srgbClr val="001080"/>
                </a:solidFill>
                <a:latin typeface="Consolas" panose="020B0609020204030204" pitchFamily="49" charset="0"/>
              </a:rPr>
              <a:t>q</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k</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Ti</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L</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A</a:t>
            </a:r>
            <a:endParaRPr lang="fr-FR" sz="1400" dirty="0">
              <a:solidFill>
                <a:srgbClr val="000000"/>
              </a:solidFill>
              <a:latin typeface="Consolas" panose="020B0609020204030204" pitchFamily="49" charset="0"/>
            </a:endParaRPr>
          </a:p>
          <a:p>
            <a:r>
              <a:rPr lang="fr-FR" sz="1400" dirty="0" err="1">
                <a:solidFill>
                  <a:srgbClr val="795E26"/>
                </a:solidFill>
                <a:latin typeface="Consolas" panose="020B0609020204030204" pitchFamily="49" charset="0"/>
              </a:rPr>
              <a:t>print</a:t>
            </a:r>
            <a:r>
              <a:rPr lang="fr-FR" sz="1400" dirty="0">
                <a:solidFill>
                  <a:srgbClr val="000000"/>
                </a:solidFill>
                <a:latin typeface="Consolas" panose="020B0609020204030204" pitchFamily="49" charset="0"/>
              </a:rPr>
              <a:t>(</a:t>
            </a:r>
            <a:r>
              <a:rPr lang="fr-FR" sz="1400" dirty="0" err="1">
                <a:solidFill>
                  <a:srgbClr val="0000FF"/>
                </a:solidFill>
                <a:latin typeface="Consolas" panose="020B0609020204030204" pitchFamily="49" charset="0"/>
              </a:rPr>
              <a:t>f</a:t>
            </a:r>
            <a:r>
              <a:rPr lang="fr-FR" sz="1400" dirty="0" err="1">
                <a:solidFill>
                  <a:srgbClr val="A31515"/>
                </a:solidFill>
                <a:latin typeface="Consolas" panose="020B0609020204030204" pitchFamily="49" charset="0"/>
              </a:rPr>
              <a:t>'Ts</a:t>
            </a:r>
            <a:r>
              <a:rPr lang="fr-FR" sz="1400" dirty="0">
                <a:solidFill>
                  <a:srgbClr val="A31515"/>
                </a:solidFill>
                <a:latin typeface="Consolas" panose="020B0609020204030204" pitchFamily="49" charset="0"/>
              </a:rPr>
              <a:t> = </a:t>
            </a:r>
            <a:r>
              <a:rPr lang="fr-FR" sz="1400" dirty="0">
                <a:solidFill>
                  <a:srgbClr val="0000FF"/>
                </a:solidFill>
                <a:latin typeface="Consolas" panose="020B0609020204030204" pitchFamily="49" charset="0"/>
              </a:rPr>
              <a:t>{</a:t>
            </a:r>
            <a:r>
              <a:rPr lang="fr-FR" sz="1400" dirty="0">
                <a:solidFill>
                  <a:srgbClr val="001080"/>
                </a:solidFill>
                <a:latin typeface="Consolas" panose="020B0609020204030204" pitchFamily="49" charset="0"/>
              </a:rPr>
              <a:t>Ts</a:t>
            </a:r>
            <a:r>
              <a:rPr lang="fr-FR" sz="1400" dirty="0">
                <a:solidFill>
                  <a:srgbClr val="0000FF"/>
                </a:solidFill>
                <a:latin typeface="Consolas" panose="020B0609020204030204" pitchFamily="49" charset="0"/>
              </a:rPr>
              <a:t>:.2f}</a:t>
            </a:r>
            <a:r>
              <a:rPr lang="fr-FR" sz="1400" dirty="0">
                <a:solidFill>
                  <a:srgbClr val="A31515"/>
                </a:solidFill>
                <a:latin typeface="Consolas" panose="020B0609020204030204" pitchFamily="49" charset="0"/>
              </a:rPr>
              <a:t> K et q = </a:t>
            </a:r>
            <a:r>
              <a:rPr lang="fr-FR" sz="1400" dirty="0">
                <a:solidFill>
                  <a:srgbClr val="0000FF"/>
                </a:solidFill>
                <a:latin typeface="Consolas" panose="020B0609020204030204" pitchFamily="49" charset="0"/>
              </a:rPr>
              <a:t>{</a:t>
            </a:r>
            <a:r>
              <a:rPr lang="fr-FR" sz="1400" dirty="0">
                <a:solidFill>
                  <a:srgbClr val="001080"/>
                </a:solidFill>
                <a:latin typeface="Consolas" panose="020B0609020204030204" pitchFamily="49" charset="0"/>
              </a:rPr>
              <a:t>q</a:t>
            </a:r>
            <a:r>
              <a:rPr lang="fr-FR" sz="1400" dirty="0">
                <a:solidFill>
                  <a:srgbClr val="0000FF"/>
                </a:solidFill>
                <a:latin typeface="Consolas" panose="020B0609020204030204" pitchFamily="49" charset="0"/>
              </a:rPr>
              <a:t>:.2f}</a:t>
            </a:r>
            <a:r>
              <a:rPr lang="fr-FR" sz="1400" dirty="0">
                <a:solidFill>
                  <a:srgbClr val="A31515"/>
                </a:solidFill>
                <a:latin typeface="Consolas" panose="020B0609020204030204" pitchFamily="49" charset="0"/>
              </a:rPr>
              <a:t> W'</a:t>
            </a:r>
            <a:r>
              <a:rPr lang="fr-FR" sz="1400" dirty="0">
                <a:solidFill>
                  <a:srgbClr val="000000"/>
                </a:solidFill>
                <a:latin typeface="Consolas" panose="020B0609020204030204" pitchFamily="49" charset="0"/>
              </a:rPr>
              <a:t>)</a:t>
            </a:r>
            <a:endParaRPr lang="fr-FR" sz="1400" b="0" dirty="0">
              <a:solidFill>
                <a:srgbClr val="000000"/>
              </a:solidFill>
              <a:effectLst/>
              <a:latin typeface="Consolas" panose="020B0609020204030204" pitchFamily="49" charset="0"/>
            </a:endParaRPr>
          </a:p>
        </p:txBody>
      </p:sp>
      <p:graphicFrame>
        <p:nvGraphicFramePr>
          <p:cNvPr id="16" name="Tableau 15"/>
          <p:cNvGraphicFramePr>
            <a:graphicFrameLocks noGrp="1"/>
          </p:cNvGraphicFramePr>
          <p:nvPr>
            <p:extLst/>
          </p:nvPr>
        </p:nvGraphicFramePr>
        <p:xfrm>
          <a:off x="7127875" y="2780732"/>
          <a:ext cx="4273550" cy="1381760"/>
        </p:xfrm>
        <a:graphic>
          <a:graphicData uri="http://schemas.openxmlformats.org/drawingml/2006/table">
            <a:tbl>
              <a:tblPr firstRow="1" bandRow="1">
                <a:tableStyleId>{5C22544A-7EE6-4342-B048-85BDC9FD1C3A}</a:tableStyleId>
              </a:tblPr>
              <a:tblGrid>
                <a:gridCol w="1606550">
                  <a:extLst>
                    <a:ext uri="{9D8B030D-6E8A-4147-A177-3AD203B41FA5}">
                      <a16:colId xmlns:a16="http://schemas.microsoft.com/office/drawing/2014/main" val="1525554094"/>
                    </a:ext>
                  </a:extLst>
                </a:gridCol>
                <a:gridCol w="1166935">
                  <a:extLst>
                    <a:ext uri="{9D8B030D-6E8A-4147-A177-3AD203B41FA5}">
                      <a16:colId xmlns:a16="http://schemas.microsoft.com/office/drawing/2014/main" val="245050873"/>
                    </a:ext>
                  </a:extLst>
                </a:gridCol>
                <a:gridCol w="1500065">
                  <a:extLst>
                    <a:ext uri="{9D8B030D-6E8A-4147-A177-3AD203B41FA5}">
                      <a16:colId xmlns:a16="http://schemas.microsoft.com/office/drawing/2014/main" val="1468185738"/>
                    </a:ext>
                  </a:extLst>
                </a:gridCol>
              </a:tblGrid>
              <a:tr h="370840">
                <a:tc>
                  <a:txBody>
                    <a:bodyPr/>
                    <a:lstStyle/>
                    <a:p>
                      <a:r>
                        <a:rPr lang="fr-FR" baseline="0" dirty="0" smtClean="0"/>
                        <a:t> h</a:t>
                      </a:r>
                      <a:r>
                        <a:rPr lang="fr-FR" dirty="0" smtClean="0"/>
                        <a:t> (W m-2 K-1 )</a:t>
                      </a:r>
                      <a:endParaRPr lang="fr-FR" dirty="0"/>
                    </a:p>
                  </a:txBody>
                  <a:tcPr/>
                </a:tc>
                <a:tc>
                  <a:txBody>
                    <a:bodyPr/>
                    <a:lstStyle/>
                    <a:p>
                      <a:r>
                        <a:rPr lang="fr-FR" dirty="0" err="1" smtClean="0"/>
                        <a:t>Ts</a:t>
                      </a:r>
                      <a:r>
                        <a:rPr lang="fr-FR" dirty="0" smtClean="0"/>
                        <a:t> (K)</a:t>
                      </a:r>
                      <a:endParaRPr lang="fr-FR" dirty="0"/>
                    </a:p>
                  </a:txBody>
                  <a:tcPr/>
                </a:tc>
                <a:tc>
                  <a:txBody>
                    <a:bodyPr/>
                    <a:lstStyle/>
                    <a:p>
                      <a:r>
                        <a:rPr lang="fr-FR" baseline="0" dirty="0" smtClean="0"/>
                        <a:t> q</a:t>
                      </a:r>
                      <a:r>
                        <a:rPr lang="fr-FR" dirty="0" smtClean="0"/>
                        <a:t>(W) avec rayonnement</a:t>
                      </a:r>
                      <a:endParaRPr lang="fr-FR" dirty="0"/>
                    </a:p>
                  </a:txBody>
                  <a:tcPr/>
                </a:tc>
                <a:extLst>
                  <a:ext uri="{0D108BD9-81ED-4DB2-BD59-A6C34878D82A}">
                    <a16:rowId xmlns:a16="http://schemas.microsoft.com/office/drawing/2014/main" val="1148870446"/>
                  </a:ext>
                </a:extLst>
              </a:tr>
              <a:tr h="370840">
                <a:tc>
                  <a:txBody>
                    <a:bodyPr/>
                    <a:lstStyle/>
                    <a:p>
                      <a:r>
                        <a:rPr lang="fr-FR" dirty="0" smtClean="0"/>
                        <a:t>2</a:t>
                      </a:r>
                      <a:endParaRPr lang="fr-FR" dirty="0"/>
                    </a:p>
                  </a:txBody>
                  <a:tcPr/>
                </a:tc>
                <a:tc>
                  <a:txBody>
                    <a:bodyPr/>
                    <a:lstStyle/>
                    <a:p>
                      <a:r>
                        <a:rPr lang="fr-FR" dirty="0" smtClean="0"/>
                        <a:t>307.19</a:t>
                      </a:r>
                      <a:endParaRPr lang="fr-FR" dirty="0"/>
                    </a:p>
                  </a:txBody>
                  <a:tcPr/>
                </a:tc>
                <a:tc>
                  <a:txBody>
                    <a:bodyPr/>
                    <a:lstStyle/>
                    <a:p>
                      <a:r>
                        <a:rPr lang="fr-FR" dirty="0" smtClean="0">
                          <a:solidFill>
                            <a:srgbClr val="FF0000"/>
                          </a:solidFill>
                        </a:rPr>
                        <a:t>146</a:t>
                      </a:r>
                      <a:endParaRPr lang="fr-FR" dirty="0">
                        <a:solidFill>
                          <a:srgbClr val="FF0000"/>
                        </a:solidFill>
                      </a:endParaRPr>
                    </a:p>
                  </a:txBody>
                  <a:tcPr/>
                </a:tc>
                <a:extLst>
                  <a:ext uri="{0D108BD9-81ED-4DB2-BD59-A6C34878D82A}">
                    <a16:rowId xmlns:a16="http://schemas.microsoft.com/office/drawing/2014/main" val="2057562519"/>
                  </a:ext>
                </a:extLst>
              </a:tr>
              <a:tr h="370840">
                <a:tc>
                  <a:txBody>
                    <a:bodyPr/>
                    <a:lstStyle/>
                    <a:p>
                      <a:r>
                        <a:rPr lang="fr-FR" dirty="0" smtClean="0"/>
                        <a:t>200</a:t>
                      </a:r>
                      <a:endParaRPr lang="fr-FR" dirty="0"/>
                    </a:p>
                  </a:txBody>
                  <a:tcPr/>
                </a:tc>
                <a:tc>
                  <a:txBody>
                    <a:bodyPr/>
                    <a:lstStyle/>
                    <a:p>
                      <a:r>
                        <a:rPr lang="fr-FR" dirty="0" smtClean="0"/>
                        <a:t>300.60</a:t>
                      </a:r>
                      <a:endParaRPr lang="fr-FR" dirty="0"/>
                    </a:p>
                  </a:txBody>
                  <a:tcPr/>
                </a:tc>
                <a:tc>
                  <a:txBody>
                    <a:bodyPr/>
                    <a:lstStyle/>
                    <a:p>
                      <a:r>
                        <a:rPr lang="fr-FR" dirty="0" smtClean="0"/>
                        <a:t>1332</a:t>
                      </a:r>
                      <a:endParaRPr lang="fr-FR" dirty="0"/>
                    </a:p>
                  </a:txBody>
                  <a:tcPr/>
                </a:tc>
                <a:extLst>
                  <a:ext uri="{0D108BD9-81ED-4DB2-BD59-A6C34878D82A}">
                    <a16:rowId xmlns:a16="http://schemas.microsoft.com/office/drawing/2014/main" val="761779339"/>
                  </a:ext>
                </a:extLst>
              </a:tr>
            </a:tbl>
          </a:graphicData>
        </a:graphic>
      </p:graphicFrame>
      <p:graphicFrame>
        <p:nvGraphicFramePr>
          <p:cNvPr id="22" name="Tableau 21"/>
          <p:cNvGraphicFramePr>
            <a:graphicFrameLocks noGrp="1"/>
          </p:cNvGraphicFramePr>
          <p:nvPr>
            <p:extLst/>
          </p:nvPr>
        </p:nvGraphicFramePr>
        <p:xfrm>
          <a:off x="7127875" y="4495552"/>
          <a:ext cx="4273550" cy="1381760"/>
        </p:xfrm>
        <a:graphic>
          <a:graphicData uri="http://schemas.openxmlformats.org/drawingml/2006/table">
            <a:tbl>
              <a:tblPr firstRow="1" bandRow="1">
                <a:tableStyleId>{5C22544A-7EE6-4342-B048-85BDC9FD1C3A}</a:tableStyleId>
              </a:tblPr>
              <a:tblGrid>
                <a:gridCol w="1606550">
                  <a:extLst>
                    <a:ext uri="{9D8B030D-6E8A-4147-A177-3AD203B41FA5}">
                      <a16:colId xmlns:a16="http://schemas.microsoft.com/office/drawing/2014/main" val="1525554094"/>
                    </a:ext>
                  </a:extLst>
                </a:gridCol>
                <a:gridCol w="1166935">
                  <a:extLst>
                    <a:ext uri="{9D8B030D-6E8A-4147-A177-3AD203B41FA5}">
                      <a16:colId xmlns:a16="http://schemas.microsoft.com/office/drawing/2014/main" val="245050873"/>
                    </a:ext>
                  </a:extLst>
                </a:gridCol>
                <a:gridCol w="1500065">
                  <a:extLst>
                    <a:ext uri="{9D8B030D-6E8A-4147-A177-3AD203B41FA5}">
                      <a16:colId xmlns:a16="http://schemas.microsoft.com/office/drawing/2014/main" val="1468185738"/>
                    </a:ext>
                  </a:extLst>
                </a:gridCol>
              </a:tblGrid>
              <a:tr h="370840">
                <a:tc>
                  <a:txBody>
                    <a:bodyPr/>
                    <a:lstStyle/>
                    <a:p>
                      <a:r>
                        <a:rPr lang="fr-FR" baseline="0" dirty="0" smtClean="0"/>
                        <a:t> h</a:t>
                      </a:r>
                      <a:r>
                        <a:rPr lang="fr-FR" dirty="0" smtClean="0"/>
                        <a:t> (W m-2 K-1 )</a:t>
                      </a:r>
                      <a:endParaRPr lang="fr-FR" dirty="0"/>
                    </a:p>
                  </a:txBody>
                  <a:tcPr/>
                </a:tc>
                <a:tc>
                  <a:txBody>
                    <a:bodyPr/>
                    <a:lstStyle/>
                    <a:p>
                      <a:r>
                        <a:rPr lang="fr-FR" dirty="0" err="1" smtClean="0"/>
                        <a:t>Ts</a:t>
                      </a:r>
                      <a:r>
                        <a:rPr lang="fr-FR" dirty="0" smtClean="0"/>
                        <a:t> (K)</a:t>
                      </a:r>
                      <a:endParaRPr lang="fr-FR" dirty="0"/>
                    </a:p>
                  </a:txBody>
                  <a:tcPr/>
                </a:tc>
                <a:tc>
                  <a:txBody>
                    <a:bodyPr/>
                    <a:lstStyle/>
                    <a:p>
                      <a:r>
                        <a:rPr lang="fr-FR" baseline="0" dirty="0" smtClean="0"/>
                        <a:t> q</a:t>
                      </a:r>
                      <a:r>
                        <a:rPr lang="fr-FR" dirty="0" smtClean="0"/>
                        <a:t>(W) sans rayonnement</a:t>
                      </a:r>
                      <a:endParaRPr lang="fr-FR" dirty="0"/>
                    </a:p>
                  </a:txBody>
                  <a:tcPr/>
                </a:tc>
                <a:extLst>
                  <a:ext uri="{0D108BD9-81ED-4DB2-BD59-A6C34878D82A}">
                    <a16:rowId xmlns:a16="http://schemas.microsoft.com/office/drawing/2014/main" val="1148870446"/>
                  </a:ext>
                </a:extLst>
              </a:tr>
              <a:tr h="370840">
                <a:tc>
                  <a:txBody>
                    <a:bodyPr/>
                    <a:lstStyle/>
                    <a:p>
                      <a:r>
                        <a:rPr lang="fr-FR" dirty="0" smtClean="0"/>
                        <a:t>2</a:t>
                      </a:r>
                      <a:endParaRPr lang="fr-FR" dirty="0"/>
                    </a:p>
                  </a:txBody>
                  <a:tcPr/>
                </a:tc>
                <a:tc>
                  <a:txBody>
                    <a:bodyPr/>
                    <a:lstStyle/>
                    <a:p>
                      <a:r>
                        <a:rPr lang="fr-FR" dirty="0" smtClean="0"/>
                        <a:t>307.78</a:t>
                      </a:r>
                      <a:endParaRPr lang="fr-FR" dirty="0"/>
                    </a:p>
                  </a:txBody>
                  <a:tcPr/>
                </a:tc>
                <a:tc>
                  <a:txBody>
                    <a:bodyPr/>
                    <a:lstStyle/>
                    <a:p>
                      <a:r>
                        <a:rPr lang="fr-FR" dirty="0" smtClean="0">
                          <a:solidFill>
                            <a:srgbClr val="FF0000"/>
                          </a:solidFill>
                        </a:rPr>
                        <a:t>39</a:t>
                      </a:r>
                      <a:endParaRPr lang="fr-FR" dirty="0">
                        <a:solidFill>
                          <a:srgbClr val="FF0000"/>
                        </a:solidFill>
                      </a:endParaRPr>
                    </a:p>
                  </a:txBody>
                  <a:tcPr/>
                </a:tc>
                <a:extLst>
                  <a:ext uri="{0D108BD9-81ED-4DB2-BD59-A6C34878D82A}">
                    <a16:rowId xmlns:a16="http://schemas.microsoft.com/office/drawing/2014/main" val="2057562519"/>
                  </a:ext>
                </a:extLst>
              </a:tr>
              <a:tr h="370840">
                <a:tc>
                  <a:txBody>
                    <a:bodyPr/>
                    <a:lstStyle/>
                    <a:p>
                      <a:r>
                        <a:rPr lang="fr-FR" dirty="0" smtClean="0"/>
                        <a:t>200</a:t>
                      </a:r>
                      <a:endParaRPr lang="fr-FR" dirty="0"/>
                    </a:p>
                  </a:txBody>
                  <a:tcPr/>
                </a:tc>
                <a:tc>
                  <a:txBody>
                    <a:bodyPr/>
                    <a:lstStyle/>
                    <a:p>
                      <a:r>
                        <a:rPr lang="fr-FR" dirty="0" smtClean="0"/>
                        <a:t>300.67</a:t>
                      </a:r>
                      <a:endParaRPr lang="fr-FR" dirty="0"/>
                    </a:p>
                  </a:txBody>
                  <a:tcPr/>
                </a:tc>
                <a:tc>
                  <a:txBody>
                    <a:bodyPr/>
                    <a:lstStyle/>
                    <a:p>
                      <a:r>
                        <a:rPr lang="fr-FR" dirty="0" smtClean="0"/>
                        <a:t>1320</a:t>
                      </a:r>
                      <a:endParaRPr lang="fr-FR" dirty="0"/>
                    </a:p>
                  </a:txBody>
                  <a:tcPr/>
                </a:tc>
                <a:extLst>
                  <a:ext uri="{0D108BD9-81ED-4DB2-BD59-A6C34878D82A}">
                    <a16:rowId xmlns:a16="http://schemas.microsoft.com/office/drawing/2014/main" val="761779339"/>
                  </a:ext>
                </a:extLst>
              </a:tr>
            </a:tbl>
          </a:graphicData>
        </a:graphic>
      </p:graphicFrame>
      <p:pic>
        <p:nvPicPr>
          <p:cNvPr id="24" name="Image 23"/>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4013997" y="6354975"/>
            <a:ext cx="7387430" cy="233143"/>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19</a:t>
            </a:fld>
            <a:endParaRPr lang="fr-FR"/>
          </a:p>
        </p:txBody>
      </p:sp>
      <p:sp>
        <p:nvSpPr>
          <p:cNvPr id="8" name="ZoneTexte 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4803238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1954318"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1.9</a:t>
            </a:r>
            <a:endParaRPr lang="fr-FR" sz="2800" dirty="0"/>
          </a:p>
        </p:txBody>
      </p:sp>
      <p:pic>
        <p:nvPicPr>
          <p:cNvPr id="29" name="Image 28"/>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568579" y="350760"/>
            <a:ext cx="8713143" cy="1441523"/>
          </a:xfrm>
          <a:prstGeom prst="rect">
            <a:avLst/>
          </a:prstGeom>
        </p:spPr>
      </p:pic>
      <p:pic>
        <p:nvPicPr>
          <p:cNvPr id="10" name="Image 9" descr="\documentclass{article}&#10;\usepackage{amsmath}&#10;\usepackage{xcolor}&#10;\usepackage[paperwidth=22cm]{geometry}&#10;\pagestyle{empty}&#10;\begin{document}&#10;&#10;&#10;Si le coefficient de convection entre la plaque et l'air ambiant est de $15W.m^{-2}.K^{-1}$, quelle est la température de durcissement de la plaque? On fera l'hypothèse que sa {\color{red} température&#10;est uniforme} sur toute son épaisseur. Pour ce faire, écrire la conservation du flux thermique&#10;en surface.&#10;&#10;\end{document}" title="IguanaTex Bitmap Display"/>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77227" y="2180636"/>
            <a:ext cx="11076573" cy="864000"/>
          </a:xfrm>
          <a:prstGeom prst="rect">
            <a:avLst/>
          </a:prstGeom>
        </p:spPr>
      </p:pic>
      <p:pic>
        <p:nvPicPr>
          <p:cNvPr id="33" name="Image 32"/>
          <p:cNvPicPr>
            <a:picLocks noChangeAspect="1"/>
          </p:cNvPicPr>
          <p:nvPr/>
        </p:nvPicPr>
        <p:blipFill>
          <a:blip r:embed="rId7"/>
          <a:stretch>
            <a:fillRect/>
          </a:stretch>
        </p:blipFill>
        <p:spPr>
          <a:xfrm>
            <a:off x="73340" y="3328700"/>
            <a:ext cx="5128704" cy="229381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20</a:t>
            </a:fld>
            <a:endParaRPr lang="fr-FR"/>
          </a:p>
        </p:txBody>
      </p:sp>
      <p:pic>
        <p:nvPicPr>
          <p:cNvPr id="11" name="Image 10" descr="\documentclass{article}&#10;\usepackage{amsmath}&#10;\usepackage{xcolor}&#10;\usepackage[paperwidth=12cm]{geometry}&#10;\pagestyle{empty}&#10;\begin{document}&#10;&#10;Les caractéristiques finales du revêtement, notamment sa résistance à l'usure et sa durabilité, dépendent de la température à laquelle le durcissement se produit.&#10;On a besoin de connaître comment la température dépend du coefficient de convection&#10;$h \in [2, 100] W.m^{-2} K^{-1}$.&#10;&#10;Quelle valeur de $h$ permettrait d’obtenir une température de durcissement de 50°C?&#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5146738" y="3546035"/>
            <a:ext cx="6544763" cy="2005334"/>
          </a:xfrm>
          <a:prstGeom prst="rect">
            <a:avLst/>
          </a:prstGeom>
        </p:spPr>
      </p:pic>
    </p:spTree>
    <p:extLst>
      <p:ext uri="{BB962C8B-B14F-4D97-AF65-F5344CB8AC3E}">
        <p14:creationId xmlns:p14="http://schemas.microsoft.com/office/powerpoint/2010/main" val="25565302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 27" descr="\documentclass{article}&#10;\usepackage{amsmath}&#10;\usepackage{xcolor}&#10;\usepackage[paperwidth=23cm]{geometry}&#10;\pagestyle{empty}&#10;\begin{document}&#10;&#10;{\color{red} Avec le rayonnement}, l'équation à résoudre est non linéaire. La méthode consiste&#10;à linéariser le terme radiatif au voisinage de $T_{sur}$ et en faisant intervenir un coefficient radiatif $h_r$:&#10;$$&#10;\alpha G = h(T_s-T_\infty) + \epsilon \sigma (T_s^4-T_{sur}^4) = h(T_s-T_\infty) + h_r (T_s-T_{sur})&#10;$$&#10;avec $h_r ({\color{red} T_s})= \epsilon \sigma (T_s+T_{sur}) (T_s^2+T_{sur}^2)$.&#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83855" y="3362448"/>
            <a:ext cx="11574851" cy="1662473"/>
          </a:xfrm>
          <a:prstGeom prst="rect">
            <a:avLst/>
          </a:prstGeom>
        </p:spPr>
      </p:pic>
      <p:pic>
        <p:nvPicPr>
          <p:cNvPr id="29" name="Image 28" descr="\documentclass{article}&#10;\usepackage{amsmath}&#10;\usepackage{xcolor}&#10;\pagestyle{empty}&#10;\begin{document}&#10;&#10;On obtient symboliquement que :&#10;$$ T_s = \frac{ \alpha G + h T_{\infty} +h_r({\color{red} T_s}) T_{sur} }&#10;{h+h_r({\color{red} T_s})}&#10;$$&#10;&#10;La résolution se fait par la méthode de point fixe en initialisant $T_s$ avec $T_{inf}$.&#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187646" y="5142227"/>
            <a:ext cx="8318481" cy="1632000"/>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21</a:t>
            </a:fld>
            <a:endParaRPr lang="fr-FR"/>
          </a:p>
        </p:txBody>
      </p:sp>
      <p:pic>
        <p:nvPicPr>
          <p:cNvPr id="30" name="Image 29" descr="\documentclass{article}&#10;\usepackage{amsmath}&#10;\usepackage{xcolor}&#10;\usepackage{cancel}&#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begin{document}&#10;&#10;En supposant que l'échantillon soit {\color{red} à température constante}, donc pas de gradient, la conservation du flux thermique en surface s'écrit :&#10;&#10;$$\cancel{\rtvector{q}''_{\text{cond}}} \cdot \rtvector{n}_{21} + &#10;\rtvector{q}''_{\text{conv}} \cdot \rtvector{n}_{12} + \rtvector{q}''_{\text{rad}} \cdot \rtvector{n}_{12} +&#10;\rtvector{q}''_{\text{lamp}} \cdot \rtvector{n}_{12}  =0&#10;$$&#10;avec&#10;$$&#10;\rtvector{q}''_{\text{lamp}}\cdot \rtvector{n}_{12}  = - (\alpha G)_{lamp} &#10;$$&#10;&#10;En remarquant que $\rtvector{n}_{12} \equiv \rtvector{n}_{ext}$, on a:&#10;$$\rtvector{q}''_{\text{conv}} \cdot \rtvector{n}_{12} + \rtvector{q}''_{\text{rad}} \cdot \rtvector{n}_{12} =&#10; h(T_s-T_\infty) + \epsilon \sigma (T_s^4-T_{sur}^4)&#10;$$&#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83090" y="298179"/>
            <a:ext cx="11576382" cy="2922668"/>
          </a:xfrm>
          <a:prstGeom prst="rect">
            <a:avLst/>
          </a:prstGeom>
        </p:spPr>
      </p:pic>
      <p:grpSp>
        <p:nvGrpSpPr>
          <p:cNvPr id="8" name="Groupe 7"/>
          <p:cNvGrpSpPr/>
          <p:nvPr/>
        </p:nvGrpSpPr>
        <p:grpSpPr>
          <a:xfrm>
            <a:off x="9604233" y="837092"/>
            <a:ext cx="2253715" cy="1644187"/>
            <a:chOff x="9985748" y="1068062"/>
            <a:chExt cx="2253715" cy="1644187"/>
          </a:xfrm>
        </p:grpSpPr>
        <p:cxnSp>
          <p:nvCxnSpPr>
            <p:cNvPr id="9" name="Connecteur droit 8"/>
            <p:cNvCxnSpPr/>
            <p:nvPr/>
          </p:nvCxnSpPr>
          <p:spPr>
            <a:xfrm>
              <a:off x="10700253" y="1191154"/>
              <a:ext cx="0" cy="13364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a:xfrm>
              <a:off x="10908939" y="1191153"/>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a:off x="10463462" y="1191152"/>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ZoneTexte 11"/>
            <p:cNvSpPr txBox="1"/>
            <p:nvPr/>
          </p:nvSpPr>
          <p:spPr>
            <a:xfrm>
              <a:off x="10201433" y="1068062"/>
              <a:ext cx="301686" cy="369332"/>
            </a:xfrm>
            <a:prstGeom prst="rect">
              <a:avLst/>
            </a:prstGeom>
            <a:noFill/>
          </p:spPr>
          <p:txBody>
            <a:bodyPr wrap="none" rtlCol="0">
              <a:spAutoFit/>
            </a:bodyPr>
            <a:lstStyle/>
            <a:p>
              <a:r>
                <a:rPr lang="fr-FR" dirty="0" smtClean="0"/>
                <a:t>1</a:t>
              </a:r>
              <a:endParaRPr lang="fr-FR" dirty="0"/>
            </a:p>
          </p:txBody>
        </p:sp>
        <p:sp>
          <p:nvSpPr>
            <p:cNvPr id="13" name="ZoneTexte 12"/>
            <p:cNvSpPr txBox="1"/>
            <p:nvPr/>
          </p:nvSpPr>
          <p:spPr>
            <a:xfrm>
              <a:off x="10887641" y="1068062"/>
              <a:ext cx="301686" cy="369332"/>
            </a:xfrm>
            <a:prstGeom prst="rect">
              <a:avLst/>
            </a:prstGeom>
            <a:noFill/>
          </p:spPr>
          <p:txBody>
            <a:bodyPr wrap="none" rtlCol="0">
              <a:spAutoFit/>
            </a:bodyPr>
            <a:lstStyle/>
            <a:p>
              <a:r>
                <a:rPr lang="fr-FR" dirty="0"/>
                <a:t>2</a:t>
              </a:r>
            </a:p>
          </p:txBody>
        </p:sp>
        <p:cxnSp>
          <p:nvCxnSpPr>
            <p:cNvPr id="14" name="Connecteur droit avec flèche 13"/>
            <p:cNvCxnSpPr/>
            <p:nvPr/>
          </p:nvCxnSpPr>
          <p:spPr>
            <a:xfrm>
              <a:off x="10908939" y="1859367"/>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flipH="1">
              <a:off x="10011417" y="1859367"/>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Image 15" descr="\documentclass{article}&#10;\usepackage{amsmath}&#10;\pagestyle{empty}&#10;\begin{document}&#10;&#10;$n_{21} \quad \quad \quad n_{12} \equiv n_{ext}$&#10;&#10;&#10;\end{document}" title="IguanaTex Bitmap Display"/>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9985748" y="1982457"/>
              <a:ext cx="2253715" cy="156952"/>
            </a:xfrm>
            <a:prstGeom prst="rect">
              <a:avLst/>
            </a:prstGeom>
          </p:spPr>
        </p:pic>
        <p:cxnSp>
          <p:nvCxnSpPr>
            <p:cNvPr id="17" name="Connecteur droit avec flèche 16"/>
            <p:cNvCxnSpPr/>
            <p:nvPr/>
          </p:nvCxnSpPr>
          <p:spPr>
            <a:xfrm>
              <a:off x="10050403" y="2603922"/>
              <a:ext cx="135634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11359388" y="2342917"/>
              <a:ext cx="284052" cy="369332"/>
            </a:xfrm>
            <a:prstGeom prst="rect">
              <a:avLst/>
            </a:prstGeom>
            <a:noFill/>
          </p:spPr>
          <p:txBody>
            <a:bodyPr wrap="none" rtlCol="0">
              <a:spAutoFit/>
            </a:bodyPr>
            <a:lstStyle/>
            <a:p>
              <a:r>
                <a:rPr lang="fr-FR" dirty="0" smtClean="0"/>
                <a:t>x</a:t>
              </a:r>
              <a:endParaRPr lang="fr-FR" dirty="0"/>
            </a:p>
          </p:txBody>
        </p:sp>
      </p:grpSp>
      <p:sp>
        <p:nvSpPr>
          <p:cNvPr id="18" name="ZoneTexte 1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1188396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a:blip r:embed="rId3"/>
          <a:stretch>
            <a:fillRect/>
          </a:stretch>
        </p:blipFill>
        <p:spPr>
          <a:xfrm>
            <a:off x="6915455" y="0"/>
            <a:ext cx="4841723" cy="378859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22</a:t>
            </a:fld>
            <a:endParaRPr lang="fr-FR"/>
          </a:p>
        </p:txBody>
      </p:sp>
      <p:sp>
        <p:nvSpPr>
          <p:cNvPr id="15" name="ZoneTexte 14"/>
          <p:cNvSpPr txBox="1"/>
          <p:nvPr/>
        </p:nvSpPr>
        <p:spPr>
          <a:xfrm>
            <a:off x="440878" y="296589"/>
            <a:ext cx="6346609" cy="7201972"/>
          </a:xfrm>
          <a:prstGeom prst="rect">
            <a:avLst/>
          </a:prstGeom>
          <a:noFill/>
        </p:spPr>
        <p:txBody>
          <a:bodyPr wrap="none" rtlCol="0">
            <a:spAutoFit/>
          </a:bodyPr>
          <a:lstStyle/>
          <a:p>
            <a:r>
              <a:rPr lang="fr-FR" sz="1400" b="0" dirty="0" smtClean="0">
                <a:solidFill>
                  <a:srgbClr val="AF00DB"/>
                </a:solidFill>
                <a:effectLst/>
                <a:latin typeface="Consolas" panose="020B0609020204030204" pitchFamily="49" charset="0"/>
              </a:rPr>
              <a:t>import</a:t>
            </a:r>
            <a:r>
              <a:rPr lang="fr-FR" sz="1400" b="0" dirty="0" smtClean="0">
                <a:solidFill>
                  <a:srgbClr val="000000"/>
                </a:solidFill>
                <a:effectLst/>
                <a:latin typeface="Consolas" panose="020B0609020204030204" pitchFamily="49" charset="0"/>
              </a:rPr>
              <a:t> </a:t>
            </a:r>
            <a:r>
              <a:rPr lang="fr-FR" sz="1400" b="0" dirty="0" err="1" smtClean="0">
                <a:solidFill>
                  <a:srgbClr val="267F99"/>
                </a:solidFill>
                <a:effectLst/>
                <a:latin typeface="Consolas" panose="020B0609020204030204" pitchFamily="49" charset="0"/>
              </a:rPr>
              <a:t>matplotlib</a:t>
            </a:r>
            <a:r>
              <a:rPr lang="fr-FR" sz="1400" b="0" dirty="0" err="1" smtClean="0">
                <a:solidFill>
                  <a:srgbClr val="000000"/>
                </a:solidFill>
                <a:effectLst/>
                <a:latin typeface="Consolas" panose="020B0609020204030204" pitchFamily="49" charset="0"/>
              </a:rPr>
              <a:t>.</a:t>
            </a:r>
            <a:r>
              <a:rPr lang="fr-FR" sz="1400" b="0" dirty="0" err="1" smtClean="0">
                <a:solidFill>
                  <a:srgbClr val="267F99"/>
                </a:solidFill>
                <a:effectLst/>
                <a:latin typeface="Consolas" panose="020B0609020204030204" pitchFamily="49" charset="0"/>
              </a:rPr>
              <a:t>pyplot</a:t>
            </a:r>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as</a:t>
            </a:r>
            <a:r>
              <a:rPr lang="fr-FR" sz="1400" b="0" dirty="0" smtClean="0">
                <a:solidFill>
                  <a:srgbClr val="000000"/>
                </a:solidFill>
                <a:effectLst/>
                <a:latin typeface="Consolas" panose="020B0609020204030204" pitchFamily="49" charset="0"/>
              </a:rPr>
              <a:t> </a:t>
            </a:r>
            <a:r>
              <a:rPr lang="fr-FR" sz="1400" b="0" dirty="0" err="1" smtClean="0">
                <a:solidFill>
                  <a:srgbClr val="267F99"/>
                </a:solidFill>
                <a:effectLst/>
                <a:latin typeface="Consolas" panose="020B0609020204030204" pitchFamily="49" charset="0"/>
              </a:rPr>
              <a:t>plt</a:t>
            </a:r>
            <a:endParaRPr lang="fr-FR" sz="1400" b="0" dirty="0" smtClean="0">
              <a:solidFill>
                <a:srgbClr val="000000"/>
              </a:solidFill>
              <a:effectLst/>
              <a:latin typeface="Consolas" panose="020B0609020204030204" pitchFamily="49" charset="0"/>
            </a:endParaRPr>
          </a:p>
          <a:p>
            <a:r>
              <a:rPr lang="fr-FR" sz="1400" b="0" dirty="0" smtClean="0">
                <a:solidFill>
                  <a:srgbClr val="AF00DB"/>
                </a:solidFill>
                <a:effectLst/>
                <a:latin typeface="Consolas" panose="020B0609020204030204" pitchFamily="49" charset="0"/>
              </a:rPr>
              <a:t>import</a:t>
            </a:r>
            <a:r>
              <a:rPr lang="fr-FR" sz="1400" b="0" dirty="0" smtClean="0">
                <a:solidFill>
                  <a:srgbClr val="000000"/>
                </a:solidFill>
                <a:effectLst/>
                <a:latin typeface="Consolas" panose="020B0609020204030204" pitchFamily="49" charset="0"/>
              </a:rPr>
              <a:t> </a:t>
            </a:r>
            <a:r>
              <a:rPr lang="fr-FR" sz="1400" b="0" dirty="0" err="1" smtClean="0">
                <a:solidFill>
                  <a:srgbClr val="267F99"/>
                </a:solidFill>
                <a:effectLst/>
                <a:latin typeface="Consolas" panose="020B0609020204030204" pitchFamily="49" charset="0"/>
              </a:rPr>
              <a:t>numpy</a:t>
            </a:r>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as</a:t>
            </a:r>
            <a:r>
              <a:rPr lang="fr-FR" sz="1400" b="0" dirty="0" smtClean="0">
                <a:solidFill>
                  <a:srgbClr val="000000"/>
                </a:solidFill>
                <a:effectLst/>
                <a:latin typeface="Consolas" panose="020B0609020204030204" pitchFamily="49" charset="0"/>
              </a:rPr>
              <a:t> </a:t>
            </a:r>
            <a:r>
              <a:rPr lang="fr-FR" sz="1400" b="0" dirty="0" err="1" smtClean="0">
                <a:solidFill>
                  <a:srgbClr val="267F99"/>
                </a:solidFill>
                <a:effectLst/>
                <a:latin typeface="Consolas" panose="020B0609020204030204" pitchFamily="49" charset="0"/>
              </a:rPr>
              <a:t>np</a:t>
            </a:r>
            <a:r>
              <a:rPr lang="fr-FR" sz="1400" b="0" dirty="0" smtClean="0">
                <a:solidFill>
                  <a:srgbClr val="000000"/>
                </a:solidFill>
                <a:effectLst/>
                <a:latin typeface="Consolas" panose="020B0609020204030204" pitchFamily="49" charset="0"/>
              </a:rPr>
              <a:t/>
            </a:r>
            <a:br>
              <a:rPr lang="fr-FR" sz="1400" b="0" dirty="0" smtClean="0">
                <a:solidFill>
                  <a:srgbClr val="000000"/>
                </a:solidFill>
                <a:effectLst/>
                <a:latin typeface="Consolas" panose="020B0609020204030204" pitchFamily="49" charset="0"/>
              </a:rPr>
            </a:br>
            <a:r>
              <a:rPr lang="fr-FR" sz="1400" b="0" dirty="0" smtClean="0">
                <a:solidFill>
                  <a:srgbClr val="001080"/>
                </a:solidFill>
                <a:effectLst/>
                <a:latin typeface="Consolas" panose="020B0609020204030204" pitchFamily="49" charset="0"/>
              </a:rPr>
              <a:t>epsilon</a:t>
            </a:r>
            <a:r>
              <a:rPr lang="fr-FR" sz="1400" b="0" dirty="0" smtClean="0">
                <a:solidFill>
                  <a:srgbClr val="000000"/>
                </a:solidFill>
                <a:effectLst/>
                <a:latin typeface="Consolas" panose="020B0609020204030204" pitchFamily="49" charset="0"/>
              </a:rPr>
              <a:t> = </a:t>
            </a:r>
            <a:r>
              <a:rPr lang="fr-FR" sz="1400" b="0" dirty="0" smtClean="0">
                <a:solidFill>
                  <a:srgbClr val="098658"/>
                </a:solidFill>
                <a:effectLst/>
                <a:latin typeface="Consolas" panose="020B0609020204030204" pitchFamily="49" charset="0"/>
              </a:rPr>
              <a:t>0.5</a:t>
            </a:r>
            <a:endParaRPr lang="fr-FR" sz="1400" b="0" dirty="0" smtClean="0">
              <a:solidFill>
                <a:srgbClr val="000000"/>
              </a:solidFill>
              <a:effectLst/>
              <a:latin typeface="Consolas" panose="020B0609020204030204" pitchFamily="49" charset="0"/>
            </a:endParaRPr>
          </a:p>
          <a:p>
            <a:r>
              <a:rPr lang="fr-FR" sz="1400" b="0" dirty="0" smtClean="0">
                <a:solidFill>
                  <a:srgbClr val="001080"/>
                </a:solidFill>
                <a:effectLst/>
                <a:latin typeface="Consolas" panose="020B0609020204030204" pitchFamily="49" charset="0"/>
              </a:rPr>
              <a:t>sigma</a:t>
            </a:r>
            <a:r>
              <a:rPr lang="fr-FR" sz="1400" b="0" dirty="0" smtClean="0">
                <a:solidFill>
                  <a:srgbClr val="000000"/>
                </a:solidFill>
                <a:effectLst/>
                <a:latin typeface="Consolas" panose="020B0609020204030204" pitchFamily="49" charset="0"/>
              </a:rPr>
              <a:t> = </a:t>
            </a:r>
            <a:r>
              <a:rPr lang="fr-FR" sz="1400" b="0" dirty="0" smtClean="0">
                <a:solidFill>
                  <a:srgbClr val="098658"/>
                </a:solidFill>
                <a:effectLst/>
                <a:latin typeface="Consolas" panose="020B0609020204030204" pitchFamily="49" charset="0"/>
              </a:rPr>
              <a:t>5.670374419e-8</a:t>
            </a:r>
            <a:endParaRPr lang="fr-FR" sz="1400" b="0" dirty="0" smtClean="0">
              <a:solidFill>
                <a:srgbClr val="000000"/>
              </a:solidFill>
              <a:effectLst/>
              <a:latin typeface="Consolas" panose="020B0609020204030204" pitchFamily="49" charset="0"/>
            </a:endParaRPr>
          </a:p>
          <a:p>
            <a:r>
              <a:rPr lang="fr-FR" sz="1400" b="0" dirty="0" err="1" smtClean="0">
                <a:solidFill>
                  <a:srgbClr val="001080"/>
                </a:solidFill>
                <a:effectLst/>
                <a:latin typeface="Consolas" panose="020B0609020204030204" pitchFamily="49" charset="0"/>
              </a:rPr>
              <a:t>Tinf</a:t>
            </a:r>
            <a:r>
              <a:rPr lang="fr-FR" sz="1400" b="0" dirty="0" smtClean="0">
                <a:solidFill>
                  <a:srgbClr val="000000"/>
                </a:solidFill>
                <a:effectLst/>
                <a:latin typeface="Consolas" panose="020B0609020204030204" pitchFamily="49" charset="0"/>
              </a:rPr>
              <a:t>, </a:t>
            </a:r>
            <a:r>
              <a:rPr lang="fr-FR" sz="1400" b="0" dirty="0" err="1" smtClean="0">
                <a:solidFill>
                  <a:srgbClr val="001080"/>
                </a:solidFill>
                <a:effectLst/>
                <a:latin typeface="Consolas" panose="020B0609020204030204" pitchFamily="49" charset="0"/>
              </a:rPr>
              <a:t>Tsur</a:t>
            </a:r>
            <a:r>
              <a:rPr lang="fr-FR" sz="1400" b="0" dirty="0" smtClean="0">
                <a:solidFill>
                  <a:srgbClr val="000000"/>
                </a:solidFill>
                <a:effectLst/>
                <a:latin typeface="Consolas" panose="020B0609020204030204" pitchFamily="49" charset="0"/>
              </a:rPr>
              <a:t> = </a:t>
            </a:r>
            <a:r>
              <a:rPr lang="fr-FR" sz="1400" b="0" dirty="0" smtClean="0">
                <a:solidFill>
                  <a:srgbClr val="098658"/>
                </a:solidFill>
                <a:effectLst/>
                <a:latin typeface="Consolas" panose="020B0609020204030204" pitchFamily="49" charset="0"/>
              </a:rPr>
              <a:t>293</a:t>
            </a:r>
            <a:r>
              <a:rPr lang="fr-FR" sz="1400" b="0" dirty="0" smtClean="0">
                <a:solidFill>
                  <a:srgbClr val="000000"/>
                </a:solidFill>
                <a:effectLst/>
                <a:latin typeface="Consolas" panose="020B0609020204030204" pitchFamily="49" charset="0"/>
              </a:rPr>
              <a:t>, </a:t>
            </a:r>
            <a:r>
              <a:rPr lang="fr-FR" sz="1400" b="0" dirty="0" smtClean="0">
                <a:solidFill>
                  <a:srgbClr val="098658"/>
                </a:solidFill>
                <a:effectLst/>
                <a:latin typeface="Consolas" panose="020B0609020204030204" pitchFamily="49" charset="0"/>
              </a:rPr>
              <a:t>303</a:t>
            </a:r>
            <a:endParaRPr lang="fr-FR" sz="1400" b="0" dirty="0" smtClean="0">
              <a:solidFill>
                <a:srgbClr val="000000"/>
              </a:solidFill>
              <a:effectLst/>
              <a:latin typeface="Consolas" panose="020B0609020204030204" pitchFamily="49" charset="0"/>
            </a:endParaRPr>
          </a:p>
          <a:p>
            <a:r>
              <a:rPr lang="fr-FR" sz="1400" b="0" dirty="0" smtClean="0">
                <a:solidFill>
                  <a:srgbClr val="0070C1"/>
                </a:solidFill>
                <a:effectLst/>
                <a:latin typeface="Consolas" panose="020B0609020204030204" pitchFamily="49" charset="0"/>
              </a:rPr>
              <a:t>G</a:t>
            </a:r>
            <a:r>
              <a:rPr lang="fr-FR" sz="1400" b="0" dirty="0" smtClean="0">
                <a:solidFill>
                  <a:srgbClr val="000000"/>
                </a:solidFill>
                <a:effectLst/>
                <a:latin typeface="Consolas" panose="020B0609020204030204" pitchFamily="49" charset="0"/>
              </a:rPr>
              <a:t>= </a:t>
            </a:r>
            <a:r>
              <a:rPr lang="fr-FR" sz="1400" b="0" dirty="0" smtClean="0">
                <a:solidFill>
                  <a:srgbClr val="098658"/>
                </a:solidFill>
                <a:effectLst/>
                <a:latin typeface="Consolas" panose="020B0609020204030204" pitchFamily="49" charset="0"/>
              </a:rPr>
              <a:t>2000</a:t>
            </a:r>
            <a:endParaRPr lang="fr-FR" sz="1400" b="0" dirty="0" smtClean="0">
              <a:solidFill>
                <a:srgbClr val="000000"/>
              </a:solidFill>
              <a:effectLst/>
              <a:latin typeface="Consolas" panose="020B0609020204030204" pitchFamily="49" charset="0"/>
            </a:endParaRPr>
          </a:p>
          <a:p>
            <a:r>
              <a:rPr lang="fr-FR" sz="1400" b="0" dirty="0" smtClean="0">
                <a:solidFill>
                  <a:srgbClr val="001080"/>
                </a:solidFill>
                <a:effectLst/>
                <a:latin typeface="Consolas" panose="020B0609020204030204" pitchFamily="49" charset="0"/>
              </a:rPr>
              <a:t>alpha</a:t>
            </a:r>
            <a:r>
              <a:rPr lang="fr-FR" sz="1400" b="0" dirty="0" smtClean="0">
                <a:solidFill>
                  <a:srgbClr val="000000"/>
                </a:solidFill>
                <a:effectLst/>
                <a:latin typeface="Consolas" panose="020B0609020204030204" pitchFamily="49" charset="0"/>
              </a:rPr>
              <a:t> = </a:t>
            </a:r>
            <a:r>
              <a:rPr lang="fr-FR" sz="1400" b="0" dirty="0" smtClean="0">
                <a:solidFill>
                  <a:srgbClr val="098658"/>
                </a:solidFill>
                <a:effectLst/>
                <a:latin typeface="Consolas" panose="020B0609020204030204" pitchFamily="49" charset="0"/>
              </a:rPr>
              <a:t>0.8</a:t>
            </a:r>
            <a:endParaRPr lang="fr-FR" sz="1400" b="0" dirty="0" smtClean="0">
              <a:solidFill>
                <a:srgbClr val="000000"/>
              </a:solidFill>
              <a:effectLst/>
              <a:latin typeface="Consolas" panose="020B0609020204030204" pitchFamily="49" charset="0"/>
            </a:endParaRPr>
          </a:p>
          <a:p>
            <a:r>
              <a:rPr lang="fr-FR" sz="1400" b="0" dirty="0" smtClean="0">
                <a:solidFill>
                  <a:srgbClr val="000000"/>
                </a:solidFill>
                <a:effectLst/>
                <a:latin typeface="Consolas" panose="020B0609020204030204" pitchFamily="49" charset="0"/>
              </a:rPr>
              <a:t/>
            </a:r>
            <a:br>
              <a:rPr lang="fr-FR" sz="1400" b="0" dirty="0" smtClean="0">
                <a:solidFill>
                  <a:srgbClr val="000000"/>
                </a:solidFill>
                <a:effectLst/>
                <a:latin typeface="Consolas" panose="020B0609020204030204" pitchFamily="49" charset="0"/>
              </a:rPr>
            </a:br>
            <a:r>
              <a:rPr lang="fr-FR" sz="1400" b="0" dirty="0" err="1" smtClean="0">
                <a:solidFill>
                  <a:srgbClr val="0000FF"/>
                </a:solidFill>
                <a:effectLst/>
                <a:latin typeface="Consolas" panose="020B0609020204030204" pitchFamily="49" charset="0"/>
              </a:rPr>
              <a:t>def</a:t>
            </a:r>
            <a:r>
              <a:rPr lang="fr-FR" sz="1400" b="0" dirty="0" smtClean="0">
                <a:solidFill>
                  <a:srgbClr val="000000"/>
                </a:solidFill>
                <a:effectLst/>
                <a:latin typeface="Consolas" panose="020B0609020204030204" pitchFamily="49" charset="0"/>
              </a:rPr>
              <a:t> </a:t>
            </a:r>
            <a:r>
              <a:rPr lang="fr-FR" sz="1400" b="0" dirty="0" err="1" smtClean="0">
                <a:solidFill>
                  <a:srgbClr val="795E26"/>
                </a:solidFill>
                <a:effectLst/>
                <a:latin typeface="Consolas" panose="020B0609020204030204" pitchFamily="49" charset="0"/>
              </a:rPr>
              <a:t>hr</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return</a:t>
            </a:r>
            <a:r>
              <a:rPr lang="fr-FR" sz="1400" b="0" dirty="0" smtClean="0">
                <a:solidFill>
                  <a:srgbClr val="000000"/>
                </a:solidFill>
                <a:effectLst/>
                <a:latin typeface="Consolas" panose="020B0609020204030204" pitchFamily="49" charset="0"/>
              </a:rPr>
              <a:t> </a:t>
            </a:r>
            <a:r>
              <a:rPr lang="fr-FR" sz="1400" b="0" dirty="0" smtClean="0">
                <a:solidFill>
                  <a:srgbClr val="001080"/>
                </a:solidFill>
                <a:effectLst/>
                <a:latin typeface="Consolas" panose="020B0609020204030204" pitchFamily="49" charset="0"/>
              </a:rPr>
              <a:t>epsilon</a:t>
            </a:r>
            <a:r>
              <a:rPr lang="fr-FR" sz="1400" b="0" dirty="0" smtClean="0">
                <a:solidFill>
                  <a:srgbClr val="000000"/>
                </a:solidFill>
                <a:effectLst/>
                <a:latin typeface="Consolas" panose="020B0609020204030204" pitchFamily="49" charset="0"/>
              </a:rPr>
              <a:t>*</a:t>
            </a:r>
            <a:r>
              <a:rPr lang="fr-FR" sz="1400" b="0" dirty="0" smtClean="0">
                <a:solidFill>
                  <a:srgbClr val="001080"/>
                </a:solidFill>
                <a:effectLst/>
                <a:latin typeface="Consolas" panose="020B0609020204030204" pitchFamily="49" charset="0"/>
              </a:rPr>
              <a:t>sigma</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a:t>
            </a:r>
            <a:r>
              <a:rPr lang="fr-FR" sz="1400" b="0" dirty="0" err="1"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Tsur</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a:t>
            </a:r>
            <a:r>
              <a:rPr lang="fr-FR" sz="1400" b="0" dirty="0" smtClean="0">
                <a:solidFill>
                  <a:srgbClr val="000000"/>
                </a:solidFill>
                <a:effectLst/>
                <a:latin typeface="Consolas" panose="020B0609020204030204" pitchFamily="49" charset="0"/>
              </a:rPr>
              <a:t>**</a:t>
            </a:r>
            <a:r>
              <a:rPr lang="fr-FR" sz="1400" b="0" dirty="0" smtClean="0">
                <a:solidFill>
                  <a:srgbClr val="098658"/>
                </a:solidFill>
                <a:effectLst/>
                <a:latin typeface="Consolas" panose="020B0609020204030204" pitchFamily="49" charset="0"/>
              </a:rPr>
              <a:t>2</a:t>
            </a:r>
            <a:r>
              <a:rPr lang="fr-FR" sz="1400" b="0" dirty="0" smtClean="0">
                <a:solidFill>
                  <a:srgbClr val="000000"/>
                </a:solidFill>
                <a:effectLst/>
                <a:latin typeface="Consolas" panose="020B0609020204030204" pitchFamily="49" charset="0"/>
              </a:rPr>
              <a:t>+</a:t>
            </a:r>
            <a:r>
              <a:rPr lang="fr-FR" sz="1400" b="0" dirty="0" smtClean="0">
                <a:solidFill>
                  <a:srgbClr val="001080"/>
                </a:solidFill>
                <a:effectLst/>
                <a:latin typeface="Consolas" panose="020B0609020204030204" pitchFamily="49" charset="0"/>
              </a:rPr>
              <a:t>Tsur</a:t>
            </a:r>
            <a:r>
              <a:rPr lang="fr-FR" sz="1400" b="0" dirty="0" smtClean="0">
                <a:solidFill>
                  <a:srgbClr val="000000"/>
                </a:solidFill>
                <a:effectLst/>
                <a:latin typeface="Consolas" panose="020B0609020204030204" pitchFamily="49" charset="0"/>
              </a:rPr>
              <a:t>**</a:t>
            </a:r>
            <a:r>
              <a:rPr lang="fr-FR" sz="1400" b="0" dirty="0" smtClean="0">
                <a:solidFill>
                  <a:srgbClr val="098658"/>
                </a:solidFill>
                <a:effectLst/>
                <a:latin typeface="Consolas" panose="020B0609020204030204" pitchFamily="49" charset="0"/>
              </a:rPr>
              <a:t>2</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r>
            <a:br>
              <a:rPr lang="fr-FR" sz="1400" b="0" dirty="0" smtClean="0">
                <a:solidFill>
                  <a:srgbClr val="000000"/>
                </a:solidFill>
                <a:effectLst/>
                <a:latin typeface="Consolas" panose="020B0609020204030204" pitchFamily="49" charset="0"/>
              </a:rPr>
            </a:br>
            <a:r>
              <a:rPr lang="fr-FR" sz="1400" b="0" dirty="0" err="1" smtClean="0">
                <a:solidFill>
                  <a:srgbClr val="0000FF"/>
                </a:solidFill>
                <a:effectLst/>
                <a:latin typeface="Consolas" panose="020B0609020204030204" pitchFamily="49" charset="0"/>
              </a:rPr>
              <a:t>def</a:t>
            </a:r>
            <a:r>
              <a:rPr lang="fr-FR" sz="1400" b="0" dirty="0" smtClean="0">
                <a:solidFill>
                  <a:srgbClr val="000000"/>
                </a:solidFill>
                <a:effectLst/>
                <a:latin typeface="Consolas" panose="020B0609020204030204" pitchFamily="49" charset="0"/>
              </a:rPr>
              <a:t> </a:t>
            </a:r>
            <a:r>
              <a:rPr lang="fr-FR" sz="1400" b="0" dirty="0" err="1" smtClean="0">
                <a:solidFill>
                  <a:srgbClr val="795E26"/>
                </a:solidFill>
                <a:effectLst/>
                <a:latin typeface="Consolas" panose="020B0609020204030204" pitchFamily="49" charset="0"/>
              </a:rPr>
              <a:t>solve</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hvec</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t>
            </a:r>
            <a:r>
              <a:rPr lang="fr-FR" sz="1400" b="0" dirty="0" err="1" smtClean="0">
                <a:solidFill>
                  <a:srgbClr val="001080"/>
                </a:solidFill>
                <a:effectLst/>
                <a:latin typeface="Consolas" panose="020B0609020204030204" pitchFamily="49" charset="0"/>
              </a:rPr>
              <a:t>Tvec</a:t>
            </a:r>
            <a:r>
              <a:rPr lang="fr-FR" sz="1400" b="0" dirty="0" smtClean="0">
                <a:solidFill>
                  <a:srgbClr val="000000"/>
                </a:solidFill>
                <a:effectLst/>
                <a:latin typeface="Consolas" panose="020B0609020204030204" pitchFamily="49" charset="0"/>
              </a:rPr>
              <a:t> =[] </a:t>
            </a:r>
          </a:p>
          <a:p>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for</a:t>
            </a:r>
            <a:r>
              <a:rPr lang="fr-FR" sz="1400" b="0" dirty="0" smtClean="0">
                <a:solidFill>
                  <a:srgbClr val="000000"/>
                </a:solidFill>
                <a:effectLst/>
                <a:latin typeface="Consolas" panose="020B0609020204030204" pitchFamily="49" charset="0"/>
              </a:rPr>
              <a:t> </a:t>
            </a:r>
            <a:r>
              <a:rPr lang="fr-FR" sz="1400" b="0" dirty="0" smtClean="0">
                <a:solidFill>
                  <a:srgbClr val="001080"/>
                </a:solidFill>
                <a:effectLst/>
                <a:latin typeface="Consolas" panose="020B0609020204030204" pitchFamily="49" charset="0"/>
              </a:rPr>
              <a:t>h</a:t>
            </a:r>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in</a:t>
            </a:r>
            <a:r>
              <a:rPr lang="fr-FR" sz="1400" b="0" dirty="0" smtClean="0">
                <a:solidFill>
                  <a:srgbClr val="000000"/>
                </a:solidFill>
                <a:effectLst/>
                <a:latin typeface="Consolas" panose="020B0609020204030204" pitchFamily="49" charset="0"/>
              </a:rPr>
              <a:t> </a:t>
            </a:r>
            <a:r>
              <a:rPr lang="fr-FR" sz="1400" b="0" dirty="0" err="1" smtClean="0">
                <a:solidFill>
                  <a:srgbClr val="001080"/>
                </a:solidFill>
                <a:effectLst/>
                <a:latin typeface="Consolas" panose="020B0609020204030204" pitchFamily="49" charset="0"/>
              </a:rPr>
              <a:t>hvec</a:t>
            </a:r>
            <a:r>
              <a:rPr lang="fr-FR" sz="1400" b="0" dirty="0" smtClean="0">
                <a:solidFill>
                  <a:srgbClr val="000000"/>
                </a:solidFill>
                <a:effectLst/>
                <a:latin typeface="Consolas" panose="020B0609020204030204" pitchFamily="49" charset="0"/>
              </a:rPr>
              <a:t>:    </a:t>
            </a:r>
          </a:p>
          <a:p>
            <a:r>
              <a:rPr lang="fr-FR" sz="1400" b="0" dirty="0" smtClean="0">
                <a:solidFill>
                  <a:srgbClr val="000000"/>
                </a:solidFill>
                <a:effectLst/>
                <a:latin typeface="Consolas" panose="020B0609020204030204" pitchFamily="49" charset="0"/>
              </a:rPr>
              <a:t>        </a:t>
            </a:r>
            <a:r>
              <a:rPr lang="fr-FR" sz="1400" b="0" dirty="0" smtClean="0">
                <a:solidFill>
                  <a:srgbClr val="008000"/>
                </a:solidFill>
                <a:effectLst/>
                <a:latin typeface="Consolas" panose="020B0609020204030204" pitchFamily="49" charset="0"/>
              </a:rPr>
              <a:t># </a:t>
            </a:r>
            <a:r>
              <a:rPr lang="fr-FR" sz="1400" b="0" dirty="0" err="1" smtClean="0">
                <a:solidFill>
                  <a:srgbClr val="008000"/>
                </a:solidFill>
                <a:effectLst/>
                <a:latin typeface="Consolas" panose="020B0609020204030204" pitchFamily="49" charset="0"/>
              </a:rPr>
              <a:t>guess</a:t>
            </a:r>
            <a:r>
              <a:rPr lang="fr-FR" sz="1400" b="0" dirty="0" smtClean="0">
                <a:solidFill>
                  <a:srgbClr val="008000"/>
                </a:solidFill>
                <a:effectLst/>
                <a:latin typeface="Consolas" panose="020B0609020204030204" pitchFamily="49" charset="0"/>
              </a:rPr>
              <a:t> value for </a:t>
            </a:r>
            <a:r>
              <a:rPr lang="fr-FR" sz="1400" b="0" dirty="0" err="1" smtClean="0">
                <a:solidFill>
                  <a:srgbClr val="008000"/>
                </a:solidFill>
                <a:effectLst/>
                <a:latin typeface="Consolas" panose="020B0609020204030204" pitchFamily="49" charset="0"/>
              </a:rPr>
              <a:t>Ts</a:t>
            </a:r>
            <a:r>
              <a:rPr lang="fr-FR" sz="1400" b="0" dirty="0" smtClean="0">
                <a:solidFill>
                  <a:srgbClr val="008000"/>
                </a:solidFill>
                <a:effectLst/>
                <a:latin typeface="Consolas" panose="020B0609020204030204" pitchFamily="49" charset="0"/>
              </a:rPr>
              <a:t>    </a:t>
            </a:r>
            <a:endParaRPr lang="fr-FR" sz="1400" b="0" dirty="0" smtClean="0">
              <a:solidFill>
                <a:srgbClr val="000000"/>
              </a:solidFill>
              <a:effectLst/>
              <a:latin typeface="Consolas" panose="020B0609020204030204" pitchFamily="49" charset="0"/>
            </a:endParaRPr>
          </a:p>
          <a:p>
            <a:r>
              <a:rPr lang="fr-FR" sz="1400" b="0" dirty="0" smtClean="0">
                <a:solidFill>
                  <a:srgbClr val="000000"/>
                </a:solidFill>
                <a:effectLst/>
                <a:latin typeface="Consolas" panose="020B0609020204030204" pitchFamily="49" charset="0"/>
              </a:rPr>
              <a:t>        </a:t>
            </a:r>
            <a:r>
              <a:rPr lang="fr-FR" sz="1400" b="0" dirty="0" err="1" smtClean="0">
                <a:solidFill>
                  <a:srgbClr val="001080"/>
                </a:solidFill>
                <a:effectLst/>
                <a:latin typeface="Consolas" panose="020B0609020204030204" pitchFamily="49" charset="0"/>
              </a:rPr>
              <a:t>Ts</a:t>
            </a:r>
            <a:r>
              <a:rPr lang="fr-FR" sz="1400" b="0" dirty="0" smtClean="0">
                <a:solidFill>
                  <a:srgbClr val="000000"/>
                </a:solidFill>
                <a:effectLst/>
                <a:latin typeface="Consolas" panose="020B0609020204030204" pitchFamily="49" charset="0"/>
              </a:rPr>
              <a:t> = </a:t>
            </a:r>
            <a:r>
              <a:rPr lang="fr-FR" sz="1400" b="0" dirty="0" err="1" smtClean="0">
                <a:solidFill>
                  <a:srgbClr val="001080"/>
                </a:solidFill>
                <a:effectLst/>
                <a:latin typeface="Consolas" panose="020B0609020204030204" pitchFamily="49" charset="0"/>
              </a:rPr>
              <a:t>Tinf</a:t>
            </a:r>
            <a:endParaRPr lang="fr-FR" sz="1400" b="0" dirty="0" smtClean="0">
              <a:solidFill>
                <a:srgbClr val="000000"/>
              </a:solidFill>
              <a:effectLst/>
              <a:latin typeface="Consolas" panose="020B0609020204030204" pitchFamily="49" charset="0"/>
            </a:endParaRPr>
          </a:p>
          <a:p>
            <a:r>
              <a:rPr lang="fr-FR" sz="1400" b="0" dirty="0" smtClean="0">
                <a:solidFill>
                  <a:srgbClr val="000000"/>
                </a:solidFill>
                <a:effectLst/>
                <a:latin typeface="Consolas" panose="020B0609020204030204" pitchFamily="49" charset="0"/>
              </a:rPr>
              <a:t>        </a:t>
            </a:r>
            <a:r>
              <a:rPr lang="fr-FR" sz="1400" b="0" dirty="0" smtClean="0">
                <a:solidFill>
                  <a:srgbClr val="008000"/>
                </a:solidFill>
                <a:effectLst/>
                <a:latin typeface="Consolas" panose="020B0609020204030204" pitchFamily="49" charset="0"/>
              </a:rPr>
              <a:t># boucle de convergence (point fixe) </a:t>
            </a:r>
            <a:endParaRPr lang="fr-FR" sz="1400" b="0" dirty="0" smtClean="0">
              <a:solidFill>
                <a:srgbClr val="000000"/>
              </a:solidFill>
              <a:effectLst/>
              <a:latin typeface="Consolas" panose="020B0609020204030204" pitchFamily="49" charset="0"/>
            </a:endParaRPr>
          </a:p>
          <a:p>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for</a:t>
            </a:r>
            <a:r>
              <a:rPr lang="fr-FR" sz="1400" b="0" dirty="0" smtClean="0">
                <a:solidFill>
                  <a:srgbClr val="000000"/>
                </a:solidFill>
                <a:effectLst/>
                <a:latin typeface="Consolas" panose="020B0609020204030204" pitchFamily="49" charset="0"/>
              </a:rPr>
              <a:t> </a:t>
            </a:r>
            <a:r>
              <a:rPr lang="fr-FR" sz="1400" b="0" dirty="0" smtClean="0">
                <a:solidFill>
                  <a:srgbClr val="001080"/>
                </a:solidFill>
                <a:effectLst/>
                <a:latin typeface="Consolas" panose="020B0609020204030204" pitchFamily="49" charset="0"/>
              </a:rPr>
              <a:t>n</a:t>
            </a:r>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in</a:t>
            </a:r>
            <a:r>
              <a:rPr lang="fr-FR" sz="1400" b="0" dirty="0" smtClean="0">
                <a:solidFill>
                  <a:srgbClr val="000000"/>
                </a:solidFill>
                <a:effectLst/>
                <a:latin typeface="Consolas" panose="020B0609020204030204" pitchFamily="49" charset="0"/>
              </a:rPr>
              <a:t> </a:t>
            </a:r>
            <a:r>
              <a:rPr lang="fr-FR" sz="1400" b="0" dirty="0" smtClean="0">
                <a:solidFill>
                  <a:srgbClr val="267F99"/>
                </a:solidFill>
                <a:effectLst/>
                <a:latin typeface="Consolas" panose="020B0609020204030204" pitchFamily="49" charset="0"/>
              </a:rPr>
              <a:t>range</a:t>
            </a:r>
            <a:r>
              <a:rPr lang="fr-FR" sz="1400" b="0" dirty="0" smtClean="0">
                <a:solidFill>
                  <a:srgbClr val="000000"/>
                </a:solidFill>
                <a:effectLst/>
                <a:latin typeface="Consolas" panose="020B0609020204030204" pitchFamily="49" charset="0"/>
              </a:rPr>
              <a:t>(</a:t>
            </a:r>
            <a:r>
              <a:rPr lang="fr-FR" sz="1400" dirty="0">
                <a:solidFill>
                  <a:srgbClr val="098658"/>
                </a:solidFill>
                <a:latin typeface="Consolas" panose="020B0609020204030204" pitchFamily="49" charset="0"/>
              </a:rPr>
              <a:t>5</a:t>
            </a:r>
            <a:r>
              <a:rPr lang="fr-FR" sz="1400" b="0" dirty="0" smtClean="0">
                <a:solidFill>
                  <a:srgbClr val="098658"/>
                </a:solidFill>
                <a:effectLst/>
                <a:latin typeface="Consolas" panose="020B0609020204030204" pitchFamily="49" charset="0"/>
              </a:rPr>
              <a:t>0</a:t>
            </a:r>
            <a:r>
              <a:rPr lang="fr-FR" sz="1400" b="0" dirty="0" smtClean="0">
                <a:solidFill>
                  <a:srgbClr val="000000"/>
                </a:solidFill>
                <a:effectLst/>
                <a:latin typeface="Consolas" panose="020B0609020204030204" pitchFamily="49" charset="0"/>
              </a:rPr>
              <a:t>):    </a:t>
            </a:r>
          </a:p>
          <a:p>
            <a:r>
              <a:rPr lang="fr-FR" sz="1400" b="0" dirty="0" smtClean="0">
                <a:solidFill>
                  <a:srgbClr val="000000"/>
                </a:solidFill>
                <a:effectLst/>
                <a:latin typeface="Consolas" panose="020B0609020204030204" pitchFamily="49" charset="0"/>
              </a:rPr>
              <a:t>            </a:t>
            </a:r>
            <a:r>
              <a:rPr lang="fr-FR" sz="1400" b="0" dirty="0" err="1" smtClean="0">
                <a:solidFill>
                  <a:srgbClr val="001080"/>
                </a:solidFill>
                <a:effectLst/>
                <a:latin typeface="Consolas" panose="020B0609020204030204" pitchFamily="49" charset="0"/>
              </a:rPr>
              <a:t>Ts</a:t>
            </a:r>
            <a:r>
              <a:rPr lang="fr-FR" sz="1400" b="0" dirty="0" smtClean="0">
                <a:solidFill>
                  <a:srgbClr val="000000"/>
                </a:solidFill>
                <a:effectLst/>
                <a:latin typeface="Consolas" panose="020B0609020204030204" pitchFamily="49" charset="0"/>
              </a:rPr>
              <a:t> = (</a:t>
            </a:r>
            <a:r>
              <a:rPr lang="fr-FR" sz="1400" b="0" dirty="0" smtClean="0">
                <a:solidFill>
                  <a:srgbClr val="001080"/>
                </a:solidFill>
                <a:effectLst/>
                <a:latin typeface="Consolas" panose="020B0609020204030204" pitchFamily="49" charset="0"/>
              </a:rPr>
              <a:t>alpha</a:t>
            </a:r>
            <a:r>
              <a:rPr lang="fr-FR" sz="1400" b="0" dirty="0" smtClean="0">
                <a:solidFill>
                  <a:srgbClr val="000000"/>
                </a:solidFill>
                <a:effectLst/>
                <a:latin typeface="Consolas" panose="020B0609020204030204" pitchFamily="49" charset="0"/>
              </a:rPr>
              <a:t>*</a:t>
            </a:r>
            <a:r>
              <a:rPr lang="fr-FR" sz="1400" b="0" dirty="0" smtClean="0">
                <a:solidFill>
                  <a:srgbClr val="0070C1"/>
                </a:solidFill>
                <a:effectLst/>
                <a:latin typeface="Consolas" panose="020B0609020204030204" pitchFamily="49" charset="0"/>
              </a:rPr>
              <a:t>G</a:t>
            </a:r>
            <a:r>
              <a:rPr lang="fr-FR" sz="1400" b="0" dirty="0" smtClean="0">
                <a:solidFill>
                  <a:srgbClr val="000000"/>
                </a:solidFill>
                <a:effectLst/>
                <a:latin typeface="Consolas" panose="020B0609020204030204" pitchFamily="49" charset="0"/>
              </a:rPr>
              <a:t> + </a:t>
            </a:r>
            <a:r>
              <a:rPr lang="fr-FR" sz="1400" b="0" dirty="0" smtClean="0">
                <a:solidFill>
                  <a:srgbClr val="001080"/>
                </a:solidFill>
                <a:effectLst/>
                <a:latin typeface="Consolas" panose="020B0609020204030204" pitchFamily="49" charset="0"/>
              </a:rPr>
              <a:t>h</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Tinf</a:t>
            </a:r>
            <a:r>
              <a:rPr lang="fr-FR" sz="1400" b="0" dirty="0" smtClean="0">
                <a:solidFill>
                  <a:srgbClr val="000000"/>
                </a:solidFill>
                <a:effectLst/>
                <a:latin typeface="Consolas" panose="020B0609020204030204" pitchFamily="49" charset="0"/>
              </a:rPr>
              <a:t> + </a:t>
            </a:r>
            <a:r>
              <a:rPr lang="fr-FR" sz="1400" b="0" dirty="0" err="1" smtClean="0">
                <a:solidFill>
                  <a:srgbClr val="795E26"/>
                </a:solidFill>
                <a:effectLst/>
                <a:latin typeface="Consolas" panose="020B0609020204030204" pitchFamily="49" charset="0"/>
              </a:rPr>
              <a:t>hr</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Tsur</a:t>
            </a:r>
            <a:r>
              <a:rPr lang="fr-FR" sz="1400" b="0" dirty="0" smtClean="0">
                <a:solidFill>
                  <a:srgbClr val="000000"/>
                </a:solidFill>
                <a:effectLst/>
                <a:latin typeface="Consolas" panose="020B0609020204030204" pitchFamily="49" charset="0"/>
              </a:rPr>
              <a:t>)/(</a:t>
            </a:r>
            <a:r>
              <a:rPr lang="fr-FR" sz="1400" b="0" dirty="0" smtClean="0">
                <a:solidFill>
                  <a:srgbClr val="001080"/>
                </a:solidFill>
                <a:effectLst/>
                <a:latin typeface="Consolas" panose="020B0609020204030204" pitchFamily="49" charset="0"/>
              </a:rPr>
              <a:t>h</a:t>
            </a:r>
            <a:r>
              <a:rPr lang="fr-FR" sz="1400" b="0" dirty="0" smtClean="0">
                <a:solidFill>
                  <a:srgbClr val="000000"/>
                </a:solidFill>
                <a:effectLst/>
                <a:latin typeface="Consolas" panose="020B0609020204030204" pitchFamily="49" charset="0"/>
              </a:rPr>
              <a:t> + </a:t>
            </a:r>
            <a:r>
              <a:rPr lang="fr-FR" sz="1400" b="0" dirty="0" err="1" smtClean="0">
                <a:solidFill>
                  <a:srgbClr val="795E26"/>
                </a:solidFill>
                <a:effectLst/>
                <a:latin typeface="Consolas" panose="020B0609020204030204" pitchFamily="49" charset="0"/>
              </a:rPr>
              <a:t>hr</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t>
            </a:r>
            <a:r>
              <a:rPr lang="fr-FR" sz="1400" b="0" dirty="0" err="1" smtClean="0">
                <a:solidFill>
                  <a:srgbClr val="001080"/>
                </a:solidFill>
                <a:effectLst/>
                <a:latin typeface="Consolas" panose="020B0609020204030204" pitchFamily="49" charset="0"/>
              </a:rPr>
              <a:t>Tvec</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append</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Ts</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t>
            </a:r>
            <a:r>
              <a:rPr lang="fr-FR" sz="1400" b="0" dirty="0" smtClean="0">
                <a:solidFill>
                  <a:srgbClr val="AF00DB"/>
                </a:solidFill>
                <a:effectLst/>
                <a:latin typeface="Consolas" panose="020B0609020204030204" pitchFamily="49" charset="0"/>
              </a:rPr>
              <a:t>return</a:t>
            </a:r>
            <a:r>
              <a:rPr lang="fr-FR" sz="1400" b="0" dirty="0" smtClean="0">
                <a:solidFill>
                  <a:srgbClr val="000000"/>
                </a:solidFill>
                <a:effectLst/>
                <a:latin typeface="Consolas" panose="020B0609020204030204" pitchFamily="49" charset="0"/>
              </a:rPr>
              <a:t> </a:t>
            </a:r>
            <a:r>
              <a:rPr lang="fr-FR" sz="1400" b="0" dirty="0" err="1" smtClean="0">
                <a:solidFill>
                  <a:srgbClr val="267F99"/>
                </a:solidFill>
                <a:effectLst/>
                <a:latin typeface="Consolas" panose="020B0609020204030204" pitchFamily="49" charset="0"/>
              </a:rPr>
              <a:t>np</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array</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Tvec</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r>
            <a:br>
              <a:rPr lang="fr-FR" sz="1400" b="0" dirty="0" smtClean="0">
                <a:solidFill>
                  <a:srgbClr val="000000"/>
                </a:solidFill>
                <a:effectLst/>
                <a:latin typeface="Consolas" panose="020B0609020204030204" pitchFamily="49" charset="0"/>
              </a:rPr>
            </a:br>
            <a:r>
              <a:rPr lang="fr-FR" sz="1400" b="0" dirty="0" err="1" smtClean="0">
                <a:solidFill>
                  <a:srgbClr val="001080"/>
                </a:solidFill>
                <a:effectLst/>
                <a:latin typeface="Consolas" panose="020B0609020204030204" pitchFamily="49" charset="0"/>
              </a:rPr>
              <a:t>hvec</a:t>
            </a:r>
            <a:r>
              <a:rPr lang="fr-FR" sz="1400" b="0" dirty="0" smtClean="0">
                <a:solidFill>
                  <a:srgbClr val="000000"/>
                </a:solidFill>
                <a:effectLst/>
                <a:latin typeface="Consolas" panose="020B0609020204030204" pitchFamily="49" charset="0"/>
              </a:rPr>
              <a:t> = </a:t>
            </a:r>
            <a:r>
              <a:rPr lang="fr-FR" sz="1400" b="0" dirty="0" err="1" smtClean="0">
                <a:solidFill>
                  <a:srgbClr val="267F99"/>
                </a:solidFill>
                <a:effectLst/>
                <a:latin typeface="Consolas" panose="020B0609020204030204" pitchFamily="49" charset="0"/>
              </a:rPr>
              <a:t>np</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linspace</a:t>
            </a:r>
            <a:r>
              <a:rPr lang="fr-FR" sz="1400" b="0" dirty="0" smtClean="0">
                <a:solidFill>
                  <a:srgbClr val="000000"/>
                </a:solidFill>
                <a:effectLst/>
                <a:latin typeface="Consolas" panose="020B0609020204030204" pitchFamily="49" charset="0"/>
              </a:rPr>
              <a:t>(</a:t>
            </a:r>
            <a:r>
              <a:rPr lang="fr-FR" sz="1400" b="0" dirty="0" smtClean="0">
                <a:solidFill>
                  <a:srgbClr val="098658"/>
                </a:solidFill>
                <a:effectLst/>
                <a:latin typeface="Consolas" panose="020B0609020204030204" pitchFamily="49" charset="0"/>
              </a:rPr>
              <a:t>2</a:t>
            </a:r>
            <a:r>
              <a:rPr lang="fr-FR" sz="1400" b="0" dirty="0" smtClean="0">
                <a:solidFill>
                  <a:srgbClr val="000000"/>
                </a:solidFill>
                <a:effectLst/>
                <a:latin typeface="Consolas" panose="020B0609020204030204" pitchFamily="49" charset="0"/>
              </a:rPr>
              <a:t>, </a:t>
            </a:r>
            <a:r>
              <a:rPr lang="fr-FR" sz="1400" b="0" dirty="0" smtClean="0">
                <a:solidFill>
                  <a:srgbClr val="098658"/>
                </a:solidFill>
                <a:effectLst/>
                <a:latin typeface="Consolas" panose="020B0609020204030204" pitchFamily="49" charset="0"/>
              </a:rPr>
              <a:t>100</a:t>
            </a:r>
            <a:r>
              <a:rPr lang="fr-FR" sz="1400" b="0" dirty="0" smtClean="0">
                <a:solidFill>
                  <a:srgbClr val="000000"/>
                </a:solidFill>
                <a:effectLst/>
                <a:latin typeface="Consolas" panose="020B0609020204030204" pitchFamily="49" charset="0"/>
              </a:rPr>
              <a:t>, </a:t>
            </a:r>
            <a:r>
              <a:rPr lang="fr-FR" sz="1400" b="0" dirty="0" smtClean="0">
                <a:solidFill>
                  <a:srgbClr val="098658"/>
                </a:solidFill>
                <a:effectLst/>
                <a:latin typeface="Consolas" panose="020B0609020204030204" pitchFamily="49" charset="0"/>
              </a:rPr>
              <a:t>100</a:t>
            </a:r>
            <a:r>
              <a:rPr lang="fr-FR" sz="1400" b="0" dirty="0" smtClean="0">
                <a:solidFill>
                  <a:srgbClr val="000000"/>
                </a:solidFill>
                <a:effectLst/>
                <a:latin typeface="Consolas" panose="020B0609020204030204" pitchFamily="49" charset="0"/>
              </a:rPr>
              <a:t>)</a:t>
            </a:r>
          </a:p>
          <a:p>
            <a:r>
              <a:rPr lang="fr-FR" sz="1400" b="0" dirty="0" err="1" smtClean="0">
                <a:solidFill>
                  <a:srgbClr val="001080"/>
                </a:solidFill>
                <a:effectLst/>
                <a:latin typeface="Consolas" panose="020B0609020204030204" pitchFamily="49" charset="0"/>
              </a:rPr>
              <a:t>Tvec</a:t>
            </a:r>
            <a:r>
              <a:rPr lang="fr-FR" sz="1400" b="0" dirty="0" smtClean="0">
                <a:solidFill>
                  <a:srgbClr val="000000"/>
                </a:solidFill>
                <a:effectLst/>
                <a:latin typeface="Consolas" panose="020B0609020204030204" pitchFamily="49" charset="0"/>
              </a:rPr>
              <a:t> = </a:t>
            </a:r>
            <a:r>
              <a:rPr lang="fr-FR" sz="1400" b="0" dirty="0" err="1" smtClean="0">
                <a:solidFill>
                  <a:srgbClr val="795E26"/>
                </a:solidFill>
                <a:effectLst/>
                <a:latin typeface="Consolas" panose="020B0609020204030204" pitchFamily="49" charset="0"/>
              </a:rPr>
              <a:t>solve</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hvec</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t>
            </a:r>
          </a:p>
          <a:p>
            <a:r>
              <a:rPr lang="fr-FR" sz="1400" b="0" dirty="0" err="1" smtClean="0">
                <a:solidFill>
                  <a:srgbClr val="267F99"/>
                </a:solidFill>
                <a:effectLst/>
                <a:latin typeface="Consolas" panose="020B0609020204030204" pitchFamily="49" charset="0"/>
              </a:rPr>
              <a:t>plt</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plot</a:t>
            </a:r>
            <a:r>
              <a:rPr lang="fr-FR" sz="1400" b="0" dirty="0" smtClean="0">
                <a:solidFill>
                  <a:srgbClr val="000000"/>
                </a:solidFill>
                <a:effectLst/>
                <a:latin typeface="Consolas" panose="020B0609020204030204" pitchFamily="49" charset="0"/>
              </a:rPr>
              <a:t>(</a:t>
            </a:r>
            <a:r>
              <a:rPr lang="fr-FR" sz="1400" b="0" dirty="0" err="1" smtClean="0">
                <a:solidFill>
                  <a:srgbClr val="001080"/>
                </a:solidFill>
                <a:effectLst/>
                <a:latin typeface="Consolas" panose="020B0609020204030204" pitchFamily="49" charset="0"/>
              </a:rPr>
              <a:t>hvec</a:t>
            </a:r>
            <a:r>
              <a:rPr lang="fr-FR" sz="1400" b="0" dirty="0" smtClean="0">
                <a:solidFill>
                  <a:srgbClr val="000000"/>
                </a:solidFill>
                <a:effectLst/>
                <a:latin typeface="Consolas" panose="020B0609020204030204" pitchFamily="49" charset="0"/>
              </a:rPr>
              <a:t>, </a:t>
            </a:r>
            <a:r>
              <a:rPr lang="fr-FR" sz="1400" b="0" dirty="0" smtClean="0">
                <a:solidFill>
                  <a:srgbClr val="001080"/>
                </a:solidFill>
                <a:effectLst/>
                <a:latin typeface="Consolas" panose="020B0609020204030204" pitchFamily="49" charset="0"/>
              </a:rPr>
              <a:t>Tvec</a:t>
            </a:r>
            <a:r>
              <a:rPr lang="fr-FR" sz="1400" b="0" dirty="0" smtClean="0">
                <a:solidFill>
                  <a:srgbClr val="795E26"/>
                </a:solidFill>
                <a:effectLst/>
                <a:latin typeface="Consolas" panose="020B0609020204030204" pitchFamily="49" charset="0"/>
              </a:rPr>
              <a:t>-</a:t>
            </a:r>
            <a:r>
              <a:rPr lang="fr-FR" sz="1400" b="0" dirty="0" smtClean="0">
                <a:solidFill>
                  <a:srgbClr val="098658"/>
                </a:solidFill>
                <a:effectLst/>
                <a:latin typeface="Consolas" panose="020B0609020204030204" pitchFamily="49" charset="0"/>
              </a:rPr>
              <a:t>273</a:t>
            </a:r>
            <a:r>
              <a:rPr lang="fr-FR" sz="1400" b="0" dirty="0" smtClean="0">
                <a:solidFill>
                  <a:srgbClr val="000000"/>
                </a:solidFill>
                <a:effectLst/>
                <a:latin typeface="Consolas" panose="020B0609020204030204" pitchFamily="49" charset="0"/>
              </a:rPr>
              <a:t>, </a:t>
            </a:r>
            <a:r>
              <a:rPr lang="fr-FR" sz="1400" b="0" dirty="0" smtClean="0">
                <a:solidFill>
                  <a:srgbClr val="A31515"/>
                </a:solidFill>
                <a:effectLst/>
                <a:latin typeface="Consolas" panose="020B0609020204030204" pitchFamily="49" charset="0"/>
              </a:rPr>
              <a:t>'r'</a:t>
            </a:r>
            <a:r>
              <a:rPr lang="fr-FR" sz="1400" b="0" dirty="0" smtClean="0">
                <a:solidFill>
                  <a:srgbClr val="000000"/>
                </a:solidFill>
                <a:effectLst/>
                <a:latin typeface="Consolas" panose="020B0609020204030204" pitchFamily="49" charset="0"/>
              </a:rPr>
              <a:t>)</a:t>
            </a:r>
          </a:p>
          <a:p>
            <a:r>
              <a:rPr lang="fr-FR" sz="1400" b="0" dirty="0" err="1" smtClean="0">
                <a:solidFill>
                  <a:srgbClr val="267F99"/>
                </a:solidFill>
                <a:effectLst/>
                <a:latin typeface="Consolas" panose="020B0609020204030204" pitchFamily="49" charset="0"/>
              </a:rPr>
              <a:t>plt</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xlabel</a:t>
            </a:r>
            <a:r>
              <a:rPr lang="fr-FR" sz="1400" b="0" dirty="0" smtClean="0">
                <a:solidFill>
                  <a:srgbClr val="000000"/>
                </a:solidFill>
                <a:effectLst/>
                <a:latin typeface="Consolas" panose="020B0609020204030204" pitchFamily="49" charset="0"/>
              </a:rPr>
              <a:t>(</a:t>
            </a:r>
            <a:r>
              <a:rPr lang="fr-FR" sz="1400" b="0" dirty="0" smtClean="0">
                <a:solidFill>
                  <a:srgbClr val="A31515"/>
                </a:solidFill>
                <a:effectLst/>
                <a:latin typeface="Consolas" panose="020B0609020204030204" pitchFamily="49" charset="0"/>
              </a:rPr>
              <a:t>'$h (</a:t>
            </a:r>
            <a:r>
              <a:rPr lang="fr-FR" sz="1400" b="0" dirty="0" err="1" smtClean="0">
                <a:solidFill>
                  <a:srgbClr val="A31515"/>
                </a:solidFill>
                <a:effectLst/>
                <a:latin typeface="Consolas" panose="020B0609020204030204" pitchFamily="49" charset="0"/>
              </a:rPr>
              <a:t>W.m</a:t>
            </a:r>
            <a:r>
              <a:rPr lang="fr-FR" sz="1400" b="0" dirty="0" smtClean="0">
                <a:solidFill>
                  <a:srgbClr val="A31515"/>
                </a:solidFill>
                <a:effectLst/>
                <a:latin typeface="Consolas" panose="020B0609020204030204" pitchFamily="49" charset="0"/>
              </a:rPr>
              <a:t>^{-2}.K^{-1})$'</a:t>
            </a:r>
            <a:r>
              <a:rPr lang="fr-FR" sz="1400" b="0" dirty="0" smtClean="0">
                <a:solidFill>
                  <a:srgbClr val="000000"/>
                </a:solidFill>
                <a:effectLst/>
                <a:latin typeface="Consolas" panose="020B0609020204030204" pitchFamily="49" charset="0"/>
              </a:rPr>
              <a:t>)</a:t>
            </a:r>
          </a:p>
          <a:p>
            <a:r>
              <a:rPr lang="fr-FR" sz="1400" b="0" dirty="0" err="1" smtClean="0">
                <a:solidFill>
                  <a:srgbClr val="267F99"/>
                </a:solidFill>
                <a:effectLst/>
                <a:latin typeface="Consolas" panose="020B0609020204030204" pitchFamily="49" charset="0"/>
              </a:rPr>
              <a:t>plt</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ylabel</a:t>
            </a:r>
            <a:r>
              <a:rPr lang="fr-FR" sz="1400" b="0" dirty="0" smtClean="0">
                <a:solidFill>
                  <a:srgbClr val="000000"/>
                </a:solidFill>
                <a:effectLst/>
                <a:latin typeface="Consolas" panose="020B0609020204030204" pitchFamily="49" charset="0"/>
              </a:rPr>
              <a:t>(</a:t>
            </a:r>
            <a:r>
              <a:rPr lang="fr-FR" sz="1400" b="0" dirty="0" smtClean="0">
                <a:solidFill>
                  <a:srgbClr val="A31515"/>
                </a:solidFill>
                <a:effectLst/>
                <a:latin typeface="Consolas" panose="020B0609020204030204" pitchFamily="49" charset="0"/>
              </a:rPr>
              <a:t>'$</a:t>
            </a:r>
            <a:r>
              <a:rPr lang="fr-FR" sz="1400" b="0" dirty="0" err="1" smtClean="0">
                <a:solidFill>
                  <a:srgbClr val="A31515"/>
                </a:solidFill>
                <a:effectLst/>
                <a:latin typeface="Consolas" panose="020B0609020204030204" pitchFamily="49" charset="0"/>
              </a:rPr>
              <a:t>T_s</a:t>
            </a:r>
            <a:r>
              <a:rPr lang="fr-FR" sz="1400" b="0" dirty="0" smtClean="0">
                <a:solidFill>
                  <a:srgbClr val="A31515"/>
                </a:solidFill>
                <a:effectLst/>
                <a:latin typeface="Consolas" panose="020B0609020204030204" pitchFamily="49" charset="0"/>
              </a:rPr>
              <a:t>$ (°C)'</a:t>
            </a:r>
            <a:r>
              <a:rPr lang="fr-FR" sz="1400" b="0" dirty="0" smtClean="0">
                <a:solidFill>
                  <a:srgbClr val="000000"/>
                </a:solidFill>
                <a:effectLst/>
                <a:latin typeface="Consolas" panose="020B0609020204030204" pitchFamily="49" charset="0"/>
              </a:rPr>
              <a:t>)</a:t>
            </a:r>
          </a:p>
          <a:p>
            <a:r>
              <a:rPr lang="fr-FR" sz="1400" b="0" dirty="0" err="1" smtClean="0">
                <a:solidFill>
                  <a:srgbClr val="267F99"/>
                </a:solidFill>
                <a:effectLst/>
                <a:latin typeface="Consolas" panose="020B0609020204030204" pitchFamily="49" charset="0"/>
              </a:rPr>
              <a:t>plt</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grid</a:t>
            </a:r>
            <a:r>
              <a:rPr lang="fr-FR" sz="1400" b="0" dirty="0" smtClean="0">
                <a:solidFill>
                  <a:srgbClr val="000000"/>
                </a:solidFill>
                <a:effectLst/>
                <a:latin typeface="Consolas" panose="020B0609020204030204" pitchFamily="49" charset="0"/>
              </a:rPr>
              <a:t>()</a:t>
            </a:r>
          </a:p>
          <a:p>
            <a:r>
              <a:rPr lang="fr-FR" sz="1400" b="0" dirty="0" err="1" smtClean="0">
                <a:solidFill>
                  <a:srgbClr val="267F99"/>
                </a:solidFill>
                <a:effectLst/>
                <a:latin typeface="Consolas" panose="020B0609020204030204" pitchFamily="49" charset="0"/>
              </a:rPr>
              <a:t>plt</a:t>
            </a:r>
            <a:r>
              <a:rPr lang="fr-FR" sz="1400" b="0" dirty="0" err="1" smtClean="0">
                <a:solidFill>
                  <a:srgbClr val="000000"/>
                </a:solidFill>
                <a:effectLst/>
                <a:latin typeface="Consolas" panose="020B0609020204030204" pitchFamily="49" charset="0"/>
              </a:rPr>
              <a:t>.</a:t>
            </a:r>
            <a:r>
              <a:rPr lang="fr-FR" sz="1400" b="0" dirty="0" err="1" smtClean="0">
                <a:solidFill>
                  <a:srgbClr val="795E26"/>
                </a:solidFill>
                <a:effectLst/>
                <a:latin typeface="Consolas" panose="020B0609020204030204" pitchFamily="49" charset="0"/>
              </a:rPr>
              <a:t>show</a:t>
            </a:r>
            <a:r>
              <a:rPr lang="fr-FR" sz="1400" b="0" dirty="0" smtClean="0">
                <a:solidFill>
                  <a:srgbClr val="000000"/>
                </a:solidFill>
                <a:effectLst/>
                <a:latin typeface="Consolas" panose="020B0609020204030204" pitchFamily="49" charset="0"/>
              </a:rPr>
              <a:t>()</a:t>
            </a:r>
          </a:p>
          <a:p>
            <a:r>
              <a:rPr lang="fr-FR" sz="1400" b="0" dirty="0" smtClean="0">
                <a:solidFill>
                  <a:srgbClr val="000000"/>
                </a:solidFill>
                <a:effectLst/>
                <a:latin typeface="Consolas" panose="020B0609020204030204" pitchFamily="49" charset="0"/>
              </a:rPr>
              <a:t/>
            </a:r>
            <a:br>
              <a:rPr lang="fr-FR" sz="1400" b="0" dirty="0" smtClean="0">
                <a:solidFill>
                  <a:srgbClr val="000000"/>
                </a:solidFill>
                <a:effectLst/>
                <a:latin typeface="Consolas" panose="020B0609020204030204" pitchFamily="49" charset="0"/>
              </a:rPr>
            </a:br>
            <a:endParaRPr lang="fr-FR" sz="1400" b="0" dirty="0">
              <a:solidFill>
                <a:srgbClr val="000000"/>
              </a:solidFill>
              <a:effectLst/>
              <a:latin typeface="Consolas" panose="020B0609020204030204" pitchFamily="49" charset="0"/>
            </a:endParaRPr>
          </a:p>
        </p:txBody>
      </p:sp>
      <p:pic>
        <p:nvPicPr>
          <p:cNvPr id="8" name="Image 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912609" y="4651141"/>
            <a:ext cx="7844571" cy="1921372"/>
          </a:xfrm>
          <a:prstGeom prst="rect">
            <a:avLst/>
          </a:prstGeom>
        </p:spPr>
      </p:pic>
      <p:sp>
        <p:nvSpPr>
          <p:cNvPr id="6" name="ZoneTexte 5"/>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1154016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23</a:t>
            </a:fld>
            <a:endParaRPr lang="fr-FR"/>
          </a:p>
        </p:txBody>
      </p:sp>
      <p:sp>
        <p:nvSpPr>
          <p:cNvPr id="5" name="ZoneTexte 4"/>
          <p:cNvSpPr txBox="1"/>
          <p:nvPr/>
        </p:nvSpPr>
        <p:spPr>
          <a:xfrm>
            <a:off x="1840117" y="954845"/>
            <a:ext cx="2966389" cy="5016758"/>
          </a:xfrm>
          <a:prstGeom prst="rect">
            <a:avLst/>
          </a:prstGeom>
          <a:noFill/>
        </p:spPr>
        <p:txBody>
          <a:bodyPr wrap="none" rtlCol="0">
            <a:spAutoFit/>
          </a:bodyPr>
          <a:lstStyle/>
          <a:p>
            <a:r>
              <a:rPr lang="fr-FR" sz="2000" dirty="0"/>
              <a:t>h = 2 </a:t>
            </a:r>
            <a:r>
              <a:rPr lang="fr-FR" sz="2000" dirty="0" err="1"/>
              <a:t>iter</a:t>
            </a:r>
            <a:r>
              <a:rPr lang="fr-FR" sz="2000" dirty="0"/>
              <a:t> = 0 </a:t>
            </a:r>
            <a:r>
              <a:rPr lang="fr-FR" sz="2000" dirty="0" err="1"/>
              <a:t>Ts</a:t>
            </a:r>
            <a:r>
              <a:rPr lang="fr-FR" sz="2000" dirty="0"/>
              <a:t> = 618.885</a:t>
            </a:r>
          </a:p>
          <a:p>
            <a:r>
              <a:rPr lang="fr-FR" sz="2000" dirty="0"/>
              <a:t>h = 2 </a:t>
            </a:r>
            <a:r>
              <a:rPr lang="fr-FR" sz="2000" dirty="0" err="1"/>
              <a:t>iter</a:t>
            </a:r>
            <a:r>
              <a:rPr lang="fr-FR" sz="2000" dirty="0"/>
              <a:t> = 1 </a:t>
            </a:r>
            <a:r>
              <a:rPr lang="fr-FR" sz="2000" dirty="0" err="1"/>
              <a:t>Ts</a:t>
            </a:r>
            <a:r>
              <a:rPr lang="fr-FR" sz="2000" dirty="0"/>
              <a:t> = 412.647</a:t>
            </a:r>
          </a:p>
          <a:p>
            <a:r>
              <a:rPr lang="fr-FR" sz="2000" dirty="0"/>
              <a:t>h = 2 </a:t>
            </a:r>
            <a:r>
              <a:rPr lang="fr-FR" sz="2000" dirty="0" err="1"/>
              <a:t>iter</a:t>
            </a:r>
            <a:r>
              <a:rPr lang="fr-FR" sz="2000" dirty="0"/>
              <a:t> = 2 </a:t>
            </a:r>
            <a:r>
              <a:rPr lang="fr-FR" sz="2000" dirty="0" err="1"/>
              <a:t>Ts</a:t>
            </a:r>
            <a:r>
              <a:rPr lang="fr-FR" sz="2000" dirty="0"/>
              <a:t> = 518.924</a:t>
            </a:r>
          </a:p>
          <a:p>
            <a:r>
              <a:rPr lang="fr-FR" sz="2000" dirty="0"/>
              <a:t>h = 2 </a:t>
            </a:r>
            <a:r>
              <a:rPr lang="fr-FR" sz="2000" dirty="0" err="1"/>
              <a:t>iter</a:t>
            </a:r>
            <a:r>
              <a:rPr lang="fr-FR" sz="2000" dirty="0"/>
              <a:t> = 3 </a:t>
            </a:r>
            <a:r>
              <a:rPr lang="fr-FR" sz="2000" dirty="0" err="1"/>
              <a:t>Ts</a:t>
            </a:r>
            <a:r>
              <a:rPr lang="fr-FR" sz="2000" dirty="0"/>
              <a:t> = 454.719</a:t>
            </a:r>
          </a:p>
          <a:p>
            <a:r>
              <a:rPr lang="fr-FR" sz="2000" dirty="0"/>
              <a:t>h = 2 </a:t>
            </a:r>
            <a:r>
              <a:rPr lang="fr-FR" sz="2000" dirty="0" err="1"/>
              <a:t>iter</a:t>
            </a:r>
            <a:r>
              <a:rPr lang="fr-FR" sz="2000" dirty="0"/>
              <a:t> = 4 </a:t>
            </a:r>
            <a:r>
              <a:rPr lang="fr-FR" sz="2000" dirty="0" err="1"/>
              <a:t>Ts</a:t>
            </a:r>
            <a:r>
              <a:rPr lang="fr-FR" sz="2000" dirty="0"/>
              <a:t> = 490.785</a:t>
            </a:r>
          </a:p>
          <a:p>
            <a:r>
              <a:rPr lang="fr-FR" sz="2000" dirty="0"/>
              <a:t>h = 2 </a:t>
            </a:r>
            <a:r>
              <a:rPr lang="fr-FR" sz="2000" dirty="0" err="1"/>
              <a:t>iter</a:t>
            </a:r>
            <a:r>
              <a:rPr lang="fr-FR" sz="2000" dirty="0"/>
              <a:t> = 5 </a:t>
            </a:r>
            <a:r>
              <a:rPr lang="fr-FR" sz="2000" dirty="0" err="1"/>
              <a:t>Ts</a:t>
            </a:r>
            <a:r>
              <a:rPr lang="fr-FR" sz="2000" dirty="0"/>
              <a:t> = 469.552</a:t>
            </a:r>
          </a:p>
          <a:p>
            <a:r>
              <a:rPr lang="fr-FR" sz="2000" dirty="0"/>
              <a:t>h = 2 </a:t>
            </a:r>
            <a:r>
              <a:rPr lang="fr-FR" sz="2000" dirty="0" err="1"/>
              <a:t>iter</a:t>
            </a:r>
            <a:r>
              <a:rPr lang="fr-FR" sz="2000" dirty="0"/>
              <a:t> = 6 </a:t>
            </a:r>
            <a:r>
              <a:rPr lang="fr-FR" sz="2000" dirty="0" err="1"/>
              <a:t>Ts</a:t>
            </a:r>
            <a:r>
              <a:rPr lang="fr-FR" sz="2000" dirty="0"/>
              <a:t> = 481.740</a:t>
            </a:r>
          </a:p>
          <a:p>
            <a:r>
              <a:rPr lang="fr-FR" sz="2000" dirty="0"/>
              <a:t>h = 2 </a:t>
            </a:r>
            <a:r>
              <a:rPr lang="fr-FR" sz="2000" dirty="0" err="1"/>
              <a:t>iter</a:t>
            </a:r>
            <a:r>
              <a:rPr lang="fr-FR" sz="2000" dirty="0"/>
              <a:t> = 7 </a:t>
            </a:r>
            <a:r>
              <a:rPr lang="fr-FR" sz="2000" dirty="0" err="1"/>
              <a:t>Ts</a:t>
            </a:r>
            <a:r>
              <a:rPr lang="fr-FR" sz="2000" dirty="0"/>
              <a:t> = 474.636</a:t>
            </a:r>
          </a:p>
          <a:p>
            <a:r>
              <a:rPr lang="fr-FR" sz="2000" dirty="0"/>
              <a:t>h = 2 </a:t>
            </a:r>
            <a:r>
              <a:rPr lang="fr-FR" sz="2000" dirty="0" err="1"/>
              <a:t>iter</a:t>
            </a:r>
            <a:r>
              <a:rPr lang="fr-FR" sz="2000" dirty="0"/>
              <a:t> = 8 </a:t>
            </a:r>
            <a:r>
              <a:rPr lang="fr-FR" sz="2000" dirty="0" err="1"/>
              <a:t>Ts</a:t>
            </a:r>
            <a:r>
              <a:rPr lang="fr-FR" sz="2000" dirty="0"/>
              <a:t> = 478.741</a:t>
            </a:r>
          </a:p>
          <a:p>
            <a:r>
              <a:rPr lang="fr-FR" sz="2000" dirty="0"/>
              <a:t>h = 2 </a:t>
            </a:r>
            <a:r>
              <a:rPr lang="fr-FR" sz="2000" dirty="0" err="1"/>
              <a:t>iter</a:t>
            </a:r>
            <a:r>
              <a:rPr lang="fr-FR" sz="2000" dirty="0"/>
              <a:t> = 9 </a:t>
            </a:r>
            <a:r>
              <a:rPr lang="fr-FR" sz="2000" dirty="0" err="1"/>
              <a:t>Ts</a:t>
            </a:r>
            <a:r>
              <a:rPr lang="fr-FR" sz="2000" dirty="0"/>
              <a:t> = 476.357</a:t>
            </a:r>
          </a:p>
          <a:p>
            <a:r>
              <a:rPr lang="fr-FR" sz="2000" dirty="0"/>
              <a:t>h = 2 </a:t>
            </a:r>
            <a:r>
              <a:rPr lang="fr-FR" sz="2000" dirty="0" err="1"/>
              <a:t>iter</a:t>
            </a:r>
            <a:r>
              <a:rPr lang="fr-FR" sz="2000" dirty="0"/>
              <a:t> = 10 </a:t>
            </a:r>
            <a:r>
              <a:rPr lang="fr-FR" sz="2000" dirty="0" err="1"/>
              <a:t>Ts</a:t>
            </a:r>
            <a:r>
              <a:rPr lang="fr-FR" sz="2000" dirty="0"/>
              <a:t> = 477.737</a:t>
            </a:r>
          </a:p>
          <a:p>
            <a:r>
              <a:rPr lang="fr-FR" sz="2000" dirty="0"/>
              <a:t>h = 2 </a:t>
            </a:r>
            <a:r>
              <a:rPr lang="fr-FR" sz="2000" dirty="0" err="1"/>
              <a:t>iter</a:t>
            </a:r>
            <a:r>
              <a:rPr lang="fr-FR" sz="2000" dirty="0"/>
              <a:t> = 11 </a:t>
            </a:r>
            <a:r>
              <a:rPr lang="fr-FR" sz="2000" dirty="0" err="1"/>
              <a:t>Ts</a:t>
            </a:r>
            <a:r>
              <a:rPr lang="fr-FR" sz="2000" dirty="0"/>
              <a:t> = 476.937</a:t>
            </a:r>
          </a:p>
          <a:p>
            <a:r>
              <a:rPr lang="fr-FR" sz="2000" dirty="0"/>
              <a:t>h = 2 </a:t>
            </a:r>
            <a:r>
              <a:rPr lang="fr-FR" sz="2000" dirty="0" err="1"/>
              <a:t>iter</a:t>
            </a:r>
            <a:r>
              <a:rPr lang="fr-FR" sz="2000" dirty="0"/>
              <a:t> = 12 </a:t>
            </a:r>
            <a:r>
              <a:rPr lang="fr-FR" sz="2000" dirty="0" err="1"/>
              <a:t>Ts</a:t>
            </a:r>
            <a:r>
              <a:rPr lang="fr-FR" sz="2000" dirty="0"/>
              <a:t> = 477.400</a:t>
            </a:r>
          </a:p>
          <a:p>
            <a:r>
              <a:rPr lang="fr-FR" sz="2000" dirty="0"/>
              <a:t>h = 2 </a:t>
            </a:r>
            <a:r>
              <a:rPr lang="fr-FR" sz="2000" dirty="0" err="1"/>
              <a:t>iter</a:t>
            </a:r>
            <a:r>
              <a:rPr lang="fr-FR" sz="2000" dirty="0"/>
              <a:t> = 13 </a:t>
            </a:r>
            <a:r>
              <a:rPr lang="fr-FR" sz="2000" dirty="0" err="1"/>
              <a:t>Ts</a:t>
            </a:r>
            <a:r>
              <a:rPr lang="fr-FR" sz="2000" dirty="0"/>
              <a:t> = 477.131</a:t>
            </a:r>
          </a:p>
          <a:p>
            <a:r>
              <a:rPr lang="fr-FR" sz="2000" dirty="0"/>
              <a:t>h = 2 </a:t>
            </a:r>
            <a:r>
              <a:rPr lang="fr-FR" sz="2000" dirty="0" err="1"/>
              <a:t>iter</a:t>
            </a:r>
            <a:r>
              <a:rPr lang="fr-FR" sz="2000" dirty="0"/>
              <a:t> = 14 </a:t>
            </a:r>
            <a:r>
              <a:rPr lang="fr-FR" sz="2000" dirty="0" err="1"/>
              <a:t>Ts</a:t>
            </a:r>
            <a:r>
              <a:rPr lang="fr-FR" sz="2000" dirty="0"/>
              <a:t> = 477.287</a:t>
            </a:r>
          </a:p>
          <a:p>
            <a:r>
              <a:rPr lang="fr-FR" sz="2000" dirty="0"/>
              <a:t>h = 2 </a:t>
            </a:r>
            <a:r>
              <a:rPr lang="fr-FR" sz="2000" dirty="0" err="1"/>
              <a:t>iter</a:t>
            </a:r>
            <a:r>
              <a:rPr lang="fr-FR" sz="2000" dirty="0"/>
              <a:t> = 15 </a:t>
            </a:r>
            <a:r>
              <a:rPr lang="fr-FR" sz="2000" dirty="0" err="1"/>
              <a:t>Ts</a:t>
            </a:r>
            <a:r>
              <a:rPr lang="fr-FR" sz="2000" dirty="0"/>
              <a:t> = </a:t>
            </a:r>
            <a:r>
              <a:rPr lang="fr-FR" sz="2000" dirty="0" smtClean="0"/>
              <a:t>477.197</a:t>
            </a:r>
            <a:endParaRPr lang="fr-FR" sz="2000" dirty="0"/>
          </a:p>
        </p:txBody>
      </p:sp>
      <p:sp>
        <p:nvSpPr>
          <p:cNvPr id="6" name="ZoneTexte 5"/>
          <p:cNvSpPr txBox="1"/>
          <p:nvPr/>
        </p:nvSpPr>
        <p:spPr>
          <a:xfrm>
            <a:off x="5953369" y="1028868"/>
            <a:ext cx="2966389" cy="3170099"/>
          </a:xfrm>
          <a:prstGeom prst="rect">
            <a:avLst/>
          </a:prstGeom>
          <a:noFill/>
        </p:spPr>
        <p:txBody>
          <a:bodyPr wrap="none" rtlCol="0">
            <a:spAutoFit/>
          </a:bodyPr>
          <a:lstStyle/>
          <a:p>
            <a:r>
              <a:rPr lang="fr-FR" sz="2000" dirty="0" smtClean="0"/>
              <a:t>h </a:t>
            </a:r>
            <a:r>
              <a:rPr lang="fr-FR" sz="2000" dirty="0"/>
              <a:t>= 2 </a:t>
            </a:r>
            <a:r>
              <a:rPr lang="fr-FR" sz="2000" dirty="0" err="1"/>
              <a:t>iter</a:t>
            </a:r>
            <a:r>
              <a:rPr lang="fr-FR" sz="2000" dirty="0"/>
              <a:t> = 16 </a:t>
            </a:r>
            <a:r>
              <a:rPr lang="fr-FR" sz="2000" dirty="0" err="1"/>
              <a:t>Ts</a:t>
            </a:r>
            <a:r>
              <a:rPr lang="fr-FR" sz="2000" dirty="0"/>
              <a:t> = 477.249</a:t>
            </a:r>
          </a:p>
          <a:p>
            <a:r>
              <a:rPr lang="fr-FR" sz="2000" dirty="0"/>
              <a:t>h = 2 </a:t>
            </a:r>
            <a:r>
              <a:rPr lang="fr-FR" sz="2000" dirty="0" err="1"/>
              <a:t>iter</a:t>
            </a:r>
            <a:r>
              <a:rPr lang="fr-FR" sz="2000" dirty="0"/>
              <a:t> = 17 </a:t>
            </a:r>
            <a:r>
              <a:rPr lang="fr-FR" sz="2000" dirty="0" err="1"/>
              <a:t>Ts</a:t>
            </a:r>
            <a:r>
              <a:rPr lang="fr-FR" sz="2000" dirty="0"/>
              <a:t> = 477.219</a:t>
            </a:r>
          </a:p>
          <a:p>
            <a:r>
              <a:rPr lang="fr-FR" sz="2000" dirty="0"/>
              <a:t>h = 2 </a:t>
            </a:r>
            <a:r>
              <a:rPr lang="fr-FR" sz="2000" dirty="0" err="1"/>
              <a:t>iter</a:t>
            </a:r>
            <a:r>
              <a:rPr lang="fr-FR" sz="2000" dirty="0"/>
              <a:t> = 18 </a:t>
            </a:r>
            <a:r>
              <a:rPr lang="fr-FR" sz="2000" dirty="0" err="1"/>
              <a:t>Ts</a:t>
            </a:r>
            <a:r>
              <a:rPr lang="fr-FR" sz="2000" dirty="0"/>
              <a:t> = 477.237</a:t>
            </a:r>
          </a:p>
          <a:p>
            <a:r>
              <a:rPr lang="fr-FR" sz="2000" dirty="0"/>
              <a:t>h = 2 </a:t>
            </a:r>
            <a:r>
              <a:rPr lang="fr-FR" sz="2000" dirty="0" err="1"/>
              <a:t>iter</a:t>
            </a:r>
            <a:r>
              <a:rPr lang="fr-FR" sz="2000" dirty="0"/>
              <a:t> = 19 </a:t>
            </a:r>
            <a:r>
              <a:rPr lang="fr-FR" sz="2000" dirty="0" err="1"/>
              <a:t>Ts</a:t>
            </a:r>
            <a:r>
              <a:rPr lang="fr-FR" sz="2000" dirty="0"/>
              <a:t> = 477.226</a:t>
            </a:r>
          </a:p>
          <a:p>
            <a:r>
              <a:rPr lang="fr-FR" sz="2000" dirty="0"/>
              <a:t>h = 2 </a:t>
            </a:r>
            <a:r>
              <a:rPr lang="fr-FR" sz="2000" dirty="0" err="1"/>
              <a:t>iter</a:t>
            </a:r>
            <a:r>
              <a:rPr lang="fr-FR" sz="2000" dirty="0"/>
              <a:t> = 20 </a:t>
            </a:r>
            <a:r>
              <a:rPr lang="fr-FR" sz="2000" dirty="0" err="1"/>
              <a:t>Ts</a:t>
            </a:r>
            <a:r>
              <a:rPr lang="fr-FR" sz="2000" dirty="0"/>
              <a:t> = 477.232</a:t>
            </a:r>
          </a:p>
          <a:p>
            <a:r>
              <a:rPr lang="fr-FR" sz="2000" dirty="0"/>
              <a:t>h = 2 </a:t>
            </a:r>
            <a:r>
              <a:rPr lang="fr-FR" sz="2000" dirty="0" err="1"/>
              <a:t>iter</a:t>
            </a:r>
            <a:r>
              <a:rPr lang="fr-FR" sz="2000" dirty="0"/>
              <a:t> = 21 </a:t>
            </a:r>
            <a:r>
              <a:rPr lang="fr-FR" sz="2000" dirty="0" err="1"/>
              <a:t>Ts</a:t>
            </a:r>
            <a:r>
              <a:rPr lang="fr-FR" sz="2000" dirty="0"/>
              <a:t> = 477.229</a:t>
            </a:r>
          </a:p>
          <a:p>
            <a:r>
              <a:rPr lang="fr-FR" sz="2000" dirty="0"/>
              <a:t>h = 2 </a:t>
            </a:r>
            <a:r>
              <a:rPr lang="fr-FR" sz="2000" dirty="0" err="1"/>
              <a:t>iter</a:t>
            </a:r>
            <a:r>
              <a:rPr lang="fr-FR" sz="2000" dirty="0"/>
              <a:t> = 22 </a:t>
            </a:r>
            <a:r>
              <a:rPr lang="fr-FR" sz="2000" dirty="0" err="1"/>
              <a:t>Ts</a:t>
            </a:r>
            <a:r>
              <a:rPr lang="fr-FR" sz="2000" dirty="0"/>
              <a:t> = 477.231</a:t>
            </a:r>
          </a:p>
          <a:p>
            <a:r>
              <a:rPr lang="fr-FR" sz="2000" dirty="0"/>
              <a:t>h = 2 </a:t>
            </a:r>
            <a:r>
              <a:rPr lang="fr-FR" sz="2000" dirty="0" err="1"/>
              <a:t>iter</a:t>
            </a:r>
            <a:r>
              <a:rPr lang="fr-FR" sz="2000" dirty="0"/>
              <a:t> = 23 </a:t>
            </a:r>
            <a:r>
              <a:rPr lang="fr-FR" sz="2000" dirty="0" err="1"/>
              <a:t>Ts</a:t>
            </a:r>
            <a:r>
              <a:rPr lang="fr-FR" sz="2000" dirty="0"/>
              <a:t> = 477.230</a:t>
            </a:r>
          </a:p>
          <a:p>
            <a:r>
              <a:rPr lang="fr-FR" sz="2000" dirty="0"/>
              <a:t>h = 2 </a:t>
            </a:r>
            <a:r>
              <a:rPr lang="fr-FR" sz="2000" dirty="0" err="1"/>
              <a:t>iter</a:t>
            </a:r>
            <a:r>
              <a:rPr lang="fr-FR" sz="2000" dirty="0"/>
              <a:t> = 24 </a:t>
            </a:r>
            <a:r>
              <a:rPr lang="fr-FR" sz="2000" dirty="0" err="1"/>
              <a:t>Ts</a:t>
            </a:r>
            <a:r>
              <a:rPr lang="fr-FR" sz="2000" dirty="0"/>
              <a:t> = 477.230</a:t>
            </a:r>
          </a:p>
          <a:p>
            <a:r>
              <a:rPr lang="fr-FR" sz="2000" dirty="0"/>
              <a:t>h = 2 </a:t>
            </a:r>
            <a:r>
              <a:rPr lang="fr-FR" sz="2000" dirty="0" err="1"/>
              <a:t>iter</a:t>
            </a:r>
            <a:r>
              <a:rPr lang="fr-FR" sz="2000" dirty="0"/>
              <a:t> = 25 </a:t>
            </a:r>
            <a:r>
              <a:rPr lang="fr-FR" sz="2000" dirty="0" err="1"/>
              <a:t>Ts</a:t>
            </a:r>
            <a:r>
              <a:rPr lang="fr-FR" sz="2000" dirty="0"/>
              <a:t> = </a:t>
            </a:r>
            <a:r>
              <a:rPr lang="fr-FR" sz="2000" dirty="0" smtClean="0"/>
              <a:t>477.230</a:t>
            </a:r>
            <a:endParaRPr lang="fr-FR" sz="2000" dirty="0"/>
          </a:p>
        </p:txBody>
      </p:sp>
      <p:sp>
        <p:nvSpPr>
          <p:cNvPr id="7" name="ZoneTexte 6"/>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
        <p:nvSpPr>
          <p:cNvPr id="8" name="ZoneTexte 7"/>
          <p:cNvSpPr txBox="1"/>
          <p:nvPr/>
        </p:nvSpPr>
        <p:spPr>
          <a:xfrm>
            <a:off x="1840117" y="107722"/>
            <a:ext cx="6165406" cy="523220"/>
          </a:xfrm>
          <a:prstGeom prst="rect">
            <a:avLst/>
          </a:prstGeom>
          <a:noFill/>
        </p:spPr>
        <p:txBody>
          <a:bodyPr wrap="none" rtlCol="0">
            <a:spAutoFit/>
          </a:bodyPr>
          <a:lstStyle/>
          <a:p>
            <a:r>
              <a:rPr lang="fr-FR" sz="2800" dirty="0" smtClean="0"/>
              <a:t>Convergence de la méthode du point fixe</a:t>
            </a:r>
            <a:endParaRPr lang="fr-FR" sz="2800" dirty="0"/>
          </a:p>
        </p:txBody>
      </p:sp>
      <p:pic>
        <p:nvPicPr>
          <p:cNvPr id="11" name="Image 10" descr="\documentclass{article}&#10;\usepackage{amsmath}&#10;\pagestyle{empty}&#10;\begin{document}&#10;&#10;\noindent&#10;La convergence n'est pas uniforme car il n'y a pas \\décroissance monotone et régulière de l'erreur.&#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953369" y="4596893"/>
            <a:ext cx="5523808" cy="533333"/>
          </a:xfrm>
          <a:prstGeom prst="rect">
            <a:avLst/>
          </a:prstGeom>
        </p:spPr>
      </p:pic>
    </p:spTree>
    <p:extLst>
      <p:ext uri="{BB962C8B-B14F-4D97-AF65-F5344CB8AC3E}">
        <p14:creationId xmlns:p14="http://schemas.microsoft.com/office/powerpoint/2010/main" val="27565916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24</a:t>
            </a:fld>
            <a:endParaRPr lang="fr-FR"/>
          </a:p>
        </p:txBody>
      </p:sp>
      <p:pic>
        <p:nvPicPr>
          <p:cNvPr id="6" name="Image 5" descr="\documentclass{article}&#10;\usepackage{amsmath}&#10;\usepackage{xcolor}&#10;\pagestyle{empty}&#10;\usepackage[paperwidth=20cm]{geometry}&#10;\begin{document}&#10;&#10;\section*{EXPERT : convergence de la méthode du point fixe}&#10;La méthode du point fixe consiste à appliquer la relation de récurrence &#10;$$ x^{k+1} = g(x^k)$$&#10;&#10;Toute perturbation à l'itération $k$ se propage à l'instant d'après, selon:&#10;$$x^{k+1} + \epsilon^{k+1} = g(x^k + \epsilon^k) \approx g(x^k) + \epsilon^k \; g'(x^k)$$.&#10;&#10;Autrement dit :&#10;$$\epsilon^{k+1} = \epsilon^k \; g'(x^k)$$.&#10;&#10;Le schéma est stable si $|g'(x^k)|&lt;1$ pour tout $x^k$ \\dans le domaine où $x$ prend ses valeurs. &#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26129" y="560002"/>
            <a:ext cx="8383542" cy="4278857"/>
          </a:xfrm>
          <a:prstGeom prst="rect">
            <a:avLst/>
          </a:prstGeom>
        </p:spPr>
      </p:pic>
      <p:sp>
        <p:nvSpPr>
          <p:cNvPr id="5" name="ZoneTexte 4"/>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9845" y="2936558"/>
            <a:ext cx="5699652" cy="3419792"/>
          </a:xfrm>
          <a:prstGeom prst="rect">
            <a:avLst/>
          </a:prstGeom>
        </p:spPr>
      </p:pic>
    </p:spTree>
    <p:extLst>
      <p:ext uri="{BB962C8B-B14F-4D97-AF65-F5344CB8AC3E}">
        <p14:creationId xmlns:p14="http://schemas.microsoft.com/office/powerpoint/2010/main" val="1938906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13DDC6-9977-4A69-882A-1641CFA73689}" type="slidenum">
              <a:rPr lang="fr-FR" smtClean="0"/>
              <a:t>25</a:t>
            </a:fld>
            <a:endParaRPr lang="fr-FR"/>
          </a:p>
        </p:txBody>
      </p:sp>
      <p:pic>
        <p:nvPicPr>
          <p:cNvPr id="8" name="Image 7"/>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860673" y="680918"/>
            <a:ext cx="9776914" cy="4590173"/>
          </a:xfrm>
          <a:prstGeom prst="rect">
            <a:avLst/>
          </a:prstGeom>
        </p:spPr>
      </p:pic>
      <p:sp>
        <p:nvSpPr>
          <p:cNvPr id="5" name="ZoneTexte 4"/>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1454276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ZoneTexte 14"/>
          <p:cNvSpPr txBox="1"/>
          <p:nvPr/>
        </p:nvSpPr>
        <p:spPr>
          <a:xfrm>
            <a:off x="382262" y="316620"/>
            <a:ext cx="6641562" cy="6186309"/>
          </a:xfrm>
          <a:prstGeom prst="rect">
            <a:avLst/>
          </a:prstGeom>
          <a:noFill/>
        </p:spPr>
        <p:txBody>
          <a:bodyPr wrap="none" rtlCol="0">
            <a:spAutoFit/>
          </a:bodyPr>
          <a:lstStyle/>
          <a:p>
            <a:r>
              <a:rPr lang="fr-FR" sz="1200" dirty="0" smtClean="0">
                <a:solidFill>
                  <a:srgbClr val="AF00DB"/>
                </a:solidFill>
                <a:latin typeface="Consolas" panose="020B0609020204030204" pitchFamily="49" charset="0"/>
              </a:rPr>
              <a:t>import</a:t>
            </a:r>
            <a:r>
              <a:rPr lang="fr-FR" sz="1200" dirty="0" smtClean="0">
                <a:solidFill>
                  <a:srgbClr val="000000"/>
                </a:solidFill>
                <a:latin typeface="Consolas" panose="020B0609020204030204" pitchFamily="49" charset="0"/>
              </a:rPr>
              <a:t> </a:t>
            </a:r>
            <a:r>
              <a:rPr lang="fr-FR" sz="1200" dirty="0" err="1" smtClean="0">
                <a:solidFill>
                  <a:srgbClr val="267F99"/>
                </a:solidFill>
                <a:latin typeface="Consolas" panose="020B0609020204030204" pitchFamily="49" charset="0"/>
              </a:rPr>
              <a:t>matplotlib</a:t>
            </a:r>
            <a:r>
              <a:rPr lang="fr-FR" sz="1200" dirty="0" err="1" smtClean="0">
                <a:solidFill>
                  <a:srgbClr val="000000"/>
                </a:solidFill>
                <a:latin typeface="Consolas" panose="020B0609020204030204" pitchFamily="49" charset="0"/>
              </a:rPr>
              <a:t>.</a:t>
            </a:r>
            <a:r>
              <a:rPr lang="fr-FR" sz="1200" dirty="0" err="1" smtClean="0">
                <a:solidFill>
                  <a:srgbClr val="267F99"/>
                </a:solidFill>
                <a:latin typeface="Consolas" panose="020B0609020204030204" pitchFamily="49" charset="0"/>
              </a:rPr>
              <a:t>pyplot</a:t>
            </a:r>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as</a:t>
            </a:r>
            <a:r>
              <a:rPr lang="fr-FR" sz="1200" dirty="0" smtClean="0">
                <a:solidFill>
                  <a:srgbClr val="000000"/>
                </a:solidFill>
                <a:latin typeface="Consolas" panose="020B0609020204030204" pitchFamily="49" charset="0"/>
              </a:rPr>
              <a:t> </a:t>
            </a:r>
            <a:r>
              <a:rPr lang="fr-FR" sz="1200" dirty="0" err="1" smtClean="0">
                <a:solidFill>
                  <a:srgbClr val="267F99"/>
                </a:solidFill>
                <a:latin typeface="Consolas" panose="020B0609020204030204" pitchFamily="49" charset="0"/>
              </a:rPr>
              <a:t>plt</a:t>
            </a:r>
            <a:endParaRPr lang="fr-FR" sz="1200" dirty="0" smtClean="0">
              <a:solidFill>
                <a:srgbClr val="000000"/>
              </a:solidFill>
              <a:latin typeface="Consolas" panose="020B0609020204030204" pitchFamily="49" charset="0"/>
            </a:endParaRPr>
          </a:p>
          <a:p>
            <a:r>
              <a:rPr lang="fr-FR" sz="1200" dirty="0" smtClean="0">
                <a:solidFill>
                  <a:srgbClr val="AF00DB"/>
                </a:solidFill>
                <a:latin typeface="Consolas" panose="020B0609020204030204" pitchFamily="49" charset="0"/>
              </a:rPr>
              <a:t>import</a:t>
            </a:r>
            <a:r>
              <a:rPr lang="fr-FR" sz="1200" dirty="0" smtClean="0">
                <a:solidFill>
                  <a:srgbClr val="000000"/>
                </a:solidFill>
                <a:latin typeface="Consolas" panose="020B0609020204030204" pitchFamily="49" charset="0"/>
              </a:rPr>
              <a:t> </a:t>
            </a:r>
            <a:r>
              <a:rPr lang="fr-FR" sz="1200" dirty="0" err="1" smtClean="0">
                <a:solidFill>
                  <a:srgbClr val="267F99"/>
                </a:solidFill>
                <a:latin typeface="Consolas" panose="020B0609020204030204" pitchFamily="49" charset="0"/>
              </a:rPr>
              <a:t>numpy</a:t>
            </a:r>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as</a:t>
            </a:r>
            <a:r>
              <a:rPr lang="fr-FR" sz="1200" dirty="0" smtClean="0">
                <a:solidFill>
                  <a:srgbClr val="000000"/>
                </a:solidFill>
                <a:latin typeface="Consolas" panose="020B0609020204030204" pitchFamily="49" charset="0"/>
              </a:rPr>
              <a:t> </a:t>
            </a:r>
            <a:r>
              <a:rPr lang="fr-FR" sz="1200" dirty="0" err="1" smtClean="0">
                <a:solidFill>
                  <a:srgbClr val="267F99"/>
                </a:solidFill>
                <a:latin typeface="Consolas" panose="020B0609020204030204" pitchFamily="49" charset="0"/>
              </a:rPr>
              <a:t>np</a:t>
            </a:r>
            <a:endParaRPr lang="fr-FR" sz="1200" dirty="0" smtClean="0">
              <a:solidFill>
                <a:srgbClr val="000000"/>
              </a:solidFill>
              <a:latin typeface="Consolas" panose="020B0609020204030204" pitchFamily="49" charset="0"/>
            </a:endParaRPr>
          </a:p>
          <a:p>
            <a:r>
              <a:rPr lang="fr-FR" sz="1200" dirty="0" err="1" smtClean="0">
                <a:solidFill>
                  <a:srgbClr val="AF00DB"/>
                </a:solidFill>
                <a:latin typeface="Consolas" panose="020B0609020204030204" pitchFamily="49" charset="0"/>
              </a:rPr>
              <a:t>from</a:t>
            </a:r>
            <a:r>
              <a:rPr lang="fr-FR" sz="1200" dirty="0" smtClean="0">
                <a:solidFill>
                  <a:srgbClr val="000000"/>
                </a:solidFill>
                <a:latin typeface="Consolas" panose="020B0609020204030204" pitchFamily="49" charset="0"/>
              </a:rPr>
              <a:t> </a:t>
            </a:r>
            <a:r>
              <a:rPr lang="fr-FR" sz="1200" dirty="0" err="1" smtClean="0">
                <a:solidFill>
                  <a:srgbClr val="267F99"/>
                </a:solidFill>
                <a:latin typeface="Consolas" panose="020B0609020204030204" pitchFamily="49" charset="0"/>
              </a:rPr>
              <a:t>scipy</a:t>
            </a:r>
            <a:r>
              <a:rPr lang="fr-FR" sz="1200" dirty="0" err="1" smtClean="0">
                <a:solidFill>
                  <a:srgbClr val="000000"/>
                </a:solidFill>
                <a:latin typeface="Consolas" panose="020B0609020204030204" pitchFamily="49" charset="0"/>
              </a:rPr>
              <a:t>.</a:t>
            </a:r>
            <a:r>
              <a:rPr lang="fr-FR" sz="1200" dirty="0" err="1" smtClean="0">
                <a:solidFill>
                  <a:srgbClr val="267F99"/>
                </a:solidFill>
                <a:latin typeface="Consolas" panose="020B0609020204030204" pitchFamily="49" charset="0"/>
              </a:rPr>
              <a:t>optimize</a:t>
            </a:r>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import</a:t>
            </a:r>
            <a:r>
              <a:rPr lang="fr-FR" sz="1200" dirty="0" smtClean="0">
                <a:solidFill>
                  <a:srgbClr val="000000"/>
                </a:solidFill>
                <a:latin typeface="Consolas" panose="020B0609020204030204" pitchFamily="49" charset="0"/>
              </a:rPr>
              <a:t> </a:t>
            </a:r>
            <a:r>
              <a:rPr lang="fr-FR" sz="1200" dirty="0" err="1" smtClean="0">
                <a:solidFill>
                  <a:srgbClr val="795E26"/>
                </a:solidFill>
                <a:latin typeface="Consolas" panose="020B0609020204030204" pitchFamily="49" charset="0"/>
              </a:rPr>
              <a:t>root</a:t>
            </a:r>
            <a:endParaRPr lang="fr-FR" sz="1200" dirty="0" smtClean="0">
              <a:solidFill>
                <a:srgbClr val="000000"/>
              </a:solidFill>
              <a:latin typeface="Consolas" panose="020B0609020204030204" pitchFamily="49" charset="0"/>
            </a:endParaRPr>
          </a:p>
          <a:p>
            <a:r>
              <a:rPr lang="fr-FR" sz="1200" dirty="0" smtClean="0">
                <a:solidFill>
                  <a:srgbClr val="000000"/>
                </a:solidFill>
                <a:latin typeface="Consolas" panose="020B0609020204030204" pitchFamily="49" charset="0"/>
              </a:rPr>
              <a:t/>
            </a:r>
            <a:br>
              <a:rPr lang="fr-FR" sz="1200" dirty="0" smtClean="0">
                <a:solidFill>
                  <a:srgbClr val="000000"/>
                </a:solidFill>
                <a:latin typeface="Consolas" panose="020B0609020204030204" pitchFamily="49" charset="0"/>
              </a:rPr>
            </a:br>
            <a:r>
              <a:rPr lang="fr-FR" sz="1200" dirty="0" smtClean="0">
                <a:solidFill>
                  <a:srgbClr val="008000"/>
                </a:solidFill>
                <a:latin typeface="Consolas" panose="020B0609020204030204" pitchFamily="49" charset="0"/>
              </a:rPr>
              <a:t># Paramètres</a:t>
            </a:r>
            <a:endParaRPr lang="fr-FR" sz="1200" dirty="0" smtClean="0">
              <a:solidFill>
                <a:srgbClr val="000000"/>
              </a:solidFill>
              <a:latin typeface="Consolas" panose="020B0609020204030204" pitchFamily="49" charset="0"/>
            </a:endParaRPr>
          </a:p>
          <a:p>
            <a:r>
              <a:rPr lang="fr-FR" sz="1200" dirty="0" smtClean="0">
                <a:solidFill>
                  <a:srgbClr val="001080"/>
                </a:solidFill>
                <a:latin typeface="Consolas" panose="020B0609020204030204" pitchFamily="49" charset="0"/>
              </a:rPr>
              <a:t>epsilon</a:t>
            </a:r>
            <a:r>
              <a:rPr lang="fr-FR" sz="1200" dirty="0" smtClean="0">
                <a:solidFill>
                  <a:srgbClr val="000000"/>
                </a:solidFill>
                <a:latin typeface="Consolas" panose="020B0609020204030204" pitchFamily="49" charset="0"/>
              </a:rPr>
              <a:t> = </a:t>
            </a:r>
            <a:r>
              <a:rPr lang="fr-FR" sz="1200" dirty="0" smtClean="0">
                <a:solidFill>
                  <a:srgbClr val="098658"/>
                </a:solidFill>
                <a:latin typeface="Consolas" panose="020B0609020204030204" pitchFamily="49" charset="0"/>
              </a:rPr>
              <a:t>0.5</a:t>
            </a:r>
            <a:endParaRPr lang="fr-FR" sz="1200" dirty="0" smtClean="0">
              <a:solidFill>
                <a:srgbClr val="000000"/>
              </a:solidFill>
              <a:latin typeface="Consolas" panose="020B0609020204030204" pitchFamily="49" charset="0"/>
            </a:endParaRPr>
          </a:p>
          <a:p>
            <a:r>
              <a:rPr lang="fr-FR" sz="1200" dirty="0" smtClean="0">
                <a:solidFill>
                  <a:srgbClr val="001080"/>
                </a:solidFill>
                <a:latin typeface="Consolas" panose="020B0609020204030204" pitchFamily="49" charset="0"/>
              </a:rPr>
              <a:t>sigma</a:t>
            </a:r>
            <a:r>
              <a:rPr lang="fr-FR" sz="1200" dirty="0" smtClean="0">
                <a:solidFill>
                  <a:srgbClr val="000000"/>
                </a:solidFill>
                <a:latin typeface="Consolas" panose="020B0609020204030204" pitchFamily="49" charset="0"/>
              </a:rPr>
              <a:t> = </a:t>
            </a:r>
            <a:r>
              <a:rPr lang="fr-FR" sz="1200" dirty="0" smtClean="0">
                <a:solidFill>
                  <a:srgbClr val="098658"/>
                </a:solidFill>
                <a:latin typeface="Consolas" panose="020B0609020204030204" pitchFamily="49" charset="0"/>
              </a:rPr>
              <a:t>5.67e-8</a:t>
            </a:r>
            <a:endParaRPr lang="fr-FR" sz="1200" dirty="0" smtClean="0">
              <a:solidFill>
                <a:srgbClr val="000000"/>
              </a:solidFill>
              <a:latin typeface="Consolas" panose="020B0609020204030204" pitchFamily="49" charset="0"/>
            </a:endParaRPr>
          </a:p>
          <a:p>
            <a:r>
              <a:rPr lang="fr-FR" sz="1200" dirty="0" err="1" smtClean="0">
                <a:solidFill>
                  <a:srgbClr val="001080"/>
                </a:solidFill>
                <a:latin typeface="Consolas" panose="020B0609020204030204" pitchFamily="49" charset="0"/>
              </a:rPr>
              <a:t>Tinf</a:t>
            </a:r>
            <a:r>
              <a:rPr lang="fr-FR" sz="1200" dirty="0" smtClean="0">
                <a:solidFill>
                  <a:srgbClr val="000000"/>
                </a:solidFill>
                <a:latin typeface="Consolas" panose="020B0609020204030204" pitchFamily="49" charset="0"/>
              </a:rPr>
              <a:t>, </a:t>
            </a:r>
            <a:r>
              <a:rPr lang="fr-FR" sz="1200" dirty="0" err="1" smtClean="0">
                <a:solidFill>
                  <a:srgbClr val="001080"/>
                </a:solidFill>
                <a:latin typeface="Consolas" panose="020B0609020204030204" pitchFamily="49" charset="0"/>
              </a:rPr>
              <a:t>Tsur</a:t>
            </a:r>
            <a:r>
              <a:rPr lang="fr-FR" sz="1200" dirty="0" smtClean="0">
                <a:solidFill>
                  <a:srgbClr val="000000"/>
                </a:solidFill>
                <a:latin typeface="Consolas" panose="020B0609020204030204" pitchFamily="49" charset="0"/>
              </a:rPr>
              <a:t> = </a:t>
            </a:r>
            <a:r>
              <a:rPr lang="fr-FR" sz="1200" dirty="0" smtClean="0">
                <a:solidFill>
                  <a:srgbClr val="098658"/>
                </a:solidFill>
                <a:latin typeface="Consolas" panose="020B0609020204030204" pitchFamily="49" charset="0"/>
              </a:rPr>
              <a:t>293</a:t>
            </a:r>
            <a:r>
              <a:rPr lang="fr-FR" sz="1200" dirty="0" smtClean="0">
                <a:solidFill>
                  <a:srgbClr val="000000"/>
                </a:solidFill>
                <a:latin typeface="Consolas" panose="020B0609020204030204" pitchFamily="49" charset="0"/>
              </a:rPr>
              <a:t>, </a:t>
            </a:r>
            <a:r>
              <a:rPr lang="fr-FR" sz="1200" dirty="0" smtClean="0">
                <a:solidFill>
                  <a:srgbClr val="098658"/>
                </a:solidFill>
                <a:latin typeface="Consolas" panose="020B0609020204030204" pitchFamily="49" charset="0"/>
              </a:rPr>
              <a:t>303</a:t>
            </a:r>
            <a:endParaRPr lang="fr-FR" sz="1200" dirty="0" smtClean="0">
              <a:solidFill>
                <a:srgbClr val="000000"/>
              </a:solidFill>
              <a:latin typeface="Consolas" panose="020B0609020204030204" pitchFamily="49" charset="0"/>
            </a:endParaRPr>
          </a:p>
          <a:p>
            <a:r>
              <a:rPr lang="fr-FR" sz="1200" dirty="0" smtClean="0">
                <a:solidFill>
                  <a:srgbClr val="0070C1"/>
                </a:solidFill>
                <a:latin typeface="Consolas" panose="020B0609020204030204" pitchFamily="49" charset="0"/>
              </a:rPr>
              <a:t>G</a:t>
            </a:r>
            <a:r>
              <a:rPr lang="fr-FR" sz="1200" dirty="0" smtClean="0">
                <a:solidFill>
                  <a:srgbClr val="000000"/>
                </a:solidFill>
                <a:latin typeface="Consolas" panose="020B0609020204030204" pitchFamily="49" charset="0"/>
              </a:rPr>
              <a:t> = </a:t>
            </a:r>
            <a:r>
              <a:rPr lang="fr-FR" sz="1200" dirty="0" smtClean="0">
                <a:solidFill>
                  <a:srgbClr val="098658"/>
                </a:solidFill>
                <a:latin typeface="Consolas" panose="020B0609020204030204" pitchFamily="49" charset="0"/>
              </a:rPr>
              <a:t>2000</a:t>
            </a:r>
            <a:endParaRPr lang="fr-FR" sz="1200" dirty="0" smtClean="0">
              <a:solidFill>
                <a:srgbClr val="000000"/>
              </a:solidFill>
              <a:latin typeface="Consolas" panose="020B0609020204030204" pitchFamily="49" charset="0"/>
            </a:endParaRPr>
          </a:p>
          <a:p>
            <a:r>
              <a:rPr lang="fr-FR" sz="1200" dirty="0" smtClean="0">
                <a:solidFill>
                  <a:srgbClr val="001080"/>
                </a:solidFill>
                <a:latin typeface="Consolas" panose="020B0609020204030204" pitchFamily="49" charset="0"/>
              </a:rPr>
              <a:t>alpha</a:t>
            </a:r>
            <a:r>
              <a:rPr lang="fr-FR" sz="1200" dirty="0" smtClean="0">
                <a:solidFill>
                  <a:srgbClr val="000000"/>
                </a:solidFill>
                <a:latin typeface="Consolas" panose="020B0609020204030204" pitchFamily="49" charset="0"/>
              </a:rPr>
              <a:t> = </a:t>
            </a:r>
            <a:r>
              <a:rPr lang="fr-FR" sz="1200" dirty="0" smtClean="0">
                <a:solidFill>
                  <a:srgbClr val="098658"/>
                </a:solidFill>
                <a:latin typeface="Consolas" panose="020B0609020204030204" pitchFamily="49" charset="0"/>
              </a:rPr>
              <a:t>0.8</a:t>
            </a:r>
            <a:endParaRPr lang="fr-FR" sz="1200" dirty="0" smtClean="0">
              <a:solidFill>
                <a:srgbClr val="000000"/>
              </a:solidFill>
              <a:latin typeface="Consolas" panose="020B0609020204030204" pitchFamily="49" charset="0"/>
            </a:endParaRPr>
          </a:p>
          <a:p>
            <a:r>
              <a:rPr lang="fr-FR" sz="1200" dirty="0" smtClean="0">
                <a:solidFill>
                  <a:srgbClr val="000000"/>
                </a:solidFill>
                <a:latin typeface="Consolas" panose="020B0609020204030204" pitchFamily="49" charset="0"/>
              </a:rPr>
              <a:t/>
            </a:r>
            <a:br>
              <a:rPr lang="fr-FR" sz="1200" dirty="0" smtClean="0">
                <a:solidFill>
                  <a:srgbClr val="000000"/>
                </a:solidFill>
                <a:latin typeface="Consolas" panose="020B0609020204030204" pitchFamily="49" charset="0"/>
              </a:rPr>
            </a:br>
            <a:r>
              <a:rPr lang="fr-FR" sz="1200" dirty="0" err="1" smtClean="0">
                <a:solidFill>
                  <a:srgbClr val="0000FF"/>
                </a:solidFill>
                <a:latin typeface="Consolas" panose="020B0609020204030204" pitchFamily="49" charset="0"/>
              </a:rPr>
              <a:t>def</a:t>
            </a:r>
            <a:r>
              <a:rPr lang="fr-FR" sz="1200" dirty="0" smtClean="0">
                <a:solidFill>
                  <a:srgbClr val="000000"/>
                </a:solidFill>
                <a:latin typeface="Consolas" panose="020B0609020204030204" pitchFamily="49" charset="0"/>
              </a:rPr>
              <a:t> </a:t>
            </a:r>
            <a:r>
              <a:rPr lang="fr-FR" sz="1200" dirty="0" smtClean="0">
                <a:solidFill>
                  <a:srgbClr val="795E26"/>
                </a:solidFill>
                <a:latin typeface="Consolas" panose="020B0609020204030204" pitchFamily="49" charset="0"/>
              </a:rPr>
              <a:t>f</a:t>
            </a:r>
            <a:r>
              <a:rPr lang="fr-FR" sz="1200" dirty="0" smtClean="0">
                <a:solidFill>
                  <a:srgbClr val="000000"/>
                </a:solidFill>
                <a:latin typeface="Consolas" panose="020B0609020204030204" pitchFamily="49" charset="0"/>
              </a:rPr>
              <a:t>(</a:t>
            </a:r>
            <a:r>
              <a:rPr lang="fr-FR" sz="1200" dirty="0" err="1" smtClean="0">
                <a:solidFill>
                  <a:srgbClr val="001080"/>
                </a:solidFill>
                <a:latin typeface="Consolas" panose="020B0609020204030204" pitchFamily="49" charset="0"/>
              </a:rPr>
              <a:t>Ts</a:t>
            </a:r>
            <a:r>
              <a:rPr lang="fr-FR" sz="1200" dirty="0" smtClean="0">
                <a:solidFill>
                  <a:srgbClr val="000000"/>
                </a:solidFill>
                <a:latin typeface="Consolas" panose="020B0609020204030204" pitchFamily="49" charset="0"/>
              </a:rPr>
              <a:t>, </a:t>
            </a:r>
            <a:r>
              <a:rPr lang="fr-FR" sz="1200" dirty="0" smtClean="0">
                <a:solidFill>
                  <a:srgbClr val="001080"/>
                </a:solidFill>
                <a:latin typeface="Consolas" panose="020B0609020204030204" pitchFamily="49" charset="0"/>
              </a:rPr>
              <a:t>h</a:t>
            </a:r>
            <a:r>
              <a:rPr lang="fr-FR" sz="1200" dirty="0" smtClean="0">
                <a:solidFill>
                  <a:srgbClr val="000000"/>
                </a:solidFill>
                <a:latin typeface="Consolas" panose="020B0609020204030204" pitchFamily="49" charset="0"/>
              </a:rPr>
              <a:t>):</a:t>
            </a:r>
          </a:p>
          <a:p>
            <a:r>
              <a:rPr lang="fr-FR" sz="1200" dirty="0" smtClean="0">
                <a:solidFill>
                  <a:srgbClr val="000000"/>
                </a:solidFill>
                <a:latin typeface="Consolas" panose="020B0609020204030204" pitchFamily="49" charset="0"/>
              </a:rPr>
              <a:t>    </a:t>
            </a:r>
            <a:r>
              <a:rPr lang="fr-FR" sz="1200" dirty="0" smtClean="0">
                <a:solidFill>
                  <a:srgbClr val="A31515"/>
                </a:solidFill>
                <a:latin typeface="Consolas" panose="020B0609020204030204" pitchFamily="49" charset="0"/>
              </a:rPr>
              <a:t>"""Fonction scalaire à annuler"""</a:t>
            </a:r>
            <a:endParaRPr lang="fr-FR" sz="1200" dirty="0" smtClean="0">
              <a:solidFill>
                <a:srgbClr val="000000"/>
              </a:solidFill>
              <a:latin typeface="Consolas" panose="020B0609020204030204" pitchFamily="49" charset="0"/>
            </a:endParaRPr>
          </a:p>
          <a:p>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return</a:t>
            </a:r>
            <a:r>
              <a:rPr lang="fr-FR" sz="1200" dirty="0" smtClean="0">
                <a:solidFill>
                  <a:srgbClr val="000000"/>
                </a:solidFill>
                <a:latin typeface="Consolas" panose="020B0609020204030204" pitchFamily="49" charset="0"/>
              </a:rPr>
              <a:t> </a:t>
            </a:r>
            <a:r>
              <a:rPr lang="fr-FR" sz="1200" dirty="0" smtClean="0">
                <a:solidFill>
                  <a:srgbClr val="001080"/>
                </a:solidFill>
                <a:latin typeface="Consolas" panose="020B0609020204030204" pitchFamily="49" charset="0"/>
              </a:rPr>
              <a:t>h</a:t>
            </a:r>
            <a:r>
              <a:rPr lang="fr-FR" sz="1200" dirty="0" smtClean="0">
                <a:solidFill>
                  <a:srgbClr val="000000"/>
                </a:solidFill>
                <a:latin typeface="Consolas" panose="020B0609020204030204" pitchFamily="49" charset="0"/>
              </a:rPr>
              <a:t> * (</a:t>
            </a:r>
            <a:r>
              <a:rPr lang="fr-FR" sz="1200" dirty="0" err="1" smtClean="0">
                <a:solidFill>
                  <a:srgbClr val="001080"/>
                </a:solidFill>
                <a:latin typeface="Consolas" panose="020B0609020204030204" pitchFamily="49" charset="0"/>
              </a:rPr>
              <a:t>Ts</a:t>
            </a:r>
            <a:r>
              <a:rPr lang="fr-FR" sz="1200" dirty="0" smtClean="0">
                <a:solidFill>
                  <a:srgbClr val="000000"/>
                </a:solidFill>
                <a:latin typeface="Consolas" panose="020B0609020204030204" pitchFamily="49" charset="0"/>
              </a:rPr>
              <a:t> - </a:t>
            </a:r>
            <a:r>
              <a:rPr lang="fr-FR" sz="1200" dirty="0" err="1" smtClean="0">
                <a:solidFill>
                  <a:srgbClr val="001080"/>
                </a:solidFill>
                <a:latin typeface="Consolas" panose="020B0609020204030204" pitchFamily="49" charset="0"/>
              </a:rPr>
              <a:t>Tinf</a:t>
            </a:r>
            <a:r>
              <a:rPr lang="fr-FR" sz="1200" dirty="0" smtClean="0">
                <a:solidFill>
                  <a:srgbClr val="000000"/>
                </a:solidFill>
                <a:latin typeface="Consolas" panose="020B0609020204030204" pitchFamily="49" charset="0"/>
              </a:rPr>
              <a:t>) + </a:t>
            </a:r>
            <a:r>
              <a:rPr lang="fr-FR" sz="1200" dirty="0" smtClean="0">
                <a:solidFill>
                  <a:srgbClr val="001080"/>
                </a:solidFill>
                <a:latin typeface="Consolas" panose="020B0609020204030204" pitchFamily="49" charset="0"/>
              </a:rPr>
              <a:t>epsilon</a:t>
            </a:r>
            <a:r>
              <a:rPr lang="fr-FR" sz="1200" dirty="0" smtClean="0">
                <a:solidFill>
                  <a:srgbClr val="000000"/>
                </a:solidFill>
                <a:latin typeface="Consolas" panose="020B0609020204030204" pitchFamily="49" charset="0"/>
              </a:rPr>
              <a:t> * </a:t>
            </a:r>
            <a:r>
              <a:rPr lang="fr-FR" sz="1200" dirty="0" smtClean="0">
                <a:solidFill>
                  <a:srgbClr val="001080"/>
                </a:solidFill>
                <a:latin typeface="Consolas" panose="020B0609020204030204" pitchFamily="49" charset="0"/>
              </a:rPr>
              <a:t>sigma</a:t>
            </a:r>
            <a:r>
              <a:rPr lang="fr-FR" sz="1200" dirty="0" smtClean="0">
                <a:solidFill>
                  <a:srgbClr val="000000"/>
                </a:solidFill>
                <a:latin typeface="Consolas" panose="020B0609020204030204" pitchFamily="49" charset="0"/>
              </a:rPr>
              <a:t> * (</a:t>
            </a:r>
            <a:r>
              <a:rPr lang="fr-FR" sz="1200" dirty="0" err="1" smtClean="0">
                <a:solidFill>
                  <a:srgbClr val="001080"/>
                </a:solidFill>
                <a:latin typeface="Consolas" panose="020B0609020204030204" pitchFamily="49" charset="0"/>
              </a:rPr>
              <a:t>Ts</a:t>
            </a:r>
            <a:r>
              <a:rPr lang="fr-FR" sz="1200" dirty="0" smtClean="0">
                <a:solidFill>
                  <a:srgbClr val="000000"/>
                </a:solidFill>
                <a:latin typeface="Consolas" panose="020B0609020204030204" pitchFamily="49" charset="0"/>
              </a:rPr>
              <a:t>**</a:t>
            </a:r>
            <a:r>
              <a:rPr lang="fr-FR" sz="1200" dirty="0" smtClean="0">
                <a:solidFill>
                  <a:srgbClr val="098658"/>
                </a:solidFill>
                <a:latin typeface="Consolas" panose="020B0609020204030204" pitchFamily="49" charset="0"/>
              </a:rPr>
              <a:t>4</a:t>
            </a:r>
            <a:r>
              <a:rPr lang="fr-FR" sz="1200" dirty="0" smtClean="0">
                <a:solidFill>
                  <a:srgbClr val="000000"/>
                </a:solidFill>
                <a:latin typeface="Consolas" panose="020B0609020204030204" pitchFamily="49" charset="0"/>
              </a:rPr>
              <a:t> - </a:t>
            </a:r>
            <a:r>
              <a:rPr lang="fr-FR" sz="1200" dirty="0" err="1" smtClean="0">
                <a:solidFill>
                  <a:srgbClr val="001080"/>
                </a:solidFill>
                <a:latin typeface="Consolas" panose="020B0609020204030204" pitchFamily="49" charset="0"/>
              </a:rPr>
              <a:t>Tsur</a:t>
            </a:r>
            <a:r>
              <a:rPr lang="fr-FR" sz="1200" dirty="0" smtClean="0">
                <a:solidFill>
                  <a:srgbClr val="000000"/>
                </a:solidFill>
                <a:latin typeface="Consolas" panose="020B0609020204030204" pitchFamily="49" charset="0"/>
              </a:rPr>
              <a:t>**</a:t>
            </a:r>
            <a:r>
              <a:rPr lang="fr-FR" sz="1200" dirty="0" smtClean="0">
                <a:solidFill>
                  <a:srgbClr val="098658"/>
                </a:solidFill>
                <a:latin typeface="Consolas" panose="020B0609020204030204" pitchFamily="49" charset="0"/>
              </a:rPr>
              <a:t>4</a:t>
            </a:r>
            <a:r>
              <a:rPr lang="fr-FR" sz="1200" dirty="0" smtClean="0">
                <a:solidFill>
                  <a:srgbClr val="000000"/>
                </a:solidFill>
                <a:latin typeface="Consolas" panose="020B0609020204030204" pitchFamily="49" charset="0"/>
              </a:rPr>
              <a:t>) - </a:t>
            </a:r>
            <a:r>
              <a:rPr lang="fr-FR" sz="1200" dirty="0" smtClean="0">
                <a:solidFill>
                  <a:srgbClr val="001080"/>
                </a:solidFill>
                <a:latin typeface="Consolas" panose="020B0609020204030204" pitchFamily="49" charset="0"/>
              </a:rPr>
              <a:t>alpha</a:t>
            </a:r>
            <a:r>
              <a:rPr lang="fr-FR" sz="1200" dirty="0" smtClean="0">
                <a:solidFill>
                  <a:srgbClr val="000000"/>
                </a:solidFill>
                <a:latin typeface="Consolas" panose="020B0609020204030204" pitchFamily="49" charset="0"/>
              </a:rPr>
              <a:t> * </a:t>
            </a:r>
            <a:r>
              <a:rPr lang="fr-FR" sz="1200" dirty="0" smtClean="0">
                <a:solidFill>
                  <a:srgbClr val="0070C1"/>
                </a:solidFill>
                <a:latin typeface="Consolas" panose="020B0609020204030204" pitchFamily="49" charset="0"/>
              </a:rPr>
              <a:t>G</a:t>
            </a:r>
            <a:endParaRPr lang="fr-FR" sz="1200" dirty="0" smtClean="0">
              <a:solidFill>
                <a:srgbClr val="000000"/>
              </a:solidFill>
              <a:latin typeface="Consolas" panose="020B0609020204030204" pitchFamily="49" charset="0"/>
            </a:endParaRPr>
          </a:p>
          <a:p>
            <a:r>
              <a:rPr lang="fr-FR" sz="1200" dirty="0" smtClean="0">
                <a:solidFill>
                  <a:srgbClr val="000000"/>
                </a:solidFill>
                <a:latin typeface="Consolas" panose="020B0609020204030204" pitchFamily="49" charset="0"/>
              </a:rPr>
              <a:t/>
            </a:r>
            <a:br>
              <a:rPr lang="fr-FR" sz="1200" dirty="0" smtClean="0">
                <a:solidFill>
                  <a:srgbClr val="000000"/>
                </a:solidFill>
                <a:latin typeface="Consolas" panose="020B0609020204030204" pitchFamily="49" charset="0"/>
              </a:rPr>
            </a:br>
            <a:r>
              <a:rPr lang="fr-FR" sz="1200" dirty="0" err="1" smtClean="0">
                <a:solidFill>
                  <a:srgbClr val="0000FF"/>
                </a:solidFill>
                <a:latin typeface="Consolas" panose="020B0609020204030204" pitchFamily="49" charset="0"/>
              </a:rPr>
              <a:t>def</a:t>
            </a:r>
            <a:r>
              <a:rPr lang="fr-FR" sz="1200" dirty="0" smtClean="0">
                <a:solidFill>
                  <a:srgbClr val="000000"/>
                </a:solidFill>
                <a:latin typeface="Consolas" panose="020B0609020204030204" pitchFamily="49" charset="0"/>
              </a:rPr>
              <a:t> </a:t>
            </a:r>
            <a:r>
              <a:rPr lang="fr-FR" sz="1200" dirty="0" err="1" smtClean="0">
                <a:solidFill>
                  <a:srgbClr val="795E26"/>
                </a:solidFill>
                <a:latin typeface="Consolas" panose="020B0609020204030204" pitchFamily="49" charset="0"/>
              </a:rPr>
              <a:t>jac</a:t>
            </a:r>
            <a:r>
              <a:rPr lang="fr-FR" sz="1200" dirty="0" smtClean="0">
                <a:solidFill>
                  <a:srgbClr val="000000"/>
                </a:solidFill>
                <a:latin typeface="Consolas" panose="020B0609020204030204" pitchFamily="49" charset="0"/>
              </a:rPr>
              <a:t>(</a:t>
            </a:r>
            <a:r>
              <a:rPr lang="fr-FR" sz="1200" dirty="0" err="1" smtClean="0">
                <a:solidFill>
                  <a:srgbClr val="001080"/>
                </a:solidFill>
                <a:latin typeface="Consolas" panose="020B0609020204030204" pitchFamily="49" charset="0"/>
              </a:rPr>
              <a:t>Ts</a:t>
            </a:r>
            <a:r>
              <a:rPr lang="fr-FR" sz="1200" dirty="0" smtClean="0">
                <a:solidFill>
                  <a:srgbClr val="000000"/>
                </a:solidFill>
                <a:latin typeface="Consolas" panose="020B0609020204030204" pitchFamily="49" charset="0"/>
              </a:rPr>
              <a:t>, </a:t>
            </a:r>
            <a:r>
              <a:rPr lang="fr-FR" sz="1200" dirty="0" smtClean="0">
                <a:solidFill>
                  <a:srgbClr val="001080"/>
                </a:solidFill>
                <a:latin typeface="Consolas" panose="020B0609020204030204" pitchFamily="49" charset="0"/>
              </a:rPr>
              <a:t>h</a:t>
            </a:r>
            <a:r>
              <a:rPr lang="fr-FR" sz="1200" dirty="0" smtClean="0">
                <a:solidFill>
                  <a:srgbClr val="000000"/>
                </a:solidFill>
                <a:latin typeface="Consolas" panose="020B0609020204030204" pitchFamily="49" charset="0"/>
              </a:rPr>
              <a:t>):</a:t>
            </a:r>
          </a:p>
          <a:p>
            <a:r>
              <a:rPr lang="fr-FR" sz="1200" dirty="0" smtClean="0">
                <a:solidFill>
                  <a:srgbClr val="000000"/>
                </a:solidFill>
                <a:latin typeface="Consolas" panose="020B0609020204030204" pitchFamily="49" charset="0"/>
              </a:rPr>
              <a:t>    </a:t>
            </a:r>
            <a:r>
              <a:rPr lang="fr-FR" sz="1200" dirty="0" smtClean="0">
                <a:solidFill>
                  <a:srgbClr val="A31515"/>
                </a:solidFill>
                <a:latin typeface="Consolas" panose="020B0609020204030204" pitchFamily="49" charset="0"/>
              </a:rPr>
              <a:t>"""Dérivée de f par rapport à </a:t>
            </a:r>
            <a:r>
              <a:rPr lang="fr-FR" sz="1200" dirty="0" err="1" smtClean="0">
                <a:solidFill>
                  <a:srgbClr val="A31515"/>
                </a:solidFill>
                <a:latin typeface="Consolas" panose="020B0609020204030204" pitchFamily="49" charset="0"/>
              </a:rPr>
              <a:t>Ts</a:t>
            </a:r>
            <a:r>
              <a:rPr lang="fr-FR" sz="1200" dirty="0" smtClean="0">
                <a:solidFill>
                  <a:srgbClr val="A31515"/>
                </a:solidFill>
                <a:latin typeface="Consolas" panose="020B0609020204030204" pitchFamily="49" charset="0"/>
              </a:rPr>
              <a:t> (</a:t>
            </a:r>
            <a:r>
              <a:rPr lang="fr-FR" sz="1200" dirty="0" err="1" smtClean="0">
                <a:solidFill>
                  <a:srgbClr val="A31515"/>
                </a:solidFill>
                <a:latin typeface="Consolas" panose="020B0609020204030204" pitchFamily="49" charset="0"/>
              </a:rPr>
              <a:t>jacobien</a:t>
            </a:r>
            <a:r>
              <a:rPr lang="fr-FR" sz="1200" dirty="0" smtClean="0">
                <a:solidFill>
                  <a:srgbClr val="A31515"/>
                </a:solidFill>
                <a:latin typeface="Consolas" panose="020B0609020204030204" pitchFamily="49" charset="0"/>
              </a:rPr>
              <a:t>)"""</a:t>
            </a:r>
            <a:endParaRPr lang="fr-FR" sz="1200" dirty="0" smtClean="0">
              <a:solidFill>
                <a:srgbClr val="000000"/>
              </a:solidFill>
              <a:latin typeface="Consolas" panose="020B0609020204030204" pitchFamily="49" charset="0"/>
            </a:endParaRPr>
          </a:p>
          <a:p>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return</a:t>
            </a:r>
            <a:r>
              <a:rPr lang="fr-FR" sz="1200" dirty="0" smtClean="0">
                <a:solidFill>
                  <a:srgbClr val="000000"/>
                </a:solidFill>
                <a:latin typeface="Consolas" panose="020B0609020204030204" pitchFamily="49" charset="0"/>
              </a:rPr>
              <a:t> </a:t>
            </a:r>
            <a:r>
              <a:rPr lang="fr-FR" sz="1200" dirty="0" smtClean="0">
                <a:solidFill>
                  <a:srgbClr val="001080"/>
                </a:solidFill>
                <a:latin typeface="Consolas" panose="020B0609020204030204" pitchFamily="49" charset="0"/>
              </a:rPr>
              <a:t>h</a:t>
            </a:r>
            <a:r>
              <a:rPr lang="fr-FR" sz="1200" dirty="0" smtClean="0">
                <a:solidFill>
                  <a:srgbClr val="000000"/>
                </a:solidFill>
                <a:latin typeface="Consolas" panose="020B0609020204030204" pitchFamily="49" charset="0"/>
              </a:rPr>
              <a:t> + </a:t>
            </a:r>
            <a:r>
              <a:rPr lang="fr-FR" sz="1200" dirty="0" smtClean="0">
                <a:solidFill>
                  <a:srgbClr val="098658"/>
                </a:solidFill>
                <a:latin typeface="Consolas" panose="020B0609020204030204" pitchFamily="49" charset="0"/>
              </a:rPr>
              <a:t>4</a:t>
            </a:r>
            <a:r>
              <a:rPr lang="fr-FR" sz="1200" dirty="0" smtClean="0">
                <a:solidFill>
                  <a:srgbClr val="000000"/>
                </a:solidFill>
                <a:latin typeface="Consolas" panose="020B0609020204030204" pitchFamily="49" charset="0"/>
              </a:rPr>
              <a:t> * </a:t>
            </a:r>
            <a:r>
              <a:rPr lang="fr-FR" sz="1200" dirty="0" smtClean="0">
                <a:solidFill>
                  <a:srgbClr val="001080"/>
                </a:solidFill>
                <a:latin typeface="Consolas" panose="020B0609020204030204" pitchFamily="49" charset="0"/>
              </a:rPr>
              <a:t>epsilon</a:t>
            </a:r>
            <a:r>
              <a:rPr lang="fr-FR" sz="1200" dirty="0" smtClean="0">
                <a:solidFill>
                  <a:srgbClr val="000000"/>
                </a:solidFill>
                <a:latin typeface="Consolas" panose="020B0609020204030204" pitchFamily="49" charset="0"/>
              </a:rPr>
              <a:t> * </a:t>
            </a:r>
            <a:r>
              <a:rPr lang="fr-FR" sz="1200" dirty="0" smtClean="0">
                <a:solidFill>
                  <a:srgbClr val="001080"/>
                </a:solidFill>
                <a:latin typeface="Consolas" panose="020B0609020204030204" pitchFamily="49" charset="0"/>
              </a:rPr>
              <a:t>sigma</a:t>
            </a:r>
            <a:r>
              <a:rPr lang="fr-FR" sz="1200" dirty="0" smtClean="0">
                <a:solidFill>
                  <a:srgbClr val="000000"/>
                </a:solidFill>
                <a:latin typeface="Consolas" panose="020B0609020204030204" pitchFamily="49" charset="0"/>
              </a:rPr>
              <a:t> * </a:t>
            </a:r>
            <a:r>
              <a:rPr lang="fr-FR" sz="1200" dirty="0" err="1" smtClean="0">
                <a:solidFill>
                  <a:srgbClr val="001080"/>
                </a:solidFill>
                <a:latin typeface="Consolas" panose="020B0609020204030204" pitchFamily="49" charset="0"/>
              </a:rPr>
              <a:t>Ts</a:t>
            </a:r>
            <a:r>
              <a:rPr lang="fr-FR" sz="1200" dirty="0" smtClean="0">
                <a:solidFill>
                  <a:srgbClr val="000000"/>
                </a:solidFill>
                <a:latin typeface="Consolas" panose="020B0609020204030204" pitchFamily="49" charset="0"/>
              </a:rPr>
              <a:t>**</a:t>
            </a:r>
            <a:r>
              <a:rPr lang="fr-FR" sz="1200" dirty="0" smtClean="0">
                <a:solidFill>
                  <a:srgbClr val="098658"/>
                </a:solidFill>
                <a:latin typeface="Consolas" panose="020B0609020204030204" pitchFamily="49" charset="0"/>
              </a:rPr>
              <a:t>3</a:t>
            </a:r>
            <a:endParaRPr lang="fr-FR" sz="1200" dirty="0" smtClean="0">
              <a:solidFill>
                <a:srgbClr val="000000"/>
              </a:solidFill>
              <a:latin typeface="Consolas" panose="020B0609020204030204" pitchFamily="49" charset="0"/>
            </a:endParaRPr>
          </a:p>
          <a:p>
            <a:r>
              <a:rPr lang="fr-FR" sz="1200" dirty="0" smtClean="0">
                <a:solidFill>
                  <a:srgbClr val="000000"/>
                </a:solidFill>
                <a:latin typeface="Consolas" panose="020B0609020204030204" pitchFamily="49" charset="0"/>
              </a:rPr>
              <a:t/>
            </a:r>
            <a:br>
              <a:rPr lang="fr-FR" sz="1200" dirty="0" smtClean="0">
                <a:solidFill>
                  <a:srgbClr val="000000"/>
                </a:solidFill>
                <a:latin typeface="Consolas" panose="020B0609020204030204" pitchFamily="49" charset="0"/>
              </a:rPr>
            </a:br>
            <a:r>
              <a:rPr lang="fr-FR" sz="1200" dirty="0" err="1" smtClean="0">
                <a:solidFill>
                  <a:srgbClr val="0000FF"/>
                </a:solidFill>
                <a:latin typeface="Consolas" panose="020B0609020204030204" pitchFamily="49" charset="0"/>
              </a:rPr>
              <a:t>def</a:t>
            </a:r>
            <a:r>
              <a:rPr lang="fr-FR" sz="1200" dirty="0" smtClean="0">
                <a:solidFill>
                  <a:srgbClr val="000000"/>
                </a:solidFill>
                <a:latin typeface="Consolas" panose="020B0609020204030204" pitchFamily="49" charset="0"/>
              </a:rPr>
              <a:t> </a:t>
            </a:r>
            <a:r>
              <a:rPr lang="fr-FR" sz="1200" dirty="0" err="1" smtClean="0">
                <a:solidFill>
                  <a:srgbClr val="795E26"/>
                </a:solidFill>
                <a:latin typeface="Consolas" panose="020B0609020204030204" pitchFamily="49" charset="0"/>
              </a:rPr>
              <a:t>solve_with_root</a:t>
            </a:r>
            <a:r>
              <a:rPr lang="fr-FR" sz="1200" dirty="0" smtClean="0">
                <a:solidFill>
                  <a:srgbClr val="000000"/>
                </a:solidFill>
                <a:latin typeface="Consolas" panose="020B0609020204030204" pitchFamily="49" charset="0"/>
              </a:rPr>
              <a:t>(</a:t>
            </a:r>
            <a:r>
              <a:rPr lang="fr-FR" sz="1200" dirty="0" err="1" smtClean="0">
                <a:solidFill>
                  <a:srgbClr val="001080"/>
                </a:solidFill>
                <a:latin typeface="Consolas" panose="020B0609020204030204" pitchFamily="49" charset="0"/>
              </a:rPr>
              <a:t>hvec</a:t>
            </a:r>
            <a:r>
              <a:rPr lang="fr-FR" sz="1200" dirty="0" smtClean="0">
                <a:solidFill>
                  <a:srgbClr val="000000"/>
                </a:solidFill>
                <a:latin typeface="Consolas" panose="020B0609020204030204" pitchFamily="49" charset="0"/>
              </a:rPr>
              <a:t>):</a:t>
            </a:r>
          </a:p>
          <a:p>
            <a:r>
              <a:rPr lang="fr-FR" sz="1200" dirty="0" smtClean="0">
                <a:solidFill>
                  <a:srgbClr val="000000"/>
                </a:solidFill>
                <a:latin typeface="Consolas" panose="020B0609020204030204" pitchFamily="49" charset="0"/>
              </a:rPr>
              <a:t>    </a:t>
            </a:r>
            <a:r>
              <a:rPr lang="fr-FR" sz="1200" dirty="0" err="1" smtClean="0">
                <a:solidFill>
                  <a:srgbClr val="001080"/>
                </a:solidFill>
                <a:latin typeface="Consolas" panose="020B0609020204030204" pitchFamily="49" charset="0"/>
              </a:rPr>
              <a:t>Tvec</a:t>
            </a:r>
            <a:r>
              <a:rPr lang="fr-FR" sz="1200" dirty="0" smtClean="0">
                <a:solidFill>
                  <a:srgbClr val="000000"/>
                </a:solidFill>
                <a:latin typeface="Consolas" panose="020B0609020204030204" pitchFamily="49" charset="0"/>
              </a:rPr>
              <a:t> = []</a:t>
            </a:r>
          </a:p>
          <a:p>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for</a:t>
            </a:r>
            <a:r>
              <a:rPr lang="fr-FR" sz="1200" dirty="0" smtClean="0">
                <a:solidFill>
                  <a:srgbClr val="000000"/>
                </a:solidFill>
                <a:latin typeface="Consolas" panose="020B0609020204030204" pitchFamily="49" charset="0"/>
              </a:rPr>
              <a:t> </a:t>
            </a:r>
            <a:r>
              <a:rPr lang="fr-FR" sz="1200" dirty="0" smtClean="0">
                <a:solidFill>
                  <a:srgbClr val="001080"/>
                </a:solidFill>
                <a:latin typeface="Consolas" panose="020B0609020204030204" pitchFamily="49" charset="0"/>
              </a:rPr>
              <a:t>h</a:t>
            </a:r>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in</a:t>
            </a:r>
            <a:r>
              <a:rPr lang="fr-FR" sz="1200" dirty="0" smtClean="0">
                <a:solidFill>
                  <a:srgbClr val="000000"/>
                </a:solidFill>
                <a:latin typeface="Consolas" panose="020B0609020204030204" pitchFamily="49" charset="0"/>
              </a:rPr>
              <a:t> </a:t>
            </a:r>
            <a:r>
              <a:rPr lang="fr-FR" sz="1200" dirty="0" err="1" smtClean="0">
                <a:solidFill>
                  <a:srgbClr val="001080"/>
                </a:solidFill>
                <a:latin typeface="Consolas" panose="020B0609020204030204" pitchFamily="49" charset="0"/>
              </a:rPr>
              <a:t>hvec</a:t>
            </a:r>
            <a:r>
              <a:rPr lang="fr-FR" sz="1200" dirty="0" smtClean="0">
                <a:solidFill>
                  <a:srgbClr val="000000"/>
                </a:solidFill>
                <a:latin typeface="Consolas" panose="020B0609020204030204" pitchFamily="49" charset="0"/>
              </a:rPr>
              <a:t>:</a:t>
            </a:r>
          </a:p>
          <a:p>
            <a:r>
              <a:rPr lang="fr-FR" sz="1200" dirty="0" smtClean="0">
                <a:solidFill>
                  <a:srgbClr val="000000"/>
                </a:solidFill>
                <a:latin typeface="Consolas" panose="020B0609020204030204" pitchFamily="49" charset="0"/>
              </a:rPr>
              <a:t>        </a:t>
            </a:r>
            <a:r>
              <a:rPr lang="fr-FR" sz="1200" dirty="0" err="1" smtClean="0">
                <a:solidFill>
                  <a:srgbClr val="001080"/>
                </a:solidFill>
                <a:latin typeface="Consolas" panose="020B0609020204030204" pitchFamily="49" charset="0"/>
              </a:rPr>
              <a:t>Tguess</a:t>
            </a:r>
            <a:r>
              <a:rPr lang="fr-FR" sz="1200" dirty="0" smtClean="0">
                <a:solidFill>
                  <a:srgbClr val="000000"/>
                </a:solidFill>
                <a:latin typeface="Consolas" panose="020B0609020204030204" pitchFamily="49" charset="0"/>
              </a:rPr>
              <a:t> = </a:t>
            </a:r>
            <a:r>
              <a:rPr lang="fr-FR" sz="1200" dirty="0" err="1" smtClean="0">
                <a:solidFill>
                  <a:srgbClr val="001080"/>
                </a:solidFill>
                <a:latin typeface="Consolas" panose="020B0609020204030204" pitchFamily="49" charset="0"/>
              </a:rPr>
              <a:t>Tinf</a:t>
            </a:r>
            <a:endParaRPr lang="fr-FR" sz="1200" dirty="0" smtClean="0">
              <a:solidFill>
                <a:srgbClr val="000000"/>
              </a:solidFill>
              <a:latin typeface="Consolas" panose="020B0609020204030204" pitchFamily="49" charset="0"/>
            </a:endParaRPr>
          </a:p>
          <a:p>
            <a:r>
              <a:rPr lang="fr-FR" sz="1200" dirty="0" smtClean="0">
                <a:solidFill>
                  <a:srgbClr val="000000"/>
                </a:solidFill>
                <a:latin typeface="Consolas" panose="020B0609020204030204" pitchFamily="49" charset="0"/>
              </a:rPr>
              <a:t>        </a:t>
            </a:r>
            <a:r>
              <a:rPr lang="fr-FR" sz="1200" dirty="0" smtClean="0">
                <a:solidFill>
                  <a:srgbClr val="001080"/>
                </a:solidFill>
                <a:latin typeface="Consolas" panose="020B0609020204030204" pitchFamily="49" charset="0"/>
              </a:rPr>
              <a:t>sol</a:t>
            </a:r>
            <a:r>
              <a:rPr lang="fr-FR" sz="1200" dirty="0" smtClean="0">
                <a:solidFill>
                  <a:srgbClr val="000000"/>
                </a:solidFill>
                <a:latin typeface="Consolas" panose="020B0609020204030204" pitchFamily="49" charset="0"/>
              </a:rPr>
              <a:t> = </a:t>
            </a:r>
            <a:r>
              <a:rPr lang="fr-FR" sz="1200" dirty="0" err="1" smtClean="0">
                <a:solidFill>
                  <a:srgbClr val="795E26"/>
                </a:solidFill>
                <a:latin typeface="Consolas" panose="020B0609020204030204" pitchFamily="49" charset="0"/>
              </a:rPr>
              <a:t>root</a:t>
            </a:r>
            <a:r>
              <a:rPr lang="fr-FR" sz="1200" dirty="0" smtClean="0">
                <a:solidFill>
                  <a:srgbClr val="000000"/>
                </a:solidFill>
                <a:latin typeface="Consolas" panose="020B0609020204030204" pitchFamily="49" charset="0"/>
              </a:rPr>
              <a:t>(</a:t>
            </a:r>
            <a:r>
              <a:rPr lang="fr-FR" sz="1200" dirty="0" smtClean="0">
                <a:solidFill>
                  <a:srgbClr val="001080"/>
                </a:solidFill>
                <a:latin typeface="Consolas" panose="020B0609020204030204" pitchFamily="49" charset="0"/>
              </a:rPr>
              <a:t>fun</a:t>
            </a:r>
            <a:r>
              <a:rPr lang="fr-FR" sz="1200" dirty="0" smtClean="0">
                <a:solidFill>
                  <a:srgbClr val="000000"/>
                </a:solidFill>
                <a:latin typeface="Consolas" panose="020B0609020204030204" pitchFamily="49" charset="0"/>
              </a:rPr>
              <a:t>=</a:t>
            </a:r>
            <a:r>
              <a:rPr lang="fr-FR" sz="1200" dirty="0" smtClean="0">
                <a:solidFill>
                  <a:srgbClr val="795E26"/>
                </a:solidFill>
                <a:latin typeface="Consolas" panose="020B0609020204030204" pitchFamily="49" charset="0"/>
              </a:rPr>
              <a:t>f</a:t>
            </a:r>
            <a:r>
              <a:rPr lang="fr-FR" sz="1200" dirty="0" smtClean="0">
                <a:solidFill>
                  <a:srgbClr val="000000"/>
                </a:solidFill>
                <a:latin typeface="Consolas" panose="020B0609020204030204" pitchFamily="49" charset="0"/>
              </a:rPr>
              <a:t>, </a:t>
            </a:r>
            <a:r>
              <a:rPr lang="fr-FR" sz="1200" dirty="0" smtClean="0">
                <a:solidFill>
                  <a:srgbClr val="001080"/>
                </a:solidFill>
                <a:latin typeface="Consolas" panose="020B0609020204030204" pitchFamily="49" charset="0"/>
              </a:rPr>
              <a:t>x0</a:t>
            </a:r>
            <a:r>
              <a:rPr lang="fr-FR" sz="1200" dirty="0" smtClean="0">
                <a:solidFill>
                  <a:srgbClr val="000000"/>
                </a:solidFill>
                <a:latin typeface="Consolas" panose="020B0609020204030204" pitchFamily="49" charset="0"/>
              </a:rPr>
              <a:t>=</a:t>
            </a:r>
            <a:r>
              <a:rPr lang="fr-FR" sz="1200" dirty="0" err="1" smtClean="0">
                <a:solidFill>
                  <a:srgbClr val="001080"/>
                </a:solidFill>
                <a:latin typeface="Consolas" panose="020B0609020204030204" pitchFamily="49" charset="0"/>
              </a:rPr>
              <a:t>Tguess</a:t>
            </a:r>
            <a:r>
              <a:rPr lang="fr-FR" sz="1200" dirty="0" smtClean="0">
                <a:solidFill>
                  <a:srgbClr val="000000"/>
                </a:solidFill>
                <a:latin typeface="Consolas" panose="020B0609020204030204" pitchFamily="49" charset="0"/>
              </a:rPr>
              <a:t>, </a:t>
            </a:r>
            <a:r>
              <a:rPr lang="fr-FR" sz="1200" dirty="0" err="1" smtClean="0">
                <a:solidFill>
                  <a:srgbClr val="001080"/>
                </a:solidFill>
                <a:latin typeface="Consolas" panose="020B0609020204030204" pitchFamily="49" charset="0"/>
              </a:rPr>
              <a:t>args</a:t>
            </a:r>
            <a:r>
              <a:rPr lang="fr-FR" sz="1200" dirty="0" smtClean="0">
                <a:solidFill>
                  <a:srgbClr val="000000"/>
                </a:solidFill>
                <a:latin typeface="Consolas" panose="020B0609020204030204" pitchFamily="49" charset="0"/>
              </a:rPr>
              <a:t>=(</a:t>
            </a:r>
            <a:r>
              <a:rPr lang="fr-FR" sz="1200" dirty="0" smtClean="0">
                <a:solidFill>
                  <a:srgbClr val="001080"/>
                </a:solidFill>
                <a:latin typeface="Consolas" panose="020B0609020204030204" pitchFamily="49" charset="0"/>
              </a:rPr>
              <a:t>h</a:t>
            </a:r>
            <a:r>
              <a:rPr lang="fr-FR" sz="1200" dirty="0" smtClean="0">
                <a:solidFill>
                  <a:srgbClr val="000000"/>
                </a:solidFill>
                <a:latin typeface="Consolas" panose="020B0609020204030204" pitchFamily="49" charset="0"/>
              </a:rPr>
              <a:t>,), </a:t>
            </a:r>
            <a:r>
              <a:rPr lang="fr-FR" sz="1200" dirty="0" err="1" smtClean="0">
                <a:solidFill>
                  <a:srgbClr val="001080"/>
                </a:solidFill>
                <a:latin typeface="Consolas" panose="020B0609020204030204" pitchFamily="49" charset="0"/>
              </a:rPr>
              <a:t>jac</a:t>
            </a:r>
            <a:r>
              <a:rPr lang="fr-FR" sz="1200" dirty="0" smtClean="0">
                <a:solidFill>
                  <a:srgbClr val="000000"/>
                </a:solidFill>
                <a:latin typeface="Consolas" panose="020B0609020204030204" pitchFamily="49" charset="0"/>
              </a:rPr>
              <a:t>=</a:t>
            </a:r>
            <a:r>
              <a:rPr lang="fr-FR" sz="1200" dirty="0" err="1" smtClean="0">
                <a:solidFill>
                  <a:srgbClr val="795E26"/>
                </a:solidFill>
                <a:latin typeface="Consolas" panose="020B0609020204030204" pitchFamily="49" charset="0"/>
              </a:rPr>
              <a:t>jac</a:t>
            </a:r>
            <a:r>
              <a:rPr lang="fr-FR" sz="1200" dirty="0" smtClean="0">
                <a:solidFill>
                  <a:srgbClr val="000000"/>
                </a:solidFill>
                <a:latin typeface="Consolas" panose="020B0609020204030204" pitchFamily="49" charset="0"/>
              </a:rPr>
              <a:t>, </a:t>
            </a:r>
            <a:r>
              <a:rPr lang="fr-FR" sz="1200" dirty="0" err="1" smtClean="0">
                <a:solidFill>
                  <a:srgbClr val="001080"/>
                </a:solidFill>
                <a:latin typeface="Consolas" panose="020B0609020204030204" pitchFamily="49" charset="0"/>
              </a:rPr>
              <a:t>method</a:t>
            </a:r>
            <a:r>
              <a:rPr lang="fr-FR" sz="1200" dirty="0" smtClean="0">
                <a:solidFill>
                  <a:srgbClr val="000000"/>
                </a:solidFill>
                <a:latin typeface="Consolas" panose="020B0609020204030204" pitchFamily="49" charset="0"/>
              </a:rPr>
              <a:t>=</a:t>
            </a:r>
            <a:r>
              <a:rPr lang="fr-FR" sz="1200" dirty="0" smtClean="0">
                <a:solidFill>
                  <a:srgbClr val="A31515"/>
                </a:solidFill>
                <a:latin typeface="Consolas" panose="020B0609020204030204" pitchFamily="49" charset="0"/>
              </a:rPr>
              <a:t>'</a:t>
            </a:r>
            <a:r>
              <a:rPr lang="fr-FR" sz="1200" dirty="0" err="1" smtClean="0">
                <a:solidFill>
                  <a:srgbClr val="A31515"/>
                </a:solidFill>
                <a:latin typeface="Consolas" panose="020B0609020204030204" pitchFamily="49" charset="0"/>
              </a:rPr>
              <a:t>hybr</a:t>
            </a:r>
            <a:r>
              <a:rPr lang="fr-FR" sz="1200" dirty="0" smtClean="0">
                <a:solidFill>
                  <a:srgbClr val="A31515"/>
                </a:solidFill>
                <a:latin typeface="Consolas" panose="020B0609020204030204" pitchFamily="49" charset="0"/>
              </a:rPr>
              <a:t>'</a:t>
            </a:r>
            <a:r>
              <a:rPr lang="fr-FR" sz="1200" dirty="0" smtClean="0">
                <a:solidFill>
                  <a:srgbClr val="000000"/>
                </a:solidFill>
                <a:latin typeface="Consolas" panose="020B0609020204030204" pitchFamily="49" charset="0"/>
              </a:rPr>
              <a:t>) </a:t>
            </a:r>
          </a:p>
          <a:p>
            <a:r>
              <a:rPr lang="fr-FR" sz="1200" dirty="0" smtClean="0">
                <a:solidFill>
                  <a:srgbClr val="000000"/>
                </a:solidFill>
                <a:latin typeface="Consolas" panose="020B0609020204030204" pitchFamily="49" charset="0"/>
              </a:rPr>
              <a:t>        </a:t>
            </a:r>
            <a:r>
              <a:rPr lang="fr-FR" sz="1200" dirty="0" err="1" smtClean="0">
                <a:solidFill>
                  <a:srgbClr val="000000"/>
                </a:solidFill>
                <a:latin typeface="Consolas" panose="020B0609020204030204" pitchFamily="49" charset="0"/>
              </a:rPr>
              <a:t>Tvec.append</a:t>
            </a:r>
            <a:r>
              <a:rPr lang="fr-FR" sz="1200" dirty="0" smtClean="0">
                <a:solidFill>
                  <a:srgbClr val="000000"/>
                </a:solidFill>
                <a:latin typeface="Consolas" panose="020B0609020204030204" pitchFamily="49" charset="0"/>
              </a:rPr>
              <a:t>(</a:t>
            </a:r>
            <a:r>
              <a:rPr lang="fr-FR" sz="1200" dirty="0" err="1" smtClean="0">
                <a:solidFill>
                  <a:srgbClr val="000000"/>
                </a:solidFill>
                <a:latin typeface="Consolas" panose="020B0609020204030204" pitchFamily="49" charset="0"/>
              </a:rPr>
              <a:t>sol.x</a:t>
            </a:r>
            <a:r>
              <a:rPr lang="fr-FR" sz="1200" dirty="0" smtClean="0">
                <a:solidFill>
                  <a:srgbClr val="000000"/>
                </a:solidFill>
                <a:latin typeface="Consolas" panose="020B0609020204030204" pitchFamily="49" charset="0"/>
              </a:rPr>
              <a:t>[0] if </a:t>
            </a:r>
            <a:r>
              <a:rPr lang="fr-FR" sz="1200" dirty="0" err="1" smtClean="0">
                <a:solidFill>
                  <a:srgbClr val="000000"/>
                </a:solidFill>
                <a:latin typeface="Consolas" panose="020B0609020204030204" pitchFamily="49" charset="0"/>
              </a:rPr>
              <a:t>sol.success</a:t>
            </a:r>
            <a:r>
              <a:rPr lang="fr-FR" sz="1200" dirty="0" smtClean="0">
                <a:solidFill>
                  <a:srgbClr val="000000"/>
                </a:solidFill>
                <a:latin typeface="Consolas" panose="020B0609020204030204" pitchFamily="49" charset="0"/>
              </a:rPr>
              <a:t> </a:t>
            </a:r>
            <a:r>
              <a:rPr lang="fr-FR" sz="1200" dirty="0" err="1" smtClean="0">
                <a:solidFill>
                  <a:srgbClr val="000000"/>
                </a:solidFill>
                <a:latin typeface="Consolas" panose="020B0609020204030204" pitchFamily="49" charset="0"/>
              </a:rPr>
              <a:t>else</a:t>
            </a:r>
            <a:r>
              <a:rPr lang="fr-FR" sz="1200" dirty="0" smtClean="0">
                <a:solidFill>
                  <a:srgbClr val="000000"/>
                </a:solidFill>
                <a:latin typeface="Consolas" panose="020B0609020204030204" pitchFamily="49" charset="0"/>
              </a:rPr>
              <a:t> </a:t>
            </a:r>
            <a:r>
              <a:rPr lang="fr-FR" sz="1200" dirty="0" err="1" smtClean="0">
                <a:solidFill>
                  <a:srgbClr val="000000"/>
                </a:solidFill>
                <a:latin typeface="Consolas" panose="020B0609020204030204" pitchFamily="49" charset="0"/>
              </a:rPr>
              <a:t>np.nan</a:t>
            </a:r>
            <a:r>
              <a:rPr lang="fr-FR" sz="1200" dirty="0" smtClean="0">
                <a:solidFill>
                  <a:srgbClr val="000000"/>
                </a:solidFill>
                <a:latin typeface="Consolas" panose="020B0609020204030204" pitchFamily="49" charset="0"/>
              </a:rPr>
              <a:t>)    </a:t>
            </a:r>
          </a:p>
          <a:p>
            <a:r>
              <a:rPr lang="fr-FR" sz="1200" dirty="0" smtClean="0">
                <a:solidFill>
                  <a:srgbClr val="000000"/>
                </a:solidFill>
                <a:latin typeface="Consolas" panose="020B0609020204030204" pitchFamily="49" charset="0"/>
              </a:rPr>
              <a:t>    </a:t>
            </a:r>
            <a:r>
              <a:rPr lang="fr-FR" sz="1200" dirty="0" smtClean="0">
                <a:solidFill>
                  <a:srgbClr val="AF00DB"/>
                </a:solidFill>
                <a:latin typeface="Consolas" panose="020B0609020204030204" pitchFamily="49" charset="0"/>
              </a:rPr>
              <a:t>return</a:t>
            </a:r>
            <a:r>
              <a:rPr lang="fr-FR" sz="1200" dirty="0" smtClean="0">
                <a:solidFill>
                  <a:srgbClr val="000000"/>
                </a:solidFill>
                <a:latin typeface="Consolas" panose="020B0609020204030204" pitchFamily="49" charset="0"/>
              </a:rPr>
              <a:t> </a:t>
            </a:r>
            <a:r>
              <a:rPr lang="fr-FR" sz="1200" dirty="0" err="1" smtClean="0">
                <a:solidFill>
                  <a:srgbClr val="267F99"/>
                </a:solidFill>
                <a:latin typeface="Consolas" panose="020B0609020204030204" pitchFamily="49" charset="0"/>
              </a:rPr>
              <a:t>np</a:t>
            </a:r>
            <a:r>
              <a:rPr lang="fr-FR" sz="1200" dirty="0" err="1" smtClean="0">
                <a:solidFill>
                  <a:srgbClr val="000000"/>
                </a:solidFill>
                <a:latin typeface="Consolas" panose="020B0609020204030204" pitchFamily="49" charset="0"/>
              </a:rPr>
              <a:t>.</a:t>
            </a:r>
            <a:r>
              <a:rPr lang="fr-FR" sz="1200" dirty="0" err="1" smtClean="0">
                <a:solidFill>
                  <a:srgbClr val="795E26"/>
                </a:solidFill>
                <a:latin typeface="Consolas" panose="020B0609020204030204" pitchFamily="49" charset="0"/>
              </a:rPr>
              <a:t>array</a:t>
            </a:r>
            <a:r>
              <a:rPr lang="fr-FR" sz="1200" dirty="0" smtClean="0">
                <a:solidFill>
                  <a:srgbClr val="000000"/>
                </a:solidFill>
                <a:latin typeface="Consolas" panose="020B0609020204030204" pitchFamily="49" charset="0"/>
              </a:rPr>
              <a:t>(</a:t>
            </a:r>
            <a:r>
              <a:rPr lang="fr-FR" sz="1200" dirty="0" err="1" smtClean="0">
                <a:solidFill>
                  <a:srgbClr val="001080"/>
                </a:solidFill>
                <a:latin typeface="Consolas" panose="020B0609020204030204" pitchFamily="49" charset="0"/>
              </a:rPr>
              <a:t>Tvec</a:t>
            </a:r>
            <a:r>
              <a:rPr lang="fr-FR" sz="1200" dirty="0" smtClean="0">
                <a:solidFill>
                  <a:srgbClr val="000000"/>
                </a:solidFill>
                <a:latin typeface="Consolas" panose="020B0609020204030204" pitchFamily="49" charset="0"/>
              </a:rPr>
              <a:t>)</a:t>
            </a:r>
          </a:p>
          <a:p>
            <a:r>
              <a:rPr lang="fr-FR" sz="1200" dirty="0" smtClean="0">
                <a:solidFill>
                  <a:srgbClr val="000000"/>
                </a:solidFill>
                <a:latin typeface="Consolas" panose="020B0609020204030204" pitchFamily="49" charset="0"/>
              </a:rPr>
              <a:t/>
            </a:r>
            <a:br>
              <a:rPr lang="fr-FR" sz="1200" dirty="0" smtClean="0">
                <a:solidFill>
                  <a:srgbClr val="000000"/>
                </a:solidFill>
                <a:latin typeface="Consolas" panose="020B0609020204030204" pitchFamily="49" charset="0"/>
              </a:rPr>
            </a:br>
            <a:r>
              <a:rPr lang="fr-FR" sz="1200" dirty="0" smtClean="0">
                <a:solidFill>
                  <a:srgbClr val="008000"/>
                </a:solidFill>
                <a:latin typeface="Consolas" panose="020B0609020204030204" pitchFamily="49" charset="0"/>
              </a:rPr>
              <a:t># Étude pour h ∈ [2, 100]</a:t>
            </a:r>
            <a:endParaRPr lang="fr-FR" sz="1200" dirty="0" smtClean="0">
              <a:solidFill>
                <a:srgbClr val="000000"/>
              </a:solidFill>
              <a:latin typeface="Consolas" panose="020B0609020204030204" pitchFamily="49" charset="0"/>
            </a:endParaRPr>
          </a:p>
          <a:p>
            <a:r>
              <a:rPr lang="fr-FR" sz="1200" dirty="0" err="1" smtClean="0">
                <a:solidFill>
                  <a:srgbClr val="001080"/>
                </a:solidFill>
                <a:latin typeface="Consolas" panose="020B0609020204030204" pitchFamily="49" charset="0"/>
              </a:rPr>
              <a:t>hvec</a:t>
            </a:r>
            <a:r>
              <a:rPr lang="fr-FR" sz="1200" dirty="0" smtClean="0">
                <a:solidFill>
                  <a:srgbClr val="000000"/>
                </a:solidFill>
                <a:latin typeface="Consolas" panose="020B0609020204030204" pitchFamily="49" charset="0"/>
              </a:rPr>
              <a:t> = </a:t>
            </a:r>
            <a:r>
              <a:rPr lang="fr-FR" sz="1200" dirty="0" err="1" smtClean="0">
                <a:solidFill>
                  <a:srgbClr val="267F99"/>
                </a:solidFill>
                <a:latin typeface="Consolas" panose="020B0609020204030204" pitchFamily="49" charset="0"/>
              </a:rPr>
              <a:t>np</a:t>
            </a:r>
            <a:r>
              <a:rPr lang="fr-FR" sz="1200" dirty="0" err="1" smtClean="0">
                <a:solidFill>
                  <a:srgbClr val="000000"/>
                </a:solidFill>
                <a:latin typeface="Consolas" panose="020B0609020204030204" pitchFamily="49" charset="0"/>
              </a:rPr>
              <a:t>.</a:t>
            </a:r>
            <a:r>
              <a:rPr lang="fr-FR" sz="1200" dirty="0" err="1" smtClean="0">
                <a:solidFill>
                  <a:srgbClr val="795E26"/>
                </a:solidFill>
                <a:latin typeface="Consolas" panose="020B0609020204030204" pitchFamily="49" charset="0"/>
              </a:rPr>
              <a:t>linspace</a:t>
            </a:r>
            <a:r>
              <a:rPr lang="fr-FR" sz="1200" dirty="0" smtClean="0">
                <a:solidFill>
                  <a:srgbClr val="000000"/>
                </a:solidFill>
                <a:latin typeface="Consolas" panose="020B0609020204030204" pitchFamily="49" charset="0"/>
              </a:rPr>
              <a:t>(</a:t>
            </a:r>
            <a:r>
              <a:rPr lang="fr-FR" sz="1200" dirty="0" smtClean="0">
                <a:solidFill>
                  <a:srgbClr val="098658"/>
                </a:solidFill>
                <a:latin typeface="Consolas" panose="020B0609020204030204" pitchFamily="49" charset="0"/>
              </a:rPr>
              <a:t>2</a:t>
            </a:r>
            <a:r>
              <a:rPr lang="fr-FR" sz="1200" dirty="0" smtClean="0">
                <a:solidFill>
                  <a:srgbClr val="000000"/>
                </a:solidFill>
                <a:latin typeface="Consolas" panose="020B0609020204030204" pitchFamily="49" charset="0"/>
              </a:rPr>
              <a:t>, </a:t>
            </a:r>
            <a:r>
              <a:rPr lang="fr-FR" sz="1200" dirty="0" smtClean="0">
                <a:solidFill>
                  <a:srgbClr val="098658"/>
                </a:solidFill>
                <a:latin typeface="Consolas" panose="020B0609020204030204" pitchFamily="49" charset="0"/>
              </a:rPr>
              <a:t>100</a:t>
            </a:r>
            <a:r>
              <a:rPr lang="fr-FR" sz="1200" dirty="0" smtClean="0">
                <a:solidFill>
                  <a:srgbClr val="000000"/>
                </a:solidFill>
                <a:latin typeface="Consolas" panose="020B0609020204030204" pitchFamily="49" charset="0"/>
              </a:rPr>
              <a:t>, </a:t>
            </a:r>
            <a:r>
              <a:rPr lang="fr-FR" sz="1200" dirty="0" smtClean="0">
                <a:solidFill>
                  <a:srgbClr val="098658"/>
                </a:solidFill>
                <a:latin typeface="Consolas" panose="020B0609020204030204" pitchFamily="49" charset="0"/>
              </a:rPr>
              <a:t>100</a:t>
            </a:r>
            <a:r>
              <a:rPr lang="fr-FR" sz="1200" dirty="0" smtClean="0">
                <a:solidFill>
                  <a:srgbClr val="000000"/>
                </a:solidFill>
                <a:latin typeface="Consolas" panose="020B0609020204030204" pitchFamily="49" charset="0"/>
              </a:rPr>
              <a:t>)</a:t>
            </a:r>
          </a:p>
          <a:p>
            <a:r>
              <a:rPr lang="fr-FR" sz="1200" dirty="0" smtClean="0">
                <a:solidFill>
                  <a:srgbClr val="000000"/>
                </a:solidFill>
                <a:latin typeface="Consolas" panose="020B0609020204030204" pitchFamily="49" charset="0"/>
              </a:rPr>
              <a:t/>
            </a:r>
            <a:br>
              <a:rPr lang="fr-FR" sz="1200" dirty="0" smtClean="0">
                <a:solidFill>
                  <a:srgbClr val="000000"/>
                </a:solidFill>
                <a:latin typeface="Consolas" panose="020B0609020204030204" pitchFamily="49" charset="0"/>
              </a:rPr>
            </a:br>
            <a:r>
              <a:rPr lang="fr-FR" sz="1200" dirty="0" smtClean="0">
                <a:solidFill>
                  <a:srgbClr val="008000"/>
                </a:solidFill>
                <a:latin typeface="Consolas" panose="020B0609020204030204" pitchFamily="49" charset="0"/>
              </a:rPr>
              <a:t># Méthode : </a:t>
            </a:r>
            <a:r>
              <a:rPr lang="fr-FR" sz="1200" dirty="0" err="1" smtClean="0">
                <a:solidFill>
                  <a:srgbClr val="008000"/>
                </a:solidFill>
                <a:latin typeface="Consolas" panose="020B0609020204030204" pitchFamily="49" charset="0"/>
              </a:rPr>
              <a:t>root</a:t>
            </a:r>
            <a:r>
              <a:rPr lang="fr-FR" sz="1200" dirty="0" smtClean="0">
                <a:solidFill>
                  <a:srgbClr val="008000"/>
                </a:solidFill>
                <a:latin typeface="Consolas" panose="020B0609020204030204" pitchFamily="49" charset="0"/>
              </a:rPr>
              <a:t> avec </a:t>
            </a:r>
            <a:r>
              <a:rPr lang="fr-FR" sz="1200" dirty="0" err="1" smtClean="0">
                <a:solidFill>
                  <a:srgbClr val="008000"/>
                </a:solidFill>
                <a:latin typeface="Consolas" panose="020B0609020204030204" pitchFamily="49" charset="0"/>
              </a:rPr>
              <a:t>jacobien</a:t>
            </a:r>
            <a:endParaRPr lang="fr-FR" sz="1200" dirty="0" smtClean="0">
              <a:solidFill>
                <a:srgbClr val="000000"/>
              </a:solidFill>
              <a:latin typeface="Consolas" panose="020B0609020204030204" pitchFamily="49" charset="0"/>
            </a:endParaRPr>
          </a:p>
          <a:p>
            <a:r>
              <a:rPr lang="fr-FR" sz="1200" dirty="0" err="1" smtClean="0">
                <a:solidFill>
                  <a:srgbClr val="001080"/>
                </a:solidFill>
                <a:latin typeface="Consolas" panose="020B0609020204030204" pitchFamily="49" charset="0"/>
              </a:rPr>
              <a:t>Tvec</a:t>
            </a:r>
            <a:r>
              <a:rPr lang="fr-FR" sz="1200" dirty="0" smtClean="0">
                <a:solidFill>
                  <a:srgbClr val="000000"/>
                </a:solidFill>
                <a:latin typeface="Consolas" panose="020B0609020204030204" pitchFamily="49" charset="0"/>
              </a:rPr>
              <a:t> = </a:t>
            </a:r>
            <a:r>
              <a:rPr lang="fr-FR" sz="1200" dirty="0" err="1" smtClean="0">
                <a:solidFill>
                  <a:srgbClr val="795E26"/>
                </a:solidFill>
                <a:latin typeface="Consolas" panose="020B0609020204030204" pitchFamily="49" charset="0"/>
              </a:rPr>
              <a:t>solve_with_root</a:t>
            </a:r>
            <a:r>
              <a:rPr lang="fr-FR" sz="1200" dirty="0" smtClean="0">
                <a:solidFill>
                  <a:srgbClr val="000000"/>
                </a:solidFill>
                <a:latin typeface="Consolas" panose="020B0609020204030204" pitchFamily="49" charset="0"/>
              </a:rPr>
              <a:t>(</a:t>
            </a:r>
            <a:r>
              <a:rPr lang="fr-FR" sz="1200" dirty="0" err="1" smtClean="0">
                <a:solidFill>
                  <a:srgbClr val="001080"/>
                </a:solidFill>
                <a:latin typeface="Consolas" panose="020B0609020204030204" pitchFamily="49" charset="0"/>
              </a:rPr>
              <a:t>hvec</a:t>
            </a:r>
            <a:r>
              <a:rPr lang="fr-FR" sz="1200" dirty="0" smtClean="0">
                <a:solidFill>
                  <a:srgbClr val="000000"/>
                </a:solidFill>
                <a:latin typeface="Consolas" panose="020B0609020204030204" pitchFamily="49" charset="0"/>
              </a:rPr>
              <a:t>)</a:t>
            </a:r>
          </a:p>
          <a:p>
            <a:endParaRPr lang="fr-FR" sz="1200" b="0" dirty="0">
              <a:solidFill>
                <a:srgbClr val="000000"/>
              </a:solidFill>
              <a:effectLst/>
              <a:latin typeface="Consolas" panose="020B0609020204030204" pitchFamily="49" charset="0"/>
            </a:endParaRPr>
          </a:p>
        </p:txBody>
      </p:sp>
      <p:pic>
        <p:nvPicPr>
          <p:cNvPr id="26" name="Image 25"/>
          <p:cNvPicPr>
            <a:picLocks noChangeAspect="1"/>
          </p:cNvPicPr>
          <p:nvPr/>
        </p:nvPicPr>
        <p:blipFill>
          <a:blip r:embed="rId3"/>
          <a:stretch>
            <a:fillRect/>
          </a:stretch>
        </p:blipFill>
        <p:spPr>
          <a:xfrm>
            <a:off x="6119126" y="131468"/>
            <a:ext cx="5570703" cy="4359018"/>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26</a:t>
            </a:fld>
            <a:endParaRPr lang="fr-FR"/>
          </a:p>
        </p:txBody>
      </p:sp>
      <p:pic>
        <p:nvPicPr>
          <p:cNvPr id="5" name="Image 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6823036" y="4926700"/>
            <a:ext cx="5067581" cy="1576229"/>
          </a:xfrm>
          <a:prstGeom prst="rect">
            <a:avLst/>
          </a:prstGeom>
        </p:spPr>
      </p:pic>
      <p:sp>
        <p:nvSpPr>
          <p:cNvPr id="6" name="ZoneTexte 5"/>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2722844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873703" y="231490"/>
            <a:ext cx="7651960" cy="5697829"/>
          </a:xfrm>
          <a:prstGeom prst="rect">
            <a:avLst/>
          </a:prstGeom>
        </p:spPr>
      </p:pic>
      <p:sp>
        <p:nvSpPr>
          <p:cNvPr id="8" name="ZoneTexte 7"/>
          <p:cNvSpPr txBox="1"/>
          <p:nvPr/>
        </p:nvSpPr>
        <p:spPr>
          <a:xfrm>
            <a:off x="429370" y="350760"/>
            <a:ext cx="2137060"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1.39</a:t>
            </a:r>
            <a:endParaRPr lang="fr-FR" sz="2800" dirty="0"/>
          </a:p>
        </p:txBody>
      </p:sp>
      <p:pic>
        <p:nvPicPr>
          <p:cNvPr id="12" name="Image 11"/>
          <p:cNvPicPr>
            <a:picLocks noChangeAspect="1"/>
          </p:cNvPicPr>
          <p:nvPr/>
        </p:nvPicPr>
        <p:blipFill>
          <a:blip r:embed="rId5"/>
          <a:stretch>
            <a:fillRect/>
          </a:stretch>
        </p:blipFill>
        <p:spPr>
          <a:xfrm>
            <a:off x="0" y="1613834"/>
            <a:ext cx="3657917" cy="2644369"/>
          </a:xfrm>
          <a:prstGeom prst="rect">
            <a:avLst/>
          </a:prstGeom>
        </p:spPr>
      </p:pic>
      <p:pic>
        <p:nvPicPr>
          <p:cNvPr id="17" name="Image 1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162310" y="6147259"/>
            <a:ext cx="7147885" cy="475886"/>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27</a:t>
            </a:fld>
            <a:endParaRPr lang="fr-FR"/>
          </a:p>
        </p:txBody>
      </p:sp>
    </p:spTree>
    <p:extLst>
      <p:ext uri="{BB962C8B-B14F-4D97-AF65-F5344CB8AC3E}">
        <p14:creationId xmlns:p14="http://schemas.microsoft.com/office/powerpoint/2010/main" val="29324431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71973" y="417750"/>
            <a:ext cx="10064458" cy="6275655"/>
          </a:xfrm>
          <a:prstGeom prst="rect">
            <a:avLst/>
          </a:prstGeom>
        </p:spPr>
      </p:pic>
      <p:grpSp>
        <p:nvGrpSpPr>
          <p:cNvPr id="10" name="Groupe 9"/>
          <p:cNvGrpSpPr/>
          <p:nvPr/>
        </p:nvGrpSpPr>
        <p:grpSpPr>
          <a:xfrm>
            <a:off x="7616341" y="930110"/>
            <a:ext cx="4151589" cy="1457362"/>
            <a:chOff x="7616341" y="930110"/>
            <a:chExt cx="4151589" cy="1457362"/>
          </a:xfrm>
        </p:grpSpPr>
        <p:pic>
          <p:nvPicPr>
            <p:cNvPr id="9" name="Image 8"/>
            <p:cNvPicPr>
              <a:picLocks noChangeAspect="1"/>
            </p:cNvPicPr>
            <p:nvPr/>
          </p:nvPicPr>
          <p:blipFill>
            <a:blip r:embed="rId5"/>
            <a:stretch>
              <a:fillRect/>
            </a:stretch>
          </p:blipFill>
          <p:spPr>
            <a:xfrm>
              <a:off x="7669097" y="930110"/>
              <a:ext cx="4098833" cy="1457362"/>
            </a:xfrm>
            <a:prstGeom prst="rect">
              <a:avLst/>
            </a:prstGeom>
          </p:spPr>
        </p:pic>
        <p:pic>
          <p:nvPicPr>
            <p:cNvPr id="7" name="Imag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616341" y="1632418"/>
              <a:ext cx="1388800" cy="347733"/>
            </a:xfrm>
            <a:prstGeom prst="rect">
              <a:avLst/>
            </a:prstGeom>
            <a:solidFill>
              <a:srgbClr val="FFFFFF"/>
            </a:solidFill>
          </p:spPr>
        </p:pic>
      </p:grpSp>
      <p:sp>
        <p:nvSpPr>
          <p:cNvPr id="3" name="Espace réservé du numéro de diapositive 2"/>
          <p:cNvSpPr>
            <a:spLocks noGrp="1"/>
          </p:cNvSpPr>
          <p:nvPr>
            <p:ph type="sldNum" sz="quarter" idx="12"/>
          </p:nvPr>
        </p:nvSpPr>
        <p:spPr/>
        <p:txBody>
          <a:bodyPr/>
          <a:lstStyle/>
          <a:p>
            <a:fld id="{CB13DDC6-9977-4A69-882A-1641CFA73689}" type="slidenum">
              <a:rPr lang="fr-FR" smtClean="0"/>
              <a:t>28</a:t>
            </a:fld>
            <a:endParaRPr lang="fr-FR"/>
          </a:p>
        </p:txBody>
      </p:sp>
      <p:sp>
        <p:nvSpPr>
          <p:cNvPr id="8" name="ZoneTexte 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7980884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descr="\documentclass{article}&#10;\usepackage{amsmath}&#10;\pagestyle{empty}&#10;&#10;\usepackage{amsmath}&#10;\usepackage{amsfonts}&#10;\usepackage{amssymb}&#10;\usepackage{xcolor}&#10;\usepackage[paperwidth=23cm]{geometry}&#10;\usepackage{enumitem}&#10;&#10;\begin{document}&#10;&#10;\subsection*{Exercice : étude de la fusion d'une sphère de glace dans un milieu aqueux}&#10;&#10;On étudie l'évolution du rayon d'une sphère de glace initialement à température $T_s^0 = 0^\circ C$ placée dans de l'eau à température $T_{l}^0 &gt; 0^\circ C$. Le système est placé dans un calorimètre isolé thermiquement.&#10;\vspace{-0.5cm}&#10;\subsubsection*{Paramètres du système et notations}&#10;\begin{itemize}[itemsep=0pt, topsep=2pt, parsep=0pt, partopsep=0pt]&#10;    \item Sphère de glace initiale : température $T_s^0 = T_{mp} = 0^\circ C$, rayon initial $r_0$&#10;    \item Eau environnante : température $T_{l}^0 &gt; 0^\circ C$ (température du fluide loin de la sphère)&#10;    \item Température de fusion/point de fusion : $T_{mp} = 0^\circ C$&#10;    \item Rayon instantané de la sphère : $r_s(t)$&#10;    \item Masse volumique de la glace : $\rho_s$ &#10;    \item Masse volumique de l'eau : $\rho_l$ &#10;    \item Chaleur latente de fusion : $h_{sf}$ &#10;    \item Capacité calorifique de l'eau : $c_{p,l}$&#10;    \item coefficient d'échange thermique à l'interface solide-liquide : $h$&#10;    \item Hypothèse fondamentale : $Bi \ll 1 \Rightarrow$ température uniforme dans la glace à $T_{mp}$&#10;\end{itemize}&#10;&#10;Dans le {\color{red} calorimètre parfaitement isolé et fermé}, la masse totale et l'énergie totale du système (glace + eau) se conservent au cours du temps. À l'instant initial, l'énergie totale du système est :&#10;\begin{equation*}&#10;E_{total} = E_{glace}^0 + E_{eau}^0 = &#10;-{\color{red} m_{s}^0 \cdot h_{sf}} + m_{s}^0 \cdot c_{p,s} \cdot (T_s^0-T_{ref}) + m_{l}^0 \cdot c_{p,l} \cdot (T_{l}^0-T_{ref})&#10;\end{equation*}&#10;Une autre définition en ajoutant la constante ${\color{red} (m_s^0+m_l^0) \cdot h_{sf}}$ est:&#10;\vspace{-0.2cm}&#10;\begin{equation*}&#10;E_{total} = E_{glace}^0 + E_{eau}^0 = &#10; m_{s}^0 \cdot c_{p,s} \cdot (T_s^0-T_{ref}) + m_{l}^0 \cdot c_{p,l} \cdot (T_{l}^0-T_{ref})&#10;+{\color{red} m_{l}^0 \cdot h_{sf}}&#10;\end{equation*}&#10;Il est judicieux de prendre ici $T_{ref}=0^\circ C$ et d'exprimer toutes les températures en degrés Celsius.&#10;&#10;\end{document}\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724760" y="164476"/>
            <a:ext cx="10417371" cy="6565028"/>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29</a:t>
            </a:fld>
            <a:endParaRPr lang="fr-FR"/>
          </a:p>
        </p:txBody>
      </p:sp>
      <p:grpSp>
        <p:nvGrpSpPr>
          <p:cNvPr id="23" name="Groupe 22"/>
          <p:cNvGrpSpPr/>
          <p:nvPr/>
        </p:nvGrpSpPr>
        <p:grpSpPr>
          <a:xfrm>
            <a:off x="10093569" y="1459524"/>
            <a:ext cx="1800000" cy="1800000"/>
            <a:chOff x="9662746" y="1389185"/>
            <a:chExt cx="1800000" cy="1800000"/>
          </a:xfrm>
        </p:grpSpPr>
        <p:sp>
          <p:nvSpPr>
            <p:cNvPr id="20" name="Rectangle 19"/>
            <p:cNvSpPr/>
            <p:nvPr/>
          </p:nvSpPr>
          <p:spPr>
            <a:xfrm>
              <a:off x="9662746" y="1389185"/>
              <a:ext cx="1800000" cy="1800000"/>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p:cNvSpPr/>
            <p:nvPr/>
          </p:nvSpPr>
          <p:spPr>
            <a:xfrm>
              <a:off x="9752746" y="1479185"/>
              <a:ext cx="1620000" cy="16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p:cNvSpPr/>
            <p:nvPr/>
          </p:nvSpPr>
          <p:spPr>
            <a:xfrm>
              <a:off x="10410945" y="2048718"/>
              <a:ext cx="393539" cy="41668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25" name="Connecteur droit 24"/>
          <p:cNvCxnSpPr/>
          <p:nvPr/>
        </p:nvCxnSpPr>
        <p:spPr>
          <a:xfrm>
            <a:off x="4130918" y="5489335"/>
            <a:ext cx="330737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a:xfrm>
            <a:off x="2633640" y="5489335"/>
            <a:ext cx="58764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a:xfrm>
            <a:off x="3439602" y="5489335"/>
            <a:ext cx="56089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a:xfrm>
            <a:off x="7763586" y="5489335"/>
            <a:ext cx="219809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5306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documentclass{article}&#10;\usepackage{amsmath}&#10;\pagestyle{empty}&#10;&#10;\usepackage{amsmath}&#10;\usepackage{amsfonts}&#10;\usepackage{amssymb}&#10;\usepackage[paperwidth=25cm]{geometry}&#10;\usepackage{enumitem}&#10;&#10;\begin{document}&#10;&#10;À l'instant initial, l'énergie totale du système est :&#10;\begin{equation*}&#10;E_{total} = E_{glace}^0 + E_{eau}^0 = &#10; -m_{s}^0 \cdot h_{sf} + m_{s}^0 \cdot c_{p,s} \cdot (T_s^0-T_{ref}) + m_{l}^0 \cdot c_{p,l} \cdot (T_{l}^0-T_{ref})&#10;\end{equation*}&#10;avec $T_{ref} = 0^\circ C$.&#10;&#10;\begin{itemize}[itemsep=2pt, topsep=2pt, parsep=0pt, partopsep=2pt]&#10;\item Ecrire la conservation de la masse totale pour tout instant $t&gt;0$. En déduire l'expression de $m_{l}(t)$ en fonction de $m_s(t)$ en autre.&#10;\item Ecrire l'énergie totale du système tout instant t. En déduire l'expression de la température&#10;de l'eau $T_l(t)$.&#10;\item Ecrire l'expression de la masse de la sphère de glace en fonction de son rayon. &#10;En déduire l'expression de sa dérivée temporelle.&#10;\item Le transfert de chaleur de l'eau vers la glace s'effectue par convection.&#10;Toute l'énergie thermique entrant dans la sphère est utilisée pour la fusion :&#10;$$&#10;\dot{Q}_{fusion} = -h_{sf} \dfrac{dm_s}{dt}&#10;$$&#10;Vérifier que $\dot{Q}_{fusion}&gt;0$.&#10;\item En déduire l'expression de la vitesse $\dot{r}_s$ en fonction de $T_l(t)$.&#10;\item Remplacez $T_l(t)$ dans l'expression de $\dot{r}_s$ par la formule obtenue précédemment.&#10;\item Le résoudre dans la limite où la masse de liquide est infiniment grande.&#10;\end{itemize}&#10;&#10;&#10;\end{document}\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48917" y="437044"/>
            <a:ext cx="11323885" cy="5264914"/>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30</a:t>
            </a:fld>
            <a:endParaRPr lang="fr-FR"/>
          </a:p>
        </p:txBody>
      </p:sp>
    </p:spTree>
    <p:extLst>
      <p:ext uri="{BB962C8B-B14F-4D97-AF65-F5344CB8AC3E}">
        <p14:creationId xmlns:p14="http://schemas.microsoft.com/office/powerpoint/2010/main" val="29271755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2137060" cy="1384995"/>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1.27</a:t>
            </a:r>
          </a:p>
          <a:p>
            <a:r>
              <a:rPr lang="fr-FR" sz="2800" dirty="0" smtClean="0"/>
              <a:t>Version 1.5</a:t>
            </a:r>
          </a:p>
        </p:txBody>
      </p:sp>
      <p:pic>
        <p:nvPicPr>
          <p:cNvPr id="2" name="Image 1" descr="\documentclass{article}&#10;\usepackage{amsmath}&#10;\usepackage{amsfonts}&#10;\usepackage{amssymb}&#10;\usepackage[paperwidth=16cm]{geometry}&#10;\usepackage{siunitx}&#10;\usepackage{xcolor}&#10;\pagestyle{empty}&#10;\begin{document}&#10;&#10;Un système à vide, tel qu'utilisé dans la pulvérisation de films minces électriquement conducteurs sur microcircuits, est composé d'une plaque de base maintenue par un chauffage électrique à {\color{blue} \SI{300}{K}} et d'un écran à l'intérieur de l'enceinte maintenu à {\color{red} \SI{97}{K}} par une boucle de refroidissement à azote liquide. La plaque de base circulaire, isolée sur sa face inférieure, a un diamètre de \SI{0.3}{m} et une émissivité de 0.25.&#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701134" y="350760"/>
            <a:ext cx="8053344" cy="1702095"/>
          </a:xfrm>
          <a:prstGeom prst="rect">
            <a:avLst/>
          </a:prstGeom>
        </p:spPr>
      </p:pic>
      <p:pic>
        <p:nvPicPr>
          <p:cNvPr id="13" name="Image 12"/>
          <p:cNvPicPr>
            <a:picLocks noChangeAspect="1"/>
          </p:cNvPicPr>
          <p:nvPr/>
        </p:nvPicPr>
        <p:blipFill>
          <a:blip r:embed="rId7"/>
          <a:stretch>
            <a:fillRect/>
          </a:stretch>
        </p:blipFill>
        <p:spPr>
          <a:xfrm>
            <a:off x="429370" y="2443247"/>
            <a:ext cx="4480948" cy="3132091"/>
          </a:xfrm>
          <a:prstGeom prst="rect">
            <a:avLst/>
          </a:prstGeom>
        </p:spPr>
      </p:pic>
      <p:pic>
        <p:nvPicPr>
          <p:cNvPr id="25" name="Image 24" descr="\documentclass{article}&#10;\usepackage{amsmath}&#10;\usepackage{amsfonts}&#10;\usepackage{amssymb}&#10;\usepackage[paperwidth=12cm]{geometry}&#10;\usepackage{siunitx}&#10;\pagestyle{empty}&#10;\begin{document}&#10;&#10;(a) Quelle puissance électrique doit être fournie au chauffage de la plaque de base ?\\&#10;&#10;(b) À quel débit l'azote liquide doit-il être fourni à l'écran si sa chaleur de vaporisation est de \SI{125}{kJ/kg} ?\\&#10;&#10;(c) Pour réduire la consommation d'azote liquide, il est proposé de coller une fine feuille de papier d'aluminium ($\varepsilon = 0{.}09$) sur la plaque de base. Cela aura-t-il l'effet désiré ?&#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5374603" y="2622106"/>
            <a:ext cx="6275051" cy="2925716"/>
          </a:xfrm>
          <a:prstGeom prst="rect">
            <a:avLst/>
          </a:prstGeom>
        </p:spPr>
      </p:pic>
      <p:pic>
        <p:nvPicPr>
          <p:cNvPr id="20" name="Image 19" descr="\documentclass{article}&#10;\usepackage{amsmath}&#10;\pagestyle{empty}&#10;\begin{document}&#10;&#10;vide parfait&#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670111" y="3553915"/>
            <a:ext cx="1261714" cy="227048"/>
          </a:xfrm>
          <a:prstGeom prst="rect">
            <a:avLst/>
          </a:prstGeom>
        </p:spPr>
      </p:pic>
      <p:pic>
        <p:nvPicPr>
          <p:cNvPr id="4" name="Image 3" descr="\documentclass{article}&#10;\usepackage{amsmath}&#10;\usepackage{amsfonts}&#10;\usepackage{amssymb}&#10;\usepackage[paperwidth=25cm]{geometry}&#10;\usepackage{siunitx}&#10;\pagestyle{empty}&#10;\begin{document}&#10;&#10;\subsection*{Données}&#10;&#10;Chaleur de vaporisation de l'azote liquide $h_{fg}$=\SI{125}{kJ/kg}.&#10;&#10;\noindent&#10;Température d'évaporation de l'azote $T=77$K.&#10;&#10;\noindent&#10;Capacité calorifique de l'azote gazeux : $c_p = 1.04$ kJ/(kg·K)&#10;\end{document}" title="IguanaTex Bitmap Display"/>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314100" y="5575339"/>
            <a:ext cx="5945148" cy="1224685"/>
          </a:xfrm>
          <a:prstGeom prst="rect">
            <a:avLst/>
          </a:prstGeom>
        </p:spPr>
      </p:pic>
    </p:spTree>
    <p:extLst>
      <p:ext uri="{BB962C8B-B14F-4D97-AF65-F5344CB8AC3E}">
        <p14:creationId xmlns:p14="http://schemas.microsoft.com/office/powerpoint/2010/main" val="35236083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documentclass{article}&#10;\usepackage{amsmath}&#10;\usepackage{amsfonts}&#10;\usepackage{amssymb}&#10;\usepackage[paperwidth=20cm]{geometry}&#10;\usepackage{siunitx}&#10;\pagestyle{empty}&#10;\begin{document}&#10;&#10;(a) À partir d'un bilan énergétique sur la plaque de base,&#10;\begin{align}&#10;\dot{E}_{\text{in}} - \dot{E}_{\text{out}} &amp;= 0 &amp; q_{\text{élec}} - q_{\text{rad}} &amp;= 0&#10;\end{align}&#10;et en utilisant l'Éq. 1.7 pour l'échange radiatif entre la plaque de base et l'écran,&#10;\begin{equation}&#10;q_{\text{élec}} = \varepsilon_p A_p \sigma \left( T_p^4 - T_{\text{sh}}^4 \right).&#10;\end{equation}&#10;&#10;En substituant les valeurs numériques, avec $A_p = \left( \pi D_p^2 / 4 \right)$, trouve&#10;\begin{equation}&#10;q_{\text{élec}} = 0{.}25 \left( \pi (0.3 \text{ m})^2 / 4 \right) 5.67 \times 10^{-8} \text{ W/m}^2 \cdot \text{K}^4 \left( {\color{red} 300}^4 - {\color{red} 97}^4 \right) \text{K}^4 = {\color{red} } \text{8.027 W}.&#10;\end{equation}&#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081601" y="3056117"/>
            <a:ext cx="9040457" cy="2930742"/>
          </a:xfrm>
          <a:prstGeom prst="rect">
            <a:avLst/>
          </a:prstGeom>
        </p:spPr>
      </p:pic>
      <p:grpSp>
        <p:nvGrpSpPr>
          <p:cNvPr id="4" name="Groupe 3"/>
          <p:cNvGrpSpPr/>
          <p:nvPr/>
        </p:nvGrpSpPr>
        <p:grpSpPr>
          <a:xfrm>
            <a:off x="1315896" y="340468"/>
            <a:ext cx="7186283" cy="2027096"/>
            <a:chOff x="1315896" y="340468"/>
            <a:chExt cx="7186283" cy="2027096"/>
          </a:xfrm>
        </p:grpSpPr>
        <p:pic>
          <p:nvPicPr>
            <p:cNvPr id="17" name="Image 16"/>
            <p:cNvPicPr>
              <a:picLocks noChangeAspect="1"/>
            </p:cNvPicPr>
            <p:nvPr/>
          </p:nvPicPr>
          <p:blipFill>
            <a:blip r:embed="rId4"/>
            <a:stretch>
              <a:fillRect/>
            </a:stretch>
          </p:blipFill>
          <p:spPr>
            <a:xfrm>
              <a:off x="1315896" y="340468"/>
              <a:ext cx="7186283" cy="2027096"/>
            </a:xfrm>
            <a:prstGeom prst="rect">
              <a:avLst/>
            </a:prstGeom>
          </p:spPr>
        </p:pic>
        <p:sp>
          <p:nvSpPr>
            <p:cNvPr id="2" name="ZoneTexte 1"/>
            <p:cNvSpPr txBox="1"/>
            <p:nvPr/>
          </p:nvSpPr>
          <p:spPr>
            <a:xfrm>
              <a:off x="1863968" y="1600201"/>
              <a:ext cx="668773" cy="338554"/>
            </a:xfrm>
            <a:prstGeom prst="rect">
              <a:avLst/>
            </a:prstGeom>
            <a:solidFill>
              <a:schemeClr val="bg1"/>
            </a:solidFill>
          </p:spPr>
          <p:txBody>
            <a:bodyPr wrap="none" rtlCol="0">
              <a:spAutoFit/>
            </a:bodyPr>
            <a:lstStyle/>
            <a:p>
              <a:r>
                <a:rPr lang="fr-FR" sz="1600" dirty="0" smtClean="0"/>
                <a:t>3OOK</a:t>
              </a:r>
              <a:endParaRPr lang="fr-FR" sz="1600" dirty="0"/>
            </a:p>
          </p:txBody>
        </p:sp>
        <p:sp>
          <p:nvSpPr>
            <p:cNvPr id="5" name="ZoneTexte 4"/>
            <p:cNvSpPr txBox="1"/>
            <p:nvPr/>
          </p:nvSpPr>
          <p:spPr>
            <a:xfrm>
              <a:off x="5489330" y="437210"/>
              <a:ext cx="726481" cy="369332"/>
            </a:xfrm>
            <a:prstGeom prst="rect">
              <a:avLst/>
            </a:prstGeom>
            <a:solidFill>
              <a:schemeClr val="bg1"/>
            </a:solidFill>
          </p:spPr>
          <p:txBody>
            <a:bodyPr wrap="none" rtlCol="0">
              <a:spAutoFit/>
            </a:bodyPr>
            <a:lstStyle/>
            <a:p>
              <a:r>
                <a:rPr lang="fr-FR" dirty="0" smtClean="0"/>
                <a:t>3OOK</a:t>
              </a:r>
              <a:endParaRPr lang="fr-FR" dirty="0"/>
            </a:p>
          </p:txBody>
        </p:sp>
      </p:grpSp>
      <p:sp>
        <p:nvSpPr>
          <p:cNvPr id="3" name="ZoneTexte 2"/>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51055497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documentclass{article}&#10;\usepackage{amsmath}&#10;\usepackage{amsfonts}&#10;\usepackage{amssymb}&#10;\usepackage[paperwidth=25cm]{geometry}&#10;\usepackage{siunitx}&#10;\pagestyle{empty}&#10;\begin{document}&#10;&#10;\noindent&#10;Point important : l'azote bout à 77 K, mais l'écran est maintenu à 97 K. Il faut donc tenir compte de &#10;l'évaporation de l'azote liquide à 77 K, de réchauffement du gaz d'azote de 77 K à 97 K&#10;\vspace{-0.5cm}&#10;\subsection* {Chaleur totale nécessaire par kg d'azote :}&#10;&#10;\noindent&#10;Réchauffement du gaz : $c_p \; \Delta T = 1.04 \;  (97 - 77) = 20.8$ kJ/kg \\&#10;\noindent&#10;Chaleur totale par kg : $h_{\text{total}} = 125 + 20.8 = 145.8$ kJ/kg \\\\&#10;&#10;(b) À partir d'un bilan énergétique sur l'enceinte, le transfert radiatif chauffe le flux d'azote liquide causant l'évaporation,&#10;\begin{align}&#10;\dot{E}_{\text{in}} - \dot{E}_{\text{out}} &amp;= 0 &amp; q_{\text{rad}} - \dot{m}_{\text{LN}_2} h_{\text{total}} &amp;= 0&#10;\end{align}&#10;où $\dot{m}_{\text{LN}_2}$ est le débit de consommation d'azote liquide. D'où,&#10;\begin{equation}&#10;\dot{m}_{\text{LN}_2} = q_{\text{rad}} / h_{\text{total}} = {\color{red} 8.027} \text{ W} / {\color{red} 145.8} \text{ kJ} / \text{kg} = 5.50 \;10^{-5} \text{ kg} / \text{s} = 0.198 \text{ kg} / \text{h}.&#10;\end{equation}&#10;&#10;(c) Si une feuille d'aluminium ($\varepsilon_p = 0.09$) était collée à la surface supérieure de la plaque de base,&#10;\begin{equation}&#10;q_{\text{rad,feuille}} = q_{\text{rad}} \left( \varepsilon_f / \varepsilon_p \right) = 0.198 \text{ W} (0.09/0.25) = 0.0713\text{ W}&#10;\end{equation}&#10;et le débit de consommation d'azote liquide serait réduit de&#10;\begin{equation}&#10;(0.25 - 0.09)/0.25 = 64\% \text{ à } 0.083 \text{ kg/h}.&#10;\end{equation}&#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25456" y="553970"/>
            <a:ext cx="11325259" cy="6096002"/>
          </a:xfrm>
          <a:prstGeom prst="rect">
            <a:avLst/>
          </a:prstGeom>
        </p:spPr>
      </p:pic>
      <p:pic>
        <p:nvPicPr>
          <p:cNvPr id="3" name="Image 2" descr="\documentclass{article}&#10;\usepackage{amsmath}&#10;\pagestyle{empty}&#10;\begin{document}&#10;&#10;&#10;$$\dot{m}_{LN_2}\; h_{in} -\dot{m}_{LN_2}\; h_{out} &#10;-\dot{m}_{LN_2}\;h_{fg}+q_{rad} =0$$&#10;&#10;&#10;\end{document}" title="IguanaTex Bitmap Display"/>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904734" y="1810239"/>
            <a:ext cx="5115428" cy="249905"/>
          </a:xfrm>
          <a:prstGeom prst="rect">
            <a:avLst/>
          </a:prstGeom>
        </p:spPr>
      </p:pic>
      <p:pic>
        <p:nvPicPr>
          <p:cNvPr id="11" name="Image 10" descr="\documentclass{article}&#10;\usepackage{amsmath}&#10;\usepackage{cancel}&#10;\pagestyle{empty}&#10;\begin{document}&#10;&#10;&#10;$$\dot{m}_{LN_2}\; c_{p,LN_2}\; \cancel{(T_{in}-T_{evap})}&#10; -\dot{m}_{LN_2}\; (T_{out}-T_{evap}) &#10;-\dot{m}_{LN_2}\;h_{f\!g}+q_{rad} =0$$&#10;&#10;&#10;\end{document}" title="IguanaTex Bitmap Display"/>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4012540" y="2192294"/>
            <a:ext cx="8007622" cy="265143"/>
          </a:xfrm>
          <a:prstGeom prst="rect">
            <a:avLst/>
          </a:prstGeom>
        </p:spPr>
      </p:pic>
      <p:sp>
        <p:nvSpPr>
          <p:cNvPr id="5" name="ZoneTexte 4"/>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09802523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344.582"/>
  <p:tag name="ORIGINALWIDTH" val="4459.692"/>
  <p:tag name="OUTPUTTYPE" val="PNG"/>
  <p:tag name="IGUANATEXVERSION" val="161"/>
  <p:tag name="LATEXADDIN" val="\documentclass{article}&#10;\usepackage{amsmath}&#10;\usepackage{xcolor}&#10;\usepackage[paperwidth=18cm]{geometry}&#10;\pagestyle{empty}&#10;\begin{document}&#10;&#10;Étude de l’écoulement dans le cœur du réacteur de la centrale de Creys-Malville (1986-1998). C’est un réacteur de puissance (3 GW thermique) composé de $100 000$ crayons combustibles de géométrie cylindrique d’1 mètre de hauteur.&#10;&#10;L’énergie de fission se dégrade en chaleur à l’intérieur de ces crayons combustibles puis est évacuée par un fluide caloporteur (Na liquide) s’écoulant du bas vers le haut avec un {\color{red} débit massique par unité de surface} de $5.75\; 10^3$ kg/m²/s. La température d’entrée du sodium est supposée constante à $T_{in}=674K$, il en va de même pour sa chaleur massique (1.277 kJ/kg/K). Les calculs se feront sur un sous-canal représentatif (cf. figure ci-dessous).&#10;&#10;&#10;&#10;\end{document}"/>
  <p:tag name="IGUANATEXSIZE" val="20"/>
  <p:tag name="IGUANATEXCURSOR" val="611"/>
  <p:tag name="TRANSPARENCY" val="Vrai"/>
  <p:tag name="FILENAME" val=""/>
  <p:tag name="LATEXENGINEID" val="0"/>
  <p:tag name="TEMPFOLDER" val="c:\temp\"/>
  <p:tag name="LATEXFORMHEIGHT" val="320"/>
  <p:tag name="LATEXFORMWIDTH" val="385"/>
  <p:tag name="LATEXFORMWRAP" val="Vrai"/>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858.6427"/>
  <p:tag name="ORIGINALWIDTH" val="3461.567"/>
  <p:tag name="OUTPUTTYPE" val="PNG"/>
  <p:tag name="IGUANATEXVERSION" val="160"/>
  <p:tag name="LATEXADDIN" val="\documentclass{article}&#10;\usepackage{amsmath}&#10;\usepackage[paperwidth=14cm]{geometry}&#10;\pagestyle{empty}&#10;\begin{document}&#10;&#10;\noindent&#10;1. Calculer la puissance moyenne apportée dans un sous-canal, notée $\dot{E}_g$.\\&#10;2. Faire un bilan énergétique permettant de relier $\Delta T$, $q$, $C_p$  et &#10;$\dot{m}$ en kg/s.\\&#10;3. Calculer l’aire  de passage du caloporteur. \\&#10;4. Déterminer $\Delta T$ puis $T_{out}$.&#10;&#10;&#10;\end{document}"/>
  <p:tag name="IGUANATEXSIZE" val="20"/>
  <p:tag name="IGUANATEXCURSOR" val="206"/>
  <p:tag name="TRANSPARENCY" val="Vrai"/>
  <p:tag name="FILENAME" val=""/>
  <p:tag name="LATEXENGINEID" val="0"/>
  <p:tag name="TEMPFOLDER" val="c:\temp\"/>
  <p:tag name="LATEXFORMHEIGHT" val="320"/>
  <p:tag name="LATEXFORMWIDTH" val="648"/>
  <p:tag name="LATEXFORMWRAP" val="Vrai"/>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3395.575"/>
  <p:tag name="ORIGINALWIDTH" val="6686.165"/>
  <p:tag name="OUTPUTTYPE" val="PNG"/>
  <p:tag name="IGUANATEXVERSION" val="160"/>
  <p:tag name="LATEXADDIN" val="\documentclass[12pt]{article}&#10;\usepackage[utf8]{inputenc}&#10;\usepackage{amsmath}&#10;\usepackage{cancel}&#10;\usepackage[paperwidth=27cm]{geometry}&#10;\pagestyle{empty}&#10;&#10;\begin{document}&#10;1. La puissance totale est 3GW, $100000$ crayons combustibles soit une puissance de $3\; 10^9/10^5 = 30kW$ / crayon. La maille élémentaire (analogie avec la cristallo) est formée de 2 canaux et contient un crayon. La puissance apportée dans un sous-canal est donc $\dot{E}_g$ = 30kW/2 = 15kW de puissance thermique.&#10;&#10;2. système ouvert limité par un sous-canal cylindrique à base triangle équilatéral, de hauteur H = 1m. On est en régime permanent :&#10;$$&#10;\dot{m} \left( h + \tfrac{1}{2}V^2 + gz \right)_{\text{in}} &#10;- \dot{m} \left( h + \tfrac{1}{2}V^2 + gz \right)_{\text{out}} &#10;+ \cancel{q} - \cancel{\dot{W}} + \dot{E}_g = 0&#10;$$&#10;donc&#10;$$&#10;\dot{E}_g = \dot{m} \left( h + gz \right)_{\text{out}} &#10;- \dot{m} \left( h + gz \right)_{\text{in}}&#10;$$&#10;sachant que &#10;$\left(V^2\right)_{\text{in}} = \left(V^2\right)_{\text{out}}$ &#10;$$&#10;\dot{E}_g = \dot{m} \; c_p \; (T_{\text{out}} - T_{\text{in}})+&#10;\dot{m}\; g \left(z_{\text{out}} -z_{\text{in}}\right)&#10;$$&#10;d'où $T_{\text{out}} - T_{\text{in}} = \dfrac{\dot{E}_g}{\dot{m} \; c_p}&#10;- \dfrac{g\; H}{c_p}$&#10;&#10;3. Ne pas confondre le débit massique (kg/s) et la densité surfacique de débit massique (kg/m²/s), dont la valeur dans l’énoncé est $5.75\;10^3$ kg/m²/s. Il vérifie $\dot{m}= \rho \; V \;S$ où $S$ est la section de passage du caloporteur dans le sous-canal représentatif.&#10;&#10;\end{document}"/>
  <p:tag name="IGUANATEXSIZE" val="16"/>
  <p:tag name="IGUANATEXCURSOR" val="387"/>
  <p:tag name="TRANSPARENCY" val="Vrai"/>
  <p:tag name="FILENAME" val=""/>
  <p:tag name="LATEXENGINEID" val="0"/>
  <p:tag name="TEMPFOLDER" val="c:\temp\"/>
  <p:tag name="LATEXFORMHEIGHT" val="451.2"/>
  <p:tag name="LATEXFORMWIDTH" val="684.6"/>
  <p:tag name="LATEXFORMWRAP" val="Vrai"/>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280.465"/>
  <p:tag name="ORIGINALWIDTH" val="2425.947"/>
  <p:tag name="OUTPUTTYPE" val="PNG"/>
  <p:tag name="IGUANATEXVERSION" val="160"/>
  <p:tag name="LATEXADDIN" val="\documentclass{article}&#10;\usepackage{amsmath}&#10;\pagestyle{empty}&#10;\begin{document}&#10;&#10;$$&#10;S = \frac{1}{2} \;\dfrac{\sqrt{3}}{2}\; (D+e)^2  - 3 \; \frac{1}{6} \pi \; \frac{D^2}{4} = 13.24 mm^2&#10;$$&#10;&#10;\end{document}"/>
  <p:tag name="IGUANATEXSIZE" val="16"/>
  <p:tag name="IGUANATEXCURSOR" val="185"/>
  <p:tag name="TRANSPARENCY" val="Vrai"/>
  <p:tag name="FILENAME" val=""/>
  <p:tag name="LATEXENGINEID" val="0"/>
  <p:tag name="TEMPFOLDER" val="c:\temp\"/>
  <p:tag name="LATEXFORMHEIGHT" val="320"/>
  <p:tag name="LATEXFORMWIDTH" val="385"/>
  <p:tag name="LATEXFORMWRAP" val="Vrai"/>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320.21"/>
  <p:tag name="ORIGINALWIDTH" val="5110.611"/>
  <p:tag name="OUTPUTTYPE" val="PNG"/>
  <p:tag name="IGUANATEXVERSION" val="160"/>
  <p:tag name="LATEXADDIN" val="\documentclass{article}&#10;\usepackage{amsmath}&#10;\pagestyle{empty}&#10;\usepackage{cancel}&#10;\usepackage[paperwidth=25cm]{geometry}&#10;\begin{document}&#10;&#10;&#10;4. Comme&#10;$\dfrac{\dot{E}_g}{\dot{m} \; c_p} \gg \dfrac{g\; H}{c_p}$,&#10;la différence de températures est : $T_{\text{out}} - T_{\text{in}} \approx \dfrac{\dot{E}_g}{\rho \; V \; S \; c_p} = 154.3$ K.&#10;&#10;\end{document}"/>
  <p:tag name="IGUANATEXSIZE" val="20"/>
  <p:tag name="IGUANATEXCURSOR" val="285"/>
  <p:tag name="TRANSPARENCY" val="Vrai"/>
  <p:tag name="FILENAME" val=""/>
  <p:tag name="LATEXENGINEID" val="0"/>
  <p:tag name="TEMPFOLDER" val="c:\temp\"/>
  <p:tag name="LATEXFORMHEIGHT" val="320"/>
  <p:tag name="LATEXFORMWIDTH" val="489"/>
  <p:tag name="LATEXFORMWRAP" val="Vrai"/>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59.99252"/>
  <p:tag name="OUTPUTTYPE" val="PNG"/>
  <p:tag name="IGUANATEXVERSION" val="160"/>
  <p:tag name="LATEXADDIN" val="\documentclass{article}&#10;\usepackage{amsmath}&#10;\pagestyle{empty}&#10;\begin{document}&#10;&#10;$d$&#10;&#10;&#10;\end{document}"/>
  <p:tag name="IGUANATEXSIZE" val="20"/>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48.74394"/>
  <p:tag name="OUTPUTTYPE" val="PNG"/>
  <p:tag name="IGUANATEXVERSION" val="160"/>
  <p:tag name="LATEXADDIN" val="\documentclass{article}&#10;\usepackage{amsmath}&#10;\pagestyle{empty}&#10;\begin{document}&#10;&#10;$e$&#10;&#10;&#10;\end{document}"/>
  <p:tag name="IGUANATEXSIZE" val="20"/>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74.24071"/>
  <p:tag name="OUTPUTTYPE" val="PNG"/>
  <p:tag name="IGUANATEXVERSION" val="160"/>
  <p:tag name="LATEXADDIN" val="\documentclass{article}&#10;\usepackage{amsmath}&#10;\pagestyle{empty}&#10;\begin{document}&#10;&#10;&#10;$S$&#10;&#10;\end{document}"/>
  <p:tag name="IGUANATEXSIZE" val="20"/>
  <p:tag name="IGUANATEXCURSOR" val="85"/>
  <p:tag name="TRANSPARENCY" val="Vrai"/>
  <p:tag name="FILENAME" val=""/>
  <p:tag name="LATEXENGINEID" val="0"/>
  <p:tag name="TEMPFOLDER" val="c:\temp\"/>
  <p:tag name="LATEXFORMHEIGHT" val="320"/>
  <p:tag name="LATEXFORMWIDTH" val="385"/>
  <p:tag name="LATEXFORMWRAP" val="Vrai"/>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7712.036"/>
  <p:tag name="ORIGINALWIDTH" val="5695.538"/>
  <p:tag name="OUTPUTTYPE" val="PNG"/>
  <p:tag name="IGUANATEXVERSION" val="160"/>
  <p:tag name="LATEXADDIN" val="\documentclass[12pt,a4paper]{article}&#10;\usepackage[utf8]{inputenc}&#10;\usepackage[french]{babel}&#10;\usepackage[T1]{fontenc}&#10;\usepackage{amsmath}&#10;\usepackage{amssymb}&#10;\usepackage{siunitx}&#10;\usepackage[paperwidth=23cm]{geometry}&#10;&#10;\begin{document}&#10;&#10;\subsection*{Exercice}&#10;&#10;Les pales d'une éolienne font tourner un arbre principal à une vitesse relativement faible. La vitesse de rotation est augmentée par une boîte de vitesses qui a un rendement de $\eta_{gb} = 0.93$. À son tour, l'arbre de sortie de la boîte de vitesses entraîne un générateur électrique avec un rendement de $\eta_{gen} = 0.95$. La \textit{nacelle} cylindrique, qui abrite la boîte de vitesses, le générateur et l'équipement associé, a une longueur $L = \SI{6}{m}$ et un diamètre $D = \SI{3}{m}$.&#10;&#10;Si l'éolienne produit une puissance électrique $P = \SI{2.5}{MW}$, et que les températures de l'air ambiant et de l'environnement sont respectivement $T_{\infty} = \SI{25}{\celsius}$ et $T_{sur} = \SI{20}{\celsius}$, déterminer la température extérieure de la nacelle.&#10;&#10;\subsubsection*{Données}&#10;&#10;\begin{itemize}&#10;    \item Émissivité de la nacelle : $\varepsilon = 0.83$&#10;    \item Coefficient de transfert thermique \\par convection : $h = \SI{35}{W/m^2 \cdot K}$&#10;    \item La surface de la nacelle adjacente au moyeu des pales \\ peut être considérée comme adiabatique&#10;    \item L'irradiation solaire peut être négligée&#10;\end{itemize}&#10;&#10;\end{document}"/>
  <p:tag name="IGUANATEXSIZE" val="18"/>
  <p:tag name="IGUANATEXCURSOR" val="259"/>
  <p:tag name="TRANSPARENCY" val="Vrai"/>
  <p:tag name="FILENAME" val=""/>
  <p:tag name="LATEXENGINEID" val="0"/>
  <p:tag name="TEMPFOLDER" val="c:\temp\"/>
  <p:tag name="LATEXFORMHEIGHT" val="468"/>
  <p:tag name="LATEXFORMWIDTH" val="534.6"/>
  <p:tag name="LATEXFORMWRAP" val="Vrai"/>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3223.847"/>
  <p:tag name="ORIGINALWIDTH" val="5346.832"/>
  <p:tag name="OUTPUTTYPE" val="PNG"/>
  <p:tag name="IGUANATEXVERSION" val="160"/>
  <p:tag name="LATEXADDIN" val="\documentclass{article}&#10;\usepackage{amsmath}&#10;\pagestyle{empty}&#10;&#10;\usepackage{amsmath}&#10;\usepackage{amssymb}&#10;\usepackage{geometry}&#10;\usepackage{xcolor}&#10;\usepackage{cancel}&#10;&#10;\begin{document}&#10;&#10;\subsection*{\color{red}\textbf{Conservation de l'énergie totale}} &#10;\noindent&#10;Pour un système fermé, on a:&#10;$$&#10;\Delta E_{st}^{tot} = Q -W = {E}_{in}-{E}_{out} +\cancel{{E}_g} &#10;$$&#10;\noindent&#10;Pour un système fermé, durant un intervalle de temps $\Delta t$, on a:&#10;\begin{equation*}&#10;\frac{dE_{st}^{tot}}{dt} = \dot{E}_{in} - \dot{E}_{out}&#10;\end{equation*}&#10;En régime permanent, ceci se réduit à $\dot{E}_{in} - \dot{E}_{out} = 0$. &#10;&#10;\noindent&#10;Le terme $\dot{E}_{in}$ correspond au travail mécanique entrant dans la nacelle $\dot{W}$.&#10;&#10;\noindent Le terme $\dot{E}_{out}$ inclut la puissance électrique de sortie $P$ et le taux de transfert thermique quittant la nacelle ${q}$. Ainsi&#10;\begin{equation*}&#10;\dot{W} - P - {q} = 0&#10;\end{equation*}&#10;&#10;\subsection*{\color{red}\textbf{Alternative}} &#10;Ici, $\dot{E}_{\text{in}}$ correspond une fois de plus au travail mécanique $\dot{W}$. Cependant, $\dot{E}_{\text{out}}$ n'inclut ici que le taux de transfert de chaleur quittant la nacelle $q$. La puissance électrique apparaît dans le terme de génération, car {\color{red} l'énergie mécanique est convertie en énergie électrique dans le générateur}, donnant lieu à une source négative d'énergie mécanique. C'est-à-dire, $\dot{E}_g = -P$.&#10;\end{document}"/>
  <p:tag name="IGUANATEXSIZE" val="18"/>
  <p:tag name="IGUANATEXCURSOR" val="1314"/>
  <p:tag name="TRANSPARENCY" val="Vrai"/>
  <p:tag name="FILENAME" val=""/>
  <p:tag name="LATEXENGINEID" val="0"/>
  <p:tag name="TEMPFOLDER" val="c:\temp\"/>
  <p:tag name="LATEXFORMHEIGHT" val="456"/>
  <p:tag name="LATEXFORMWIDTH" val="597"/>
  <p:tag name="LATEXFORMWRAP" val="Vrai"/>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 1200"/>
  <p:tag name="ORIGINALHEIGHT" val=" 1694.788"/>
  <p:tag name="ORIGINALWIDTH" val=" 5346.832"/>
  <p:tag name="OUTPUTTYPE" val="PNG"/>
  <p:tag name="IGUANATEXVERSION" val="162"/>
  <p:tag name="LATEXADDIN" val="\documentclass{article}&#10;\usepackage{amsmath}&#10;\pagestyle{empty}&#10;&#10;\usepackage{amssymb}&#10;\usepackage{geometry}&#10;\usepackage{siunitx}&#10;&#10;\begin{document}&#10;&#10;&#10;\subsection*{Calcul du transfert thermique}&#10;&#10;\begin{equation}&#10;{q} = \dot{W} - P&#10;\end{equation}&#10;&#10;Le travail mécanique et la puissance électrique sont reliés par les rendements de la boîte de vitesses et du générateur.&#10;&#10;\begin{equation}&#10;P = \dot{W} \; \eta_{gb} \; \eta_{gen}&#10;\end{equation}&#10;&#10;L'équation (5) peut donc être écrite comme :&#10;&#10;\begin{equation}&#10;{q} = P \left( \frac{1}{\eta_{gb} \;\eta_{gen}} - 1 \right) = \SI{2.5e6}{W} \times \left( \frac{1}{0.93 \times 0.95} - 1 \right) = \SI{0.33e6}{W}&#10;\end{equation}&#10;&#10;\end{document}"/>
  <p:tag name="IGUANATEXSIZE" val="20"/>
  <p:tag name="IGUANATEXCURSOR" val="501"/>
  <p:tag name="TRANSPARENCY" val="Vrai"/>
  <p:tag name="CHOOSECOLOR" val="Faux"/>
  <p:tag name="COLORHEX" val="000000"/>
  <p:tag name="FILENAME" val=""/>
  <p:tag name="LATEXENGINEID" val="0"/>
  <p:tag name="TEMPFOLDER" val="c:\temp\"/>
  <p:tag name="LATEXFORMHEIGHT" val=" 423"/>
  <p:tag name="LATEXFORMWIDTH" val=" 492.6"/>
  <p:tag name="LATEXFORMWRAP" val="Vrai"/>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511.061"/>
  <p:tag name="ORIGINALWIDTH" val="5448.819"/>
  <p:tag name="OUTPUTTYPE" val="PNG"/>
  <p:tag name="IGUANATEXVERSION" val="160"/>
  <p:tag name="LATEXADDIN" val="\documentclass{article}&#10;\usepackage{amsmath}&#10;&#10;\usepackage{amssymb}&#10;\usepackage{siunitx}&#10;&#10;\usepackage[utf8]{inputenc}&#10;\usepackage[french]{babel}&#10;\usepackage[T1]{fontenc}&#10;\usepackage{siunitx}&#10;\usepackage{xcolor}&#10;&#10;\usepackage[paperwidth=22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color{red}\textbf{Application des équations de taux}} \quad Le transfert thermique est dû à la convection et au rayonnement depuis la surface extérieure de la nacelle. Ainsi&#10;&#10;$${q_n} = \rtvector{q} \cdot \rtvector{n} = &#10;\rtvector{q}_{\text{conv}} \cdot \rtvector{n} + \rtvector{q}_{\text{rad}} \cdot \rtvector{n} &#10; = A \; [{q^n_{rad}}'' + {q^n_{conv}}'']&#10;$$&#10;&#10;\begin{equation*}&#10;= \left[ \pi DL + \frac{\pi D^2}{4} \right] \left[\varepsilon \sigma (T_s^4 - T_{sur}^4) + h(T_s - T_{\infty}) \right] = \SI{0{,}33e6}{W}&#10;\end{equation*}&#10;où $\left[ \pi DL + \frac{\pi D^2}{4} \right]= 20.25 \pi$ et $\epsilon \; \sigma  \approx 4.71\; 10^{-8}$, $h = \SI{35}{W/m^2 \cdot K}$, $T_{\infty} = \SI{298}{\kelvin}$ et $T_{sur} = \SI{293}{\kelvin}$.&#10;\\&#10;La température de surface de la nacelle peut être facilement déterminée par une méthode graphique. &#10;&#10;&#10;\end{document}"/>
  <p:tag name="IGUANATEXSIZE" val="20"/>
  <p:tag name="IGUANATEXCURSOR" val="1710"/>
  <p:tag name="TRANSPARENCY" val="Vrai"/>
  <p:tag name="FILENAME" val=""/>
  <p:tag name="LATEXENGINEID" val="0"/>
  <p:tag name="TEMPFOLDER" val="c:\temp\"/>
  <p:tag name="LATEXFORMHEIGHT" val="468.6"/>
  <p:tag name="LATEXFORMWIDTH" val="684"/>
  <p:tag name="LATEXFORMWRAP" val="Vrai"/>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657.6678"/>
  <p:tag name="ORIGINALWIDTH" val="2471.691"/>
  <p:tag name="OUTPUTTYPE" val="PNG"/>
  <p:tag name="IGUANATEXVERSION" val="160"/>
  <p:tag name="LATEXADDIN" val="\documentclass{article}&#10;\usepackage{amsmath}&#10;&#10;\usepackage{amssymb}&#10;\usepackage{siunitx}&#10;&#10;\usepackage[utf8]{inputenc}&#10;\usepackage[french]{babel}&#10;\usepackage[T1]{fontenc}&#10;\usepackage{siunitx}&#10;\usepackage{xcolor}&#10;&#10;\usepackage[paperwidth=10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Complément:}&#10;Quelle est la valeur de la température de surface en négligeant le rayonnement?&#10;&#10;\noindent&#10;{\it Rep. $T_s=446.1K = 173.1^\circ C$.}&#10;\end{document}"/>
  <p:tag name="IGUANATEXSIZE" val="18"/>
  <p:tag name="IGUANATEXCURSOR" val="1372"/>
  <p:tag name="TRANSPARENCY" val="Vrai"/>
  <p:tag name="FILENAME" val=""/>
  <p:tag name="LATEXENGINEID" val="0"/>
  <p:tag name="TEMPFOLDER" val="c:\temp\"/>
  <p:tag name="LATEXFORMHEIGHT" val="468.6"/>
  <p:tag name="LATEXFORMWIDTH" val="684"/>
  <p:tag name="LATEXFORMWRAP" val="Vrai"/>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10.9861"/>
  <p:tag name="ORIGINALWIDTH" val="1108.361"/>
  <p:tag name="OUTPUTTYPE" val="PNG"/>
  <p:tag name="IGUANATEXVERSION" val="160"/>
  <p:tag name="LATEXADDIN" val="\documentclass{article}&#10;\usepackage{amsmath}&#10;\pagestyle{empty}&#10;&#10;\usepackage{amssymb}&#10;\usepackage{geometry}&#10;\usepackage{siunitx}&#10;&#10;\usepackage[utf8]{inputenc}&#10;\usepackage[french]{babel}&#10;\usepackage[T1]{fontenc}&#10;\usepackage{amsmath}&#10;\usepackage{amssymb}&#10;\usepackage{geometry}&#10;\usepackage{siunitx}&#10;\usepackage{xcolor}&#10;&#10;&#10;\begin{document}&#10;&#10;\color{red}&#10;$$&#10;T_s = \SI{416}{K} = \SI{143}{\celsius}&#10;$$&#10;&#10;\end{document}"/>
  <p:tag name="IGUANATEXSIZE" val="20"/>
  <p:tag name="IGUANATEXCURSOR" val="367"/>
  <p:tag name="TRANSPARENCY" val="Vrai"/>
  <p:tag name="FILENAME" val=""/>
  <p:tag name="LATEXENGINEID" val="0"/>
  <p:tag name="TEMPFOLDER" val="c:\temp\"/>
  <p:tag name="LATEXFORMHEIGHT" val="468.6"/>
  <p:tag name="LATEXFORMWIDTH" val="684"/>
  <p:tag name="LATEXFORMWRAP" val="Vrai"/>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2215.223"/>
  <p:tag name="ORIGINALWIDTH" val="6194.976"/>
  <p:tag name="OUTPUTTYPE" val="PNG"/>
  <p:tag name="IGUANATEXVERSION" val="160"/>
  <p:tag name="LATEXADDIN" val="\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usepackage{siunitx}&#10;\usepackage{graphicx}&#10;&#10;\begin{document}&#10;&#10;\section*{Exercice : sèche-cheveux}&#10;&#10;Un sèche-cheveux est modélisé par un conduit circulaire. A l'entrée, un petit ventilateur aspire l'air ambiant. Un fil de résistance électrique enroulé chauffe l'air qui circule.&#10;&#10;a. Si le sèche-cheveux est conçu pour fonctionner avec une consommation électrique de $P_{\text{élec}} = \SI{500}{W}$ et pour chauffer l'air d'une température ambiante de $T_i = \SI{20}{\celsius}$ à une température de sortie de $T_o = \SI{45}{\celsius}$, à quel débit volumique $\dot{\forall}$ le ventilateur doit-il fonctionner ? &#10;&#10;Les pertes de chaleur du boîtier vers l'air ambiant et l'environnement peuvent être négligées. Si le conduit a un diamètre de $D = \SI{70}{mm}$, quelle est la vitesse de sortie $V_o$ de l'air ? &#10;La densité et la chaleur spécifique de l'air peuvent être approximées respectivement par $\rho = \SI{1.10}{kg/m^3}$ et $c_p = \SI{1007}{J/kg \cdot K}$.&#10;&#10;b. Considérons une longueur de conduit de sèche-cheveux de $L = \SI{150}{mm}$ et une émissivité de surface de $\varepsilon = 0.8$. Si le coefficient associé au transfert de chaleur par convection naturelle du boîtier vers l'air ambiant est $h = \SI{4}{W/m^2 \cdot K}$ et que la température de l'air et de l'environnement est $T_{\infty} = T_{\text{sur}} = \SI{20}{\celsius}$, confirmez que la perte de chaleur du boîtier est, en effet, négligeable.  Le boîtier peut être supposé avoir une température de surface moyenne de $T_s = \SI{40}{\celsius}$.&#10;&#10;\end{document}"/>
  <p:tag name="IGUANATEXSIZE" val="18"/>
  <p:tag name="IGUANATEXCURSOR" val="433"/>
  <p:tag name="TRANSPARENCY" val="Vrai"/>
  <p:tag name="FILENAME" val=""/>
  <p:tag name="LATEXENGINEID" val="0"/>
  <p:tag name="TEMPFOLDER" val="c:\temp\"/>
  <p:tag name="LATEXFORMHEIGHT" val="528"/>
  <p:tag name="LATEXFORMWIDTH" val="653.4"/>
  <p:tag name="LATEXFORMWRAP" val="Vrai"/>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3480.315"/>
  <p:tag name="ORIGINALWIDTH" val="6191.976"/>
  <p:tag name="OUTPUTTYPE" val="PNG"/>
  <p:tag name="IGUANATEXVERSION" val="160"/>
  <p:tag name="LATEXADDIN" val="\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usepackage{siunitx}&#10;\usepackage{graphicx}&#10;&#10;\begin{document}&#10;&#10;\section*{HYPOTHÈSES}&#10;&#10;\begin{enumerate}&#10;\item Régime permanent&#10;\item Propriétés de l'air constantes&#10;\item Variations d'énergie potentielle et cinétique de l'écoulement d'air négligeables&#10;\item Travail effectué par le ventilateur négligeable&#10;\item Transfert de chaleur négligeable du boîtier du sèche-cheveux vers l'air ambiant (Partie a)&#10;\item Échange radiatif entre une petite surface et une grande enceinte (Partie b)&#10;\end{enumerate}&#10;&#10;\subsection*{Partie (a)}&#10;&#10;Pour une surface de contrôle autour du passage d'écoulement d'air à travers le sèche-cheveux, la conservation de l'énergie pour un système ouvert se réduit à :&#10;&#10;\begin{equation}&#10;\dot{m}(u + pv)_i - \dot{m}(u + pv)_o + \dot{E}_g = 0&#10;\end{equation}&#10;&#10;où $u + pv = h$ et $\dot{E}_g = P_{\text{élec}}$. Par conséquent, avec $\dot{m}(h_i - h_o) = \dot{m}c_p(T_i - T_o)$ :&#10;&#10;\begin{equation}&#10;\dot{m}c_p(T_i - T_o) + P_{\text{élec}} = 0&#10;\end{equation}&#10;&#10;\begin{equation}&#10;\dot{m} = \frac{P_{\text{élec}}}{c_p(T_o - T_i)} = \frac{\SI{500}{W}}{\SI{1007}{J/kg \cdot K}(\SI{25}{\celsius})} = \SI{0.0199}{kg/s}&#10;\end{equation}&#10;&#10;\end{document}"/>
  <p:tag name="IGUANATEXSIZE" val="18"/>
  <p:tag name="IGUANATEXCURSOR" val="1304"/>
  <p:tag name="TRANSPARENCY" val="Vrai"/>
  <p:tag name="FILENAME" val=""/>
  <p:tag name="LATEXENGINEID" val="0"/>
  <p:tag name="TEMPFOLDER" val="c:\temp\"/>
  <p:tag name="LATEXFORMHEIGHT" val="528"/>
  <p:tag name="LATEXFORMWIDTH" val="653.4"/>
  <p:tag name="LATEXFORMWRAP" val="Vrai"/>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4507.687"/>
  <p:tag name="ORIGINALWIDTH" val="6193.476"/>
  <p:tag name="OUTPUTTYPE" val="PNG"/>
  <p:tag name="IGUANATEXVERSION" val="160"/>
  <p:tag name="LATEXADDIN" val="\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usepackage{siunitx}&#10;\usepackage{graphicx}&#10;&#10;\begin{document}&#10;&#10;\noindent&#10;Le débit volumique est :&#10;&#10;\begin{equation}&#10;\dot{\forall} = \frac{\dot{m}}{\rho} = \frac{\SI{0.0199}{kg/s}}{\SI{1.10}{kg/m^3}} = \boxed{\SI{0.0181}{m^3/s}} &#10;\end{equation}&#10;\noindent&#10;La vitesse de sortie est :&#10;&#10;\begin{equation}&#10;V_o = \frac{\dot{\forall}}{A_c} = \frac{4\dot{\forall}}{\pi D^2} = \frac{4 \times \SI{0.0181}{m^3/s}}{\pi(\SI{0.07}{m})^2} = \boxed{\SI{4.7}{m/s}}&#10;\end{equation}&#10;\vspace{-1.0cm}&#10;\subsection*{Partie (b)}&#10;\noindent&#10;Le transfert de chaleur du boîtier se fait par convection et rayonnement:&#10;\begin{equation}&#10;q = hA_s(T_s - T_{\infty}) + \varepsilon A_s \sigma(T_s^4 - T_{\text{sur}}^4)&#10;\end{equation}&#10;où $A_s = \pi DL = \pi(\SI{0.07}{m} \times \SI{0.15}{m}) = \SI{0.033}{m^2}$. Par conséquent :&#10;&#10;\begin{align}&#10;q &amp;= \SI{4}{W/m^2 \cdot K} \times \SI{0.033}{m^2} \times (20\si{K}) \\&#10;&amp;\quad + 0.8 \times \SI{0.033}{m^2} \times \SI{5.67e-8}{W/m^2 \cdot K^4} \times (313^4 - 293^4)\si{K^4}&#10;\end{align}&#10;&#10;\begin{equation}&#10;q = \SI{2.64}{W} + \SI{3.33}{W} = \boxed{\SI{5.97}{W}}&#10;\end{equation}&#10;\noindent&#10;La perte de chaleur est beaucoup plus faible que la puissance électrique, et l'hypothèse de perte de chaleur négligeable est justifiée.&#10;&#10;\section*{COMMENTAIRES}&#10;\noindent&#10;Bien que le débit massique soit invariant, le débit volumique augmente parce que l'air est chauffé lors de son passage à travers le sèche-cheveux, provoquant une réduction de la densité. Cependant, pour l'augmentation de température prescrite, le changement de $\rho$, et donc l'effet sur $\dot{V}$, est faible.&#10;&#10;\end{document}"/>
  <p:tag name="IGUANATEXSIZE" val="18"/>
  <p:tag name="IGUANATEXCURSOR" val="603"/>
  <p:tag name="TRANSPARENCY" val="Vrai"/>
  <p:tag name="FILENAME" val=""/>
  <p:tag name="LATEXENGINEID" val="0"/>
  <p:tag name="TEMPFOLDER" val="c:\temp\"/>
  <p:tag name="LATEXFORMHEIGHT" val="528"/>
  <p:tag name="LATEXFORMWIDTH" val="653.4"/>
  <p:tag name="LATEXFORMWRAP" val="Vrai"/>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3575.553"/>
  <p:tag name="ORIGINALWIDTH" val="6195.726"/>
  <p:tag name="OUTPUTTYPE" val="PNG"/>
  <p:tag name="IGUANATEXVERSION" val="160"/>
  <p:tag name="LATEXADDIN" val="\documentclass{article}&#10;\usepackage[utf8]{inputenc}&#10;\usepackage[french]{babel}&#10;\usepackage[T1]{fontenc}&#10;\usepackage{amsmath}&#10;\usepackage{amssymb}&#10;\usepackage{amsfonts}&#10;\usepackage{xcolor}&#10;\usepackage{siunitx}&#10;\usepackage[paperwidth=25cm]{geometry}&#10;&#10;\usepackage{graphicx}&#10;\usepackage{xcolor}&#10;\usepackage{tikz}&#10;\usepackage{enumitem}&#10;&#10;\pagestyle{empty}&#10;&#10;% Couleurs personnalisées&#10;\definecolor{solarblue}{RGB}{0,102,204}&#10;\definecolor{solarorange}{RGB}{255,102,0}&#10;&#10;\begin{document}&#10;&#10;\section*{Exercice 1-106 : capteur Solaire Plan à Plaque Plate (Çengel et al)}&#10;&#10;Un capteur solaire plan est utilisé pour chauffer l'eau en faisant circuler l'eau dans des tubes attachés à l'arrière d'une plaque absorbante mince. La plaque absorbante a une surface de 2~m$^2$ avec une émissivité et une absorptivité de 0.9. La température de surface de l'absorbeur est de 35°C, et le rayonnement solaire incident sur l'absorbeur est de 500~W/m$^2$ avec une température ambiante de 0°C. Le coefficient de transfert thermique par convection à la surface de l'absorbeur est de 5~W/m$^2$·K, tandis que la température ambiante est de 25°C.&#10;&#10;{Question :} si le débit d'eau est de 5~g/s avec une chaleur spécifique de 4.2~kJ/kg·K, déterminer l'élévation de température de l'eau. Quelle hypothèse simplificatrice faites-vous concernant l'isolant? Critiquer le &quot;design&quot; du dispositif.&#10;&#10;\subsubsection*{Données du Problème}&#10;&#10;\begin{itemize}[label=\textcolor{solarorange}{$\bullet$}]&#10;    \item Surface de l'absorbeur : $A = 2$~m$^2$&#10;    \item Émissivité et absorptivité : $\varepsilon = \alpha = 0.9$&#10;    \item Température de l'absorbeur : $T_s = 35$°C $= 308$~K&#10;    \item Rayonnement solaire incident : $G = 500$~W/m$^2$&#10;    \item Températures ambiante et env. : $T_\infty = T_{sur} = 25$°C $= 298$~K&#10;    \item Coefficient de convection : $h = 5$~W/m$^2$·K&#10;    \item Débit d'eau : $\dot{m} = 5$~g/s $= 0.005$~kg/s&#10;    \item Chaleur spécifique de l'eau : $c_p = 4.2$~kJ/kg·K $= 4200$~J/kg·K&#10;    \item Constante de Stefan-Boltzmann : $\sigma = 5.67 \times 10^{-8}$~W/m$^2$·K$^4$&#10;\end{itemize}&#10;&#10;\end{document}"/>
  <p:tag name="IGUANATEXSIZE" val="18"/>
  <p:tag name="IGUANATEXCURSOR" val="1352"/>
  <p:tag name="TRANSPARENCY" val="Vrai"/>
  <p:tag name="FILENAME" val=""/>
  <p:tag name="LATEXENGINEID" val="0"/>
  <p:tag name="TEMPFOLDER" val="c:\temp\"/>
  <p:tag name="LATEXFORMHEIGHT" val="468"/>
  <p:tag name="LATEXFORMWIDTH" val="534.6"/>
  <p:tag name="LATEXFORMWRAP" val="Vrai"/>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973.3784"/>
  <p:tag name="OUTPUTTYPE" val="PNG"/>
  <p:tag name="IGUANATEXVERSION" val="160"/>
  <p:tag name="LATEXADDIN" val="\documentclass{article}&#10;\usepackage{amsmath}&#10;\pagestyle{empty}&#10;\begin{document}&#10;&#10;$T_{sur} = T_a = 25^\circ C$&#10;&#10;&#10;\end{document}"/>
  <p:tag name="IGUANATEXSIZE" val="18"/>
  <p:tag name="IGUANATEXCURSOR" val="109"/>
  <p:tag name="TRANSPARENCY" val="Faux"/>
  <p:tag name="FILENAME" val=""/>
  <p:tag name="LATEXENGINEID" val="0"/>
  <p:tag name="TEMPFOLDER" val="c:\temp\"/>
  <p:tag name="LATEXFORMHEIGHT" val="320"/>
  <p:tag name="LATEXFORMWIDTH" val="385"/>
  <p:tag name="LATEXFORMWRAP" val="Vrai"/>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173.2283"/>
  <p:tag name="OUTPUTTYPE" val="PNG"/>
  <p:tag name="IGUANATEXVERSION" val="160"/>
  <p:tag name="LATEXADDIN" val="\documentclass{article}&#10;\usepackage{amsmath}&#10;\pagestyle{empty}&#10;\begin{document}&#10;&#10;$q_{sol}$&#10;&#10;&#10;\end{document}"/>
  <p:tag name="IGUANATEXSIZE" val="20"/>
  <p:tag name="IGUANATEXCURSOR" val="90"/>
  <p:tag name="TRANSPARENCY" val="Faux"/>
  <p:tag name="FILENAME" val=""/>
  <p:tag name="LATEXENGINEID" val="0"/>
  <p:tag name="TEMPFOLDER" val="c:\temp\"/>
  <p:tag name="LATEXFORMHEIGHT" val="320"/>
  <p:tag name="LATEXFORMWIDTH" val="385"/>
  <p:tag name="LATEXFORMWRAP" val="Vrai"/>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4004.5"/>
  <p:tag name="ORIGINALWIDTH" val="3402.325"/>
  <p:tag name="OUTPUTTYPE" val="PNG"/>
  <p:tag name="IGUANATEXVERSION" val="160"/>
  <p:tag name="LATEXADDIN" val="\documentclass{article}&#10;\usepackage[utf8]{inputenc}&#10;\usepackage[french]{babel}&#10;\usepackage[T1]{fontenc}&#10;\usepackage{amsmath}&#10;\usepackage{amssymb}&#10;\usepackage{amsfonts}&#10;\usepackage{xcolor}&#10;\usepackage{siunitx}&#10;\usepackage[paperwidth=18cm]{geometry}&#10;&#10;\usepackage{graphicx}&#10;\usepackage{xcolor}&#10;\usepackage{tikz}&#10;\usepackage{enumitem}&#10;&#10;\pagestyle{empty}&#10;&#10;% Couleurs personnalisées&#10;\definecolor{solarblue}{RGB}{0,102,204}&#10;\definecolor{solarorange}{RGB}{255,102,0}&#10;&#10;\begin{document}&#10;&#10;\subsection*{Données}&#10;\vspace{-0.5em}&#10;\begin{itemize}&#10;\setlength\itemsep{0em}&#10;\item $A = 2$~m$^2$, $\alpha = \varepsilon = 0.9$, $G = 500$~W/m$^2$&#10;\item $T_s = 35^\circ$C, $T_\infty = 25^\circ$C&#10;\item $h = 5$~W/m$^2\cdot$K, $\sigma = 5.67 \cdot 10^{-8}$~W/m$^2$·K$^4$&#10;\item $\dot{m} = 0.005$~kg/s, $c_p = 4200$~J/kg·K&#10;\end{itemize}&#10;&#10;\subsection*{Bilan Énergétique}&#10;&#10;\textbf{Absorption solaire} : &#10;\[&#10;Q_{\text{sol}} = \alpha G A = 0.9 \cdot 500 \cdot 2 = \textbf{900~W}&#10;\]&#10;&#10;\textbf{Pertes par convection} :&#10;\[&#10;Q_{\text{conv}} = h A (T_s - T_\infty) = 5 \cdot 2 \cdot 10 = \textbf{100~W}&#10;\]&#10;&#10;\textbf{Pertes par rayonnement} :&#10;\[&#10;Q_{\text{ray}} = \varepsilon \sigma A (T_s^4 - T_{sur}^4) \approx \textbf{112~W}&#10;\]&#10;&#10;\textbf{Énergie nette} :&#10;\[&#10;Q_{\text{net}} = 900 - 100 - 112 = \textbf{688~W}&#10;\]&#10;&#10;\textbf{Élévation de température} :&#10;\[&#10;\Delta T = \frac{Q_{\text{net}}}{\dot{m} c_p} = \frac{688}{0.005 \cdot 4200} \approx \boxed{32.8^\circ\text{C}}&#10;\]&#10;&#10;&#10;&#10;\end{document}&#10;"/>
  <p:tag name="IGUANATEXSIZE" val="16"/>
  <p:tag name="IGUANATEXCURSOR" val="1427"/>
  <p:tag name="TRANSPARENCY" val="Vrai"/>
  <p:tag name="FILENAME" val=""/>
  <p:tag name="LATEXENGINEID" val="0"/>
  <p:tag name="TEMPFOLDER" val="c:\temp\"/>
  <p:tag name="LATEXFORMHEIGHT" val="468"/>
  <p:tag name="LATEXFORMWIDTH" val="534.6"/>
  <p:tag name="LATEXFORMWRAP" val="Vrai"/>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2705.662"/>
  <p:tag name="ORIGINALWIDTH" val="2971.878"/>
  <p:tag name="OUTPUTTYPE" val="PNG"/>
  <p:tag name="IGUANATEXVERSION" val="160"/>
  <p:tag name="LATEXADDIN" val="\documentclass{article}&#10;\usepackage[utf8]{inputenc}&#10;\usepackage[french]{babel}&#10;\usepackage[T1]{fontenc}&#10;\usepackage{amsmath}&#10;\usepackage{amssymb}&#10;\usepackage{amsfonts}&#10;\usepackage{xcolor}&#10;\usepackage{siunitx}&#10;\usepackage[paperwidth=12cm]{geometry}&#10;\usepackage[utf8]{inputenc}&#10;\usepackage[french]{babel}&#10;\usepackage[T1]{fontenc}&#10;\usepackage{geometry}&#10;\usepackage{amsmath}&#10;\usepackage{amsfonts}&#10;\usepackage{amssymb}&#10;\usepackage{graphicx}&#10;\usepackage{xcolor}&#10;\usepackage{tikz}&#10;\usepackage{pgfplots}&#10;\usepackage{float}&#10;&#10;\usepackage{graphicx}&#10;\usepackage{xcolor}&#10;\usepackage{tikz}&#10;\usepackage{enumitem}&#10;&#10;\pagestyle{empty}&#10;&#10;% Couleurs personnalisées&#10;\definecolor{solarblue}{RGB}{0,102,204}&#10;\definecolor{solarorange}{RGB}{255,102,0}&#10;&#10;\begin{document}&#10;&#10;\subsection*{Critiques du dispositif}&#10;&#10;Dans le schéma analysé, les tubes d'eau ne sont en contact avec la plaque absorbante qu'au sommet des tubes circulaires. Cette configuration présente plusieurs problèmes critiques :&#10;\begin{enumerate}&#10;\item Le transfert de chaleur se fait uniquement par ces petites zones de contact, créant un goulot d'étranglement thermique.&#10;\item La chaleur captée par la plaque doit se propager latéralement avant d'atteindre les tubes, ce qui crée des gradients de température importants et des pertes thermiques.&#10;\item L'isolant autour des tubes, bien qu'il limite les pertes vers l'extérieur, ne facilite pas le transfert thermique latéral depuis la plaque absorbante vers les zones non directement en contact avec les tubes.&#10;&#10;\end{enumerate}&#10;&#10;\end{document}"/>
  <p:tag name="IGUANATEXSIZE" val="16"/>
  <p:tag name="IGUANATEXCURSOR" val="1499"/>
  <p:tag name="TRANSPARENCY" val="Vrai"/>
  <p:tag name="FILENAME" val=""/>
  <p:tag name="LATEXENGINEID" val="0"/>
  <p:tag name="TEMPFOLDER" val="c:\temp\"/>
  <p:tag name="LATEXFORMHEIGHT" val="468"/>
  <p:tag name="LATEXFORMWIDTH" val="534.6"/>
  <p:tag name="LATEXFORMWRAP" val="Vrai"/>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014.623"/>
  <p:tag name="ORIGINALWIDTH" val="3964.004"/>
  <p:tag name="OUTPUTTYPE" val="PNG"/>
  <p:tag name="IGUANATEXVERSION" val="160"/>
  <p:tag name="LATEXADDIN" val="\documentclass{article}&#10;\usepackage{amsmath}&#10;\usepackage[paperwidth=16cm]{geometry}&#10;\pagestyle{empty}&#10;\begin{document}&#10;&#10;Dans ce problème, il n'y a pas de composante d'énergie mécanique. Les termes d'énergie pertinents incluent donc le transfert de chaleur par convection et par rayonnement à partir de la surface, la génération d'énergie thermique due à l'effet Joule à l'intérieur du conducteur, et un changement du stockage d'énergie thermique. Puisque nous souhaitons déterminer la vitesse de variation de la température, la première loi (de la thermodynamique) doit être appliquée à un instant donné.&#10;&#10;&#10;&#10;\end{document}"/>
  <p:tag name="IGUANATEXSIZE" val="18"/>
  <p:tag name="IGUANATEXCURSOR" val="70"/>
  <p:tag name="TRANSPARENCY" val="Vrai"/>
  <p:tag name="FILENAME" val=""/>
  <p:tag name="LATEXENGINEID" val="0"/>
  <p:tag name="TEMPFOLDER" val="c:\temp\"/>
  <p:tag name="LATEXFORMHEIGHT" val="320"/>
  <p:tag name="LATEXFORMWIDTH" val="385"/>
  <p:tag name="LATEXFORMWRAP" val="Vrai"/>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825.6468"/>
  <p:tag name="ORIGINALWIDTH" val="4282.715"/>
  <p:tag name="OUTPUTTYPE" val="PNG"/>
  <p:tag name="IGUANATEXVERSION" val="160"/>
  <p:tag name="LATEXADDIN" val="\documentclass{article}&#10;\usepackage{amsmath}&#10;\usepackage{enumitem}&#10;\pagestyle{empty}&#10;\begin{document}&#10;&#10;$$&#10;\dot{E}_g - \dot{E}_{\text{out}} = \dot{E}_{\text{st}}&#10;$$&#10;où :&#10;\begin{itemize}[itemsep=0pt, topsep=0pt, parsep=0pt, partopsep=0pt]&#10;  \item \( \dot{E}_g \) est la puissance générée à l’intérieur du système par l’effet Joule ;&#10;  \item \( \dot{E}_{\text{out}} \) est la puissance perdue par le système par convection et rayonnement,&#10;  \item \( \dot{E}_{\text{st}} \) est le taux de variation de l’énergie stockée dans le système.&#10;\end{itemize}&#10;&#10;\end{document}"/>
  <p:tag name="IGUANATEXSIZE" val="18"/>
  <p:tag name="IGUANATEXCURSOR" val="164"/>
  <p:tag name="TRANSPARENCY" val="Vrai"/>
  <p:tag name="FILENAME" val=""/>
  <p:tag name="LATEXENGINEID" val="0"/>
  <p:tag name="TEMPFOLDER" val="c:\temp\"/>
  <p:tag name="LATEXFORMHEIGHT" val="320"/>
  <p:tag name="LATEXFORMWIDTH" val="385"/>
  <p:tag name="LATEXFORMWRAP" val="Vrai"/>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443.1946"/>
  <p:tag name="ORIGINALWIDTH" val="6190.476"/>
  <p:tag name="OUTPUTTYPE" val="PNG"/>
  <p:tag name="IGUANATEXVERSION" val="160"/>
  <p:tag name="LATEXADDIN" val="\documentclass{article}&#10;\usepackage{amsmath}&#10;\usepackage{xcolor}&#10;\usepackage[paperwidth=25cm]{geometry}&#10;\pagestyle{empty}&#10;\begin{document}&#10;&#10;Paramètres: fil de cuivre non isolé \( (\rho = 8960\; \text{kg.m}^{-3}, \ c = 385\; \text{J.kg}^{-1}.\text{K}^{-1}, \ D = 1\,\text{mm},\ \varepsilon = 0.8,\ R'_e = 0.4\,\Omega/\text{m}) \) dans une enceinte de grande taille \( (T_{\text{sur}} = 300\,\text{K}) \), à l’intérieur de laquelle de l’air de refroidissement circule \( (h = 10\,\text{W}/\text{m}^2 . \text{K}^{-1},\ T_\infty = 300\,\text{K}) \).&#10;&#10;\end{document}"/>
  <p:tag name="IGUANATEXSIZE" val="18"/>
  <p:tag name="IGUANATEXCURSOR" val="90"/>
  <p:tag name="TRANSPARENCY" val="Vrai"/>
  <p:tag name="FILENAME" val=""/>
  <p:tag name="LATEXENGINEID" val="0"/>
  <p:tag name="TEMPFOLDER" val="c:\temp\"/>
  <p:tag name="LATEXFORMHEIGHT" val="320"/>
  <p:tag name="LATEXFORMWIDTH" val="694.2"/>
  <p:tag name="LATEXFORMWRAP" val="Vrai"/>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692.9134"/>
  <p:tag name="ORIGINALWIDTH" val="5199.1"/>
  <p:tag name="OUTPUTTYPE" val="PNG"/>
  <p:tag name="IGUANATEXVERSION" val="160"/>
  <p:tag name="LATEXADDIN" val="\documentclass{article}&#10;\usepackage{amsmath}&#10;\pagestyle{empty}&#10;\usepackage[paperwidth=21cm]{geometry}&#10;\begin{document}&#10;&#10;Un long cylindre conducteur de diamètre $D$ et de résistance électrique linéique $R'_e$ est initialement en équilibre thermique avec l'air ambiant et son environnement. Cet équilibre est perturbé lorsqu'un courant électrique continu $I$ traverse la tige. &#10;&#10;Calculer la variation de la température du système en fonction du temps pendant le passage du courant.&#10;&#10;\end{document}"/>
  <p:tag name="IGUANATEXSIZE" val="18"/>
  <p:tag name="IGUANATEXCURSOR" val="88"/>
  <p:tag name="TRANSPARENCY" val="Vrai"/>
  <p:tag name="FILENAME" val=""/>
  <p:tag name="LATEXENGINEID" val="0"/>
  <p:tag name="TEMPFOLDER" val="c:\temp\"/>
  <p:tag name="LATEXFORMHEIGHT" val="468.6"/>
  <p:tag name="LATEXFORMWIDTH" val="715.2"/>
  <p:tag name="LATEXFORMWRAP" val="Vrai"/>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362.58"/>
  <p:tag name="ORIGINALWIDTH" val="4288.714"/>
  <p:tag name="OUTPUTTYPE" val="PNG"/>
  <p:tag name="IGUANATEXVERSION" val="160"/>
  <p:tag name="LATEXADDIN" val="\documentclass{article}&#10;\usepackage{amsmath}&#10;\usepackage{xcolor}&#10;\pagestyle{empty}&#10;\begin{document}&#10;&#10;L'exercice suppose implicitement que le nombre de Biot vérifie $Bi = \frac{hD}{k} \ll 1$.&#10;Autrement dit que dans la température dans le cylindre $T$ est proche de celle de surface $T_s$.&#10;La conservation de l'énergie à chaque instant, &#10;$&#10;\dot{E}_g - \dot{E}_{\text{out}} = \dot{E}_{\text{st}}&#10;$&#10;donne&#10;$$&#10;R'_e\; I^2\; \;L - h ({\color{red} T}-T_\infty) \pi D L -\epsilon \sigma ({\color{red} T}^4-T_{sur}^4) \pi D L= &#10;\rho\; c \; \frac{d{\color{red} T}}{dt} \frac{\pi D^2}{4} \;L&#10;$$&#10;où la capacité calorifique $c \equiv c_p \equiv c_v$ dans un solide et dans un liquide incompressible.&#10;\end{document}"/>
  <p:tag name="IGUANATEXSIZE" val="20"/>
  <p:tag name="IGUANATEXCURSOR" val="63"/>
  <p:tag name="TRANSPARENCY" val="Vrai"/>
  <p:tag name="FILENAME" val=""/>
  <p:tag name="LATEXENGINEID" val="0"/>
  <p:tag name="TEMPFOLDER" val="c:\temp\"/>
  <p:tag name="LATEXFORMHEIGHT" val="320"/>
  <p:tag name="LATEXFORMWIDTH" val="706.2"/>
  <p:tag name="LATEXFORMWRAP" val="Vrai"/>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885.6393"/>
  <p:tag name="ORIGINALWIDTH" val="4594.676"/>
  <p:tag name="OUTPUTTYPE" val="PNG"/>
  <p:tag name="IGUANATEXVERSION" val="161"/>
  <p:tag name="LATEXADDIN" val="\documentclass{article}&#10;\usepackage{amsmath}&#10;\usepackage{xcolor}&#10;\pagestyle{empty}&#10;\begin{document}&#10;&#10;Considérons un fil de cuivre non isolé \( (\rho = 8960\; \text{kg.m}^{-3}, \ c = 385\; \text{J.kg}^{-1}.\text{K}^{-1}, \ D = 1\,\text{mm},\ \varepsilon = 0.8,\ R'_e = 0.4\,\Omega/\text{m}) \) dans une enceinte de grande taille \( (T_{\text{sur}} = 300\,\text{K}) \), à l’intérieur de laquelle de l’air de refroidissement circule \( (h = 10\,\text{W}/\text{m}^2 . \text{K}^{-1},\ T_\infty = 300\,\text{K}) \).&#10;&#10;En remplaçant ces valeurs dans l’équation précédente, la température de la tige a été calculée pour des courants de fonctionnement dans l’intervalle :&#10;\end{document}"/>
  <p:tag name="IGUANATEXSIZE" val="20"/>
  <p:tag name="IGUANATEXCURSOR" val="187"/>
  <p:tag name="TRANSPARENCY" val="Vrai"/>
  <p:tag name="FILENAME" val=""/>
  <p:tag name="LATEXENGINEID" val="0"/>
  <p:tag name="TEMPFOLDER" val="c:\temp\"/>
  <p:tag name="LATEXFORMHEIGHT" val="320"/>
  <p:tag name="LATEXFORMWIDTH" val="694.2"/>
  <p:tag name="LATEXFORMWRAP" val="Vrai"/>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331.4586"/>
  <p:tag name="ORIGINALWIDTH" val="2665.167"/>
  <p:tag name="OUTPUTTYPE" val="PNG"/>
  <p:tag name="IGUANATEXVERSION" val="160"/>
  <p:tag name="LATEXADDIN" val="\documentclass{article}&#10;\usepackage{amsmath}&#10;\usepackage{xcolor}&#10;\pagestyle{empty}&#10;\begin{document}&#10;&#10;&#10;$$&#10;\frac{d{\color{red} T}}{dt}  =\dfrac{ R'_e\; I^2 - h ({\color{red} T}-T_\infty) \pi D  -\epsilon \sigma ({\color{red} T}^4-T_{sur}^4) \pi D}{\rho\; c \; \frac{\pi D^2}{4}}&#10;$$&#10;\end{document}"/>
  <p:tag name="IGUANATEXSIZE" val="20"/>
  <p:tag name="IGUANATEXCURSOR" val="225"/>
  <p:tag name="TRANSPARENCY" val="Vrai"/>
  <p:tag name="FILENAME" val=""/>
  <p:tag name="LATEXENGINEID" val="0"/>
  <p:tag name="TEMPFOLDER" val="c:\temp\"/>
  <p:tag name="LATEXFORMHEIGHT" val="320"/>
  <p:tag name="LATEXFORMWIDTH" val="706.2"/>
  <p:tag name="LATEXFORMWRAP" val="Vrai"/>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396.7004"/>
  <p:tag name="ORIGINALWIDTH" val="3051.368"/>
  <p:tag name="OUTPUTTYPE" val="PNG"/>
  <p:tag name="IGUANATEXVERSION" val="161"/>
  <p:tag name="LATEXADDIN" val="\documentclass{article}&#10;\usepackage{amsmath}&#10;\pagestyle{empty}&#10;\begin{document}&#10;&#10;ou encore&#10;$$&#10;\frac{d(T-T_\infty)}{dt}  = \dfrac{ R'_e\; I^2}{\rho\; c \; \frac{\pi D^2}{4}}&#10; - \frac{ 4h}{\rho\; c \; D}(T-T_\infty)&#10;$$&#10;\end{document}"/>
  <p:tag name="IGUANATEXSIZE" val="20"/>
  <p:tag name="IGUANATEXCURSOR" val="200"/>
  <p:tag name="TRANSPARENCY" val="Vrai"/>
  <p:tag name="FILENAME" val=""/>
  <p:tag name="LATEXENGINEID" val="0"/>
  <p:tag name="TEMPFOLDER" val="c:\temp\"/>
  <p:tag name="LATEXFORMHEIGHT" val="320"/>
  <p:tag name="LATEXFORMWIDTH" val="706.2"/>
  <p:tag name="LATEXFORMWRAP" val="Vrai"/>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623.1721"/>
  <p:tag name="ORIGINALWIDTH" val="2938.883"/>
  <p:tag name="OUTPUTTYPE" val="PNG"/>
  <p:tag name="IGUANATEXVERSION" val="161"/>
  <p:tag name="LATEXADDIN" val="\documentclass{article}&#10;\usepackage{amsmath}&#10;\pagestyle{empty}&#10;\begin{document}&#10;&#10;en introduisant $\tau = \frac{\rho\; c \; D}{4h}$, on a:&#10;$$&#10;\frac{d(T-T_\infty)}{dt}  = \dfrac{ R'_e\; I^2}{\rho\; c \; \frac{\pi D^2}{4}}&#10; - \frac{1}{\tau}(T-T_\infty)&#10;$$&#10;\end{document}"/>
  <p:tag name="IGUANATEXSIZE" val="20"/>
  <p:tag name="IGUANATEXCURSOR" val="129"/>
  <p:tag name="TRANSPARENCY" val="Vrai"/>
  <p:tag name="FILENAME" val=""/>
  <p:tag name="LATEXENGINEID" val="0"/>
  <p:tag name="TEMPFOLDER" val="c:\temp\"/>
  <p:tag name="LATEXFORMHEIGHT" val="320"/>
  <p:tag name="LATEXFORMWIDTH" val="706.2"/>
  <p:tag name="LATEXFORMWRAP" val="Vrai"/>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274.4657"/>
  <p:tag name="ORIGINALWIDTH" val="1786.277"/>
  <p:tag name="OUTPUTTYPE" val="PNG"/>
  <p:tag name="IGUANATEXVERSION" val="161"/>
  <p:tag name="LATEXADDIN" val="\documentclass{article}&#10;\usepackage{amsmath}&#10;\pagestyle{empty}&#10;\begin{document}&#10;&#10;$$&#10;T-T_\infty = \dfrac{ R'_e\; I^2}{h \pi D} \big(1- \exp(-t/\tau)\big)&#10;$$&#10;\end{document}"/>
  <p:tag name="IGUANATEXSIZE" val="20"/>
  <p:tag name="IGUANATEXCURSOR" val="151"/>
  <p:tag name="TRANSPARENCY" val="Vrai"/>
  <p:tag name="FILENAME" val=""/>
  <p:tag name="LATEXENGINEID" val="0"/>
  <p:tag name="TEMPFOLDER" val="c:\temp\"/>
  <p:tag name="LATEXFORMHEIGHT" val="320"/>
  <p:tag name="LATEXFORMWIDTH" val="706.2"/>
  <p:tag name="LATEXFORMWRAP" val="Vrai"/>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410.9487"/>
  <p:tag name="ORIGINALWIDTH" val="4287.214"/>
  <p:tag name="OUTPUTTYPE" val="PNG"/>
  <p:tag name="IGUANATEXVERSION" val="161"/>
  <p:tag name="LATEXADDIN" val="\documentclass{article}&#10;\usepackage{amsmath}&#10;\pagestyle{empty}&#10;\begin{document}&#10;&#10;L'accord entre le numérique et l'analytique sans rayonnement est bon car le coefficient de convection&#10;est grand. Pour des valeurs plus faibles de $h$, l'écart augmente très fortement, rendant l'approximation fausse.&#10;&#10;&#10;\end{document}"/>
  <p:tag name="IGUANATEXSIZE" val="20"/>
  <p:tag name="IGUANATEXCURSOR" val="296"/>
  <p:tag name="TRANSPARENCY" val="Vrai"/>
  <p:tag name="FILENAME" val=""/>
  <p:tag name="LATEXENGINEID" val="0"/>
  <p:tag name="TEMPFOLDER" val="c:\temp\"/>
  <p:tag name="LATEXFORMHEIGHT" val="320"/>
  <p:tag name="LATEXFORMWIDTH" val="385"/>
  <p:tag name="LATEXFORMWRAP" val="Vrai"/>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578.1777"/>
  <p:tag name="ORIGINALWIDTH" val="4278.215"/>
  <p:tag name="OUTPUTTYPE" val="PNG"/>
  <p:tag name="IGUANATEXVERSION" val="161"/>
  <p:tag name="LATEXADDIN" val="\documentclass{article}&#10;\usepackage{amsmath}&#10;\pagestyle{empty}&#10;\begin{document}&#10;&#10;La résolution analytique peut se faire en négligeant le terme de rayonnement :&#10;\noindent$$&#10;\frac{dT}{dt}  \approx \dfrac{ R'_e\; I^2}{\rho\; c \; \frac{\pi D^2}{4}}&#10; - \frac{ h \pi D}{\rho\; c \; \frac{\pi D^2}{4}}(T-T_\infty)&#10;$$&#10;\end{document}"/>
  <p:tag name="IGUANATEXSIZE" val="20"/>
  <p:tag name="IGUANATEXCURSOR" val="169"/>
  <p:tag name="TRANSPARENCY" val="Vrai"/>
  <p:tag name="FILENAME" val=""/>
  <p:tag name="LATEXENGINEID" val="0"/>
  <p:tag name="TEMPFOLDER" val="c:\temp\"/>
  <p:tag name="LATEXFORMHEIGHT" val="320"/>
  <p:tag name="LATEXFORMWIDTH" val="706.2"/>
  <p:tag name="LATEXFORMWRAP" val="Vrai"/>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457.068"/>
  <p:tag name="ORIGINALWIDTH" val="4953.131"/>
  <p:tag name="OUTPUTTYPE" val="PNG"/>
  <p:tag name="IGUANATEXVERSION" val="160"/>
  <p:tag name="LATEXADDIN" val="\documentclass{article}&#10;\usepackage{amsmath}&#10;\usepackage[paperwidth=20cm]{geometry}&#10;\pagestyle{empty}&#10;\begin{document}&#10;&#10;La thermorégulation chez l'être humain permet de maintenir une température interne constante $T_c = 37\,^{\circ}\mathrm{C}$. &#10;&#10;La surface extérieure de la peau est exposée à l'environnement et la surface intérieure se trouve à une température légèrement inférieure à la température centrale, soit $T_i = 35\,^{\circ}\mathrm{C} = 308\,\mathrm{K}$.&#10;&#10;Considérons une personne ayant une couche de peau/graisse d'épaisseur $L=3mm$ et une conductivité thermique effective de $k=0.3W/(m.K)$.&#10;La personne a une surface corporelle de $A=1.8 m^2$ et porte un maillot de bain.&#10;L'émissivité de la peau est $\epsilon=0.95$. On rappelle $\sigma \approx 5.67 \times 10^{-8} \; \mathrm{W \cdot m^{-2} \cdot K^{-4}}.$&#10;&#10;Calculer la température en surface de la peau $T_s$ dans les cas de la figure ci-dessous:&#10;\end{document}"/>
  <p:tag name="IGUANATEXSIZE" val="18"/>
  <p:tag name="IGUANATEXCURSOR" val="911"/>
  <p:tag name="TRANSPARENCY" val="Vrai"/>
  <p:tag name="FILENAME" val=""/>
  <p:tag name="LATEXENGINEID" val="0"/>
  <p:tag name="TEMPFOLDER" val="c:\temp\"/>
  <p:tag name="LATEXFORMHEIGHT" val="468.6"/>
  <p:tag name="LATEXFORMWIDTH" val="715.2"/>
  <p:tag name="LATEXFORMWRAP" val="Vrai"/>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2293.213"/>
  <p:tag name="ORIGINALWIDTH" val="5695.538"/>
  <p:tag name="OUTPUTTYPE" val="PNG"/>
  <p:tag name="IGUANATEXVERSION" val="160"/>
  <p:tag name="LATEXADDIN" val="\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Conservation du flux thermique en surface}&#10;&#10;En surface de la peau, sans source de chaleur surfacique additionnelle (qui serait modélisée par une distribution de Dirac), la conservation du flux thermique impose :&#10;&#10;$$-\rtvector{q}''_{\text{cond}} \cdot \rtvector{n}_{21} - &#10;\rtvector{q}''_{\text{conv}} \cdot \rtvector{n}_{12} - \rtvector{q}''_{\text{rad}} \cdot \rtvector{n}_{12} =0&#10;$$&#10;&#10;ou encore, comme $\rtvector{n}_{21} = -\rtvector{n}_{12}$ : &#10;$$\rtvector{q}''_{\text{cond}} \cdot \rtvector{n}_{12} = &#10;\rtvector{q}''_{\text{conv}} \cdot \rtvector{n}_{12} + \rtvector{q}''_{\text{rad}} \cdot \rtvector{n}_{12} &#10;$$&#10;&#10;avec $$\rtvector{q}''_{\text{cond}} = -k \; \dfrac{\partial T}{\partial x} \; \rtvector{e}_{x} &#10;= +k \dfrac{T_i-T_s}{L} \; \rtvector{e}_{x} \equiv +k \dfrac{T_i-T_s}{L} \; \rtvector{n}_{12} $$ et en remarquant que $\rtvector{n}_{12} \equiv \rtvector{n}_{ext}$, &#10;$$\rtvector{q}''_{\text{conv}} \cdot \rtvector{n}_{12} + \rtvector{q}''_{\text{rad}} \cdot \rtvector{n}_{12} =&#10; h(T_s-T_\infty) + \epsilon \sigma (T_s^4-T_{sur}^4)&#10;$$&#10;\end{document}"/>
  <p:tag name="IGUANATEXSIZE" val="18"/>
  <p:tag name="IGUANATEXCURSOR" val="1387"/>
  <p:tag name="TRANSPARENCY" val="Vrai"/>
  <p:tag name="FILENAME" val=""/>
  <p:tag name="LATEXENGINEID" val="0"/>
  <p:tag name="TEMPFOLDER" val="c:\temp\"/>
  <p:tag name="LATEXFORMHEIGHT" val="468.6"/>
  <p:tag name="LATEXFORMWIDTH" val="715.2"/>
  <p:tag name="LATEXFORMWRAP" val="Vrai"/>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516.6854"/>
  <p:tag name="ORIGINALWIDTH" val="4646.419"/>
  <p:tag name="OUTPUTTYPE" val="PNG"/>
  <p:tag name="IGUANATEXVERSION" val="160"/>
  <p:tag name="LATEXADDIN" val="\documentclass{article}&#10;\usepackage{amsmath}&#10;\usepackage[paperwidth=23cm]{geometry}&#10;\pagestyle{empty}&#10;\begin{document}&#10;&#10;La température en surface $T_s$ est solution d'une&#10;équation polynomiale (non-linéaire) :&#10;$$&#10;+k\frac{T_i-T_s}{L} = h(T_s-T_\infty) + \epsilon \sigma (T_s^4-T_{sur}^4)&#10;$$&#10;&#10;\end{document}"/>
  <p:tag name="IGUANATEXSIZE" val="18"/>
  <p:tag name="IGUANATEXCURSOR" val="83"/>
  <p:tag name="TRANSPARENCY" val="Vrai"/>
  <p:tag name="FILENAME" val=""/>
  <p:tag name="LATEXENGINEID" val="0"/>
  <p:tag name="TEMPFOLDER" val="c:\temp\"/>
  <p:tag name="LATEXFORMHEIGHT" val="320"/>
  <p:tag name="LATEXFORMWIDTH" val="385"/>
  <p:tag name="LATEXFORMWRAP" val="Vrai"/>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77.24032"/>
  <p:tag name="ORIGINALWIDTH" val="1109.111"/>
  <p:tag name="OUTPUTTYPE" val="PNG"/>
  <p:tag name="IGUANATEXVERSION" val="160"/>
  <p:tag name="LATEXADDIN" val="\documentclass{article}&#10;\usepackage{amsmath}&#10;\pagestyle{empty}&#10;\begin{document}&#10;&#10;$n_{21} \quad \quad \quad n_{12} \equiv n_{ext}$&#10;&#10;&#10;\end{document}"/>
  <p:tag name="IGUANATEXSIZE" val="20"/>
  <p:tag name="IGUANATEXCURSOR" val="115"/>
  <p:tag name="TRANSPARENCY" val="Vrai"/>
  <p:tag name="FILENAME" val=""/>
  <p:tag name="LATEXENGINEID" val="0"/>
  <p:tag name="TEMPFOLDER" val="c:\temp\"/>
  <p:tag name="LATEXFORMHEIGHT" val="320"/>
  <p:tag name="LATEXFORMWIDTH" val="385"/>
  <p:tag name="LATEXFORMWRAP" val="Vrai"/>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503.1871"/>
  <p:tag name="ORIGINALWIDTH" val="2630.671"/>
  <p:tag name="OUTPUTTYPE" val="PNG"/>
  <p:tag name="IGUANATEXVERSION" val="161"/>
  <p:tag name="LATEXADDIN" val="\documentclass{article}&#10;\usepackage{amsmath}&#10;\pagestyle{empty}&#10;\begin{document}&#10;&#10;Sans le terme de rayonnement $\epsilon = 0$:&#10;$$&#10;+k\frac{T_i-T_s}{L} = h(T_s-T_\infty) &#10;$$&#10;&#10;\end{document}"/>
  <p:tag name="IGUANATEXSIZE" val="20"/>
  <p:tag name="IGUANATEXCURSOR" val="86"/>
  <p:tag name="TRANSPARENCY" val="Vrai"/>
  <p:tag name="FILENAME" val=""/>
  <p:tag name="LATEXENGINEID" val="0"/>
  <p:tag name="TEMPFOLDER" val="c:\temp\"/>
  <p:tag name="LATEXFORMHEIGHT" val="320"/>
  <p:tag name="LATEXFORMWIDTH" val="706.2"/>
  <p:tag name="LATEXFORMWRAP" val="Vrai"/>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340.4574"/>
  <p:tag name="ORIGINALWIDTH" val="2877.39"/>
  <p:tag name="OUTPUTTYPE" val="PNG"/>
  <p:tag name="IGUANATEXVERSION" val="161"/>
  <p:tag name="LATEXADDIN" val="\documentclass{article}&#10;\usepackage{amsmath}&#10;\pagestyle{empty}&#10;\begin{document}&#10;&#10;On obtient que :&#10;$ T_s = \dfrac{\frac{k}{L} T_i+ h T_{\infty}}&#10;{\frac{k}{L} + h}&#10;$ &#10;et $q = k \dfrac{T_i-T_s}{L} A$&#10;&#10;\end{document}"/>
  <p:tag name="IGUANATEXSIZE" val="20"/>
  <p:tag name="IGUANATEXCURSOR" val="177"/>
  <p:tag name="TRANSPARENCY" val="Vrai"/>
  <p:tag name="FILENAME" val=""/>
  <p:tag name="LATEXENGINEID" val="0"/>
  <p:tag name="TEMPFOLDER" val="c:\temp\"/>
  <p:tag name="LATEXFORMHEIGHT" val="320"/>
  <p:tag name="LATEXFORMWIDTH" val="385"/>
  <p:tag name="LATEXFORMWRAP" val="Vrai"/>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067.867"/>
  <p:tag name="ORIGINALWIDTH" val="4287.964"/>
  <p:tag name="OUTPUTTYPE" val="PNG"/>
  <p:tag name="IGUANATEXVERSION" val="161"/>
  <p:tag name="LATEXADDIN" val="\documentclass{article}&#10;\usepackage{amsmath}&#10;\usepackage{xcolor}&#10;\pagestyle{empty}&#10;\begin{document}&#10;&#10;{\color{red} Avec le rayonnement}, l'équation à résoudre est non linéaire. La méthode consiste&#10;à linéariser le terme radiatif au voisinage de $T_{sur}$ et en faisant intervenir un coefficient radiatif $h_r$:&#10;$$&#10;+k\frac{T_i-T_s}{L} = h(T_s-T_\infty) + \epsilon \sigma (T_s^4-T_{sur}^4) = h(T_s-T_\infty) + h_r (T_s-T_{sur})&#10;$$&#10;avec $h_r ({\color{red} T_s})= \epsilon \sigma (T_s+T_{sur}) (T_s^2+T_{sur}^2)$.&#10;\end{document}"/>
  <p:tag name="IGUANATEXSIZE" val="20"/>
  <p:tag name="IGUANATEXCURSOR" val="134"/>
  <p:tag name="TRANSPARENCY" val="Vrai"/>
  <p:tag name="FILENAME" val=""/>
  <p:tag name="LATEXENGINEID" val="0"/>
  <p:tag name="TEMPFOLDER" val="c:\temp\"/>
  <p:tag name="LATEXFORMHEIGHT" val="320"/>
  <p:tag name="LATEXFORMWIDTH" val="694.2"/>
  <p:tag name="LATEXFORMWRAP" val="Vrai"/>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836.1455"/>
  <p:tag name="ORIGINALWIDTH" val="4093.738"/>
  <p:tag name="OUTPUTTYPE" val="PNG"/>
  <p:tag name="IGUANATEXVERSION" val="161"/>
  <p:tag name="LATEXADDIN" val="\documentclass{article}&#10;\usepackage{amsmath}&#10;\usepackage{xcolor}&#10;\pagestyle{empty}&#10;\begin{document}&#10;&#10;On obtient symboliquement que :&#10;$$ T_s = \dfrac{\frac{k}{L} T_i+ h T_{\infty} + h_r({\color{red} T_s}) T_{sur} }&#10;{\frac{k}{L} + h+h_r({\color{red} T_s})}&#10;$$&#10;&#10;La résolution se fait par la méthode de point fixe en initialisant $T_s$ avec $T_{sur}$:&#10;\end{document}"/>
  <p:tag name="IGUANATEXSIZE" val="20"/>
  <p:tag name="IGUANATEXCURSOR" val="211"/>
  <p:tag name="TRANSPARENCY" val="Vrai"/>
  <p:tag name="FILENAME" val=""/>
  <p:tag name="LATEXENGINEID" val="0"/>
  <p:tag name="TEMPFOLDER" val="c:\temp\"/>
  <p:tag name="LATEXFORMHEIGHT" val="320"/>
  <p:tag name="LATEXFORMWIDTH" val="606.6"/>
  <p:tag name="LATEXFORMWRAP" val="Vrai"/>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114.7357"/>
  <p:tag name="ORIGINALWIDTH" val="3635.545"/>
  <p:tag name="OUTPUTTYPE" val="PNG"/>
  <p:tag name="IGUANATEXVERSION" val="161"/>
  <p:tag name="LATEXADDIN" val="\documentclass{article}&#10;\usepackage{amsmath}&#10;\usepackage{xcolor}&#10;\pagestyle{empty}&#10;\begin{document}&#10;&#10;\color{red}&#10;Notez l'importance du rayonnement quand la convection est faible!&#10;&#10;&#10;\end{document}"/>
  <p:tag name="IGUANATEXSIZE" val="20"/>
  <p:tag name="IGUANATEXCURSOR" val="112"/>
  <p:tag name="TRANSPARENCY" val="Vrai"/>
  <p:tag name="FILENAME" val=""/>
  <p:tag name="LATEXENGINEID" val="0"/>
  <p:tag name="TEMPFOLDER" val="c:\temp\"/>
  <p:tag name="LATEXFORMHEIGHT" val="320"/>
  <p:tag name="LATEXFORMWIDTH" val="385"/>
  <p:tag name="LATEXFORMWRAP" val="Vrai"/>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709.4113"/>
  <p:tag name="ORIGINALWIDTH" val="4287.964"/>
  <p:tag name="OUTPUTTYPE" val="PNG"/>
  <p:tag name="IGUANATEXVERSION" val="161"/>
  <p:tag name="LATEXADDIN" val="\documentclass{article}&#10;\usepackage{amsmath}&#10;\pagestyle{empty}&#10;\begin{document}&#10;&#10;Le revêtement d'une plaque est durci par exposition à une lampe infrarouge fournissant une irradiation uniforme de $2000W.m^{-2}$.&#10;Il absorbe $80\%$ de cette irradiation infrarouge et possède une émissivité de $0.50$.&#10;Il est également exposé à un flux d'air et à un environnement de grande taille dont les températures sont respectivement de 20°C et 30°C.&#10;&#10;\end{document}"/>
  <p:tag name="IGUANATEXSIZE" val="20"/>
  <p:tag name="IGUANATEXCURSOR" val="433"/>
  <p:tag name="TRANSPARENCY" val="Vrai"/>
  <p:tag name="FILENAME" val=""/>
  <p:tag name="LATEXENGINEID" val="0"/>
  <p:tag name="TEMPFOLDER" val="c:\temp\"/>
  <p:tag name="LATEXFORMHEIGHT" val="320"/>
  <p:tag name="LATEXFORMWIDTH" val="385"/>
  <p:tag name="LATEXFORMWRAP" val="Vrai"/>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425.1968"/>
  <p:tag name="ORIGINALWIDTH" val="5451.068"/>
  <p:tag name="OUTPUTTYPE" val="PNG"/>
  <p:tag name="IGUANATEXVERSION" val="160"/>
  <p:tag name="LATEXADDIN" val="\documentclass{article}&#10;\usepackage{amsmath}&#10;\usepackage{xcolor}&#10;\usepackage[paperwidth=22cm]{geometry}&#10;\pagestyle{empty}&#10;\begin{document}&#10;&#10;&#10;Si le coefficient de convection entre la plaque et l'air ambiant est de $15W.m^{-2}.K^{-1}$, quelle est la température de durcissement de la plaque? On fera l'hypothèse que sa {\color{red} température&#10;est uniforme} sur toute son épaisseur. Pour ce faire, écrire la conservation du flux thermique&#10;en surface.&#10;&#10;\end{document}"/>
  <p:tag name="IGUANATEXSIZE" val="20"/>
  <p:tag name="IGUANATEXCURSOR" val="449"/>
  <p:tag name="TRANSPARENCY" val="Vrai"/>
  <p:tag name="FILENAME" val=""/>
  <p:tag name="LATEXENGINEID" val="0"/>
  <p:tag name="TEMPFOLDER" val="c:\temp\"/>
  <p:tag name="LATEXFORMHEIGHT" val="320"/>
  <p:tag name="LATEXFORMWIDTH" val="649.8"/>
  <p:tag name="LATEXFORMWRAP" val="Vrai"/>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986.8766"/>
  <p:tag name="ORIGINALWIDTH" val="3220.847"/>
  <p:tag name="OUTPUTTYPE" val="PNG"/>
  <p:tag name="IGUANATEXVERSION" val="160"/>
  <p:tag name="LATEXADDIN" val="\documentclass{article}&#10;\usepackage{amsmath}&#10;\usepackage{xcolor}&#10;\usepackage[paperwidth=12cm]{geometry}&#10;\pagestyle{empty}&#10;\begin{document}&#10;&#10;Les caractéristiques finales du revêtement, notamment sa résistance à l'usure et sa durabilité, dépendent de la température à laquelle le durcissement se produit.&#10;On a besoin de connaître comment la température dépend du coefficient de convection&#10;$h \in [2, 100] W.m^{-2} K^{-1}$.&#10;&#10;Quelle valeur de $h$ permettrait d’obtenir une température de durcissement de 50°C?&#10;\end{document}"/>
  <p:tag name="IGUANATEXSIZE" val="20"/>
  <p:tag name="IGUANATEXCURSOR" val="89"/>
  <p:tag name="TRANSPARENCY" val="Vrai"/>
  <p:tag name="FILENAME" val=""/>
  <p:tag name="LATEXENGINEID" val="0"/>
  <p:tag name="TEMPFOLDER" val="c:\temp\"/>
  <p:tag name="LATEXFORMHEIGHT" val="320"/>
  <p:tag name="LATEXFORMWIDTH" val="649.8"/>
  <p:tag name="LATEXFORMWRAP" val="Vrai"/>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818.1477"/>
  <p:tag name="ORIGINALWIDTH" val="5696.288"/>
  <p:tag name="OUTPUTTYPE" val="PNG"/>
  <p:tag name="IGUANATEXVERSION" val="160"/>
  <p:tag name="LATEXADDIN" val="\documentclass{article}&#10;\usepackage{amsmath}&#10;\usepackage{xcolor}&#10;\usepackage[paperwidth=23cm]{geometry}&#10;\pagestyle{empty}&#10;\begin{document}&#10;&#10;{\color{red} Avec le rayonnement}, l'équation à résoudre est non linéaire. La méthode consiste&#10;à linéariser le terme radiatif au voisinage de $T_{sur}$ et en faisant intervenir un coefficient radiatif $h_r$:&#10;$$&#10;\alpha G = h(T_s-T_\infty) + \epsilon \sigma (T_s^4-T_{sur}^4) = h(T_s-T_\infty) + h_r (T_s-T_{sur})&#10;$$&#10;avec $h_r ({\color{red} T_s})= \epsilon \sigma (T_s+T_{sur}) (T_s^2+T_{sur}^2)$.&#10;\end{document}"/>
  <p:tag name="IGUANATEXSIZE" val="20"/>
  <p:tag name="IGUANATEXCURSOR" val="103"/>
  <p:tag name="TRANSPARENCY" val="Vrai"/>
  <p:tag name="FILENAME" val=""/>
  <p:tag name="LATEXENGINEID" val="0"/>
  <p:tag name="TEMPFOLDER" val="c:\temp\"/>
  <p:tag name="LATEXFORMHEIGHT" val="320"/>
  <p:tag name="LATEXFORMWIDTH" val="694.2"/>
  <p:tag name="LATEXFORMWRAP" val="Vrai"/>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803.1496"/>
  <p:tag name="ORIGINALWIDTH" val="4093.738"/>
  <p:tag name="OUTPUTTYPE" val="PNG"/>
  <p:tag name="IGUANATEXVERSION" val="160"/>
  <p:tag name="LATEXADDIN" val="\documentclass{article}&#10;\usepackage{amsmath}&#10;\usepackage{xcolor}&#10;\pagestyle{empty}&#10;\begin{document}&#10;&#10;On obtient symboliquement que :&#10;$$ T_s = \frac{ \alpha G + h T_{\infty} +h_r({\color{red} T_s}) T_{sur} }&#10;{h+h_r({\color{red} T_s})}&#10;$$&#10;&#10;La résolution se fait par la méthode de point fixe en initialisant $T_s$ avec $T_{inf}$.&#10;\end{document}"/>
  <p:tag name="IGUANATEXSIZE" val="20"/>
  <p:tag name="IGUANATEXCURSOR" val="326"/>
  <p:tag name="TRANSPARENCY" val="Vrai"/>
  <p:tag name="FILENAME" val=""/>
  <p:tag name="LATEXENGINEID" val="0"/>
  <p:tag name="TEMPFOLDER" val="c:\temp\"/>
  <p:tag name="LATEXFORMHEIGHT" val="320"/>
  <p:tag name="LATEXFORMWIDTH" val="606.6"/>
  <p:tag name="LATEXFORMWRAP" val="Vrai"/>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1438.32"/>
  <p:tag name="ORIGINALWIDTH" val="5697.038"/>
  <p:tag name="OUTPUTTYPE" val="PNG"/>
  <p:tag name="IGUANATEXVERSION" val="160"/>
  <p:tag name="LATEXADDIN" val="\documentclass{article}&#10;\usepackage{amsmath}&#10;\usepackage{xcolor}&#10;\usepackage{cancel}&#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begin{document}&#10;&#10;En supposant que l'échantillon soit {\color{red} à température constante}, donc pas de gradient, la conservation du flux thermique en surface s'écrit :&#10;&#10;$$\cancel{\rtvector{q}''_{\text{cond}}} \cdot \rtvector{n}_{21} + &#10;\rtvector{q}''_{\text{conv}} \cdot \rtvector{n}_{12} + \rtvector{q}''_{\text{rad}} \cdot \rtvector{n}_{12} +&#10;\rtvector{q}''_{\text{lamp}} \cdot \rtvector{n}_{12}  =0&#10;$$&#10;avec&#10;$$&#10;\rtvector{q}''_{\text{lamp}}\cdot \rtvector{n}_{12}  = - (\alpha G)_{lamp} &#10;$$&#10;&#10;En remarquant que $\rtvector{n}_{12} \equiv \rtvector{n}_{ext}$, on a:&#10;$$\rtvector{q}''_{\text{conv}} \cdot \rtvector{n}_{12} + \rtvector{q}''_{\text{rad}} \cdot \rtvector{n}_{12} =&#10; h(T_s-T_\infty) + \epsilon \sigma (T_s^4-T_{sur}^4)&#10;$$&#10;&#10;&#10;\end{document}"/>
  <p:tag name="IGUANATEXSIZE" val="20"/>
  <p:tag name="IGUANATEXCURSOR" val="1560"/>
  <p:tag name="TRANSPARENCY" val="Vrai"/>
  <p:tag name="FILENAME" val=""/>
  <p:tag name="LATEXENGINEID" val="0"/>
  <p:tag name="TEMPFOLDER" val="c:\temp\"/>
  <p:tag name="LATEXFORMHEIGHT" val="469.8"/>
  <p:tag name="LATEXFORMWIDTH" val="499.2"/>
  <p:tag name="LATEXFORMWRAP" val="Vrai"/>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77.24032"/>
  <p:tag name="ORIGINALWIDTH" val="1109.111"/>
  <p:tag name="OUTPUTTYPE" val="PNG"/>
  <p:tag name="IGUANATEXVERSION" val="160"/>
  <p:tag name="LATEXADDIN" val="\documentclass{article}&#10;\usepackage{amsmath}&#10;\pagestyle{empty}&#10;\begin{document}&#10;&#10;$n_{21} \quad \quad \quad n_{12} \equiv n_{ext}$&#10;&#10;&#10;\end{document}"/>
  <p:tag name="IGUANATEXSIZE" val="20"/>
  <p:tag name="IGUANATEXCURSOR" val="115"/>
  <p:tag name="TRANSPARENCY" val="Vrai"/>
  <p:tag name="FILENAME" val=""/>
  <p:tag name="LATEXENGINEID" val="0"/>
  <p:tag name="TEMPFOLDER" val="c:\temp\"/>
  <p:tag name="LATEXFORMHEIGHT" val="320"/>
  <p:tag name="LATEXFORMWIDTH" val="385"/>
  <p:tag name="LATEXFORMWRAP" val="Vrai"/>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 1200"/>
  <p:tag name="ORIGINALHEIGHT" val=" 1050.619"/>
  <p:tag name="ORIGINALWIDTH" val=" 4289.464"/>
  <p:tag name="OUTPUTTYPE" val="PNG"/>
  <p:tag name="IGUANATEXVERSION" val="162"/>
  <p:tag name="LATEXADDIN" val="\documentclass{article}&#10;\usepackage{amsmath}&#10;\usepackage{xcolor}&#10;\pagestyle{empty}&#10;\begin{document}&#10;&#10;La méthode du point fixe consiste à appliquer la relation de récurrence en prenant &#10;$T_s^{(0)}=T_{inf}$:&#10;$$ T_s^{(k+1)} = \frac{ \alpha G + h T_{\infty} +h_r({\color{red} T_s^{(k)}}) T_{sur} }&#10;{h+h_r({\color{red} T_s^{(k)}})} \equiv g(T_s^{(k)})&#10;$$&#10;converge si $|g'(T_s)| &lt; 1$ sur l'intervalle de $T_s$.&#10;\end{document}"/>
  <p:tag name="IGUANATEXSIZE" val="18"/>
  <p:tag name="IGUANATEXCURSOR" val="404"/>
  <p:tag name="TRANSPARENCY" val="Vrai"/>
  <p:tag name="CHOOSECOLOR" val="Faux"/>
  <p:tag name="COLORHEX" val="000000"/>
  <p:tag name="FILENAME" val=""/>
  <p:tag name="LATEXENGINEID" val="0"/>
  <p:tag name="TEMPFOLDER" val="c:\temp\"/>
  <p:tag name="LATEXFORMHEIGHT" val=" 320"/>
  <p:tag name="LATEXFORMWIDTH" val=" 606.6"/>
  <p:tag name="LATEXFORMWRAP" val="Vrai"/>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262.4672"/>
  <p:tag name="ORIGINALWIDTH" val="2718.41"/>
  <p:tag name="OUTPUTTYPE" val="PNG"/>
  <p:tag name="IGUANATEXVERSION" val="160"/>
  <p:tag name="LATEXADDIN" val="\documentclass{article}&#10;\usepackage{amsmath}&#10;\pagestyle{empty}&#10;\begin{document}&#10;&#10;\noindent&#10;La convergence n'est pas uniforme car il n'y a pas \\décroissance monotone et régulière de l'erreur.&#10;&#10;\end{document}"/>
  <p:tag name="IGUANATEXSIZE" val="20"/>
  <p:tag name="IGUANATEXCURSOR" val="90"/>
  <p:tag name="TRANSPARENCY" val="Vrai"/>
  <p:tag name="FILENAME" val=""/>
  <p:tag name="LATEXENGINEID" val="0"/>
  <p:tag name="TEMPFOLDER" val="c:\temp\"/>
  <p:tag name="LATEXFORMHEIGHT" val="320"/>
  <p:tag name="LATEXFORMWIDTH" val="385"/>
  <p:tag name="LATEXFORMWRAP" val="Vrai"/>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2339.708"/>
  <p:tag name="ORIGINALWIDTH" val="4584.177"/>
  <p:tag name="OUTPUTTYPE" val="PNG"/>
  <p:tag name="IGUANATEXVERSION" val="160"/>
  <p:tag name="LATEXADDIN" val="\documentclass{article}&#10;\usepackage{amsmath}&#10;\usepackage{xcolor}&#10;\pagestyle{empty}&#10;\usepackage[paperwidth=20cm]{geometry}&#10;\begin{document}&#10;&#10;\section*{EXPERT : convergence de la méthode du point fixe}&#10;La méthode du point fixe consiste à appliquer la relation de récurrence &#10;$$ x^{k+1} = g(x^k)$$&#10;&#10;Toute perturbation à l'itération $k$ se propage à l'instant d'après, selon:&#10;$$x^{k+1} + \epsilon^{k+1} = g(x^k + \epsilon^k) \approx g(x^k) + \epsilon^k \; g'(x^k)$$.&#10;&#10;Autrement dit :&#10;$$\epsilon^{k+1} = \epsilon^k \; g'(x^k)$$.&#10;&#10;Le schéma est stable si $|g'(x^k)|&lt;1$ pour tout $x^k$ \\dans le domaine où $x$ prend ses valeurs. &#10;&#10;\end{document}"/>
  <p:tag name="IGUANATEXSIZE" val="18"/>
  <p:tag name="IGUANATEXCURSOR" val="581"/>
  <p:tag name="TRANSPARENCY" val="Vrai"/>
  <p:tag name="FILENAME" val=""/>
  <p:tag name="LATEXENGINEID" val="0"/>
  <p:tag name="TEMPFOLDER" val="c:\temp\"/>
  <p:tag name="LATEXFORMHEIGHT" val="450.6"/>
  <p:tag name="LATEXFORMWIDTH" val="655.8"/>
  <p:tag name="LATEXFORMWRAP" val="Vrai"/>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 1200"/>
  <p:tag name="ORIGINALHEIGHT" val=" 2509.936"/>
  <p:tag name="ORIGINALWIDTH" val=" 5346.082"/>
  <p:tag name="OUTPUTTYPE" val="PNG"/>
  <p:tag name="IGUANATEXVERSION" val="162"/>
  <p:tag name="LATEXADDIN" val="\documentclass{article}&#10;\pagestyle{empty}&#10;\usepackage{amsmath, amssymb, geometry, graphicx}&#10;\usepackage{physics}&#10;\usepackage{siunitx}&#10;\usepackage[french]{babel}&#10;&#10;\begin{document}&#10;&#10;\subsection*{Principe de la méthode de Newton}&#10;&#10;La méthode de Newton ou de la tangente est une méthode itérative permettant de résoudre une équation non linéaire de la forme :&#10;\[&#10;f(x) = 0&#10;\]&#10;où \( f : \mathbb{R} \to \mathbb{R} \) est une fonction non linéaire, et \( x \in \mathbb{R} \) est l'inconnue.&#10;&#10;L’idée est de linéariser \( f \) autour d’une estimation \( {x}^{(k)} \) à l’aide du développement de Taylor :&#10;\[&#10;f(x^{(k)} + \Delta {x}) \approx {f}({x}^{(k)}) + J(x^{(k)}) \, \Delta {x}&#10;\]&#10;où \( J({x}^{(k)}) = \left . \frac{df}{dx}\right |_{x^{(k)}} \) est le Jacobien de \( f \) en \( {x}^{(k)} \).&#10;&#10;En imposant \( f({x}^{(k)} + \Delta {x}) = 0 \), on obtient l'équation :&#10;\[&#10;J(x^{(k)}) \, \Delta {x} = -{f}({x}^{(k)})&#10;\]&#10;puis on met à jour la solution :&#10;\[&#10;{x}^{(k+1)} = {x}^{(k)} + \Delta {x}&#10;\]&#10;&#10;&#10;\end{document}"/>
  <p:tag name="IGUANATEXSIZE" val="18"/>
  <p:tag name="IGUANATEXCURSOR" val="804"/>
  <p:tag name="TRANSPARENCY" val="Vrai"/>
  <p:tag name="CHOOSECOLOR" val="Faux"/>
  <p:tag name="COLORHEX" val="000000"/>
  <p:tag name="FILENAME" val=""/>
  <p:tag name="LATEXENGINEID" val="0"/>
  <p:tag name="TEMPFOLDER" val="c:\temp\"/>
  <p:tag name="LATEXFORMHEIGHT" val=" 432"/>
  <p:tag name="LATEXFORMWIDTH" val=" 774"/>
  <p:tag name="LATEXFORMWRAP" val="Vrai"/>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 1200"/>
  <p:tag name="ORIGINALHEIGHT" val=" 969.6288"/>
  <p:tag name="ORIGINALWIDTH" val=" 3117.36"/>
  <p:tag name="OUTPUTTYPE" val="PNG"/>
  <p:tag name="IGUANATEXVERSION" val="162"/>
  <p:tag name="LATEXADDIN" val="\documentclass{article}&#10;\usepackage{amsmath}&#10;\usepackage{xcolor}&#10;\pagestyle{empty}&#10;\begin{document}&#10;&#10;Ici $x \equiv T_s$ et on choisit $x^{(k)}=T_{inf}$. On a:&#10;$$&#10;f(T_s) = h(T_s-T_\infty) + \epsilon \sigma (T_s^4-T_{sur}^4) -\alpha G &#10;$$&#10;&#10;Le jacobien est :&#10;$$&#10;\dfrac{df}{dT_s} = h \;T_s + 4 \epsilon \sigma \;T_s^3&#10;$$&#10;\end{document}"/>
  <p:tag name="IGUANATEXSIZE" val="16"/>
  <p:tag name="IGUANATEXCURSOR" val="151"/>
  <p:tag name="TRANSPARENCY" val="Vrai"/>
  <p:tag name="CHOOSECOLOR" val="Faux"/>
  <p:tag name="COLORHEX" val="000000"/>
  <p:tag name="FILENAME" val=""/>
  <p:tag name="LATEXENGINEID" val="0"/>
  <p:tag name="TEMPFOLDER" val="c:\temp\"/>
  <p:tag name="LATEXFORMHEIGHT" val=" 320"/>
  <p:tag name="LATEXFORMWIDTH" val=" 694.2"/>
  <p:tag name="LATEXFORMWRAP" val="Vrai"/>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 1200"/>
  <p:tag name="ORIGINALHEIGHT" val=" 3505.062"/>
  <p:tag name="ORIGINALWIDTH" val=" 4707.162"/>
  <p:tag name="OUTPUTTYPE" val="PNG"/>
  <p:tag name="IGUANATEXVERSION" val="162"/>
  <p:tag name="LATEXADDIN" val="\documentclass{article}&#10;\usepackage{amsmath}&#10;\pagestyle{empty}&#10;&#10;\usepackage{amsmath}&#10;\usepackage{amsfonts}&#10;\usepackage{amssymb}&#10;\usepackage[paperwidth=19cm]{geometry}&#10;&#10;&#10;\begin{document}&#10;&#10;Les déchets radioactifs sont conditionnés dans un conteneur cylindrique long à parois minces. Ces déchets génèrent de l'énergie thermique de manière non uniforme selon la relation :&#10;$$&#10;Q = Q_0 [1 - (r/r_0)^2]&#10;$$&#10;où $\dot{q}$ est le taux local de génération d'énergie par unité de volume, $Q_0$ est une constante, et $r_0$ est le rayon du conteneur.&#10;&#10;Les conditions d'état stationnaire sont maintenues en immergeant le conteneur dans un liquide qui est à la température $T_\infty$ et fournit un coefficient de convection uniforme $h$.&#10;&#10;Cette configuration présente un problème de transfert de chaleur avec génération interne d'énergie dans un cylindre. La distribution radiale de la génération de chaleur suit une loi parabolique, avec un maximum au centre du cylindre ($r = 0$) et une valeur nulle à la périphérie ($r = r_0$).&#10;&#10;\begin{itemize}&#10;\item $Q$ : Taux local de génération d'énergie par unité de volume [W/m³]&#10;\item $Q_0$ : Constante de génération maximale [W/m³]&#10;\item $r$ : Rayon local [m]&#10;\item $r_0$ : Rayon du conteneur [m]&#10;\item $T_\infty$ : Température du liquide environnant [K]&#10;\item $h$ : Coefficient de convection [W/m²·K]&#10;\end{itemize}&#10;&#10;\end{document}\end{document}"/>
  <p:tag name="IGUANATEXSIZE" val="16"/>
  <p:tag name="IGUANATEXCURSOR" val="477"/>
  <p:tag name="TRANSPARENCY" val="Vrai"/>
  <p:tag name="CHOOSECOLOR" val="Faux"/>
  <p:tag name="COLORHEX" val="000000"/>
  <p:tag name="FILENAME" val=""/>
  <p:tag name="LATEXENGINEID" val="0"/>
  <p:tag name="TEMPFOLDER" val="c:\temp\"/>
  <p:tag name="LATEXFORMHEIGHT" val=" 468.6"/>
  <p:tag name="LATEXFORMWIDTH" val=" 715.2"/>
  <p:tag name="LATEXFORMWRAP" val="Vrai"/>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260.2175"/>
  <p:tag name="ORIGINALWIDTH" val="3908.511"/>
  <p:tag name="OUTPUTTYPE" val="PNG"/>
  <p:tag name="IGUANATEXVERSION" val="161"/>
  <p:tag name="LATEXADDIN" val="\documentclass{article}&#10;\usepackage{amsmath}&#10;\pagestyle{empty}&#10;\begin{document}&#10;&#10;\noindent&#10;Estimer le taux de l'énergie générée par unité de longueur. \\&#10;En déduire l'expression de la température $T_s$ sur la paroi&#10;du contenaire.&#10;&#10;\end{document}"/>
  <p:tag name="IGUANATEXSIZE" val="18"/>
  <p:tag name="IGUANATEXCURSOR" val="90"/>
  <p:tag name="TRANSPARENCY" val="Vrai"/>
  <p:tag name="FILENAME" val=""/>
  <p:tag name="LATEXENGINEID" val="0"/>
  <p:tag name="TEMPFOLDER" val="c:\temp\"/>
  <p:tag name="LATEXFORMHEIGHT" val="320"/>
  <p:tag name="LATEXFORMWIDTH" val="729"/>
  <p:tag name="LATEXFORMWRAP" val="Vrai"/>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 1200"/>
  <p:tag name="ORIGINALHEIGHT" val=" 3860.518"/>
  <p:tag name="ORIGINALWIDTH" val=" 6191.226"/>
  <p:tag name="OUTPUTTYPE" val="PNG"/>
  <p:tag name="IGUANATEXVERSION" val="162"/>
  <p:tag name="LATEXADDIN" val="\documentclass{article}&#10;\usepackage{amsmath}&#10;\pagestyle{empty}&#10;&#10;\usepackage{amsmath}&#10;\usepackage{amsfonts}&#10;\usepackage{amssymb}&#10;\usepackage[paperwidth=25cm]{geometry}&#10;&#10;\begin{document}&#10;&#10;Cette configuration présente un problème de transfert de chaleur avec génération interne d'énergie dans un cylindre. La distribution radiale de la génération de chaleur suit une loi parabolique, avec un maximum au centre du cylindre ($r = 0$) et une valeur nulle à la périphérie ($r = r_0$).&#10;&#10;\begin{enumerate}&#10;\item Conditions d'état stationnaire&#10;\item Chute de température négligeable à travers la paroi mince du conteneur&#10;\end{enumerate}&#10;&#10;Le taux de génération d'énergie est calculé par intégration sur le volume :&#10;\begin{equation}&#10;\dot{E}_g = \int Q \, dV = Q_0 \int_0^{r_0} \left[1-(r/r_0)^2\right] 2\pi r L \, dr&#10;\end{equation}&#10;&#10;\begin{equation}&#10;\dot{E}_g = 2\pi L Q_0 \left( \frac{r_0^2}{2} - \frac{r_0^2}{4} \right)&#10;\end{equation}&#10;&#10;ou par unité de longueur :&#10;\begin{equation}&#10;\dot{E}_g' = \frac{\pi Q_0 r_0^2}{2}&#10;\end{equation}&#10;&#10;En effectuant un bilan énergétique pour une surface de contrôle autour du conteneur, on obtient à un instant donné : $\dot{E}_g' - \dot{E}_{out}' = 0$&#10;et en substituant le taux de transfert de chaleur par convection par unité de longueur :&#10;\begin{equation}&#10;\frac{\pi Q_0 r_0^2}{2} = h(2\pi r_0)(T_s - T_\infty)&#10;\end{equation}&#10;On a:&#10;\begin{equation}&#10;T_s = T_\infty + \frac{Q_0 r_0}{4h}&#10;\end{equation}&#10;&#10;\end{document}"/>
  <p:tag name="IGUANATEXSIZE" val="16"/>
  <p:tag name="IGUANATEXCURSOR" val="1396"/>
  <p:tag name="TRANSPARENCY" val="Vrai"/>
  <p:tag name="CHOOSECOLOR" val="Faux"/>
  <p:tag name="COLORHEX" val="000000"/>
  <p:tag name="FILENAME" val=""/>
  <p:tag name="LATEXENGINEID" val="0"/>
  <p:tag name="TEMPFOLDER" val="c:\temp\"/>
  <p:tag name="LATEXFORMHEIGHT" val=" 469.2"/>
  <p:tag name="LATEXFORMWIDTH" val=" 706.2"/>
  <p:tag name="LATEXFORMWRAP" val="Vrai"/>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 1200"/>
  <p:tag name="ORIGINALHEIGHT" val=" 244.4695"/>
  <p:tag name="ORIGINALWIDTH" val=" 976.3779"/>
  <p:tag name="OUTPUTTYPE" val="PNG"/>
  <p:tag name="IGUANATEXVERSION" val="162"/>
  <p:tag name="LATEXADDIN" val="\documentclass{article}&#10;\usepackage{amsmath}&#10;\pagestyle{empty}&#10;\begin{document}&#10;&#10;$$&#10;Q = Q_0 [1 - (\frac{r}{r_0})^2]&#10;$$&#10;&#10;&#10;\end{document}"/>
  <p:tag name="IGUANATEXSIZE" val="14"/>
  <p:tag name="IGUANATEXCURSOR" val="112"/>
  <p:tag name="TRANSPARENCY" val="Faux"/>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3589.801"/>
  <p:tag name="ORIGINALWIDTH" val="5696.288"/>
  <p:tag name="OUTPUTTYPE" val="PNG"/>
  <p:tag name="IGUANATEXVERSION" val="160"/>
  <p:tag name="LATEXADDIN" val="\documentclass{article}&#10;\usepackage{amsmath}&#10;\pagestyle{empty}&#10;&#10;\usepackage{amsmath}&#10;\usepackage{amsfonts}&#10;\usepackage{amssymb}&#10;\usepackage{xcolor}&#10;\usepackage[paperwidth=23cm]{geometry}&#10;\usepackage{enumitem}&#10;&#10;\begin{document}&#10;&#10;\subsection*{Exercice : étude de la fusion d'une sphère de glace dans un milieu aqueux}&#10;&#10;On étudie l'évolution du rayon d'une sphère de glace initialement à température $T_s^0 = 0^\circ C$ placée dans de l'eau à température $T_{l}^0 &gt; 0^\circ C$. Le système est placé dans un calorimètre isolé thermiquement.&#10;\vspace{-0.5cm}&#10;\subsubsection*{Paramètres du système et notations}&#10;\begin{itemize}[itemsep=0pt, topsep=2pt, parsep=0pt, partopsep=0pt]&#10;    \item Sphère de glace initiale : température $T_s^0 = T_{mp} = 0^\circ C$, rayon initial $r_0$&#10;    \item Eau environnante : température $T_{l}^0 &gt; 0^\circ C$ (température du fluide loin de la sphère)&#10;    \item Température de fusion/point de fusion : $T_{mp} = 0^\circ C$&#10;    \item Rayon instantané de la sphère : $r_s(t)$&#10;    \item Masse volumique de la glace : $\rho_s$ &#10;    \item Masse volumique de l'eau : $\rho_l$ &#10;    \item Chaleur latente de fusion : $h_{sf}$ &#10;    \item Capacité calorifique de l'eau : $c_{p,l}$&#10;    \item coefficient d'échange thermique à l'interface solide-liquide : $h$&#10;    \item Hypothèse fondamentale : $Bi \ll 1 \Rightarrow$ température uniforme dans la glace à $T_{mp}$&#10;\end{itemize}&#10;&#10;Dans le {\color{red} calorimètre parfaitement isolé et fermé}, la masse totale et l'énergie totale du système (glace + eau) se conservent au cours du temps. À l'instant initial, l'énergie totale du système est :&#10;\begin{equation*}&#10;E_{total} = E_{glace}^0 + E_{eau}^0 = &#10;-{\color{red} m_{s}^0 \cdot h_{sf}} + m_{s}^0 \cdot c_{p,s} \cdot (T_s^0-T_{ref}) + m_{l}^0 \cdot c_{p,l} \cdot (T_{l}^0-T_{ref})&#10;\end{equation*}&#10;Une autre définition en ajoutant la constante ${\color{red} (m_s^0+m_l^0) \cdot h_{sf}}$ est:&#10;\vspace{-0.2cm}&#10;\begin{equation*}&#10;E_{total} = E_{glace}^0 + E_{eau}^0 = &#10; m_{s}^0 \cdot c_{p,s} \cdot (T_s^0-T_{ref}) + m_{l}^0 \cdot c_{p,l} \cdot (T_{l}^0-T_{ref})&#10;+{\color{red} m_{l}^0 \cdot h_{sf}}&#10;\end{equation*}&#10;Il est judicieux de prendre ici $T_{ref}=0^\circ C$ et d'exprimer toutes les températures en degrés Celsius.&#10;&#10;\end{document}\end{document}"/>
  <p:tag name="IGUANATEXSIZE" val="18"/>
  <p:tag name="IGUANATEXCURSOR" val="2227"/>
  <p:tag name="TRANSPARENCY" val="Vrai"/>
  <p:tag name="FILENAME" val=""/>
  <p:tag name="LATEXENGINEID" val="0"/>
  <p:tag name="TEMPFOLDER" val="c:\temp\"/>
  <p:tag name="LATEXFORMHEIGHT" val="468.6"/>
  <p:tag name="LATEXFORMWIDTH" val="715.2"/>
  <p:tag name="LATEXFORMWRAP" val="Vrai"/>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2878.89"/>
  <p:tag name="ORIGINALWIDTH" val="6191.976"/>
  <p:tag name="OUTPUTTYPE" val="PNG"/>
  <p:tag name="IGUANATEXVERSION" val="160"/>
  <p:tag name="LATEXADDIN" val="\documentclass{article}&#10;\usepackage{amsmath}&#10;\pagestyle{empty}&#10;&#10;\usepackage{amsmath}&#10;\usepackage{amsfonts}&#10;\usepackage{amssymb}&#10;\usepackage[paperwidth=25cm]{geometry}&#10;\usepackage{enumitem}&#10;&#10;\begin{document}&#10;&#10;À l'instant initial, l'énergie totale du système est :&#10;\begin{equation*}&#10;E_{total} = E_{glace}^0 + E_{eau}^0 = &#10; -m_{s}^0 \cdot h_{sf} + m_{s}^0 \cdot c_{p,s} \cdot (T_s^0-T_{ref}) + m_{l}^0 \cdot c_{p,l} \cdot (T_{l}^0-T_{ref})&#10;\end{equation*}&#10;avec $T_{ref} = 0^\circ C$.&#10;&#10;\begin{itemize}[itemsep=2pt, topsep=2pt, parsep=0pt, partopsep=2pt]&#10;\item Ecrire la conservation de la masse totale pour tout instant $t&gt;0$. En déduire l'expression de $m_{l}(t)$ en fonction de $m_s(t)$ en autre.&#10;\item Ecrire l'énergie totale du système tout instant t. En déduire l'expression de la température&#10;de l'eau $T_l(t)$.&#10;\item Ecrire l'expression de la masse de la sphère de glace en fonction de son rayon. &#10;En déduire l'expression de sa dérivée temporelle.&#10;\item Le transfert de chaleur de l'eau vers la glace s'effectue par convection.&#10;Toute l'énergie thermique entrant dans la sphère est utilisée pour la fusion :&#10;$$&#10;\dot{Q}_{fusion} = -h_{sf} \dfrac{dm_s}{dt}&#10;$$&#10;Vérifier que $\dot{Q}_{fusion}&gt;0$.&#10;\item En déduire l'expression de la vitesse $\dot{r}_s$ en fonction de $T_l(t)$.&#10;\item Remplacez $T_l(t)$ dans l'expression de $\dot{r}_s$ par la formule obtenue précédemment.&#10;\item Le résoudre dans la limite où la masse de liquide est infiniment grande.&#10;\end{itemize}&#10;&#10;&#10;\end{document}\end{document}"/>
  <p:tag name="IGUANATEXSIZE" val="18"/>
  <p:tag name="IGUANATEXCURSOR" val="1347"/>
  <p:tag name="TRANSPARENCY" val="Vrai"/>
  <p:tag name="FILENAME" val=""/>
  <p:tag name="LATEXENGINEID" val="0"/>
  <p:tag name="TEMPFOLDER" val="c:\temp\"/>
  <p:tag name="LATEXFORMHEIGHT" val="468.6"/>
  <p:tag name="LATEXFORMWIDTH" val="715.2"/>
  <p:tag name="LATEXFORMWRAP" val="Vrai"/>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837.6453"/>
  <p:tag name="ORIGINALWIDTH" val="3963.254"/>
  <p:tag name="OUTPUTTYPE" val="PNG"/>
  <p:tag name="IGUANATEXVERSION" val="160"/>
  <p:tag name="LATEXADDIN" val="\documentclass{article}&#10;\usepackage{amsmath}&#10;\usepackage{amsfonts}&#10;\usepackage{amssymb}&#10;\usepackage[paperwidth=16cm]{geometry}&#10;\usepackage{siunitx}&#10;\usepackage{xcolor}&#10;\pagestyle{empty}&#10;\begin{document}&#10;&#10;Un système à vide, tel qu'utilisé dans la pulvérisation de films minces électriquement conducteurs sur microcircuits, est composé d'une plaque de base maintenue par un chauffage électrique à {\color{blue} \SI{300}{K}} et d'un écran à l'intérieur de l'enceinte maintenu à {\color{red} \SI{97}{K}} par une boucle de refroidissement à azote liquide. La plaque de base circulaire, isolée sur sa face inférieure, a un diamètre de \SI{0.3}{m} et une émissivité de 0.25.&#10;&#10;\end{document}"/>
  <p:tag name="IGUANATEXSIZE" val="20"/>
  <p:tag name="IGUANATEXCURSOR" val="407"/>
  <p:tag name="TRANSPARENCY" val="Vrai"/>
  <p:tag name="FILENAME" val=""/>
  <p:tag name="LATEXENGINEID" val="0"/>
  <p:tag name="TEMPFOLDER" val="c:\temp\"/>
  <p:tag name="LATEXFORMHEIGHT" val="414"/>
  <p:tag name="LATEXFORMWIDTH" val="589.2"/>
  <p:tag name="LATEXFORMWRAP" val="Vrai"/>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OUTPUTDPI" val="1200"/>
  <p:tag name="ORIGINALHEIGHT" val="1439.82"/>
  <p:tag name="ORIGINALWIDTH" val="3088.114"/>
  <p:tag name="OUTPUTTYPE" val="PNG"/>
  <p:tag name="IGUANATEXVERSION" val="160"/>
  <p:tag name="LATEXADDIN" val="\documentclass{article}&#10;\usepackage{amsmath}&#10;\usepackage{amsfonts}&#10;\usepackage{amssymb}&#10;\usepackage[paperwidth=12cm]{geometry}&#10;\usepackage{siunitx}&#10;\pagestyle{empty}&#10;\begin{document}&#10;&#10;(a) Quelle puissance électrique doit être fournie au chauffage de la plaque de base ?\\&#10;&#10;(b) À quel débit l'azote liquide doit-il être fourni à l'écran si sa chaleur de vaporisation est de \SI{125}{kJ/kg} ?\\&#10;&#10;(c) Pour réduire la consommation d'azote liquide, il est proposé de coller une fine feuille de papier d'aluminium ($\varepsilon = 0{.}09$) sur la plaque de base. Cela aura-t-il l'effet désiré ?&#10;&#10;\end{document}"/>
  <p:tag name="IGUANATEXSIZE" val="20"/>
  <p:tag name="IGUANATEXCURSOR" val="527"/>
  <p:tag name="TRANSPARENCY" val="Vrai"/>
  <p:tag name="FILENAME" val=""/>
  <p:tag name="LATEXENGINEID" val="0"/>
  <p:tag name="TEMPFOLDER" val="c:\temp\"/>
  <p:tag name="LATEXFORMHEIGHT" val="320"/>
  <p:tag name="LATEXFORMWIDTH" val="385"/>
  <p:tag name="LATEXFORMWRAP" val="Vrai"/>
  <p:tag name="BITMAPVECTOR" val="0"/>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620.9224"/>
  <p:tag name="OUTPUTTYPE" val="PNG"/>
  <p:tag name="IGUANATEXVERSION" val="160"/>
  <p:tag name="LATEXADDIN" val="\documentclass{article}&#10;\usepackage{amsmath}&#10;\pagestyle{empty}&#10;\begin{document}&#10;&#10;vide parfait&#10;&#10;&#10;\end{document}"/>
  <p:tag name="IGUANATEXSIZE" val="20"/>
  <p:tag name="IGUANATEXCURSOR" val="93"/>
  <p:tag name="TRANSPARENCY" val="Vrai"/>
  <p:tag name="FILENAME" val=""/>
  <p:tag name="LATEXENGINEID" val="0"/>
  <p:tag name="TEMPFOLDER" val="c:\temp\"/>
  <p:tag name="LATEXFORMHEIGHT" val="320"/>
  <p:tag name="LATEXFORMWIDTH" val="385"/>
  <p:tag name="LATEXFORMWRAP" val="Vrai"/>
  <p:tag name="BITMAPVECTOR" val="0"/>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669.6663"/>
  <p:tag name="ORIGINALWIDTH" val="3250.844"/>
  <p:tag name="OUTPUTTYPE" val="PNG"/>
  <p:tag name="IGUANATEXVERSION" val="160"/>
  <p:tag name="LATEXADDIN" val="\documentclass{article}&#10;\usepackage{amsmath}&#10;\usepackage{amsfonts}&#10;\usepackage{amssymb}&#10;\usepackage[paperwidth=25cm]{geometry}&#10;\usepackage{siunitx}&#10;\pagestyle{empty}&#10;\begin{document}&#10;&#10;\subsection*{Données}&#10;&#10;Chaleur de vaporisation de l'azote liquide $h_{fg}$=\SI{125}{kJ/kg}.&#10;&#10;\noindent&#10;Température d'évaporation de l'azote $T=77$K.&#10;&#10;\noindent&#10;Capacité calorifique de l'azote gazeux : $c_p = 1.04$ kJ/(kg·K)&#10;\end{document}"/>
  <p:tag name="IGUANATEXSIZE" val="18"/>
  <p:tag name="IGUANATEXCURSOR" val="388"/>
  <p:tag name="TRANSPARENCY" val="Vrai"/>
  <p:tag name="FILENAME" val=""/>
  <p:tag name="LATEXENGINEID" val="0"/>
  <p:tag name="TEMPFOLDER" val="c:\temp\"/>
  <p:tag name="LATEXFORMHEIGHT" val="386.4"/>
  <p:tag name="LATEXFORMWIDTH" val="571.2"/>
  <p:tag name="LATEXFORMWRAP" val="Vrai"/>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1602.55"/>
  <p:tag name="ORIGINALWIDTH" val="4943.382"/>
  <p:tag name="OUTPUTTYPE" val="PNG"/>
  <p:tag name="IGUANATEXVERSION" val="160"/>
  <p:tag name="LATEXADDIN" val="\documentclass{article}&#10;\usepackage{amsmath}&#10;\usepackage{amsfonts}&#10;\usepackage{amssymb}&#10;\usepackage[paperwidth=20cm]{geometry}&#10;\usepackage{siunitx}&#10;\pagestyle{empty}&#10;\begin{document}&#10;&#10;(a) À partir d'un bilan énergétique sur la plaque de base,&#10;\begin{align}&#10;\dot{E}_{\text{in}} - \dot{E}_{\text{out}} &amp;= 0 &amp; q_{\text{élec}} - q_{\text{rad}} &amp;= 0&#10;\end{align}&#10;et en utilisant l'Éq. 1.7 pour l'échange radiatif entre la plaque de base et l'écran,&#10;\begin{equation}&#10;q_{\text{élec}} = \varepsilon_p A_p \sigma \left( T_p^4 - T_{\text{sh}}^4 \right).&#10;\end{equation}&#10;&#10;En substituant les valeurs numériques, avec $A_p = \left( \pi D_p^2 / 4 \right)$, trouve&#10;\begin{equation}&#10;q_{\text{élec}} = 0{.}25 \left( \pi (0.3 \text{ m})^2 / 4 \right) 5.67 \times 10^{-8} \text{ W/m}^2 \cdot \text{K}^4 \left( {\color{red} 300}^4 - {\color{red} 97}^4 \right) \text{K}^4 = {\color{red} } \text{8.027 W}.&#10;\end{equation}&#10;&#10;\end{document}"/>
  <p:tag name="IGUANATEXSIZE" val="18"/>
  <p:tag name="IGUANATEXCURSOR" val="872"/>
  <p:tag name="TRANSPARENCY" val="Vrai"/>
  <p:tag name="FILENAME" val=""/>
  <p:tag name="LATEXENGINEID" val="0"/>
  <p:tag name="TEMPFOLDER" val="c:\temp\"/>
  <p:tag name="LATEXFORMHEIGHT" val="320"/>
  <p:tag name="LATEXFORMWIDTH" val="578.4"/>
  <p:tag name="LATEXFORMWRAP" val="Vrai"/>
  <p:tag name="BITMAPVECTOR" val="0"/>
</p:tagLst>
</file>

<file path=ppt/tags/tag67.xml><?xml version="1.0" encoding="utf-8"?>
<p:tagLst xmlns:a="http://schemas.openxmlformats.org/drawingml/2006/main" xmlns:r="http://schemas.openxmlformats.org/officeDocument/2006/relationships" xmlns:p="http://schemas.openxmlformats.org/presentationml/2006/main">
  <p:tag name="OUTPUTDPI" val="1200"/>
  <p:tag name="ORIGINALHEIGHT" val="3333.333"/>
  <p:tag name="ORIGINALWIDTH" val="6192.726"/>
  <p:tag name="OUTPUTTYPE" val="PNG"/>
  <p:tag name="IGUANATEXVERSION" val="160"/>
  <p:tag name="LATEXADDIN" val="\documentclass{article}&#10;\usepackage{amsmath}&#10;\usepackage{amsfonts}&#10;\usepackage{amssymb}&#10;\usepackage[paperwidth=25cm]{geometry}&#10;\usepackage{siunitx}&#10;\pagestyle{empty}&#10;\begin{document}&#10;&#10;\noindent&#10;Point important : l'azote bout à 77 K, mais l'écran est maintenu à 97 K. Il faut donc tenir compte de &#10;l'évaporation de l'azote liquide à 77 K, de réchauffement du gaz d'azote de 77 K à 97 K&#10;\vspace{-0.5cm}&#10;\subsection* {Chaleur totale nécessaire par kg d'azote :}&#10;&#10;\noindent&#10;Réchauffement du gaz : $c_p \; \Delta T = 1.04 \;  (97 - 77) = 20.8$ kJ/kg \\&#10;\noindent&#10;Chaleur totale par kg : $h_{\text{total}} = 125 + 20.8 = 145.8$ kJ/kg \\\\&#10;&#10;(b) À partir d'un bilan énergétique sur l'enceinte, le transfert radiatif chauffe le flux d'azote liquide causant l'évaporation,&#10;\begin{align}&#10;\dot{E}_{\text{in}} - \dot{E}_{\text{out}} &amp;= 0 &amp; q_{\text{rad}} - \dot{m}_{\text{LN}_2} h_{\text{total}} &amp;= 0&#10;\end{align}&#10;où $\dot{m}_{\text{LN}_2}$ est le débit de consommation d'azote liquide. D'où,&#10;\begin{equation}&#10;\dot{m}_{\text{LN}_2} = q_{\text{rad}} / h_{\text{total}} = {\color{red} 8.027} \text{ W} / {\color{red} 145.8} \text{ kJ} / \text{kg} = 5.50 \;10^{-5} \text{ kg} / \text{s} = 0.198 \text{ kg} / \text{h}.&#10;\end{equation}&#10;&#10;(c) Si une feuille d'aluminium ($\varepsilon_p = 0.09$) était collée à la surface supérieure de la plaque de base,&#10;\begin{equation}&#10;q_{\text{rad,feuille}} = q_{\text{rad}} \left( \varepsilon_f / \varepsilon_p \right) = 0.198 \text{ W} (0.09/0.25) = 0.0713\text{ W}&#10;\end{equation}&#10;et le débit de consommation d'azote liquide serait réduit de&#10;\begin{equation}&#10;(0.25 - 0.09)/0.25 = 64\% \text{ à } 0.083 \text{ kg/h}.&#10;\end{equation}&#10;&#10;\end{document}"/>
  <p:tag name="IGUANATEXSIZE" val="18"/>
  <p:tag name="IGUANATEXCURSOR" val="397"/>
  <p:tag name="TRANSPARENCY" val="Vrai"/>
  <p:tag name="FILENAME" val=""/>
  <p:tag name="LATEXENGINEID" val="0"/>
  <p:tag name="TEMPFOLDER" val="c:\temp\"/>
  <p:tag name="LATEXFORMHEIGHT" val="415.8"/>
  <p:tag name="LATEXFORMWIDTH" val="673.8"/>
  <p:tag name="LATEXFORMWRAP" val="Vrai"/>
  <p:tag name="BITMAPVECTOR" val="0"/>
</p:tagLst>
</file>

<file path=ppt/tags/tag68.xml><?xml version="1.0" encoding="utf-8"?>
<p:tagLst xmlns:a="http://schemas.openxmlformats.org/drawingml/2006/main" xmlns:r="http://schemas.openxmlformats.org/officeDocument/2006/relationships" xmlns:p="http://schemas.openxmlformats.org/presentationml/2006/main">
  <p:tag name="OUTPUTDPI" val="1200"/>
  <p:tag name="ORIGINALHEIGHT" val="122.9846"/>
  <p:tag name="ORIGINALWIDTH" val="2517.435"/>
  <p:tag name="OUTPUTTYPE" val="PNG"/>
  <p:tag name="IGUANATEXVERSION" val="160"/>
  <p:tag name="LATEXADDIN" val="\documentclass{article}&#10;\usepackage{amsmath}&#10;\pagestyle{empty}&#10;\begin{document}&#10;&#10;&#10;$$\dot{m}_{LN_2}\; h_{in} -\dot{m}_{LN_2}\; h_{out} &#10;-\dot{m}_{LN_2}\;h_{fg}+q_{rad} =0$$&#10;&#10;&#10;\end{document}"/>
  <p:tag name="IGUANATEXSIZE" val="20"/>
  <p:tag name="IGUANATEXCURSOR" val="150"/>
  <p:tag name="TRANSPARENCY" val="Vrai"/>
  <p:tag name="FILENAME" val=""/>
  <p:tag name="LATEXENGINEID" val="0"/>
  <p:tag name="TEMPFOLDER" val="c:\temp\"/>
  <p:tag name="LATEXFORMHEIGHT" val="320"/>
  <p:tag name="LATEXFORMWIDTH" val="385"/>
  <p:tag name="LATEXFORMWRAP" val="Vrai"/>
  <p:tag name="BITMAPVECTOR" val="0"/>
</p:tagLst>
</file>

<file path=ppt/tags/tag69.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3940.758"/>
  <p:tag name="OUTPUTTYPE" val="PNG"/>
  <p:tag name="IGUANATEXVERSION" val="160"/>
  <p:tag name="LATEXADDIN" val="\documentclass{article}&#10;\usepackage{amsmath}&#10;\usepackage{cancel}&#10;\pagestyle{empty}&#10;\begin{document}&#10;&#10;&#10;$$\dot{m}_{LN_2}\; c_{p,LN_2}\; \cancel{(T_{in}-T_{evap})}&#10; -\dot{m}_{LN_2}\; (T_{out}-T_{evap}) &#10;-\dot{m}_{LN_2}\;h_{f\!g}+q_{rad} =0$$&#10;&#10;&#10;\end{document}"/>
  <p:tag name="IGUANATEXSIZE" val="20"/>
  <p:tag name="IGUANATEXCURSOR" val="223"/>
  <p:tag name="TRANSPARENCY" val="Vrai"/>
  <p:tag name="FILENAME" val=""/>
  <p:tag name="LATEXENGINEID" val="0"/>
  <p:tag name="TEMPFOLDER" val="c:\temp\"/>
  <p:tag name="LATEXFORMHEIGHT" val="320"/>
  <p:tag name="LATEXFORMWIDTH" val="385"/>
  <p:tag name="LATEXFORMWRAP" val="Vrai"/>
  <p:tag name="BITMAPVECTOR"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2759</TotalTime>
  <Words>464</Words>
  <Application>Microsoft Office PowerPoint</Application>
  <PresentationFormat>Grand écran</PresentationFormat>
  <Paragraphs>239</Paragraphs>
  <Slides>33</Slides>
  <Notes>0</Notes>
  <HiddenSlides>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33</vt:i4>
      </vt:variant>
    </vt:vector>
  </HeadingPairs>
  <TitlesOfParts>
    <vt:vector size="39" baseType="lpstr">
      <vt:lpstr>Arial</vt:lpstr>
      <vt:lpstr>Calibri</vt:lpstr>
      <vt:lpstr>Calibri Light</vt:lpstr>
      <vt:lpstr>Consolas</vt:lpstr>
      <vt:lpstr>Euclid</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toussaij</dc:creator>
  <cp:lastModifiedBy>toussaij</cp:lastModifiedBy>
  <cp:revision>330</cp:revision>
  <dcterms:created xsi:type="dcterms:W3CDTF">2025-06-16T06:26:42Z</dcterms:created>
  <dcterms:modified xsi:type="dcterms:W3CDTF">2025-09-15T13:34:29Z</dcterms:modified>
</cp:coreProperties>
</file>