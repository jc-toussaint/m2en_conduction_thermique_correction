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76" r:id="rId2"/>
    <p:sldId id="277" r:id="rId3"/>
    <p:sldId id="278" r:id="rId4"/>
    <p:sldId id="279" r:id="rId5"/>
    <p:sldId id="280" r:id="rId6"/>
    <p:sldId id="281" r:id="rId7"/>
    <p:sldId id="282" r:id="rId8"/>
    <p:sldId id="283" r:id="rId9"/>
    <p:sldId id="334" r:id="rId10"/>
    <p:sldId id="284" r:id="rId11"/>
    <p:sldId id="299" r:id="rId12"/>
    <p:sldId id="300" r:id="rId13"/>
    <p:sldId id="285" r:id="rId14"/>
    <p:sldId id="286" r:id="rId15"/>
    <p:sldId id="301" r:id="rId16"/>
    <p:sldId id="302" r:id="rId17"/>
    <p:sldId id="303" r:id="rId18"/>
    <p:sldId id="304" r:id="rId19"/>
    <p:sldId id="305" r:id="rId20"/>
    <p:sldId id="306" r:id="rId21"/>
    <p:sldId id="308" r:id="rId22"/>
    <p:sldId id="310" r:id="rId23"/>
    <p:sldId id="311"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D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4" d="100"/>
          <a:sy n="84" d="100"/>
        </p:scale>
        <p:origin x="13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9622B-E5E1-4644-8BE4-C757365CC5D3}" type="datetimeFigureOut">
              <a:rPr lang="fr-FR" smtClean="0"/>
              <a:t>15/09/2025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E8EF13-3707-4058-A5FA-D483A374818E}" type="slidenum">
              <a:rPr lang="fr-FR" smtClean="0"/>
              <a:t>‹N°›</a:t>
            </a:fld>
            <a:endParaRPr lang="fr-FR"/>
          </a:p>
        </p:txBody>
      </p:sp>
    </p:spTree>
    <p:extLst>
      <p:ext uri="{BB962C8B-B14F-4D97-AF65-F5344CB8AC3E}">
        <p14:creationId xmlns:p14="http://schemas.microsoft.com/office/powerpoint/2010/main" val="1944590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841D8F1B-3591-4418-A39C-4857A9F2BF44}"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7801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384DEF1-2EDD-46F2-B5AD-A86112AC468F}"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450851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2334BAAC-D9C2-4D9C-B70A-F9F0822265ED}"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591595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83B72022-CE44-44A1-9E30-A4E686EA9864}" type="datetime1">
              <a:rPr lang="fr-FR" smtClean="0"/>
              <a:t>15/09/2025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3220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1010B30F-5B97-43C1-8F00-AE84FC014CD5}" type="datetime1">
              <a:rPr lang="fr-FR" smtClean="0"/>
              <a:t>15/09/2025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199590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E895ED8F-71E2-4E2D-AA85-5C4A8F3307BC}" type="datetime1">
              <a:rPr lang="fr-FR" smtClean="0"/>
              <a:t>15/09/2025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353705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5951416-3588-4064-A753-1ECD2BACD7E0}" type="datetime1">
              <a:rPr lang="fr-FR" smtClean="0"/>
              <a:t>15/09/2025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548793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2A504E5C-B969-4931-8727-F94313788BAD}" type="datetime1">
              <a:rPr lang="fr-FR" smtClean="0"/>
              <a:t>15/09/2025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76448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7438FAA3-034C-4711-BE84-348C17EA3224}" type="datetime1">
              <a:rPr lang="fr-FR" smtClean="0"/>
              <a:t>15/09/2025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28986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5F07CA26-ED7C-4F79-B585-F49AF25209A2}"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2407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68B35A9-904E-4399-B472-B5CE8602040E}" type="datetime1">
              <a:rPr lang="fr-FR" smtClean="0"/>
              <a:t>15/09/2025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9210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4FB71C-E1E2-4EB2-AACD-617C01001CEB}" type="datetime1">
              <a:rPr lang="fr-FR" smtClean="0"/>
              <a:t>15/09/2025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13DDC6-9977-4A69-882A-1641CFA73689}" type="slidenum">
              <a:rPr lang="fr-FR" smtClean="0"/>
              <a:t>‹N°›</a:t>
            </a:fld>
            <a:endParaRPr lang="fr-FR"/>
          </a:p>
        </p:txBody>
      </p:sp>
    </p:spTree>
    <p:extLst>
      <p:ext uri="{BB962C8B-B14F-4D97-AF65-F5344CB8AC3E}">
        <p14:creationId xmlns:p14="http://schemas.microsoft.com/office/powerpoint/2010/main" val="3298298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png"/><Relationship Id="rId11" Type="http://schemas.openxmlformats.org/officeDocument/2006/relationships/image" Target="../media/image6.png"/><Relationship Id="rId5" Type="http://schemas.openxmlformats.org/officeDocument/2006/relationships/slideLayout" Target="../slideLayouts/slideLayout1.xml"/><Relationship Id="rId10" Type="http://schemas.openxmlformats.org/officeDocument/2006/relationships/image" Target="../media/image5.png"/><Relationship Id="rId4" Type="http://schemas.openxmlformats.org/officeDocument/2006/relationships/tags" Target="../tags/tag4.xml"/><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2.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tags" Target="../tags/tag10.xml"/><Relationship Id="rId16" Type="http://schemas.openxmlformats.org/officeDocument/2006/relationships/image" Target="../media/image19.png"/><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image" Target="../media/image14.png"/><Relationship Id="rId5" Type="http://schemas.openxmlformats.org/officeDocument/2006/relationships/tags" Target="../tags/tag13.xml"/><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tags" Target="../tags/tag12.xml"/><Relationship Id="rId9" Type="http://schemas.openxmlformats.org/officeDocument/2006/relationships/slideLayout" Target="../slideLayouts/slideLayout1.xml"/><Relationship Id="rId1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7.xml"/><Relationship Id="rId1" Type="http://schemas.openxmlformats.org/officeDocument/2006/relationships/tags" Target="../tags/tag17.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22.xml"/><Relationship Id="rId7" Type="http://schemas.openxmlformats.org/officeDocument/2006/relationships/image" Target="../media/image28.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slideLayout" Target="../slideLayouts/slideLayout2.xml"/><Relationship Id="rId10" Type="http://schemas.openxmlformats.org/officeDocument/2006/relationships/image" Target="../media/image31.png"/><Relationship Id="rId4" Type="http://schemas.openxmlformats.org/officeDocument/2006/relationships/tags" Target="../tags/tag23.xml"/><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image" Target="../media/image35.png"/><Relationship Id="rId18" Type="http://schemas.openxmlformats.org/officeDocument/2006/relationships/image" Target="../media/image32.png"/><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image" Target="../media/image34.png"/><Relationship Id="rId17" Type="http://schemas.openxmlformats.org/officeDocument/2006/relationships/image" Target="../media/image31.png"/><Relationship Id="rId2" Type="http://schemas.openxmlformats.org/officeDocument/2006/relationships/tags" Target="../tags/tag25.xml"/><Relationship Id="rId16" Type="http://schemas.openxmlformats.org/officeDocument/2006/relationships/image" Target="../media/image30.png"/><Relationship Id="rId20" Type="http://schemas.openxmlformats.org/officeDocument/2006/relationships/image" Target="../media/image38.png"/><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33.png"/><Relationship Id="rId5" Type="http://schemas.openxmlformats.org/officeDocument/2006/relationships/tags" Target="../tags/tag28.xml"/><Relationship Id="rId15" Type="http://schemas.openxmlformats.org/officeDocument/2006/relationships/image" Target="../media/image29.png"/><Relationship Id="rId10" Type="http://schemas.openxmlformats.org/officeDocument/2006/relationships/slideLayout" Target="../slideLayouts/slideLayout1.xml"/><Relationship Id="rId19" Type="http://schemas.openxmlformats.org/officeDocument/2006/relationships/image" Target="../media/image37.png"/><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image" Target="../media/image36.png"/></Relationships>
</file>

<file path=ppt/slides/_rels/slide1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tags" Target="../tags/tag35.xml"/><Relationship Id="rId7" Type="http://schemas.openxmlformats.org/officeDocument/2006/relationships/image" Target="../media/image39.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29.png"/><Relationship Id="rId5" Type="http://schemas.openxmlformats.org/officeDocument/2006/relationships/image" Target="../media/image26.pn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42.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image" Target="../media/image45.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47.png"/><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1.xml"/><Relationship Id="rId1" Type="http://schemas.openxmlformats.org/officeDocument/2006/relationships/tags" Target="../tags/tag4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53.png"/><Relationship Id="rId4" Type="http://schemas.openxmlformats.org/officeDocument/2006/relationships/image" Target="../media/image52.png"/></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2.xml"/><Relationship Id="rId1" Type="http://schemas.openxmlformats.org/officeDocument/2006/relationships/tags" Target="../tags/tag46.xml"/><Relationship Id="rId5" Type="http://schemas.openxmlformats.org/officeDocument/2006/relationships/image" Target="../media/image49.png"/><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7.xml"/><Relationship Id="rId1" Type="http://schemas.openxmlformats.org/officeDocument/2006/relationships/tags" Target="../tags/tag47.xml"/><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7.xml"/><Relationship Id="rId1" Type="http://schemas.openxmlformats.org/officeDocument/2006/relationships/tags" Target="../tags/tag4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tags" Target="../tags/tag53.xml"/><Relationship Id="rId7" Type="http://schemas.openxmlformats.org/officeDocument/2006/relationships/image" Target="../media/image63.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3.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tags" Target="../tags/tag58.xml"/><Relationship Id="rId7" Type="http://schemas.openxmlformats.org/officeDocument/2006/relationships/image" Target="../media/image70.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429370" y="350760"/>
            <a:ext cx="1954318" cy="954107"/>
          </a:xfrm>
          <a:prstGeom prst="rect">
            <a:avLst/>
          </a:prstGeom>
          <a:noFill/>
        </p:spPr>
        <p:txBody>
          <a:bodyPr wrap="none" rtlCol="0">
            <a:spAutoFit/>
          </a:bodyPr>
          <a:lstStyle/>
          <a:p>
            <a:r>
              <a:rPr lang="fr-FR" sz="2800" dirty="0" err="1" smtClean="0"/>
              <a:t>Incropera</a:t>
            </a:r>
            <a:endParaRPr lang="fr-FR" sz="2800" dirty="0" smtClean="0"/>
          </a:p>
          <a:p>
            <a:r>
              <a:rPr lang="fr-FR" sz="2800" dirty="0" err="1" smtClean="0"/>
              <a:t>Example</a:t>
            </a:r>
            <a:r>
              <a:rPr lang="fr-FR" sz="2800" dirty="0" smtClean="0"/>
              <a:t> 3.1</a:t>
            </a:r>
            <a:endParaRPr lang="fr-FR" sz="2800" dirty="0"/>
          </a:p>
        </p:txBody>
      </p:sp>
      <p:pic>
        <p:nvPicPr>
          <p:cNvPr id="15" name="Image 14"/>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5042819" y="6012813"/>
            <a:ext cx="6185139" cy="589714"/>
          </a:xfrm>
          <a:prstGeom prst="rect">
            <a:avLst/>
          </a:prstGeom>
        </p:spPr>
      </p:pic>
      <p:pic>
        <p:nvPicPr>
          <p:cNvPr id="9" name="Image 8"/>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568580" y="350759"/>
            <a:ext cx="8737525" cy="3260954"/>
          </a:xfrm>
          <a:prstGeom prst="rect">
            <a:avLst/>
          </a:prstGeom>
        </p:spPr>
      </p:pic>
      <p:pic>
        <p:nvPicPr>
          <p:cNvPr id="3" name="Image 2"/>
          <p:cNvPicPr>
            <a:picLocks noChangeAspect="1"/>
          </p:cNvPicPr>
          <p:nvPr/>
        </p:nvPicPr>
        <p:blipFill>
          <a:blip r:embed="rId8"/>
          <a:stretch>
            <a:fillRect/>
          </a:stretch>
        </p:blipFill>
        <p:spPr>
          <a:xfrm>
            <a:off x="606071" y="3882689"/>
            <a:ext cx="4968671" cy="2141406"/>
          </a:xfrm>
          <a:prstGeom prst="rect">
            <a:avLst/>
          </a:prstGeom>
        </p:spPr>
      </p:pic>
      <p:grpSp>
        <p:nvGrpSpPr>
          <p:cNvPr id="11" name="Groupe 10"/>
          <p:cNvGrpSpPr/>
          <p:nvPr/>
        </p:nvGrpSpPr>
        <p:grpSpPr>
          <a:xfrm>
            <a:off x="5802478" y="3576583"/>
            <a:ext cx="5266191" cy="2116551"/>
            <a:chOff x="4431074" y="3576583"/>
            <a:chExt cx="6637595" cy="2606266"/>
          </a:xfrm>
        </p:grpSpPr>
        <p:pic>
          <p:nvPicPr>
            <p:cNvPr id="4" name="Image 3"/>
            <p:cNvPicPr>
              <a:picLocks noChangeAspect="1"/>
            </p:cNvPicPr>
            <p:nvPr/>
          </p:nvPicPr>
          <p:blipFill>
            <a:blip r:embed="rId9"/>
            <a:stretch>
              <a:fillRect/>
            </a:stretch>
          </p:blipFill>
          <p:spPr>
            <a:xfrm>
              <a:off x="4431074" y="3576583"/>
              <a:ext cx="6637595" cy="2606266"/>
            </a:xfrm>
            <a:prstGeom prst="rect">
              <a:avLst/>
            </a:prstGeom>
          </p:spPr>
        </p:pic>
        <p:sp>
          <p:nvSpPr>
            <p:cNvPr id="10" name="ZoneTexte 9"/>
            <p:cNvSpPr txBox="1"/>
            <p:nvPr/>
          </p:nvSpPr>
          <p:spPr>
            <a:xfrm>
              <a:off x="8394618" y="4695050"/>
              <a:ext cx="296876" cy="369332"/>
            </a:xfrm>
            <a:prstGeom prst="rect">
              <a:avLst/>
            </a:prstGeom>
            <a:noFill/>
          </p:spPr>
          <p:txBody>
            <a:bodyPr wrap="none" rtlCol="0">
              <a:spAutoFit/>
            </a:bodyPr>
            <a:lstStyle/>
            <a:p>
              <a:r>
                <a:rPr lang="fr-FR" dirty="0" smtClean="0"/>
                <a:t>T</a:t>
              </a:r>
              <a:endParaRPr lang="fr-FR" dirty="0"/>
            </a:p>
          </p:txBody>
        </p:sp>
      </p:grpSp>
      <p:sp>
        <p:nvSpPr>
          <p:cNvPr id="2" name="Espace réservé du numéro de diapositive 1"/>
          <p:cNvSpPr>
            <a:spLocks noGrp="1"/>
          </p:cNvSpPr>
          <p:nvPr>
            <p:ph type="sldNum" sz="quarter" idx="12"/>
          </p:nvPr>
        </p:nvSpPr>
        <p:spPr/>
        <p:txBody>
          <a:bodyPr/>
          <a:lstStyle/>
          <a:p>
            <a:fld id="{CB13DDC6-9977-4A69-882A-1641CFA73689}" type="slidenum">
              <a:rPr lang="fr-FR" smtClean="0"/>
              <a:t>1</a:t>
            </a:fld>
            <a:endParaRPr lang="fr-FR"/>
          </a:p>
        </p:txBody>
      </p:sp>
      <p:pic>
        <p:nvPicPr>
          <p:cNvPr id="5" name="Image 4" descr="\documentclass{article}&#10;\usepackage{amsmath}&#10;\pagestyle{empty}&#10;\begin{document}&#10;&#10;$$T$$&#10;&#10;&#10;\end{document}" title="IguanaTex Bitmap Display"/>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3303929" y="3813239"/>
            <a:ext cx="173714" cy="170667"/>
          </a:xfrm>
          <a:prstGeom prst="rect">
            <a:avLst/>
          </a:prstGeom>
        </p:spPr>
      </p:pic>
      <p:pic>
        <p:nvPicPr>
          <p:cNvPr id="6" name="Image 5" descr="\documentclass{article}&#10;\usepackage{amsmath}&#10;\pagestyle{empty}&#10;\begin{document}&#10;&#10;$$T_s$$&#10;&#10;&#10;\end{document}" title="IguanaTex Bitmap Display"/>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2662337" y="3812271"/>
            <a:ext cx="227047" cy="210286"/>
          </a:xfrm>
          <a:prstGeom prst="rect">
            <a:avLst/>
          </a:prstGeom>
        </p:spPr>
      </p:pic>
    </p:spTree>
    <p:extLst>
      <p:ext uri="{BB962C8B-B14F-4D97-AF65-F5344CB8AC3E}">
        <p14:creationId xmlns:p14="http://schemas.microsoft.com/office/powerpoint/2010/main" val="28137286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62607" y="922796"/>
            <a:ext cx="8713138" cy="2243044"/>
          </a:xfrm>
          <a:prstGeom prst="rect">
            <a:avLst/>
          </a:prstGeom>
        </p:spPr>
      </p:pic>
      <p:pic>
        <p:nvPicPr>
          <p:cNvPr id="9" name="Image 8"/>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862611" y="3764470"/>
            <a:ext cx="8711626" cy="2518856"/>
          </a:xfrm>
          <a:prstGeom prst="rect">
            <a:avLst/>
          </a:prstGeom>
        </p:spPr>
      </p:pic>
      <p:sp>
        <p:nvSpPr>
          <p:cNvPr id="3" name="Espace réservé du numéro de diapositive 2"/>
          <p:cNvSpPr>
            <a:spLocks noGrp="1"/>
          </p:cNvSpPr>
          <p:nvPr>
            <p:ph type="sldNum" sz="quarter" idx="12"/>
          </p:nvPr>
        </p:nvSpPr>
        <p:spPr/>
        <p:txBody>
          <a:bodyPr/>
          <a:lstStyle/>
          <a:p>
            <a:fld id="{CB13DDC6-9977-4A69-882A-1641CFA73689}" type="slidenum">
              <a:rPr lang="fr-FR" smtClean="0"/>
              <a:t>2</a:t>
            </a:fld>
            <a:endParaRPr lang="fr-FR"/>
          </a:p>
        </p:txBody>
      </p:sp>
      <p:sp>
        <p:nvSpPr>
          <p:cNvPr id="5" name="ZoneTexte 4"/>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15415440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ZoneTexte 14"/>
          <p:cNvSpPr txBox="1"/>
          <p:nvPr/>
        </p:nvSpPr>
        <p:spPr>
          <a:xfrm>
            <a:off x="480235" y="231274"/>
            <a:ext cx="5650906" cy="5693866"/>
          </a:xfrm>
          <a:prstGeom prst="rect">
            <a:avLst/>
          </a:prstGeom>
          <a:noFill/>
        </p:spPr>
        <p:txBody>
          <a:bodyPr wrap="none" rtlCol="0">
            <a:spAutoFit/>
          </a:bodyPr>
          <a:lstStyle/>
          <a:p>
            <a:r>
              <a:rPr lang="fr-FR" sz="1400" dirty="0">
                <a:solidFill>
                  <a:srgbClr val="AF00DB"/>
                </a:solidFill>
                <a:latin typeface="Consolas" panose="020B0609020204030204" pitchFamily="49" charset="0"/>
              </a:rPr>
              <a:t>import</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matplotlib</a:t>
            </a:r>
            <a:r>
              <a:rPr lang="fr-FR" sz="1400" dirty="0" err="1">
                <a:solidFill>
                  <a:srgbClr val="000000"/>
                </a:solidFill>
                <a:latin typeface="Consolas" panose="020B0609020204030204" pitchFamily="49" charset="0"/>
              </a:rPr>
              <a:t>.</a:t>
            </a:r>
            <a:r>
              <a:rPr lang="fr-FR" sz="1400" dirty="0" err="1">
                <a:solidFill>
                  <a:srgbClr val="267F99"/>
                </a:solidFill>
                <a:latin typeface="Consolas" panose="020B0609020204030204" pitchFamily="49" charset="0"/>
              </a:rPr>
              <a:t>pyplot</a:t>
            </a:r>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as</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plt</a:t>
            </a:r>
            <a:endParaRPr lang="fr-FR" sz="1400" dirty="0">
              <a:solidFill>
                <a:srgbClr val="000000"/>
              </a:solidFill>
              <a:latin typeface="Consolas" panose="020B0609020204030204" pitchFamily="49" charset="0"/>
            </a:endParaRPr>
          </a:p>
          <a:p>
            <a:r>
              <a:rPr lang="fr-FR" sz="1400" dirty="0">
                <a:solidFill>
                  <a:srgbClr val="AF00DB"/>
                </a:solidFill>
                <a:latin typeface="Consolas" panose="020B0609020204030204" pitchFamily="49" charset="0"/>
              </a:rPr>
              <a:t>import</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numpy</a:t>
            </a:r>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as</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np</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1080"/>
                </a:solidFill>
                <a:latin typeface="Consolas" panose="020B0609020204030204" pitchFamily="49" charset="0"/>
              </a:rPr>
              <a:t>epsilon</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0.95</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sigma</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5.67e-8</a:t>
            </a:r>
            <a:endParaRPr lang="fr-FR" sz="1400" dirty="0">
              <a:solidFill>
                <a:srgbClr val="000000"/>
              </a:solidFill>
              <a:latin typeface="Consolas" panose="020B0609020204030204" pitchFamily="49" charset="0"/>
            </a:endParaRPr>
          </a:p>
          <a:p>
            <a:r>
              <a:rPr lang="fr-FR" sz="1400" dirty="0" err="1">
                <a:solidFill>
                  <a:srgbClr val="001080"/>
                </a:solidFill>
                <a:latin typeface="Consolas" panose="020B0609020204030204" pitchFamily="49" charset="0"/>
              </a:rPr>
              <a:t>Tinf</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283</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283</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q</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100</a:t>
            </a:r>
            <a:r>
              <a:rPr lang="fr-FR" sz="1400" dirty="0">
                <a:solidFill>
                  <a:srgbClr val="000000"/>
                </a:solidFill>
                <a:latin typeface="Consolas" panose="020B0609020204030204" pitchFamily="49" charset="0"/>
              </a:rPr>
              <a:t> </a:t>
            </a:r>
          </a:p>
          <a:p>
            <a:r>
              <a:rPr lang="fr-FR" sz="1400" dirty="0">
                <a:solidFill>
                  <a:srgbClr val="0070C1"/>
                </a:solidFill>
                <a:latin typeface="Consolas" panose="020B0609020204030204" pitchFamily="49" charset="0"/>
              </a:rPr>
              <a:t>A</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1.8</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err="1">
                <a:solidFill>
                  <a:srgbClr val="0000FF"/>
                </a:solidFill>
                <a:latin typeface="Consolas" panose="020B0609020204030204" pitchFamily="49" charset="0"/>
              </a:rPr>
              <a:t>def</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hr</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return</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epsilon</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sigma</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a:t>
            </a:r>
            <a:r>
              <a:rPr lang="fr-FR" sz="1400" dirty="0" err="1">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2</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2</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err="1">
                <a:solidFill>
                  <a:srgbClr val="0000FF"/>
                </a:solidFill>
                <a:latin typeface="Consolas" panose="020B0609020204030204" pitchFamily="49" charset="0"/>
              </a:rPr>
              <a:t>def</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solve</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hvec</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Tvec</a:t>
            </a:r>
            <a:r>
              <a:rPr lang="fr-FR" sz="1400" dirty="0">
                <a:solidFill>
                  <a:srgbClr val="000000"/>
                </a:solidFill>
                <a:latin typeface="Consolas" panose="020B0609020204030204" pitchFamily="49" charset="0"/>
              </a:rPr>
              <a:t> =[] </a:t>
            </a:r>
          </a:p>
          <a:p>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for</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h</a:t>
            </a:r>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in</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hvec</a:t>
            </a:r>
            <a:r>
              <a:rPr lang="fr-FR" sz="1400" dirty="0">
                <a:solidFill>
                  <a:srgbClr val="000000"/>
                </a:solidFill>
                <a:latin typeface="Consolas" panose="020B0609020204030204" pitchFamily="49" charset="0"/>
              </a:rPr>
              <a:t>:    </a:t>
            </a:r>
          </a:p>
          <a:p>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a:t>
            </a:r>
            <a:r>
              <a:rPr lang="fr-FR" sz="1400" dirty="0" err="1">
                <a:solidFill>
                  <a:srgbClr val="008000"/>
                </a:solidFill>
                <a:latin typeface="Consolas" panose="020B0609020204030204" pitchFamily="49" charset="0"/>
              </a:rPr>
              <a:t>guess</a:t>
            </a:r>
            <a:r>
              <a:rPr lang="fr-FR" sz="1400" dirty="0">
                <a:solidFill>
                  <a:srgbClr val="008000"/>
                </a:solidFill>
                <a:latin typeface="Consolas" panose="020B0609020204030204" pitchFamily="49" charset="0"/>
              </a:rPr>
              <a:t> value for T   </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a:solidFill>
                  <a:srgbClr val="0070C1"/>
                </a:solidFill>
                <a:latin typeface="Consolas" panose="020B0609020204030204" pitchFamily="49" charset="0"/>
              </a:rPr>
              <a:t>T</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Tinf</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a:solidFill>
                  <a:srgbClr val="008000"/>
                </a:solidFill>
                <a:latin typeface="Consolas" panose="020B0609020204030204" pitchFamily="49" charset="0"/>
              </a:rPr>
              <a:t># boucle de convergence (point fixe) </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for</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n</a:t>
            </a:r>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in</a:t>
            </a:r>
            <a:r>
              <a:rPr lang="fr-FR" sz="1400" dirty="0">
                <a:solidFill>
                  <a:srgbClr val="000000"/>
                </a:solidFill>
                <a:latin typeface="Consolas" panose="020B0609020204030204" pitchFamily="49" charset="0"/>
              </a:rPr>
              <a:t> </a:t>
            </a:r>
            <a:r>
              <a:rPr lang="fr-FR" sz="1400" dirty="0">
                <a:solidFill>
                  <a:srgbClr val="267F99"/>
                </a:solidFill>
                <a:latin typeface="Consolas" panose="020B0609020204030204" pitchFamily="49" charset="0"/>
              </a:rPr>
              <a:t>range</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10</a:t>
            </a:r>
            <a:r>
              <a:rPr lang="fr-FR" sz="1400" dirty="0">
                <a:solidFill>
                  <a:srgbClr val="000000"/>
                </a:solidFill>
                <a:latin typeface="Consolas" panose="020B0609020204030204" pitchFamily="49" charset="0"/>
              </a:rPr>
              <a:t>):    </a:t>
            </a:r>
          </a:p>
          <a:p>
            <a:r>
              <a:rPr lang="fr-FR" sz="1400" dirty="0">
                <a:solidFill>
                  <a:srgbClr val="000000"/>
                </a:solidFill>
                <a:latin typeface="Consolas" panose="020B0609020204030204" pitchFamily="49" charset="0"/>
              </a:rPr>
              <a:t>            </a:t>
            </a:r>
            <a:r>
              <a:rPr lang="fr-FR" sz="1400" dirty="0">
                <a:solidFill>
                  <a:srgbClr val="0070C1"/>
                </a:solidFill>
                <a:latin typeface="Consolas" panose="020B0609020204030204" pitchFamily="49" charset="0"/>
              </a:rPr>
              <a:t>T</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q</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A</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h</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Tinf</a:t>
            </a:r>
            <a:r>
              <a:rPr lang="fr-FR" sz="1400" dirty="0">
                <a:solidFill>
                  <a:srgbClr val="000000"/>
                </a:solidFill>
                <a:latin typeface="Consolas" panose="020B0609020204030204" pitchFamily="49" charset="0"/>
              </a:rPr>
              <a:t> + </a:t>
            </a:r>
            <a:r>
              <a:rPr lang="fr-FR" sz="1400" dirty="0" err="1">
                <a:solidFill>
                  <a:srgbClr val="795E26"/>
                </a:solidFill>
                <a:latin typeface="Consolas" panose="020B0609020204030204" pitchFamily="49" charset="0"/>
              </a:rPr>
              <a:t>hr</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T</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h</a:t>
            </a:r>
            <a:r>
              <a:rPr lang="fr-FR" sz="1400" dirty="0">
                <a:solidFill>
                  <a:srgbClr val="000000"/>
                </a:solidFill>
                <a:latin typeface="Consolas" panose="020B0609020204030204" pitchFamily="49" charset="0"/>
              </a:rPr>
              <a:t> + </a:t>
            </a:r>
            <a:r>
              <a:rPr lang="fr-FR" sz="1400" dirty="0" err="1">
                <a:solidFill>
                  <a:srgbClr val="795E26"/>
                </a:solidFill>
                <a:latin typeface="Consolas" panose="020B0609020204030204" pitchFamily="49" charset="0"/>
              </a:rPr>
              <a:t>hr</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T</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Tvec</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append</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T</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return</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np</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array</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Tvec</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err="1">
                <a:solidFill>
                  <a:srgbClr val="001080"/>
                </a:solidFill>
                <a:latin typeface="Consolas" panose="020B0609020204030204" pitchFamily="49" charset="0"/>
              </a:rPr>
              <a:t>hvec</a:t>
            </a:r>
            <a:r>
              <a:rPr lang="fr-FR" sz="1400" dirty="0">
                <a:solidFill>
                  <a:srgbClr val="000000"/>
                </a:solidFill>
                <a:latin typeface="Consolas" panose="020B0609020204030204" pitchFamily="49" charset="0"/>
              </a:rPr>
              <a:t> = </a:t>
            </a:r>
            <a:r>
              <a:rPr lang="fr-FR" sz="1400" dirty="0" err="1">
                <a:solidFill>
                  <a:srgbClr val="267F99"/>
                </a:solidFill>
                <a:latin typeface="Consolas" panose="020B0609020204030204" pitchFamily="49" charset="0"/>
              </a:rPr>
              <a:t>np</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linspace</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2</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200</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100</a:t>
            </a:r>
            <a:r>
              <a:rPr lang="fr-FR" sz="1400" dirty="0">
                <a:solidFill>
                  <a:srgbClr val="000000"/>
                </a:solidFill>
                <a:latin typeface="Consolas" panose="020B0609020204030204" pitchFamily="49" charset="0"/>
              </a:rPr>
              <a:t>)</a:t>
            </a:r>
          </a:p>
          <a:p>
            <a:r>
              <a:rPr lang="fr-FR" sz="1400" dirty="0" err="1">
                <a:solidFill>
                  <a:srgbClr val="001080"/>
                </a:solidFill>
                <a:latin typeface="Consolas" panose="020B0609020204030204" pitchFamily="49" charset="0"/>
              </a:rPr>
              <a:t>Tvec</a:t>
            </a:r>
            <a:r>
              <a:rPr lang="fr-FR" sz="1400" dirty="0">
                <a:solidFill>
                  <a:srgbClr val="000000"/>
                </a:solidFill>
                <a:latin typeface="Consolas" panose="020B0609020204030204" pitchFamily="49" charset="0"/>
              </a:rPr>
              <a:t> = </a:t>
            </a:r>
            <a:r>
              <a:rPr lang="fr-FR" sz="1400" dirty="0" err="1">
                <a:solidFill>
                  <a:srgbClr val="795E26"/>
                </a:solidFill>
                <a:latin typeface="Consolas" panose="020B0609020204030204" pitchFamily="49" charset="0"/>
              </a:rPr>
              <a:t>solve</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hvec</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p>
        </p:txBody>
      </p:sp>
      <p:sp>
        <p:nvSpPr>
          <p:cNvPr id="4" name="ZoneTexte 3"/>
          <p:cNvSpPr txBox="1"/>
          <p:nvPr/>
        </p:nvSpPr>
        <p:spPr>
          <a:xfrm>
            <a:off x="6131141" y="0"/>
            <a:ext cx="3663182" cy="6340197"/>
          </a:xfrm>
          <a:prstGeom prst="rect">
            <a:avLst/>
          </a:prstGeom>
          <a:noFill/>
        </p:spPr>
        <p:txBody>
          <a:bodyPr wrap="none" rtlCol="0">
            <a:spAutoFit/>
          </a:bodyPr>
          <a:lstStyle/>
          <a:p>
            <a:r>
              <a:rPr lang="fr-FR" sz="1400" dirty="0">
                <a:solidFill>
                  <a:srgbClr val="000000"/>
                </a:solidFill>
                <a:latin typeface="Consolas" panose="020B0609020204030204" pitchFamily="49" charset="0"/>
              </a:rPr>
              <a:t>       </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plot</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hvec</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Tvec</a:t>
            </a:r>
            <a:r>
              <a:rPr lang="fr-FR" sz="1400" dirty="0">
                <a:solidFill>
                  <a:srgbClr val="795E26"/>
                </a:solidFill>
                <a:latin typeface="Consolas" panose="020B0609020204030204" pitchFamily="49" charset="0"/>
              </a:rPr>
              <a:t>-</a:t>
            </a:r>
            <a:r>
              <a:rPr lang="fr-FR" sz="1400" dirty="0">
                <a:solidFill>
                  <a:srgbClr val="098658"/>
                </a:solidFill>
                <a:latin typeface="Consolas" panose="020B0609020204030204" pitchFamily="49" charset="0"/>
              </a:rPr>
              <a:t>273</a:t>
            </a:r>
            <a:r>
              <a:rPr lang="fr-FR" sz="1400" dirty="0">
                <a:solidFill>
                  <a:srgbClr val="000000"/>
                </a:solidFill>
                <a:latin typeface="Consolas" panose="020B0609020204030204" pitchFamily="49" charset="0"/>
              </a:rPr>
              <a:t>, </a:t>
            </a:r>
            <a:r>
              <a:rPr lang="fr-FR" sz="1400" dirty="0">
                <a:solidFill>
                  <a:srgbClr val="A31515"/>
                </a:solidFill>
                <a:latin typeface="Consolas" panose="020B0609020204030204" pitchFamily="49" charset="0"/>
              </a:rPr>
              <a:t>'r'</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xlabel</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'$h (</a:t>
            </a:r>
            <a:r>
              <a:rPr lang="fr-FR" sz="1400" dirty="0" err="1">
                <a:solidFill>
                  <a:srgbClr val="A31515"/>
                </a:solidFill>
                <a:latin typeface="Consolas" panose="020B0609020204030204" pitchFamily="49" charset="0"/>
              </a:rPr>
              <a:t>W.m</a:t>
            </a:r>
            <a:r>
              <a:rPr lang="fr-FR" sz="1400" dirty="0">
                <a:solidFill>
                  <a:srgbClr val="A31515"/>
                </a:solidFill>
                <a:latin typeface="Consolas" panose="020B0609020204030204" pitchFamily="49" charset="0"/>
              </a:rPr>
              <a:t>^{-2}.K^{-1})$'</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ylabel</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'$T$ (°C)'</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grid</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show</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figure</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plot</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Tvec</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hr</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Tvec</a:t>
            </a:r>
            <a:r>
              <a:rPr lang="fr-FR" sz="1400" dirty="0">
                <a:solidFill>
                  <a:srgbClr val="000000"/>
                </a:solidFill>
                <a:latin typeface="Consolas" panose="020B0609020204030204" pitchFamily="49" charset="0"/>
              </a:rPr>
              <a:t>), </a:t>
            </a:r>
            <a:r>
              <a:rPr lang="fr-FR" sz="1400" dirty="0">
                <a:solidFill>
                  <a:srgbClr val="A31515"/>
                </a:solidFill>
                <a:latin typeface="Consolas" panose="020B0609020204030204" pitchFamily="49" charset="0"/>
              </a:rPr>
              <a:t>'r'</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grid</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show</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err="1">
                <a:solidFill>
                  <a:srgbClr val="001080"/>
                </a:solidFill>
                <a:latin typeface="Consolas" panose="020B0609020204030204" pitchFamily="49" charset="0"/>
              </a:rPr>
              <a:t>ksf</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0.3</a:t>
            </a:r>
            <a:r>
              <a:rPr lang="fr-FR" sz="1400" dirty="0">
                <a:solidFill>
                  <a:srgbClr val="000000"/>
                </a:solidFill>
                <a:latin typeface="Consolas" panose="020B0609020204030204" pitchFamily="49" charset="0"/>
              </a:rPr>
              <a:t> </a:t>
            </a:r>
          </a:p>
          <a:p>
            <a:r>
              <a:rPr lang="fr-FR" sz="1400" dirty="0" err="1">
                <a:solidFill>
                  <a:srgbClr val="001080"/>
                </a:solidFill>
                <a:latin typeface="Consolas" panose="020B0609020204030204" pitchFamily="49" charset="0"/>
              </a:rPr>
              <a:t>Lsf</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3e-3</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Ti</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308</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err="1">
                <a:solidFill>
                  <a:srgbClr val="001080"/>
                </a:solidFill>
                <a:latin typeface="Consolas" panose="020B0609020204030204" pitchFamily="49" charset="0"/>
              </a:rPr>
              <a:t>kins</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0.014</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err="1">
                <a:solidFill>
                  <a:srgbClr val="001080"/>
                </a:solidFill>
                <a:latin typeface="Consolas" panose="020B0609020204030204" pitchFamily="49" charset="0"/>
              </a:rPr>
              <a:t>Rsf</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Lsf</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ksf</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A</a:t>
            </a:r>
            <a:r>
              <a:rPr lang="fr-FR" sz="1400" dirty="0">
                <a:solidFill>
                  <a:srgbClr val="000000"/>
                </a:solidFill>
                <a:latin typeface="Consolas" panose="020B0609020204030204" pitchFamily="49" charset="0"/>
              </a:rPr>
              <a:t>)</a:t>
            </a:r>
          </a:p>
          <a:p>
            <a:r>
              <a:rPr lang="fr-FR" sz="1400" dirty="0" err="1">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 = </a:t>
            </a:r>
            <a:r>
              <a:rPr lang="fr-FR" sz="1400" dirty="0" smtClean="0">
                <a:solidFill>
                  <a:srgbClr val="001080"/>
                </a:solidFill>
                <a:latin typeface="Consolas" panose="020B0609020204030204" pitchFamily="49" charset="0"/>
              </a:rPr>
              <a:t>Ti</a:t>
            </a:r>
            <a:r>
              <a:rPr lang="fr-FR" sz="1400" dirty="0" smtClean="0">
                <a:solidFill>
                  <a:srgbClr val="000000"/>
                </a:solidFill>
                <a:latin typeface="Consolas" panose="020B0609020204030204" pitchFamily="49" charset="0"/>
              </a:rPr>
              <a:t>-</a:t>
            </a:r>
            <a:r>
              <a:rPr lang="fr-FR" sz="1400" dirty="0" smtClean="0">
                <a:solidFill>
                  <a:srgbClr val="001080"/>
                </a:solidFill>
                <a:latin typeface="Consolas" panose="020B0609020204030204" pitchFamily="49" charset="0"/>
              </a:rPr>
              <a:t>q</a:t>
            </a:r>
            <a:r>
              <a:rPr lang="fr-FR" sz="1400" dirty="0" smtClean="0">
                <a:solidFill>
                  <a:srgbClr val="000000"/>
                </a:solidFill>
                <a:latin typeface="Consolas" panose="020B0609020204030204" pitchFamily="49" charset="0"/>
              </a:rPr>
              <a:t>*</a:t>
            </a:r>
            <a:r>
              <a:rPr lang="fr-FR" sz="1400" dirty="0" err="1" smtClean="0">
                <a:solidFill>
                  <a:srgbClr val="001080"/>
                </a:solidFill>
                <a:latin typeface="Consolas" panose="020B0609020204030204" pitchFamily="49" charset="0"/>
              </a:rPr>
              <a:t>Rsf</a:t>
            </a:r>
            <a:endParaRPr lang="fr-FR" sz="1400" dirty="0">
              <a:solidFill>
                <a:srgbClr val="000000"/>
              </a:solidFill>
              <a:latin typeface="Consolas" panose="020B0609020204030204" pitchFamily="49" charset="0"/>
            </a:endParaRPr>
          </a:p>
          <a:p>
            <a:r>
              <a:rPr lang="fr-FR" sz="1400" dirty="0" err="1">
                <a:solidFill>
                  <a:srgbClr val="795E26"/>
                </a:solidFill>
                <a:latin typeface="Consolas" panose="020B0609020204030204" pitchFamily="49" charset="0"/>
              </a:rPr>
              <a:t>print</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a:t>
            </a:r>
            <a:r>
              <a:rPr lang="fr-FR" sz="1400" dirty="0" err="1">
                <a:solidFill>
                  <a:srgbClr val="A31515"/>
                </a:solidFill>
                <a:latin typeface="Consolas" panose="020B0609020204030204" pitchFamily="49" charset="0"/>
              </a:rPr>
              <a:t>Ts</a:t>
            </a:r>
            <a:r>
              <a:rPr lang="fr-FR" sz="1400" dirty="0">
                <a:solidFill>
                  <a:srgbClr val="A31515"/>
                </a:solidFill>
                <a:latin typeface="Consolas" panose="020B0609020204030204" pitchFamily="49" charset="0"/>
              </a:rPr>
              <a:t> = '</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Ts</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273</a:t>
            </a:r>
            <a:r>
              <a:rPr lang="fr-FR" sz="1400" dirty="0" smtClean="0">
                <a:solidFill>
                  <a:srgbClr val="000000"/>
                </a:solidFill>
                <a:latin typeface="Consolas" panose="020B0609020204030204" pitchFamily="49" charset="0"/>
              </a:rPr>
              <a:t>)</a:t>
            </a:r>
          </a:p>
          <a:p>
            <a:endParaRPr lang="fr-FR" sz="1400" b="0" dirty="0">
              <a:solidFill>
                <a:srgbClr val="000000"/>
              </a:solidFill>
              <a:effectLst/>
              <a:latin typeface="Consolas" panose="020B0609020204030204" pitchFamily="49" charset="0"/>
            </a:endParaRPr>
          </a:p>
          <a:p>
            <a:r>
              <a:rPr lang="fr-FR" sz="1400" dirty="0">
                <a:solidFill>
                  <a:srgbClr val="001080"/>
                </a:solidFill>
                <a:latin typeface="Consolas" panose="020B0609020204030204" pitchFamily="49" charset="0"/>
              </a:rPr>
              <a:t>Lins</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kins</a:t>
            </a:r>
            <a:r>
              <a:rPr lang="fr-FR" sz="1400" dirty="0">
                <a:solidFill>
                  <a:srgbClr val="000000"/>
                </a:solidFill>
                <a:latin typeface="Consolas" panose="020B0609020204030204" pitchFamily="49" charset="0"/>
              </a:rPr>
              <a:t> * </a:t>
            </a:r>
            <a:r>
              <a:rPr lang="fr-FR" sz="1400" dirty="0">
                <a:solidFill>
                  <a:srgbClr val="0070C1"/>
                </a:solidFill>
                <a:latin typeface="Consolas" panose="020B0609020204030204" pitchFamily="49" charset="0"/>
              </a:rPr>
              <a:t>A</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Ts</a:t>
            </a:r>
            <a:r>
              <a:rPr lang="fr-FR" sz="1400" dirty="0" err="1">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Tvec</a:t>
            </a:r>
            <a:r>
              <a:rPr lang="fr-FR" sz="1400" dirty="0">
                <a:solidFill>
                  <a:srgbClr val="000000"/>
                </a:solidFill>
                <a:latin typeface="Consolas" panose="020B0609020204030204" pitchFamily="49" charset="0"/>
              </a:rPr>
              <a:t>)</a:t>
            </a:r>
            <a:r>
              <a:rPr lang="fr-FR" sz="1400" dirty="0">
                <a:solidFill>
                  <a:srgbClr val="795E26"/>
                </a:solidFill>
                <a:latin typeface="Consolas" panose="020B0609020204030204" pitchFamily="49" charset="0"/>
              </a:rPr>
              <a:t>/</a:t>
            </a:r>
            <a:r>
              <a:rPr lang="fr-FR" sz="1400" dirty="0">
                <a:solidFill>
                  <a:srgbClr val="001080"/>
                </a:solidFill>
                <a:latin typeface="Consolas" panose="020B0609020204030204" pitchFamily="49" charset="0"/>
              </a:rPr>
              <a:t>q</a:t>
            </a:r>
            <a:endParaRPr lang="fr-FR" sz="1400" dirty="0">
              <a:solidFill>
                <a:srgbClr val="000000"/>
              </a:solidFill>
              <a:latin typeface="Consolas" panose="020B0609020204030204" pitchFamily="49" charset="0"/>
            </a:endParaRP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plot</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hvec</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Lins</a:t>
            </a:r>
            <a:r>
              <a:rPr lang="fr-FR" sz="1400" dirty="0">
                <a:solidFill>
                  <a:srgbClr val="000000"/>
                </a:solidFill>
                <a:latin typeface="Consolas" panose="020B0609020204030204" pitchFamily="49" charset="0"/>
              </a:rPr>
              <a:t>, </a:t>
            </a:r>
            <a:r>
              <a:rPr lang="fr-FR" sz="1400" dirty="0">
                <a:solidFill>
                  <a:srgbClr val="A31515"/>
                </a:solidFill>
                <a:latin typeface="Consolas" panose="020B0609020204030204" pitchFamily="49" charset="0"/>
              </a:rPr>
              <a:t>'b'</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xlabel</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'$h (</a:t>
            </a:r>
            <a:r>
              <a:rPr lang="fr-FR" sz="1400" dirty="0" err="1">
                <a:solidFill>
                  <a:srgbClr val="A31515"/>
                </a:solidFill>
                <a:latin typeface="Consolas" panose="020B0609020204030204" pitchFamily="49" charset="0"/>
              </a:rPr>
              <a:t>W.m</a:t>
            </a:r>
            <a:r>
              <a:rPr lang="fr-FR" sz="1400" dirty="0">
                <a:solidFill>
                  <a:srgbClr val="A31515"/>
                </a:solidFill>
                <a:latin typeface="Consolas" panose="020B0609020204030204" pitchFamily="49" charset="0"/>
              </a:rPr>
              <a:t>^{-2}.K^{-1})$'</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ylabel</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'$Lins$ (m)'</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grid</a:t>
            </a:r>
            <a:r>
              <a:rPr lang="fr-FR" sz="1400" dirty="0">
                <a:solidFill>
                  <a:srgbClr val="000000"/>
                </a:solidFill>
                <a:latin typeface="Consolas" panose="020B0609020204030204" pitchFamily="49" charset="0"/>
              </a:rPr>
              <a:t>()</a:t>
            </a:r>
          </a:p>
          <a:p>
            <a:r>
              <a:rPr lang="fr-FR" sz="1400" dirty="0" err="1">
                <a:solidFill>
                  <a:srgbClr val="267F99"/>
                </a:solidFill>
                <a:latin typeface="Consolas" panose="020B0609020204030204" pitchFamily="49" charset="0"/>
              </a:rPr>
              <a:t>plt</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show</a:t>
            </a:r>
            <a:r>
              <a:rPr lang="fr-FR" sz="1400" dirty="0">
                <a:solidFill>
                  <a:srgbClr val="000000"/>
                </a:solidFill>
                <a:latin typeface="Consolas" panose="020B0609020204030204" pitchFamily="49" charset="0"/>
              </a:rPr>
              <a:t>()</a:t>
            </a:r>
          </a:p>
          <a:p>
            <a:endParaRPr lang="fr-FR" sz="1400" b="0" dirty="0">
              <a:solidFill>
                <a:srgbClr val="000000"/>
              </a:solidFill>
              <a:effectLst/>
              <a:latin typeface="Consolas" panose="020B0609020204030204" pitchFamily="49" charset="0"/>
            </a:endParaRPr>
          </a:p>
        </p:txBody>
      </p:sp>
      <p:sp>
        <p:nvSpPr>
          <p:cNvPr id="5" name="ZoneTexte 4"/>
          <p:cNvSpPr txBox="1"/>
          <p:nvPr/>
        </p:nvSpPr>
        <p:spPr>
          <a:xfrm>
            <a:off x="8523798" y="2107045"/>
            <a:ext cx="3465692" cy="2308324"/>
          </a:xfrm>
          <a:prstGeom prst="rect">
            <a:avLst/>
          </a:prstGeom>
          <a:noFill/>
          <a:ln w="28575">
            <a:solidFill>
              <a:srgbClr val="FF0000"/>
            </a:solidFill>
          </a:ln>
        </p:spPr>
        <p:txBody>
          <a:bodyPr wrap="none" rtlCol="0">
            <a:spAutoFit/>
          </a:bodyPr>
          <a:lstStyle/>
          <a:p>
            <a:r>
              <a:rPr lang="fr-FR" sz="1600" dirty="0"/>
              <a:t>h = 2.0000  </a:t>
            </a:r>
            <a:r>
              <a:rPr lang="fr-FR" sz="1600" dirty="0" err="1"/>
              <a:t>iteration</a:t>
            </a:r>
            <a:r>
              <a:rPr lang="fr-FR" sz="1600" dirty="0"/>
              <a:t> 0 T = 18.0709 °C</a:t>
            </a:r>
          </a:p>
          <a:p>
            <a:r>
              <a:rPr lang="fr-FR" sz="1600" dirty="0"/>
              <a:t>h = 2.0000  </a:t>
            </a:r>
            <a:r>
              <a:rPr lang="fr-FR" sz="1600" dirty="0" err="1"/>
              <a:t>iteration</a:t>
            </a:r>
            <a:r>
              <a:rPr lang="fr-FR" sz="1600" dirty="0"/>
              <a:t> 1 T = 17.8288 °C</a:t>
            </a:r>
          </a:p>
          <a:p>
            <a:r>
              <a:rPr lang="fr-FR" sz="1600" dirty="0"/>
              <a:t>h = 2.0000  </a:t>
            </a:r>
            <a:r>
              <a:rPr lang="fr-FR" sz="1600" dirty="0" err="1"/>
              <a:t>iteration</a:t>
            </a:r>
            <a:r>
              <a:rPr lang="fr-FR" sz="1600" dirty="0"/>
              <a:t> 2 T = 17.8359 °C</a:t>
            </a:r>
          </a:p>
          <a:p>
            <a:r>
              <a:rPr lang="fr-FR" sz="1600" dirty="0"/>
              <a:t>h = 2.0000  </a:t>
            </a:r>
            <a:r>
              <a:rPr lang="fr-FR" sz="1600" dirty="0" err="1"/>
              <a:t>iteration</a:t>
            </a:r>
            <a:r>
              <a:rPr lang="fr-FR" sz="1600" dirty="0"/>
              <a:t> 3 T = 17.8357 °</a:t>
            </a:r>
            <a:r>
              <a:rPr lang="fr-FR" sz="1600" dirty="0" smtClean="0"/>
              <a:t>C</a:t>
            </a:r>
          </a:p>
          <a:p>
            <a:r>
              <a:rPr lang="fr-FR" sz="1600" dirty="0"/>
              <a:t>h = 2.0000  </a:t>
            </a:r>
            <a:r>
              <a:rPr lang="fr-FR" sz="1600" dirty="0" err="1"/>
              <a:t>iteration</a:t>
            </a:r>
            <a:r>
              <a:rPr lang="fr-FR" sz="1600" dirty="0"/>
              <a:t> 4 T = 17.8357 °</a:t>
            </a:r>
            <a:r>
              <a:rPr lang="fr-FR" sz="1600" dirty="0" smtClean="0"/>
              <a:t>C</a:t>
            </a:r>
          </a:p>
          <a:p>
            <a:endParaRPr lang="fr-FR" sz="1600" dirty="0"/>
          </a:p>
          <a:p>
            <a:r>
              <a:rPr lang="fr-FR" sz="1600" dirty="0"/>
              <a:t>h = 200.0000  </a:t>
            </a:r>
            <a:r>
              <a:rPr lang="fr-FR" sz="1600" dirty="0" err="1"/>
              <a:t>iteration</a:t>
            </a:r>
            <a:r>
              <a:rPr lang="fr-FR" sz="1600" dirty="0"/>
              <a:t> 0 T = 10.2712 °C</a:t>
            </a:r>
          </a:p>
          <a:p>
            <a:r>
              <a:rPr lang="fr-FR" sz="1600" dirty="0"/>
              <a:t>h = 200.0000  </a:t>
            </a:r>
            <a:r>
              <a:rPr lang="fr-FR" sz="1600" dirty="0" err="1"/>
              <a:t>iteration</a:t>
            </a:r>
            <a:r>
              <a:rPr lang="fr-FR" sz="1600" dirty="0"/>
              <a:t> 1 T = 10.2711 °C</a:t>
            </a:r>
          </a:p>
          <a:p>
            <a:r>
              <a:rPr lang="fr-FR" sz="1600" dirty="0"/>
              <a:t>h = 200.0000  </a:t>
            </a:r>
            <a:r>
              <a:rPr lang="fr-FR" sz="1600" dirty="0" err="1"/>
              <a:t>iteration</a:t>
            </a:r>
            <a:r>
              <a:rPr lang="fr-FR" sz="1600" dirty="0"/>
              <a:t> 2 T = 10.2711 °C</a:t>
            </a:r>
          </a:p>
        </p:txBody>
      </p:sp>
      <p:sp>
        <p:nvSpPr>
          <p:cNvPr id="2" name="Espace réservé du numéro de diapositive 1"/>
          <p:cNvSpPr>
            <a:spLocks noGrp="1"/>
          </p:cNvSpPr>
          <p:nvPr>
            <p:ph type="sldNum" sz="quarter" idx="12"/>
          </p:nvPr>
        </p:nvSpPr>
        <p:spPr/>
        <p:txBody>
          <a:bodyPr/>
          <a:lstStyle/>
          <a:p>
            <a:fld id="{CB13DDC6-9977-4A69-882A-1641CFA73689}" type="slidenum">
              <a:rPr lang="fr-FR" smtClean="0"/>
              <a:t>3</a:t>
            </a:fld>
            <a:endParaRPr lang="fr-FR"/>
          </a:p>
        </p:txBody>
      </p:sp>
      <p:sp>
        <p:nvSpPr>
          <p:cNvPr id="6" name="ZoneTexte 5"/>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16755303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4"/>
          <a:stretch>
            <a:fillRect/>
          </a:stretch>
        </p:blipFill>
        <p:spPr>
          <a:xfrm>
            <a:off x="555471" y="1599204"/>
            <a:ext cx="5166825" cy="3939967"/>
          </a:xfrm>
          <a:prstGeom prst="rect">
            <a:avLst/>
          </a:prstGeom>
        </p:spPr>
      </p:pic>
      <p:pic>
        <p:nvPicPr>
          <p:cNvPr id="7" name="Image 6"/>
          <p:cNvPicPr>
            <a:picLocks noChangeAspect="1"/>
          </p:cNvPicPr>
          <p:nvPr/>
        </p:nvPicPr>
        <p:blipFill>
          <a:blip r:embed="rId5"/>
          <a:stretch>
            <a:fillRect/>
          </a:stretch>
        </p:blipFill>
        <p:spPr>
          <a:xfrm>
            <a:off x="6149066" y="1599204"/>
            <a:ext cx="5803447" cy="3969671"/>
          </a:xfrm>
          <a:prstGeom prst="rect">
            <a:avLst/>
          </a:prstGeom>
        </p:spPr>
      </p:pic>
      <p:pic>
        <p:nvPicPr>
          <p:cNvPr id="3" name="Image 2" descr="\documentclass{article}&#10;\usepackage{amsmath}&#10;\usepackage{xcolor}&#10;\pagestyle{empty}&#10;\begin{document}&#10;&#10;A partir de $T$, on déduit l'épaisseur d'isolant, en prenant $q=100$W :&#10;$$&#10;L_{ins} = k_{ins} A \frac{T_s-T}{q} \quad \text{avec} \quad T_s = T_i-q\; R_{sf}&#10;$$&#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655783" y="662041"/>
            <a:ext cx="7619052" cy="1074286"/>
          </a:xfrm>
          <a:prstGeom prst="rect">
            <a:avLst/>
          </a:prstGeom>
        </p:spPr>
      </p:pic>
      <p:pic>
        <p:nvPicPr>
          <p:cNvPr id="4" name="Image 3" descr="\documentclass{article}&#10;\usepackage{amsmath}&#10;\usepackage{xcolor}&#10;\pagestyle{empty}&#10;\begin{document}&#10;&#10;L'exploitation de $h_r(T)$ montre qu'il est compris ici entre 4.9 et 5.1 $W.m^{-2}.K$.&#10;On aurait pu prendre, avec une bonne approximation,  $h_r(T_{sur})$ pour toutes les valeurs&#10;de $h$.&#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1250767" y="5720626"/>
            <a:ext cx="8731433" cy="818286"/>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4</a:t>
            </a:fld>
            <a:endParaRPr lang="fr-FR"/>
          </a:p>
        </p:txBody>
      </p:sp>
      <p:sp>
        <p:nvSpPr>
          <p:cNvPr id="8" name="ZoneTexte 7"/>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2166577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429370" y="350760"/>
            <a:ext cx="1954318" cy="954107"/>
          </a:xfrm>
          <a:prstGeom prst="rect">
            <a:avLst/>
          </a:prstGeom>
          <a:noFill/>
        </p:spPr>
        <p:txBody>
          <a:bodyPr wrap="none" rtlCol="0">
            <a:spAutoFit/>
          </a:bodyPr>
          <a:lstStyle/>
          <a:p>
            <a:r>
              <a:rPr lang="fr-FR" sz="2800" dirty="0" err="1" smtClean="0"/>
              <a:t>Incropera</a:t>
            </a:r>
            <a:endParaRPr lang="fr-FR" sz="2800" dirty="0" smtClean="0"/>
          </a:p>
          <a:p>
            <a:r>
              <a:rPr lang="fr-FR" sz="2800" dirty="0" err="1" smtClean="0"/>
              <a:t>Example</a:t>
            </a:r>
            <a:r>
              <a:rPr lang="fr-FR" sz="2800" dirty="0" smtClean="0"/>
              <a:t> 3.2</a:t>
            </a:r>
            <a:endParaRPr lang="fr-FR" sz="2800" dirty="0"/>
          </a:p>
        </p:txBody>
      </p:sp>
      <p:pic>
        <p:nvPicPr>
          <p:cNvPr id="9" name="Image 8" descr="\documentclass{article}&#10;\usepackage{amsmath}&#10;\pagestyle{empty}&#10;\begin{document}&#10;&#10;Une puce en silicium et un substrat en aluminium de 8 mm d’épaisseur sont séparés par une couche de colle époxy de 0.02 mm d’épaisseur. La puce et le substrat mesurent chacun 10 mm de côté, et leurs surfaces exposées sont refroidies par de l’air, à une température de 25°C, avec un coefficient de convection de 100 $W/m^2·K$. Si la puce dissipe $\dot{E}''_g=10^4 \; W/m^2$ dans des conditions normales, fonctionnera-t-elle en dessous de la température maximale admissible de 85°C ?&#10;&#10;\end{document}" title="IguanaTex Bitmap Display"/>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2568583" y="350759"/>
            <a:ext cx="8711621" cy="1743240"/>
          </a:xfrm>
          <a:prstGeom prst="rect">
            <a:avLst/>
          </a:prstGeom>
        </p:spPr>
      </p:pic>
      <p:pic>
        <p:nvPicPr>
          <p:cNvPr id="6" name="Image 5"/>
          <p:cNvPicPr>
            <a:picLocks noChangeAspect="1"/>
          </p:cNvPicPr>
          <p:nvPr/>
        </p:nvPicPr>
        <p:blipFill>
          <a:blip r:embed="rId11"/>
          <a:stretch>
            <a:fillRect/>
          </a:stretch>
        </p:blipFill>
        <p:spPr>
          <a:xfrm>
            <a:off x="257920" y="3052813"/>
            <a:ext cx="5662151" cy="3436918"/>
          </a:xfrm>
          <a:prstGeom prst="rect">
            <a:avLst/>
          </a:prstGeom>
        </p:spPr>
      </p:pic>
      <p:pic>
        <p:nvPicPr>
          <p:cNvPr id="13" name="Image 12"/>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6356384" y="3841212"/>
            <a:ext cx="1817903" cy="268190"/>
          </a:xfrm>
          <a:prstGeom prst="rect">
            <a:avLst/>
          </a:prstGeom>
        </p:spPr>
      </p:pic>
      <p:pic>
        <p:nvPicPr>
          <p:cNvPr id="19" name="Image 18"/>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6382844" y="4513456"/>
            <a:ext cx="3751616" cy="277333"/>
          </a:xfrm>
          <a:prstGeom prst="rect">
            <a:avLst/>
          </a:prstGeom>
        </p:spPr>
      </p:pic>
      <p:pic>
        <p:nvPicPr>
          <p:cNvPr id="2" name="Image 1"/>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2984423" y="2213833"/>
            <a:ext cx="8714668" cy="545523"/>
          </a:xfrm>
          <a:prstGeom prst="rect">
            <a:avLst/>
          </a:prstGeom>
        </p:spPr>
      </p:pic>
      <p:pic>
        <p:nvPicPr>
          <p:cNvPr id="22" name="Image 21"/>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1742431" y="4945923"/>
            <a:ext cx="1760305" cy="171886"/>
          </a:xfrm>
          <a:prstGeom prst="rect">
            <a:avLst/>
          </a:prstGeom>
        </p:spPr>
      </p:pic>
      <p:pic>
        <p:nvPicPr>
          <p:cNvPr id="28" name="Image 27"/>
          <p:cNvPicPr>
            <a:picLocks noChangeAspect="1"/>
          </p:cNvPicPr>
          <p:nvPr>
            <p:custDataLst>
              <p:tags r:id="rId6"/>
            </p:custDataLst>
          </p:nvPr>
        </p:nvPicPr>
        <p:blipFill>
          <a:blip r:embed="rId16" cstate="print">
            <a:extLst>
              <a:ext uri="{28A0092B-C50C-407E-A947-70E740481C1C}">
                <a14:useLocalDpi xmlns:a14="http://schemas.microsoft.com/office/drawing/2010/main" val="0"/>
              </a:ext>
            </a:extLst>
          </a:blip>
          <a:stretch>
            <a:fillRect/>
          </a:stretch>
        </p:blipFill>
        <p:spPr>
          <a:xfrm>
            <a:off x="6336504" y="5770151"/>
            <a:ext cx="5619804" cy="612570"/>
          </a:xfrm>
          <a:prstGeom prst="rect">
            <a:avLst/>
          </a:prstGeom>
        </p:spPr>
      </p:pic>
      <p:sp>
        <p:nvSpPr>
          <p:cNvPr id="3" name="Espace réservé du numéro de diapositive 2"/>
          <p:cNvSpPr>
            <a:spLocks noGrp="1"/>
          </p:cNvSpPr>
          <p:nvPr>
            <p:ph type="sldNum" sz="quarter" idx="12"/>
          </p:nvPr>
        </p:nvSpPr>
        <p:spPr/>
        <p:txBody>
          <a:bodyPr/>
          <a:lstStyle/>
          <a:p>
            <a:fld id="{CB13DDC6-9977-4A69-882A-1641CFA73689}" type="slidenum">
              <a:rPr lang="fr-FR" smtClean="0"/>
              <a:t>5</a:t>
            </a:fld>
            <a:endParaRPr lang="fr-FR"/>
          </a:p>
        </p:txBody>
      </p:sp>
      <p:pic>
        <p:nvPicPr>
          <p:cNvPr id="10" name="Image 9" descr="\documentclass{article}&#10;\usepackage{amsmath}&#10;\pagestyle{empty}&#10;\begin{document}&#10;&#10;$$&#10;\dot{E}_g - q_1 - q_2 = 0 \quad \text{tel que} \quad \dot{E}_g = q_c''\; S&#10;$$&#10;&#10;\end{document}" title="IguanaTex Bitmap Display"/>
          <p:cNvPicPr>
            <a:picLocks noChangeAspect="1"/>
          </p:cNvPicPr>
          <p:nvPr>
            <p:custDataLst>
              <p:tags r:id="rId7"/>
            </p:custDataLst>
          </p:nvPr>
        </p:nvPicPr>
        <p:blipFill>
          <a:blip r:embed="rId17" cstate="print">
            <a:extLst>
              <a:ext uri="{28A0092B-C50C-407E-A947-70E740481C1C}">
                <a14:useLocalDpi xmlns:a14="http://schemas.microsoft.com/office/drawing/2010/main" val="0"/>
              </a:ext>
            </a:extLst>
          </a:blip>
          <a:stretch>
            <a:fillRect/>
          </a:stretch>
        </p:blipFill>
        <p:spPr>
          <a:xfrm>
            <a:off x="6336504" y="3119078"/>
            <a:ext cx="4213328" cy="307810"/>
          </a:xfrm>
          <a:prstGeom prst="rect">
            <a:avLst/>
          </a:prstGeom>
        </p:spPr>
      </p:pic>
      <p:pic>
        <p:nvPicPr>
          <p:cNvPr id="7" name="Image 6" descr="\documentclass{article}&#10;\usepackage{amsmath}&#10;\usepackage{xcolor}&#10;\pagestyle{empty}&#10;\begin{document}&#10;&#10;$$&#10;q_2'' = \frac{T_c-T_\infty}&#10;{{\color{red} R_{t,c}''}+L/k+1/h} &#10;$$&#10;&#10;\end{document}" title="IguanaTex Bitmap Display"/>
          <p:cNvPicPr>
            <a:picLocks noChangeAspect="1"/>
          </p:cNvPicPr>
          <p:nvPr>
            <p:custDataLst>
              <p:tags r:id="rId8"/>
            </p:custDataLst>
          </p:nvPr>
        </p:nvPicPr>
        <p:blipFill>
          <a:blip r:embed="rId18" cstate="print">
            <a:extLst>
              <a:ext uri="{28A0092B-C50C-407E-A947-70E740481C1C}">
                <a14:useLocalDpi xmlns:a14="http://schemas.microsoft.com/office/drawing/2010/main" val="0"/>
              </a:ext>
            </a:extLst>
          </a:blip>
          <a:stretch>
            <a:fillRect/>
          </a:stretch>
        </p:blipFill>
        <p:spPr>
          <a:xfrm>
            <a:off x="6382844" y="5031866"/>
            <a:ext cx="2499045" cy="612570"/>
          </a:xfrm>
          <a:prstGeom prst="rect">
            <a:avLst/>
          </a:prstGeom>
        </p:spPr>
      </p:pic>
    </p:spTree>
    <p:extLst>
      <p:ext uri="{BB962C8B-B14F-4D97-AF65-F5344CB8AC3E}">
        <p14:creationId xmlns:p14="http://schemas.microsoft.com/office/powerpoint/2010/main" val="27211441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983750" y="1590396"/>
            <a:ext cx="6166851" cy="1830091"/>
          </a:xfrm>
          <a:prstGeom prst="rect">
            <a:avLst/>
          </a:prstGeom>
        </p:spPr>
      </p:pic>
      <p:sp>
        <p:nvSpPr>
          <p:cNvPr id="5" name="ZoneTexte 4"/>
          <p:cNvSpPr txBox="1"/>
          <p:nvPr/>
        </p:nvSpPr>
        <p:spPr>
          <a:xfrm>
            <a:off x="191347" y="296555"/>
            <a:ext cx="6019597" cy="6247864"/>
          </a:xfrm>
          <a:prstGeom prst="rect">
            <a:avLst/>
          </a:prstGeom>
          <a:noFill/>
        </p:spPr>
        <p:txBody>
          <a:bodyPr wrap="none" rtlCol="0">
            <a:spAutoFit/>
          </a:bodyPr>
          <a:lstStyle/>
          <a:p>
            <a:r>
              <a:rPr lang="fr-FR" sz="1600" dirty="0">
                <a:solidFill>
                  <a:srgbClr val="AF00DB"/>
                </a:solidFill>
                <a:latin typeface="Consolas" panose="020B0609020204030204" pitchFamily="49" charset="0"/>
              </a:rPr>
              <a:t>import</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matplotlib</a:t>
            </a:r>
            <a:r>
              <a:rPr lang="fr-FR" sz="1600" dirty="0" err="1">
                <a:solidFill>
                  <a:srgbClr val="000000"/>
                </a:solidFill>
                <a:latin typeface="Consolas" panose="020B0609020204030204" pitchFamily="49" charset="0"/>
              </a:rPr>
              <a:t>.</a:t>
            </a:r>
            <a:r>
              <a:rPr lang="fr-FR" sz="1600" dirty="0" err="1">
                <a:solidFill>
                  <a:srgbClr val="267F99"/>
                </a:solidFill>
                <a:latin typeface="Consolas" panose="020B0609020204030204" pitchFamily="49" charset="0"/>
              </a:rPr>
              <a:t>pyplot</a:t>
            </a:r>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as</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plt</a:t>
            </a:r>
            <a:endParaRPr lang="fr-FR" sz="1600" dirty="0">
              <a:solidFill>
                <a:srgbClr val="000000"/>
              </a:solidFill>
              <a:latin typeface="Consolas" panose="020B0609020204030204" pitchFamily="49" charset="0"/>
            </a:endParaRPr>
          </a:p>
          <a:p>
            <a:r>
              <a:rPr lang="fr-FR" sz="1600" dirty="0">
                <a:solidFill>
                  <a:srgbClr val="AF00DB"/>
                </a:solidFill>
                <a:latin typeface="Consolas" panose="020B0609020204030204" pitchFamily="49" charset="0"/>
              </a:rPr>
              <a:t>import</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numpy</a:t>
            </a:r>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as</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np</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err="1">
                <a:solidFill>
                  <a:srgbClr val="001080"/>
                </a:solidFill>
                <a:latin typeface="Consolas" panose="020B0609020204030204" pitchFamily="49" charset="0"/>
              </a:rPr>
              <a:t>Tinf</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298</a:t>
            </a:r>
            <a:endParaRPr lang="fr-FR" sz="1600" dirty="0">
              <a:solidFill>
                <a:srgbClr val="000000"/>
              </a:solidFill>
              <a:latin typeface="Consolas" panose="020B0609020204030204" pitchFamily="49" charset="0"/>
            </a:endParaRPr>
          </a:p>
          <a:p>
            <a:r>
              <a:rPr lang="fr-FR" sz="1600" dirty="0" err="1">
                <a:solidFill>
                  <a:srgbClr val="001080"/>
                </a:solidFill>
                <a:latin typeface="Consolas" panose="020B0609020204030204" pitchFamily="49" charset="0"/>
              </a:rPr>
              <a:t>qc_pp</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1e4</a:t>
            </a:r>
            <a:r>
              <a:rPr lang="fr-FR" sz="1600" dirty="0">
                <a:solidFill>
                  <a:srgbClr val="000000"/>
                </a:solidFill>
                <a:latin typeface="Consolas" panose="020B0609020204030204" pitchFamily="49" charset="0"/>
              </a:rPr>
              <a:t> </a:t>
            </a:r>
          </a:p>
          <a:p>
            <a:r>
              <a:rPr lang="fr-FR" sz="1600" dirty="0">
                <a:solidFill>
                  <a:srgbClr val="001080"/>
                </a:solidFill>
                <a:latin typeface="Consolas" panose="020B0609020204030204" pitchFamily="49" charset="0"/>
              </a:rPr>
              <a:t>h</a:t>
            </a:r>
            <a:r>
              <a:rPr lang="fr-FR" sz="1600" dirty="0">
                <a:solidFill>
                  <a:srgbClr val="000000"/>
                </a:solidFill>
                <a:latin typeface="Consolas" panose="020B0609020204030204" pitchFamily="49" charset="0"/>
              </a:rPr>
              <a:t> =</a:t>
            </a:r>
            <a:r>
              <a:rPr lang="fr-FR" sz="1600" dirty="0">
                <a:solidFill>
                  <a:srgbClr val="098658"/>
                </a:solidFill>
                <a:latin typeface="Consolas" panose="020B0609020204030204" pitchFamily="49" charset="0"/>
              </a:rPr>
              <a:t>100</a:t>
            </a:r>
            <a:endParaRPr lang="fr-FR" sz="1600" dirty="0">
              <a:solidFill>
                <a:srgbClr val="000000"/>
              </a:solidFill>
              <a:latin typeface="Consolas" panose="020B0609020204030204" pitchFamily="49" charset="0"/>
            </a:endParaRPr>
          </a:p>
          <a:p>
            <a:r>
              <a:rPr lang="fr-FR" sz="1600" dirty="0">
                <a:solidFill>
                  <a:srgbClr val="0070C1"/>
                </a:solidFill>
                <a:latin typeface="Consolas" panose="020B0609020204030204" pitchFamily="49" charset="0"/>
              </a:rPr>
              <a:t>L</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8e-3</a:t>
            </a:r>
            <a:endParaRPr lang="fr-FR" sz="1600" dirty="0">
              <a:solidFill>
                <a:srgbClr val="000000"/>
              </a:solidFill>
              <a:latin typeface="Consolas" panose="020B0609020204030204" pitchFamily="49" charset="0"/>
            </a:endParaRPr>
          </a:p>
          <a:p>
            <a:r>
              <a:rPr lang="fr-FR" sz="1600" dirty="0">
                <a:solidFill>
                  <a:srgbClr val="001080"/>
                </a:solidFill>
                <a:latin typeface="Consolas" panose="020B0609020204030204" pitchFamily="49" charset="0"/>
              </a:rPr>
              <a:t>k</a:t>
            </a:r>
            <a:r>
              <a:rPr lang="fr-FR" sz="1600" dirty="0">
                <a:solidFill>
                  <a:srgbClr val="000000"/>
                </a:solidFill>
                <a:latin typeface="Consolas" panose="020B0609020204030204" pitchFamily="49" charset="0"/>
              </a:rPr>
              <a:t> = </a:t>
            </a:r>
            <a:r>
              <a:rPr lang="fr-FR" sz="1600" dirty="0">
                <a:solidFill>
                  <a:srgbClr val="098658"/>
                </a:solidFill>
                <a:latin typeface="Consolas" panose="020B0609020204030204" pitchFamily="49" charset="0"/>
              </a:rPr>
              <a:t>239</a:t>
            </a:r>
            <a:endParaRPr lang="fr-FR"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err="1">
                <a:solidFill>
                  <a:srgbClr val="0000FF"/>
                </a:solidFill>
                <a:latin typeface="Consolas" panose="020B0609020204030204" pitchFamily="49" charset="0"/>
              </a:rPr>
              <a:t>def</a:t>
            </a:r>
            <a:r>
              <a:rPr lang="fr-FR" sz="1600" dirty="0">
                <a:solidFill>
                  <a:srgbClr val="000000"/>
                </a:solidFill>
                <a:latin typeface="Consolas" panose="020B0609020204030204" pitchFamily="49" charset="0"/>
              </a:rPr>
              <a:t> </a:t>
            </a:r>
            <a:r>
              <a:rPr lang="fr-FR" sz="1600" dirty="0" err="1">
                <a:solidFill>
                  <a:srgbClr val="795E26"/>
                </a:solidFill>
                <a:latin typeface="Consolas" panose="020B0609020204030204" pitchFamily="49" charset="0"/>
              </a:rPr>
              <a:t>solve</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Rtc_pp_vec</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Tc_vec</a:t>
            </a:r>
            <a:r>
              <a:rPr lang="fr-FR" sz="1600" dirty="0">
                <a:solidFill>
                  <a:srgbClr val="000000"/>
                </a:solidFill>
                <a:latin typeface="Consolas" panose="020B0609020204030204" pitchFamily="49" charset="0"/>
              </a:rPr>
              <a:t> =[] </a:t>
            </a:r>
          </a:p>
          <a:p>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for</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Rtc_pp</a:t>
            </a:r>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in</a:t>
            </a:r>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Rtc_pp_vec</a:t>
            </a:r>
            <a:r>
              <a:rPr lang="fr-FR" sz="1600" dirty="0">
                <a:solidFill>
                  <a:srgbClr val="000000"/>
                </a:solidFill>
                <a:latin typeface="Consolas" panose="020B0609020204030204" pitchFamily="49" charset="0"/>
              </a:rPr>
              <a:t>:       </a:t>
            </a:r>
          </a:p>
          <a:p>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Tc</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Tinf</a:t>
            </a:r>
            <a:r>
              <a:rPr lang="fr-FR" sz="1600" dirty="0">
                <a:solidFill>
                  <a:srgbClr val="000000"/>
                </a:solidFill>
                <a:latin typeface="Consolas" panose="020B0609020204030204" pitchFamily="49" charset="0"/>
              </a:rPr>
              <a:t> + </a:t>
            </a:r>
            <a:r>
              <a:rPr lang="fr-FR" sz="1600" dirty="0" err="1">
                <a:solidFill>
                  <a:srgbClr val="001080"/>
                </a:solidFill>
                <a:latin typeface="Consolas" panose="020B0609020204030204" pitchFamily="49" charset="0"/>
              </a:rPr>
              <a:t>qc_pp</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h</a:t>
            </a:r>
            <a:r>
              <a:rPr lang="fr-FR" sz="1600" dirty="0">
                <a:solidFill>
                  <a:srgbClr val="000000"/>
                </a:solidFill>
                <a:latin typeface="Consolas" panose="020B0609020204030204" pitchFamily="49" charset="0"/>
              </a:rPr>
              <a:t>+ </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Rtc_pp</a:t>
            </a:r>
            <a:r>
              <a:rPr lang="fr-FR" sz="1600" dirty="0">
                <a:solidFill>
                  <a:srgbClr val="000000"/>
                </a:solidFill>
                <a:latin typeface="Consolas" panose="020B0609020204030204" pitchFamily="49" charset="0"/>
              </a:rPr>
              <a:t> + </a:t>
            </a:r>
            <a:r>
              <a:rPr lang="fr-FR" sz="1600" dirty="0">
                <a:solidFill>
                  <a:srgbClr val="0070C1"/>
                </a:solidFill>
                <a:latin typeface="Consolas" panose="020B0609020204030204" pitchFamily="49" charset="0"/>
              </a:rPr>
              <a:t>L</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k</a:t>
            </a:r>
            <a:r>
              <a:rPr lang="fr-FR" sz="1600" dirty="0">
                <a:solidFill>
                  <a:srgbClr val="000000"/>
                </a:solidFill>
                <a:latin typeface="Consolas" panose="020B0609020204030204" pitchFamily="49" charset="0"/>
              </a:rPr>
              <a:t> +</a:t>
            </a:r>
            <a:r>
              <a:rPr lang="fr-FR" sz="1600" dirty="0">
                <a:solidFill>
                  <a:srgbClr val="098658"/>
                </a:solidFill>
                <a:latin typeface="Consolas" panose="020B0609020204030204" pitchFamily="49" charset="0"/>
              </a:rPr>
              <a:t>1</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h</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err="1">
                <a:solidFill>
                  <a:srgbClr val="001080"/>
                </a:solidFill>
                <a:latin typeface="Consolas" panose="020B0609020204030204" pitchFamily="49" charset="0"/>
              </a:rPr>
              <a:t>Tc_vec</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append</a:t>
            </a:r>
            <a:r>
              <a:rPr lang="fr-FR" sz="1600" dirty="0">
                <a:solidFill>
                  <a:srgbClr val="000000"/>
                </a:solidFill>
                <a:latin typeface="Consolas" panose="020B0609020204030204" pitchFamily="49" charset="0"/>
              </a:rPr>
              <a:t>(</a:t>
            </a:r>
            <a:r>
              <a:rPr lang="fr-FR" sz="1600" dirty="0">
                <a:solidFill>
                  <a:srgbClr val="001080"/>
                </a:solidFill>
                <a:latin typeface="Consolas" panose="020B0609020204030204" pitchFamily="49" charset="0"/>
              </a:rPr>
              <a:t>Tc</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r>
              <a:rPr lang="fr-FR" sz="1600" dirty="0">
                <a:solidFill>
                  <a:srgbClr val="AF00DB"/>
                </a:solidFill>
                <a:latin typeface="Consolas" panose="020B0609020204030204" pitchFamily="49" charset="0"/>
              </a:rPr>
              <a:t>return</a:t>
            </a:r>
            <a:r>
              <a:rPr lang="fr-FR" sz="1600" dirty="0">
                <a:solidFill>
                  <a:srgbClr val="000000"/>
                </a:solidFill>
                <a:latin typeface="Consolas" panose="020B0609020204030204" pitchFamily="49" charset="0"/>
              </a:rPr>
              <a:t> </a:t>
            </a:r>
            <a:r>
              <a:rPr lang="fr-FR" sz="1600" dirty="0" err="1">
                <a:solidFill>
                  <a:srgbClr val="267F99"/>
                </a:solidFill>
                <a:latin typeface="Consolas" panose="020B0609020204030204" pitchFamily="49" charset="0"/>
              </a:rPr>
              <a:t>np</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array</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Tc_vec</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r>
            <a:br>
              <a:rPr lang="fr-FR" sz="1600" dirty="0">
                <a:solidFill>
                  <a:srgbClr val="000000"/>
                </a:solidFill>
                <a:latin typeface="Consolas" panose="020B0609020204030204" pitchFamily="49" charset="0"/>
              </a:rPr>
            </a:br>
            <a:r>
              <a:rPr lang="fr-FR" sz="1600" dirty="0" err="1">
                <a:solidFill>
                  <a:srgbClr val="001080"/>
                </a:solidFill>
                <a:latin typeface="Consolas" panose="020B0609020204030204" pitchFamily="49" charset="0"/>
              </a:rPr>
              <a:t>Rtc_pp_vec</a:t>
            </a:r>
            <a:r>
              <a:rPr lang="fr-FR" sz="1600" dirty="0">
                <a:solidFill>
                  <a:srgbClr val="000000"/>
                </a:solidFill>
                <a:latin typeface="Consolas" panose="020B0609020204030204" pitchFamily="49" charset="0"/>
              </a:rPr>
              <a:t> = </a:t>
            </a:r>
            <a:r>
              <a:rPr lang="fr-FR" sz="1600" dirty="0" err="1">
                <a:solidFill>
                  <a:srgbClr val="267F99"/>
                </a:solidFill>
                <a:latin typeface="Consolas" panose="020B0609020204030204" pitchFamily="49" charset="0"/>
              </a:rPr>
              <a:t>np</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linspace</a:t>
            </a:r>
            <a:r>
              <a:rPr lang="fr-FR" sz="1600" dirty="0">
                <a:solidFill>
                  <a:srgbClr val="000000"/>
                </a:solidFill>
                <a:latin typeface="Consolas" panose="020B0609020204030204" pitchFamily="49" charset="0"/>
              </a:rPr>
              <a:t>(</a:t>
            </a:r>
            <a:r>
              <a:rPr lang="fr-FR" sz="1600" dirty="0">
                <a:solidFill>
                  <a:srgbClr val="098658"/>
                </a:solidFill>
                <a:latin typeface="Consolas" panose="020B0609020204030204" pitchFamily="49" charset="0"/>
              </a:rPr>
              <a:t>0.2e-4</a:t>
            </a:r>
            <a:r>
              <a:rPr lang="fr-FR" sz="1600" dirty="0">
                <a:solidFill>
                  <a:srgbClr val="000000"/>
                </a:solidFill>
                <a:latin typeface="Consolas" panose="020B0609020204030204" pitchFamily="49" charset="0"/>
              </a:rPr>
              <a:t>, </a:t>
            </a:r>
            <a:r>
              <a:rPr lang="fr-FR" sz="1600" dirty="0">
                <a:solidFill>
                  <a:srgbClr val="098658"/>
                </a:solidFill>
                <a:latin typeface="Consolas" panose="020B0609020204030204" pitchFamily="49" charset="0"/>
              </a:rPr>
              <a:t>0.9e-4</a:t>
            </a:r>
            <a:r>
              <a:rPr lang="fr-FR" sz="1600" dirty="0">
                <a:solidFill>
                  <a:srgbClr val="000000"/>
                </a:solidFill>
                <a:latin typeface="Consolas" panose="020B0609020204030204" pitchFamily="49" charset="0"/>
              </a:rPr>
              <a:t>, </a:t>
            </a:r>
            <a:r>
              <a:rPr lang="fr-FR" sz="1600" dirty="0">
                <a:solidFill>
                  <a:srgbClr val="098658"/>
                </a:solidFill>
                <a:latin typeface="Consolas" panose="020B0609020204030204" pitchFamily="49" charset="0"/>
              </a:rPr>
              <a:t>100</a:t>
            </a:r>
            <a:r>
              <a:rPr lang="fr-FR" sz="1600" dirty="0">
                <a:solidFill>
                  <a:srgbClr val="000000"/>
                </a:solidFill>
                <a:latin typeface="Consolas" panose="020B0609020204030204" pitchFamily="49" charset="0"/>
              </a:rPr>
              <a:t>)</a:t>
            </a:r>
          </a:p>
          <a:p>
            <a:r>
              <a:rPr lang="fr-FR" sz="1600" dirty="0" err="1">
                <a:solidFill>
                  <a:srgbClr val="001080"/>
                </a:solidFill>
                <a:latin typeface="Consolas" panose="020B0609020204030204" pitchFamily="49" charset="0"/>
              </a:rPr>
              <a:t>Tc_vec</a:t>
            </a:r>
            <a:r>
              <a:rPr lang="fr-FR" sz="1600" dirty="0">
                <a:solidFill>
                  <a:srgbClr val="000000"/>
                </a:solidFill>
                <a:latin typeface="Consolas" panose="020B0609020204030204" pitchFamily="49" charset="0"/>
              </a:rPr>
              <a:t> = </a:t>
            </a:r>
            <a:r>
              <a:rPr lang="fr-FR" sz="1600" dirty="0" err="1">
                <a:solidFill>
                  <a:srgbClr val="795E26"/>
                </a:solidFill>
                <a:latin typeface="Consolas" panose="020B0609020204030204" pitchFamily="49" charset="0"/>
              </a:rPr>
              <a:t>solve</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Rtc_pp_vec</a:t>
            </a:r>
            <a:r>
              <a:rPr lang="fr-FR" sz="1600" dirty="0">
                <a:solidFill>
                  <a:srgbClr val="000000"/>
                </a:solidFill>
                <a:latin typeface="Consolas" panose="020B0609020204030204" pitchFamily="49" charset="0"/>
              </a:rPr>
              <a:t>)</a:t>
            </a:r>
          </a:p>
          <a:p>
            <a:r>
              <a:rPr lang="fr-FR" sz="1600" dirty="0">
                <a:solidFill>
                  <a:srgbClr val="000000"/>
                </a:solidFill>
                <a:latin typeface="Consolas" panose="020B0609020204030204" pitchFamily="49" charset="0"/>
              </a:rPr>
              <a:t>       </a:t>
            </a:r>
          </a:p>
          <a:p>
            <a:r>
              <a:rPr lang="fr-FR" sz="1600" dirty="0" err="1">
                <a:solidFill>
                  <a:srgbClr val="267F99"/>
                </a:solidFill>
                <a:latin typeface="Consolas" panose="020B0609020204030204" pitchFamily="49" charset="0"/>
              </a:rPr>
              <a:t>plt</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plot</a:t>
            </a:r>
            <a:r>
              <a:rPr lang="fr-FR" sz="1600" dirty="0">
                <a:solidFill>
                  <a:srgbClr val="000000"/>
                </a:solidFill>
                <a:latin typeface="Consolas" panose="020B0609020204030204" pitchFamily="49" charset="0"/>
              </a:rPr>
              <a:t>(</a:t>
            </a:r>
            <a:r>
              <a:rPr lang="fr-FR" sz="1600" dirty="0" err="1">
                <a:solidFill>
                  <a:srgbClr val="001080"/>
                </a:solidFill>
                <a:latin typeface="Consolas" panose="020B0609020204030204" pitchFamily="49" charset="0"/>
              </a:rPr>
              <a:t>Rtc_pp_vec</a:t>
            </a:r>
            <a:r>
              <a:rPr lang="fr-FR" sz="1600" dirty="0">
                <a:solidFill>
                  <a:srgbClr val="000000"/>
                </a:solidFill>
                <a:latin typeface="Consolas" panose="020B0609020204030204" pitchFamily="49" charset="0"/>
              </a:rPr>
              <a:t>, </a:t>
            </a:r>
            <a:r>
              <a:rPr lang="fr-FR" sz="1600" dirty="0">
                <a:solidFill>
                  <a:srgbClr val="001080"/>
                </a:solidFill>
                <a:latin typeface="Consolas" panose="020B0609020204030204" pitchFamily="49" charset="0"/>
              </a:rPr>
              <a:t>Tc_vec</a:t>
            </a:r>
            <a:r>
              <a:rPr lang="fr-FR" sz="1600" dirty="0">
                <a:solidFill>
                  <a:srgbClr val="795E26"/>
                </a:solidFill>
                <a:latin typeface="Consolas" panose="020B0609020204030204" pitchFamily="49" charset="0"/>
              </a:rPr>
              <a:t>-</a:t>
            </a:r>
            <a:r>
              <a:rPr lang="fr-FR" sz="1600" dirty="0">
                <a:solidFill>
                  <a:srgbClr val="098658"/>
                </a:solidFill>
                <a:latin typeface="Consolas" panose="020B0609020204030204" pitchFamily="49" charset="0"/>
              </a:rPr>
              <a:t>273</a:t>
            </a:r>
            <a:r>
              <a:rPr lang="fr-FR" sz="1600" dirty="0">
                <a:solidFill>
                  <a:srgbClr val="000000"/>
                </a:solidFill>
                <a:latin typeface="Consolas" panose="020B0609020204030204" pitchFamily="49" charset="0"/>
              </a:rPr>
              <a:t>, </a:t>
            </a:r>
            <a:r>
              <a:rPr lang="fr-FR" sz="1600" dirty="0">
                <a:solidFill>
                  <a:srgbClr val="A31515"/>
                </a:solidFill>
                <a:latin typeface="Consolas" panose="020B0609020204030204" pitchFamily="49" charset="0"/>
              </a:rPr>
              <a:t>'r'</a:t>
            </a:r>
            <a:r>
              <a:rPr lang="fr-FR" sz="1600" dirty="0">
                <a:solidFill>
                  <a:srgbClr val="000000"/>
                </a:solidFill>
                <a:latin typeface="Consolas" panose="020B0609020204030204" pitchFamily="49" charset="0"/>
              </a:rPr>
              <a:t>)</a:t>
            </a:r>
          </a:p>
          <a:p>
            <a:r>
              <a:rPr lang="fr-FR" sz="1600" dirty="0" err="1">
                <a:solidFill>
                  <a:srgbClr val="267F99"/>
                </a:solidFill>
                <a:latin typeface="Consolas" panose="020B0609020204030204" pitchFamily="49" charset="0"/>
              </a:rPr>
              <a:t>plt</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xlabel</a:t>
            </a:r>
            <a:r>
              <a:rPr lang="fr-FR" sz="1600" dirty="0">
                <a:solidFill>
                  <a:srgbClr val="000000"/>
                </a:solidFill>
                <a:latin typeface="Consolas" panose="020B0609020204030204" pitchFamily="49" charset="0"/>
              </a:rPr>
              <a:t>(</a:t>
            </a:r>
            <a:r>
              <a:rPr lang="fr-FR" sz="1600" dirty="0">
                <a:solidFill>
                  <a:srgbClr val="A31515"/>
                </a:solidFill>
                <a:latin typeface="Consolas" panose="020B0609020204030204" pitchFamily="49" charset="0"/>
              </a:rPr>
              <a:t>'$R_</a:t>
            </a:r>
            <a:r>
              <a:rPr lang="fr-FR" sz="1600" dirty="0">
                <a:solidFill>
                  <a:srgbClr val="0000FF"/>
                </a:solidFill>
                <a:latin typeface="Consolas" panose="020B0609020204030204" pitchFamily="49" charset="0"/>
              </a:rPr>
              <a:t>{</a:t>
            </a:r>
            <a:r>
              <a:rPr lang="fr-FR" sz="1600" dirty="0" err="1">
                <a:solidFill>
                  <a:srgbClr val="0000FF"/>
                </a:solidFill>
                <a:latin typeface="Consolas" panose="020B0609020204030204" pitchFamily="49" charset="0"/>
              </a:rPr>
              <a:t>tc</a:t>
            </a:r>
            <a:r>
              <a:rPr lang="fr-FR" sz="1600" dirty="0">
                <a:solidFill>
                  <a:srgbClr val="0000FF"/>
                </a:solidFill>
                <a:latin typeface="Consolas" panose="020B0609020204030204" pitchFamily="49" charset="0"/>
              </a:rPr>
              <a:t>}</a:t>
            </a:r>
            <a:r>
              <a:rPr lang="fr-FR" sz="1600" dirty="0">
                <a:solidFill>
                  <a:srgbClr val="A31515"/>
                </a:solidFill>
                <a:latin typeface="Consolas" panose="020B0609020204030204" pitchFamily="49" charset="0"/>
              </a:rPr>
              <a:t>'' (m^</a:t>
            </a:r>
            <a:r>
              <a:rPr lang="fr-FR" sz="1600" dirty="0">
                <a:solidFill>
                  <a:srgbClr val="0000FF"/>
                </a:solidFill>
                <a:latin typeface="Consolas" panose="020B0609020204030204" pitchFamily="49" charset="0"/>
              </a:rPr>
              <a:t>{2}</a:t>
            </a:r>
            <a:r>
              <a:rPr lang="fr-FR" sz="1600" dirty="0">
                <a:solidFill>
                  <a:srgbClr val="A31515"/>
                </a:solidFill>
                <a:latin typeface="Consolas" panose="020B0609020204030204" pitchFamily="49" charset="0"/>
              </a:rPr>
              <a:t>.K.W^{-1})$'</a:t>
            </a:r>
            <a:r>
              <a:rPr lang="fr-FR" sz="1600" dirty="0">
                <a:solidFill>
                  <a:srgbClr val="000000"/>
                </a:solidFill>
                <a:latin typeface="Consolas" panose="020B0609020204030204" pitchFamily="49" charset="0"/>
              </a:rPr>
              <a:t>)</a:t>
            </a:r>
          </a:p>
          <a:p>
            <a:r>
              <a:rPr lang="fr-FR" sz="1600" dirty="0" err="1">
                <a:solidFill>
                  <a:srgbClr val="267F99"/>
                </a:solidFill>
                <a:latin typeface="Consolas" panose="020B0609020204030204" pitchFamily="49" charset="0"/>
              </a:rPr>
              <a:t>plt</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ylabel</a:t>
            </a:r>
            <a:r>
              <a:rPr lang="fr-FR" sz="1600" dirty="0">
                <a:solidFill>
                  <a:srgbClr val="000000"/>
                </a:solidFill>
                <a:latin typeface="Consolas" panose="020B0609020204030204" pitchFamily="49" charset="0"/>
              </a:rPr>
              <a:t>(</a:t>
            </a:r>
            <a:r>
              <a:rPr lang="fr-FR" sz="1600" dirty="0">
                <a:solidFill>
                  <a:srgbClr val="A31515"/>
                </a:solidFill>
                <a:latin typeface="Consolas" panose="020B0609020204030204" pitchFamily="49" charset="0"/>
              </a:rPr>
              <a:t>'$Tc$ (°C)'</a:t>
            </a:r>
            <a:r>
              <a:rPr lang="fr-FR" sz="1600" dirty="0">
                <a:solidFill>
                  <a:srgbClr val="000000"/>
                </a:solidFill>
                <a:latin typeface="Consolas" panose="020B0609020204030204" pitchFamily="49" charset="0"/>
              </a:rPr>
              <a:t>)</a:t>
            </a:r>
          </a:p>
          <a:p>
            <a:r>
              <a:rPr lang="fr-FR" sz="1600" dirty="0" err="1">
                <a:solidFill>
                  <a:srgbClr val="267F99"/>
                </a:solidFill>
                <a:latin typeface="Consolas" panose="020B0609020204030204" pitchFamily="49" charset="0"/>
              </a:rPr>
              <a:t>plt</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grid</a:t>
            </a:r>
            <a:r>
              <a:rPr lang="fr-FR" sz="1600" dirty="0">
                <a:solidFill>
                  <a:srgbClr val="000000"/>
                </a:solidFill>
                <a:latin typeface="Consolas" panose="020B0609020204030204" pitchFamily="49" charset="0"/>
              </a:rPr>
              <a:t>()</a:t>
            </a:r>
          </a:p>
          <a:p>
            <a:r>
              <a:rPr lang="fr-FR" sz="1600" dirty="0" err="1">
                <a:solidFill>
                  <a:srgbClr val="267F99"/>
                </a:solidFill>
                <a:latin typeface="Consolas" panose="020B0609020204030204" pitchFamily="49" charset="0"/>
              </a:rPr>
              <a:t>plt</a:t>
            </a:r>
            <a:r>
              <a:rPr lang="fr-FR" sz="1600" dirty="0" err="1">
                <a:solidFill>
                  <a:srgbClr val="000000"/>
                </a:solidFill>
                <a:latin typeface="Consolas" panose="020B0609020204030204" pitchFamily="49" charset="0"/>
              </a:rPr>
              <a:t>.</a:t>
            </a:r>
            <a:r>
              <a:rPr lang="fr-FR" sz="1600" dirty="0" err="1">
                <a:solidFill>
                  <a:srgbClr val="795E26"/>
                </a:solidFill>
                <a:latin typeface="Consolas" panose="020B0609020204030204" pitchFamily="49" charset="0"/>
              </a:rPr>
              <a:t>show</a:t>
            </a:r>
            <a:r>
              <a:rPr lang="fr-FR" sz="1600" dirty="0">
                <a:solidFill>
                  <a:srgbClr val="000000"/>
                </a:solidFill>
                <a:latin typeface="Consolas" panose="020B0609020204030204" pitchFamily="49" charset="0"/>
              </a:rPr>
              <a:t>()</a:t>
            </a:r>
          </a:p>
          <a:p>
            <a:endParaRPr lang="fr-FR" sz="1600" dirty="0"/>
          </a:p>
        </p:txBody>
      </p:sp>
      <p:pic>
        <p:nvPicPr>
          <p:cNvPr id="6" name="Image 5"/>
          <p:cNvPicPr>
            <a:picLocks noChangeAspect="1"/>
          </p:cNvPicPr>
          <p:nvPr/>
        </p:nvPicPr>
        <p:blipFill>
          <a:blip r:embed="rId4"/>
          <a:stretch>
            <a:fillRect/>
          </a:stretch>
        </p:blipFill>
        <p:spPr>
          <a:xfrm>
            <a:off x="6984530" y="3642967"/>
            <a:ext cx="3988270" cy="2948086"/>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6</a:t>
            </a:fld>
            <a:endParaRPr lang="fr-FR"/>
          </a:p>
        </p:txBody>
      </p:sp>
      <p:sp>
        <p:nvSpPr>
          <p:cNvPr id="7" name="ZoneTexte 6"/>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41374203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429370" y="350760"/>
            <a:ext cx="1954318" cy="954107"/>
          </a:xfrm>
          <a:prstGeom prst="rect">
            <a:avLst/>
          </a:prstGeom>
          <a:noFill/>
        </p:spPr>
        <p:txBody>
          <a:bodyPr wrap="none" rtlCol="0">
            <a:spAutoFit/>
          </a:bodyPr>
          <a:lstStyle/>
          <a:p>
            <a:r>
              <a:rPr lang="fr-FR" sz="2800" dirty="0" err="1" smtClean="0"/>
              <a:t>Incropera</a:t>
            </a:r>
            <a:endParaRPr lang="fr-FR" sz="2800" dirty="0" smtClean="0"/>
          </a:p>
          <a:p>
            <a:r>
              <a:rPr lang="fr-FR" sz="2800" dirty="0" err="1" smtClean="0"/>
              <a:t>Example</a:t>
            </a:r>
            <a:r>
              <a:rPr lang="fr-FR" sz="2800" dirty="0" smtClean="0"/>
              <a:t> 3.3</a:t>
            </a:r>
            <a:endParaRPr lang="fr-FR" sz="2800" dirty="0"/>
          </a:p>
        </p:txBody>
      </p:sp>
      <p:pic>
        <p:nvPicPr>
          <p:cNvPr id="3" name="Image 2" descr="\documentclass{article}&#10;\usepackage{amsmath}&#10;\pagestyle{empty}&#10;\begin{document}&#10;&#10;Un panneau photovoltaïque est constitué (de haut en bas) d'un verre dopé à la céria (dioxyde de cérium) d'une épaisseur de 3 mm ($k_g = 1.4\,\mathrm{W}/\mathrm{m}\cdot\mathrm{K}$), d'un adhésif de qualité optique d'une épaisseur de 0.1 mm ($k_a = 145\,\mathrm{W}/\mathrm{m}\cdot\mathrm{K}$), d'une couche très mince de silicium dans laquelle l'énergie solaire est convertie en énergie électrique, d'une couche de soudure de 0.1 mm d'épaisseur, et d'un substrat en nitrure d'aluminium de 2 mm d'épaisseur.&#10;&#10;\end{document}"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805467" y="248481"/>
            <a:ext cx="7843201" cy="1581256"/>
          </a:xfrm>
          <a:prstGeom prst="rect">
            <a:avLst/>
          </a:prstGeom>
        </p:spPr>
      </p:pic>
      <p:pic>
        <p:nvPicPr>
          <p:cNvPr id="11" name="Image 10"/>
          <p:cNvPicPr>
            <a:picLocks noChangeAspect="1"/>
          </p:cNvPicPr>
          <p:nvPr/>
        </p:nvPicPr>
        <p:blipFill>
          <a:blip r:embed="rId5"/>
          <a:stretch>
            <a:fillRect/>
          </a:stretch>
        </p:blipFill>
        <p:spPr>
          <a:xfrm>
            <a:off x="2615970" y="1894487"/>
            <a:ext cx="6160967" cy="2966156"/>
          </a:xfrm>
          <a:prstGeom prst="rect">
            <a:avLst/>
          </a:prstGeom>
        </p:spPr>
      </p:pic>
      <p:pic>
        <p:nvPicPr>
          <p:cNvPr id="15" name="Image 14"/>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2558617" y="5012856"/>
            <a:ext cx="7843200" cy="1741714"/>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7</a:t>
            </a:fld>
            <a:endParaRPr lang="fr-FR"/>
          </a:p>
        </p:txBody>
      </p:sp>
    </p:spTree>
    <p:extLst>
      <p:ext uri="{BB962C8B-B14F-4D97-AF65-F5344CB8AC3E}">
        <p14:creationId xmlns:p14="http://schemas.microsoft.com/office/powerpoint/2010/main" val="22224002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916784" y="358924"/>
            <a:ext cx="7848689" cy="2681141"/>
          </a:xfrm>
          <a:prstGeom prst="rect">
            <a:avLst/>
          </a:prstGeom>
        </p:spPr>
      </p:pic>
      <p:sp>
        <p:nvSpPr>
          <p:cNvPr id="4" name="Espace réservé du numéro de diapositive 3"/>
          <p:cNvSpPr>
            <a:spLocks noGrp="1"/>
          </p:cNvSpPr>
          <p:nvPr>
            <p:ph type="sldNum" sz="quarter" idx="12"/>
          </p:nvPr>
        </p:nvSpPr>
        <p:spPr/>
        <p:txBody>
          <a:bodyPr/>
          <a:lstStyle/>
          <a:p>
            <a:fld id="{CB13DDC6-9977-4A69-882A-1641CFA73689}" type="slidenum">
              <a:rPr lang="fr-FR" smtClean="0"/>
              <a:t>8</a:t>
            </a:fld>
            <a:endParaRPr lang="fr-FR"/>
          </a:p>
        </p:txBody>
      </p:sp>
      <p:pic>
        <p:nvPicPr>
          <p:cNvPr id="8" name="Image 7"/>
          <p:cNvPicPr>
            <a:picLocks noChangeAspect="1"/>
          </p:cNvPicPr>
          <p:nvPr/>
        </p:nvPicPr>
        <p:blipFill>
          <a:blip r:embed="rId7"/>
          <a:stretch>
            <a:fillRect/>
          </a:stretch>
        </p:blipFill>
        <p:spPr>
          <a:xfrm>
            <a:off x="1655941" y="3149900"/>
            <a:ext cx="9563929" cy="3261643"/>
          </a:xfrm>
          <a:prstGeom prst="rect">
            <a:avLst/>
          </a:prstGeom>
        </p:spPr>
      </p:pic>
      <p:grpSp>
        <p:nvGrpSpPr>
          <p:cNvPr id="15" name="Groupe 14"/>
          <p:cNvGrpSpPr/>
          <p:nvPr/>
        </p:nvGrpSpPr>
        <p:grpSpPr>
          <a:xfrm>
            <a:off x="7912459" y="3149900"/>
            <a:ext cx="3542508" cy="3304352"/>
            <a:chOff x="7912459" y="3149900"/>
            <a:chExt cx="3542508" cy="3304352"/>
          </a:xfrm>
        </p:grpSpPr>
        <p:pic>
          <p:nvPicPr>
            <p:cNvPr id="5" name="Image 4"/>
            <p:cNvPicPr>
              <a:picLocks noChangeAspect="1"/>
            </p:cNvPicPr>
            <p:nvPr/>
          </p:nvPicPr>
          <p:blipFill>
            <a:blip r:embed="rId8"/>
            <a:stretch>
              <a:fillRect/>
            </a:stretch>
          </p:blipFill>
          <p:spPr>
            <a:xfrm>
              <a:off x="7912459" y="3149900"/>
              <a:ext cx="3297886" cy="3304352"/>
            </a:xfrm>
            <a:prstGeom prst="rect">
              <a:avLst/>
            </a:prstGeom>
          </p:spPr>
        </p:pic>
        <p:pic>
          <p:nvPicPr>
            <p:cNvPr id="7" name="Image 6" descr="\documentclass{article}&#10;\usepackage{amsmath}&#10;\pagestyle{empty}&#10;\begin{document}&#10;&#10;$=R_g$&#10;&#10;&#10;\end{document}" title="IguanaTex Bitmap Display"/>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10403680" y="4902500"/>
              <a:ext cx="432762" cy="197486"/>
            </a:xfrm>
            <a:prstGeom prst="rect">
              <a:avLst/>
            </a:prstGeom>
          </p:spPr>
        </p:pic>
        <p:pic>
          <p:nvPicPr>
            <p:cNvPr id="10" name="Image 9" descr="\documentclass{article}&#10;\usepackage{amsmath}&#10;\pagestyle{empty}&#10;\begin{document}&#10;&#10;$=R_A$&#10;&#10;&#10;\end{document}" title="IguanaTex Bitmap Display"/>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10365101" y="5644053"/>
              <a:ext cx="471772" cy="168229"/>
            </a:xfrm>
            <a:prstGeom prst="rect">
              <a:avLst/>
            </a:prstGeom>
          </p:spPr>
        </p:pic>
        <p:pic>
          <p:nvPicPr>
            <p:cNvPr id="13" name="Image 12" descr="\documentclass{article}&#10;\usepackage{amsmath}&#10;\pagestyle{empty}&#10;\begin{document}&#10;&#10;$=P$&#10;&#10;&#10;\end{document}" title="IguanaTex Bitmap Display"/>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1099005" y="5912151"/>
              <a:ext cx="355962" cy="137753"/>
            </a:xfrm>
            <a:prstGeom prst="rect">
              <a:avLst/>
            </a:prstGeom>
          </p:spPr>
        </p:pic>
      </p:grpSp>
    </p:spTree>
    <p:extLst>
      <p:ext uri="{BB962C8B-B14F-4D97-AF65-F5344CB8AC3E}">
        <p14:creationId xmlns:p14="http://schemas.microsoft.com/office/powerpoint/2010/main" val="16955193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 28" descr="\documentclass{article}&#10;\usepackage{amsmath}&#10;\usepackage[paperwidth=23cm]{geometry}&#10;\pagestyle{empty}&#10;\begin{document}&#10;&#10;La conservation de l'énergie au niveau du Si donne:&#10;$$&#10;+\frac{T_{g,\text{top}}-T_{si}}{R_a + R_g} +  0.83\, G_s A \left(1 - \eta(T_{si})\right) =0&#10;$$&#10;&#10;&#10;\end{document}" title="IguanaTex Bitmap Display"/>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320292" y="5387130"/>
            <a:ext cx="6929830" cy="987428"/>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9</a:t>
            </a:fld>
            <a:endParaRPr lang="fr-FR"/>
          </a:p>
        </p:txBody>
      </p:sp>
      <p:sp>
        <p:nvSpPr>
          <p:cNvPr id="18" name="ZoneTexte 17"/>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grpSp>
        <p:nvGrpSpPr>
          <p:cNvPr id="27" name="Groupe 26"/>
          <p:cNvGrpSpPr/>
          <p:nvPr/>
        </p:nvGrpSpPr>
        <p:grpSpPr>
          <a:xfrm>
            <a:off x="9460245" y="797134"/>
            <a:ext cx="1934918" cy="2138396"/>
            <a:chOff x="9460245" y="797134"/>
            <a:chExt cx="1934918" cy="2138396"/>
          </a:xfrm>
        </p:grpSpPr>
        <p:sp>
          <p:nvSpPr>
            <p:cNvPr id="17" name="ZoneTexte 16"/>
            <p:cNvSpPr txBox="1"/>
            <p:nvPr/>
          </p:nvSpPr>
          <p:spPr>
            <a:xfrm>
              <a:off x="11091641" y="879846"/>
              <a:ext cx="301686" cy="369332"/>
            </a:xfrm>
            <a:prstGeom prst="rect">
              <a:avLst/>
            </a:prstGeom>
            <a:noFill/>
          </p:spPr>
          <p:txBody>
            <a:bodyPr wrap="none" rtlCol="0">
              <a:spAutoFit/>
            </a:bodyPr>
            <a:lstStyle/>
            <a:p>
              <a:r>
                <a:rPr lang="fr-FR" dirty="0" smtClean="0"/>
                <a:t>1</a:t>
              </a:r>
              <a:endParaRPr lang="fr-FR" dirty="0"/>
            </a:p>
          </p:txBody>
        </p:sp>
        <p:sp>
          <p:nvSpPr>
            <p:cNvPr id="24" name="ZoneTexte 23"/>
            <p:cNvSpPr txBox="1"/>
            <p:nvPr/>
          </p:nvSpPr>
          <p:spPr>
            <a:xfrm>
              <a:off x="11093477" y="1745024"/>
              <a:ext cx="301686" cy="369332"/>
            </a:xfrm>
            <a:prstGeom prst="rect">
              <a:avLst/>
            </a:prstGeom>
            <a:noFill/>
          </p:spPr>
          <p:txBody>
            <a:bodyPr wrap="none" rtlCol="0">
              <a:spAutoFit/>
            </a:bodyPr>
            <a:lstStyle/>
            <a:p>
              <a:r>
                <a:rPr lang="fr-FR" dirty="0"/>
                <a:t>2</a:t>
              </a:r>
            </a:p>
          </p:txBody>
        </p:sp>
        <p:grpSp>
          <p:nvGrpSpPr>
            <p:cNvPr id="5" name="Groupe 4"/>
            <p:cNvGrpSpPr/>
            <p:nvPr/>
          </p:nvGrpSpPr>
          <p:grpSpPr>
            <a:xfrm rot="5400000">
              <a:off x="9453629" y="803750"/>
              <a:ext cx="1349666" cy="1336433"/>
              <a:chOff x="9448708" y="1191152"/>
              <a:chExt cx="1349666" cy="1336433"/>
            </a:xfrm>
          </p:grpSpPr>
          <p:cxnSp>
            <p:nvCxnSpPr>
              <p:cNvPr id="16" name="Connecteur droit 15"/>
              <p:cNvCxnSpPr/>
              <p:nvPr/>
            </p:nvCxnSpPr>
            <p:spPr>
              <a:xfrm>
                <a:off x="10137544" y="1191154"/>
                <a:ext cx="0" cy="133643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a:xfrm>
                <a:off x="10346230" y="1191153"/>
                <a:ext cx="0" cy="133643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a:xfrm>
                <a:off x="9900753" y="1191152"/>
                <a:ext cx="0" cy="133643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a:off x="10346230" y="1859367"/>
                <a:ext cx="4521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flipH="1">
                <a:off x="9448708" y="1859367"/>
                <a:ext cx="4521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25" name="Image 24" descr="\documentclass{article}&#10;\usepackage{amsmath}&#10;\pagestyle{empty}&#10;\begin{document}&#10;&#10;$n_{21}=n_{ext}$&#10;&#10;&#10;\end{document}" title="IguanaTex Bitmap Display"/>
            <p:cNvPicPr>
              <a:picLocks noChangeAspect="1"/>
            </p:cNvPicPr>
            <p:nvPr>
              <p:custDataLst>
                <p:tags r:id="rId7"/>
              </p:custDataLst>
            </p:nvPr>
          </p:nvPicPr>
          <p:blipFill>
            <a:blip r:embed="rId12" cstate="print">
              <a:extLst>
                <a:ext uri="{28A0092B-C50C-407E-A947-70E740481C1C}">
                  <a14:useLocalDpi xmlns:a14="http://schemas.microsoft.com/office/drawing/2010/main" val="0"/>
                </a:ext>
              </a:extLst>
            </a:blip>
            <a:stretch>
              <a:fillRect/>
            </a:stretch>
          </p:blipFill>
          <p:spPr>
            <a:xfrm>
              <a:off x="9750746" y="928911"/>
              <a:ext cx="1129144" cy="150857"/>
            </a:xfrm>
            <a:prstGeom prst="rect">
              <a:avLst/>
            </a:prstGeom>
          </p:spPr>
        </p:pic>
        <p:cxnSp>
          <p:nvCxnSpPr>
            <p:cNvPr id="31" name="Connecteur droit avec flèche 30"/>
            <p:cNvCxnSpPr/>
            <p:nvPr/>
          </p:nvCxnSpPr>
          <p:spPr>
            <a:xfrm rot="5400000">
              <a:off x="10179266" y="2164043"/>
              <a:ext cx="135634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ZoneTexte 31"/>
            <p:cNvSpPr txBox="1"/>
            <p:nvPr/>
          </p:nvSpPr>
          <p:spPr>
            <a:xfrm>
              <a:off x="10573387" y="2566198"/>
              <a:ext cx="284052" cy="369332"/>
            </a:xfrm>
            <a:prstGeom prst="rect">
              <a:avLst/>
            </a:prstGeom>
            <a:noFill/>
          </p:spPr>
          <p:txBody>
            <a:bodyPr wrap="none" rtlCol="0">
              <a:spAutoFit/>
            </a:bodyPr>
            <a:lstStyle/>
            <a:p>
              <a:r>
                <a:rPr lang="fr-FR" dirty="0" smtClean="0"/>
                <a:t>x</a:t>
              </a:r>
              <a:endParaRPr lang="fr-FR" dirty="0"/>
            </a:p>
          </p:txBody>
        </p:sp>
        <p:pic>
          <p:nvPicPr>
            <p:cNvPr id="7" name="Image 6" descr="\documentclass{article}&#10;\usepackage{amsmath}&#10;\pagestyle{empty}&#10;\begin{document}&#10;&#10;$n_{12}$&#10;&#10;&#10;\end{document}" title="IguanaTex Bitmap Display"/>
            <p:cNvPicPr>
              <a:picLocks noChangeAspect="1"/>
            </p:cNvPicPr>
            <p:nvPr>
              <p:custDataLst>
                <p:tags r:id="rId8"/>
              </p:custDataLst>
            </p:nvPr>
          </p:nvPicPr>
          <p:blipFill>
            <a:blip r:embed="rId13" cstate="print">
              <a:extLst>
                <a:ext uri="{28A0092B-C50C-407E-A947-70E740481C1C}">
                  <a14:useLocalDpi xmlns:a14="http://schemas.microsoft.com/office/drawing/2010/main" val="0"/>
                </a:ext>
              </a:extLst>
            </a:blip>
            <a:stretch>
              <a:fillRect/>
            </a:stretch>
          </p:blipFill>
          <p:spPr>
            <a:xfrm>
              <a:off x="9737614" y="1903341"/>
              <a:ext cx="336762" cy="149333"/>
            </a:xfrm>
            <a:prstGeom prst="rect">
              <a:avLst/>
            </a:prstGeom>
          </p:spPr>
        </p:pic>
        <p:pic>
          <p:nvPicPr>
            <p:cNvPr id="9" name="Image 8" descr="\documentclass{article}&#10;\usepackage{amsmath}&#10;\pagestyle{empty}&#10;\begin{document}&#10;&#10;&#10;$E_g''$&#10;&#10;\end{document}" title="IguanaTex Bitmap Display"/>
            <p:cNvPicPr>
              <a:picLocks noChangeAspect="1"/>
            </p:cNvPicPr>
            <p:nvPr>
              <p:custDataLst>
                <p:tags r:id="rId9"/>
              </p:custDataLst>
            </p:nvPr>
          </p:nvPicPr>
          <p:blipFill>
            <a:blip r:embed="rId14" cstate="print">
              <a:extLst>
                <a:ext uri="{28A0092B-C50C-407E-A947-70E740481C1C}">
                  <a14:useLocalDpi xmlns:a14="http://schemas.microsoft.com/office/drawing/2010/main" val="0"/>
                </a:ext>
              </a:extLst>
            </a:blip>
            <a:stretch>
              <a:fillRect/>
            </a:stretch>
          </p:blipFill>
          <p:spPr>
            <a:xfrm>
              <a:off x="10008577" y="1372086"/>
              <a:ext cx="242590" cy="231619"/>
            </a:xfrm>
            <a:prstGeom prst="rect">
              <a:avLst/>
            </a:prstGeom>
            <a:solidFill>
              <a:srgbClr val="FFFFFF"/>
            </a:solidFill>
          </p:spPr>
        </p:pic>
      </p:grpSp>
      <p:grpSp>
        <p:nvGrpSpPr>
          <p:cNvPr id="34" name="Groupe 33"/>
          <p:cNvGrpSpPr/>
          <p:nvPr/>
        </p:nvGrpSpPr>
        <p:grpSpPr>
          <a:xfrm>
            <a:off x="8418625" y="3084442"/>
            <a:ext cx="3542508" cy="3304352"/>
            <a:chOff x="7912459" y="3149900"/>
            <a:chExt cx="3542508" cy="3304352"/>
          </a:xfrm>
        </p:grpSpPr>
        <p:pic>
          <p:nvPicPr>
            <p:cNvPr id="35" name="Image 34"/>
            <p:cNvPicPr>
              <a:picLocks noChangeAspect="1"/>
            </p:cNvPicPr>
            <p:nvPr/>
          </p:nvPicPr>
          <p:blipFill>
            <a:blip r:embed="rId15"/>
            <a:stretch>
              <a:fillRect/>
            </a:stretch>
          </p:blipFill>
          <p:spPr>
            <a:xfrm>
              <a:off x="7912459" y="3149900"/>
              <a:ext cx="3297886" cy="3304352"/>
            </a:xfrm>
            <a:prstGeom prst="rect">
              <a:avLst/>
            </a:prstGeom>
          </p:spPr>
        </p:pic>
        <p:pic>
          <p:nvPicPr>
            <p:cNvPr id="36" name="Image 35" descr="\documentclass{article}&#10;\usepackage{amsmath}&#10;\pagestyle{empty}&#10;\begin{document}&#10;&#10;$=R_g$&#10;&#10;&#10;\end{document}" title="IguanaTex Bitmap Display"/>
            <p:cNvPicPr>
              <a:picLocks noChangeAspect="1"/>
            </p:cNvPicPr>
            <p:nvPr>
              <p:custDataLst>
                <p:tags r:id="rId4"/>
              </p:custDataLst>
            </p:nvPr>
          </p:nvPicPr>
          <p:blipFill>
            <a:blip r:embed="rId16" cstate="print">
              <a:extLst>
                <a:ext uri="{28A0092B-C50C-407E-A947-70E740481C1C}">
                  <a14:useLocalDpi xmlns:a14="http://schemas.microsoft.com/office/drawing/2010/main" val="0"/>
                </a:ext>
              </a:extLst>
            </a:blip>
            <a:stretch>
              <a:fillRect/>
            </a:stretch>
          </p:blipFill>
          <p:spPr>
            <a:xfrm>
              <a:off x="10403680" y="4902500"/>
              <a:ext cx="432762" cy="197486"/>
            </a:xfrm>
            <a:prstGeom prst="rect">
              <a:avLst/>
            </a:prstGeom>
          </p:spPr>
        </p:pic>
        <p:pic>
          <p:nvPicPr>
            <p:cNvPr id="37" name="Image 36" descr="\documentclass{article}&#10;\usepackage{amsmath}&#10;\pagestyle{empty}&#10;\begin{document}&#10;&#10;$=R_A$&#10;&#10;&#10;\end{document}" title="IguanaTex Bitmap Display"/>
            <p:cNvPicPr>
              <a:picLocks noChangeAspect="1"/>
            </p:cNvPicPr>
            <p:nvPr>
              <p:custDataLst>
                <p:tags r:id="rId5"/>
              </p:custDataLst>
            </p:nvPr>
          </p:nvPicPr>
          <p:blipFill>
            <a:blip r:embed="rId17" cstate="print">
              <a:extLst>
                <a:ext uri="{28A0092B-C50C-407E-A947-70E740481C1C}">
                  <a14:useLocalDpi xmlns:a14="http://schemas.microsoft.com/office/drawing/2010/main" val="0"/>
                </a:ext>
              </a:extLst>
            </a:blip>
            <a:stretch>
              <a:fillRect/>
            </a:stretch>
          </p:blipFill>
          <p:spPr>
            <a:xfrm>
              <a:off x="10365101" y="5644053"/>
              <a:ext cx="471772" cy="168229"/>
            </a:xfrm>
            <a:prstGeom prst="rect">
              <a:avLst/>
            </a:prstGeom>
          </p:spPr>
        </p:pic>
        <p:pic>
          <p:nvPicPr>
            <p:cNvPr id="38" name="Image 37" descr="\documentclass{article}&#10;\usepackage{amsmath}&#10;\pagestyle{empty}&#10;\begin{document}&#10;&#10;$=P$&#10;&#10;&#10;\end{document}" title="IguanaTex Bitmap Display"/>
            <p:cNvPicPr>
              <a:picLocks noChangeAspect="1"/>
            </p:cNvPicPr>
            <p:nvPr>
              <p:custDataLst>
                <p:tags r:id="rId6"/>
              </p:custDataLst>
            </p:nvPr>
          </p:nvPicPr>
          <p:blipFill>
            <a:blip r:embed="rId18" cstate="print">
              <a:extLst>
                <a:ext uri="{28A0092B-C50C-407E-A947-70E740481C1C}">
                  <a14:useLocalDpi xmlns:a14="http://schemas.microsoft.com/office/drawing/2010/main" val="0"/>
                </a:ext>
              </a:extLst>
            </a:blip>
            <a:stretch>
              <a:fillRect/>
            </a:stretch>
          </p:blipFill>
          <p:spPr>
            <a:xfrm>
              <a:off x="11099005" y="5912151"/>
              <a:ext cx="355962" cy="137753"/>
            </a:xfrm>
            <a:prstGeom prst="rect">
              <a:avLst/>
            </a:prstGeom>
          </p:spPr>
        </p:pic>
      </p:grpSp>
      <p:pic>
        <p:nvPicPr>
          <p:cNvPr id="6" name="Image 5" descr="\documentclass{article}&#10;\usepackage{amsmath}&#10;\usepackage[paperwidth=23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subsection*{Conservation du flux thermique en surface}&#10;&#10;Sur la surface supérieure, la conservation du flux thermique impose :&#10;&#10;$$\dot{E}_g'' - \rtvector{q}''_{\text{cond}} \cdot \rtvector{n}_{12} - &#10;\rtvector{q}''_{\text{conv}} \cdot \rtvector{n}_{21} - \rtvector{q}''_{\text{rad}} \cdot \rtvector{n}_{21} =0&#10;$$&#10;&#10;\noindent&#10;où $\rtvector{n}_{21} = -\rtvector{n}_{12}$. Ou encore:&#10;$$\dot{E}_g''-\rtvector{q}''_{\text{cond}} \cdot \rtvector{n}_{12} = &#10;\rtvector{q}''_{\text{conv}} \cdot \rtvector{n}_{21} + \rtvector{q}''_{\text{rad}} \cdot \rtvector{n}_{21} &#10;$$&#10;&#10;avec $$\rtvector{q}''_{\text{cond}}\cdot \rtvector{n}_{12} \; A = -k \; \left. \dfrac{\partial T}{\partial x} \right|_0\; A\; \rtvector{e}_{x} \cdot \rtvector{n}_{12}&#10;=\frac{T_{g,\text{top}}-T_{si}}{R_a + R_g} $$ et en remarquant que $\rtvector{n}_{21} \equiv \rtvector{n}_{ext}$, &#10;$$\rtvector{q}''_{\text{conv}} \cdot \rtvector{n}_{21} \; A + \rtvector{q}''_{\text{rad}} \cdot \rtvector{n}_{21} \; A=&#10; h(T_{g, top}-T_\infty) \; A+ \epsilon \sigma (T_{g, top}^4-T_{sur}^4) \; A&#10;$$&#10;\end{document}" title="IguanaTex Bitmap Display"/>
          <p:cNvPicPr>
            <a:picLocks noChangeAspect="1"/>
          </p:cNvPicPr>
          <p:nvPr>
            <p:custDataLst>
              <p:tags r:id="rId2"/>
            </p:custDataLst>
          </p:nvPr>
        </p:nvPicPr>
        <p:blipFill>
          <a:blip r:embed="rId19" cstate="print">
            <a:extLst>
              <a:ext uri="{28A0092B-C50C-407E-A947-70E740481C1C}">
                <a14:useLocalDpi xmlns:a14="http://schemas.microsoft.com/office/drawing/2010/main" val="0"/>
              </a:ext>
            </a:extLst>
          </a:blip>
          <a:stretch>
            <a:fillRect/>
          </a:stretch>
        </p:blipFill>
        <p:spPr>
          <a:xfrm>
            <a:off x="320292" y="449095"/>
            <a:ext cx="8586538" cy="3723427"/>
          </a:xfrm>
          <a:prstGeom prst="rect">
            <a:avLst/>
          </a:prstGeom>
        </p:spPr>
      </p:pic>
      <p:pic>
        <p:nvPicPr>
          <p:cNvPr id="8" name="Image 7" descr="\documentclass{article}&#10;\usepackage{amsmath}&#10;\pagestyle{empty}&#10;\begin{document}&#10;&#10;$$&#10;\frac{T_{si} - T_{g,\text{top}}}{R_a + R_g} +  0.1\, G_s A =  h A (T_{g,\text{top}} - T_\infty) + \varepsilon \sigma A \left( T_{g,\text{top}}^4 - T_{\text{sur}}^4 \right)&#10;$$&#10;&#10;&#10;&#10;\end{document}" title="IguanaTex Bitmap Display"/>
          <p:cNvPicPr>
            <a:picLocks noChangeAspect="1"/>
          </p:cNvPicPr>
          <p:nvPr>
            <p:custDataLst>
              <p:tags r:id="rId3"/>
            </p:custDataLst>
          </p:nvPr>
        </p:nvPicPr>
        <p:blipFill>
          <a:blip r:embed="rId20" cstate="print">
            <a:extLst>
              <a:ext uri="{28A0092B-C50C-407E-A947-70E740481C1C}">
                <a14:useLocalDpi xmlns:a14="http://schemas.microsoft.com/office/drawing/2010/main" val="0"/>
              </a:ext>
            </a:extLst>
          </a:blip>
          <a:stretch>
            <a:fillRect/>
          </a:stretch>
        </p:blipFill>
        <p:spPr>
          <a:xfrm>
            <a:off x="2153243" y="4576117"/>
            <a:ext cx="6975998" cy="589714"/>
          </a:xfrm>
          <a:prstGeom prst="rect">
            <a:avLst/>
          </a:prstGeom>
        </p:spPr>
      </p:pic>
    </p:spTree>
    <p:extLst>
      <p:ext uri="{BB962C8B-B14F-4D97-AF65-F5344CB8AC3E}">
        <p14:creationId xmlns:p14="http://schemas.microsoft.com/office/powerpoint/2010/main" val="26757864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98177" y="2646567"/>
            <a:ext cx="7843200" cy="1741714"/>
          </a:xfrm>
          <a:prstGeom prst="rect">
            <a:avLst/>
          </a:prstGeom>
        </p:spPr>
      </p:pic>
      <p:pic>
        <p:nvPicPr>
          <p:cNvPr id="2" name="Image 1"/>
          <p:cNvPicPr>
            <a:picLocks noChangeAspect="1"/>
          </p:cNvPicPr>
          <p:nvPr/>
        </p:nvPicPr>
        <p:blipFill>
          <a:blip r:embed="rId6"/>
          <a:stretch>
            <a:fillRect/>
          </a:stretch>
        </p:blipFill>
        <p:spPr>
          <a:xfrm>
            <a:off x="8550634" y="276467"/>
            <a:ext cx="3511446" cy="3518331"/>
          </a:xfrm>
          <a:prstGeom prst="rect">
            <a:avLst/>
          </a:prstGeom>
        </p:spPr>
      </p:pic>
      <p:pic>
        <p:nvPicPr>
          <p:cNvPr id="3" name="Image 2"/>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1161606" y="718223"/>
            <a:ext cx="7189332" cy="1685333"/>
          </a:xfrm>
          <a:prstGeom prst="rect">
            <a:avLst/>
          </a:prstGeom>
        </p:spPr>
      </p:pic>
      <p:pic>
        <p:nvPicPr>
          <p:cNvPr id="11" name="Image 10" descr="\documentclass{article}&#10;\usepackage{amsmath}&#10;\usepackage[paperwidth=25cm]{geometry}&#10;\pagestyle{empty}&#10;\begin{document}&#10;&#10;La résolution du système d'équations non-linéaires est effectuée avec la routine scipy.optimize. On obtient :&#10;$T_g^{top} = 305.6K$ et $T_{si} = 306.5K$ qui est bien dans l'intervalle $300\,\mathrm{K} \le T_{si} \le 525\,&#10;\mathrm{K}$.&#10;&#10;La puissance produite par le panneau est :&#10;$$&#10;P = 0.83 \; \eta(T_{si})\; G_s \; A = 14.3W &#10;$$&#10;avec $\eta(T_{si}) = 0.247$.&#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484773" y="4690392"/>
            <a:ext cx="11311548" cy="1766397"/>
          </a:xfrm>
          <a:prstGeom prst="rect">
            <a:avLst/>
          </a:prstGeom>
        </p:spPr>
      </p:pic>
      <p:sp>
        <p:nvSpPr>
          <p:cNvPr id="4" name="Espace réservé du numéro de diapositive 3"/>
          <p:cNvSpPr>
            <a:spLocks noGrp="1"/>
          </p:cNvSpPr>
          <p:nvPr>
            <p:ph type="sldNum" sz="quarter" idx="12"/>
          </p:nvPr>
        </p:nvSpPr>
        <p:spPr/>
        <p:txBody>
          <a:bodyPr/>
          <a:lstStyle/>
          <a:p>
            <a:fld id="{CB13DDC6-9977-4A69-882A-1641CFA73689}" type="slidenum">
              <a:rPr lang="fr-FR" smtClean="0"/>
              <a:t>10</a:t>
            </a:fld>
            <a:endParaRPr lang="fr-FR"/>
          </a:p>
        </p:txBody>
      </p:sp>
      <p:sp>
        <p:nvSpPr>
          <p:cNvPr id="8" name="ZoneTexte 7"/>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0802411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500920" y="5669921"/>
            <a:ext cx="7845943" cy="741942"/>
          </a:xfrm>
          <a:prstGeom prst="rect">
            <a:avLst/>
          </a:prstGeom>
        </p:spPr>
      </p:pic>
      <p:pic>
        <p:nvPicPr>
          <p:cNvPr id="17" name="Image 16"/>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887049" y="438640"/>
            <a:ext cx="9776914" cy="4410514"/>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11</a:t>
            </a:fld>
            <a:endParaRPr lang="fr-FR"/>
          </a:p>
        </p:txBody>
      </p:sp>
      <p:sp>
        <p:nvSpPr>
          <p:cNvPr id="5" name="ZoneTexte 4"/>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10405332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35143" y="199293"/>
            <a:ext cx="8368455" cy="5477485"/>
          </a:xfrm>
          <a:prstGeom prst="rect">
            <a:avLst/>
          </a:prstGeom>
        </p:spPr>
      </p:pic>
      <p:pic>
        <p:nvPicPr>
          <p:cNvPr id="6" name="Image 5"/>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461739" y="3460873"/>
            <a:ext cx="4570971" cy="2778514"/>
          </a:xfrm>
          <a:prstGeom prst="rect">
            <a:avLst/>
          </a:prstGeom>
        </p:spPr>
      </p:pic>
      <p:pic>
        <p:nvPicPr>
          <p:cNvPr id="14" name="Image 13"/>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1200465" y="5772491"/>
            <a:ext cx="5250437" cy="933790"/>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12</a:t>
            </a:fld>
            <a:endParaRPr lang="fr-FR"/>
          </a:p>
        </p:txBody>
      </p:sp>
      <p:sp>
        <p:nvSpPr>
          <p:cNvPr id="7" name="ZoneTexte 6"/>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8611841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ZoneTexte 15"/>
          <p:cNvSpPr txBox="1"/>
          <p:nvPr/>
        </p:nvSpPr>
        <p:spPr>
          <a:xfrm>
            <a:off x="339090" y="86916"/>
            <a:ext cx="5352747" cy="6771084"/>
          </a:xfrm>
          <a:prstGeom prst="rect">
            <a:avLst/>
          </a:prstGeom>
          <a:noFill/>
        </p:spPr>
        <p:txBody>
          <a:bodyPr wrap="none" rtlCol="0">
            <a:spAutoFit/>
          </a:bodyPr>
          <a:lstStyle/>
          <a:p>
            <a:r>
              <a:rPr lang="fr-FR" sz="1400" dirty="0" err="1">
                <a:solidFill>
                  <a:srgbClr val="AF00DB"/>
                </a:solidFill>
                <a:latin typeface="Consolas" panose="020B0609020204030204" pitchFamily="49" charset="0"/>
              </a:rPr>
              <a:t>from</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scipy</a:t>
            </a:r>
            <a:r>
              <a:rPr lang="fr-FR" sz="1400" dirty="0" err="1">
                <a:solidFill>
                  <a:srgbClr val="000000"/>
                </a:solidFill>
                <a:latin typeface="Consolas" panose="020B0609020204030204" pitchFamily="49" charset="0"/>
              </a:rPr>
              <a:t>.</a:t>
            </a:r>
            <a:r>
              <a:rPr lang="fr-FR" sz="1400" dirty="0" err="1">
                <a:solidFill>
                  <a:srgbClr val="267F99"/>
                </a:solidFill>
                <a:latin typeface="Consolas" panose="020B0609020204030204" pitchFamily="49" charset="0"/>
              </a:rPr>
              <a:t>optimize</a:t>
            </a:r>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import</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root</a:t>
            </a:r>
            <a:endParaRPr lang="fr-FR" sz="1400" dirty="0">
              <a:solidFill>
                <a:srgbClr val="000000"/>
              </a:solidFill>
              <a:latin typeface="Consolas" panose="020B0609020204030204" pitchFamily="49" charset="0"/>
            </a:endParaRPr>
          </a:p>
          <a:p>
            <a:r>
              <a:rPr lang="fr-FR" sz="1400" dirty="0" err="1">
                <a:solidFill>
                  <a:srgbClr val="AF00DB"/>
                </a:solidFill>
                <a:latin typeface="Consolas" panose="020B0609020204030204" pitchFamily="49" charset="0"/>
              </a:rPr>
              <a:t>from</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scipy</a:t>
            </a:r>
            <a:r>
              <a:rPr lang="fr-FR" sz="1400" dirty="0" err="1">
                <a:solidFill>
                  <a:srgbClr val="000000"/>
                </a:solidFill>
                <a:latin typeface="Consolas" panose="020B0609020204030204" pitchFamily="49" charset="0"/>
              </a:rPr>
              <a:t>.</a:t>
            </a:r>
            <a:r>
              <a:rPr lang="fr-FR" sz="1400" dirty="0" err="1">
                <a:solidFill>
                  <a:srgbClr val="267F99"/>
                </a:solidFill>
                <a:latin typeface="Consolas" panose="020B0609020204030204" pitchFamily="49" charset="0"/>
              </a:rPr>
              <a:t>optimize</a:t>
            </a:r>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import</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approx_fprime</a:t>
            </a:r>
            <a:endParaRPr lang="fr-FR" sz="1400" dirty="0">
              <a:solidFill>
                <a:srgbClr val="000000"/>
              </a:solidFill>
              <a:latin typeface="Consolas" panose="020B0609020204030204" pitchFamily="49" charset="0"/>
            </a:endParaRPr>
          </a:p>
          <a:p>
            <a:r>
              <a:rPr lang="fr-FR" sz="1400" dirty="0">
                <a:solidFill>
                  <a:srgbClr val="AF00DB"/>
                </a:solidFill>
                <a:latin typeface="Consolas" panose="020B0609020204030204" pitchFamily="49" charset="0"/>
              </a:rPr>
              <a:t>import</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numpy</a:t>
            </a:r>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as</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np</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1080"/>
                </a:solidFill>
                <a:latin typeface="Consolas" panose="020B0609020204030204" pitchFamily="49" charset="0"/>
              </a:rPr>
              <a:t>epsilon</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0.9</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sigma</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5.67e-8</a:t>
            </a:r>
            <a:endParaRPr lang="fr-FR" sz="1400" dirty="0">
              <a:solidFill>
                <a:srgbClr val="000000"/>
              </a:solidFill>
              <a:latin typeface="Consolas" panose="020B0609020204030204" pitchFamily="49" charset="0"/>
            </a:endParaRPr>
          </a:p>
          <a:p>
            <a:r>
              <a:rPr lang="fr-FR" sz="1400" dirty="0" err="1">
                <a:solidFill>
                  <a:srgbClr val="001080"/>
                </a:solidFill>
                <a:latin typeface="Consolas" panose="020B0609020204030204" pitchFamily="49" charset="0"/>
              </a:rPr>
              <a:t>Tinf</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293</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293</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h</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35</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70C1"/>
                </a:solidFill>
                <a:latin typeface="Consolas" panose="020B0609020204030204" pitchFamily="49" charset="0"/>
              </a:rPr>
              <a:t>A</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0.1</a:t>
            </a:r>
            <a:endParaRPr lang="fr-FR" sz="1400" dirty="0">
              <a:solidFill>
                <a:srgbClr val="000000"/>
              </a:solidFill>
              <a:latin typeface="Consolas" panose="020B0609020204030204" pitchFamily="49" charset="0"/>
            </a:endParaRPr>
          </a:p>
          <a:p>
            <a:r>
              <a:rPr lang="fr-FR" sz="1400" dirty="0" err="1">
                <a:solidFill>
                  <a:srgbClr val="001080"/>
                </a:solidFill>
                <a:latin typeface="Consolas" panose="020B0609020204030204" pitchFamily="49" charset="0"/>
              </a:rPr>
              <a:t>Gs</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700</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1080"/>
                </a:solidFill>
                <a:latin typeface="Consolas" panose="020B0609020204030204" pitchFamily="49" charset="0"/>
              </a:rPr>
              <a:t>Lg</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La</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3.0e-3</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0.1e-3</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kg</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ka</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1.4</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145</a:t>
            </a:r>
            <a:endParaRPr lang="fr-FR" sz="1400" dirty="0">
              <a:solidFill>
                <a:srgbClr val="000000"/>
              </a:solidFill>
              <a:latin typeface="Consolas" panose="020B0609020204030204" pitchFamily="49" charset="0"/>
            </a:endParaRPr>
          </a:p>
          <a:p>
            <a:r>
              <a:rPr lang="fr-FR" sz="1400" dirty="0">
                <a:solidFill>
                  <a:srgbClr val="001080"/>
                </a:solidFill>
                <a:latin typeface="Consolas" panose="020B0609020204030204" pitchFamily="49" charset="0"/>
              </a:rPr>
              <a:t>Ra</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Rg</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La</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ka</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A</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Lg</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kg</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A</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err="1">
                <a:solidFill>
                  <a:srgbClr val="0000FF"/>
                </a:solidFill>
                <a:latin typeface="Consolas" panose="020B0609020204030204" pitchFamily="49" charset="0"/>
              </a:rPr>
              <a:t>def</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eta</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T</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a</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b</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0.553</a:t>
            </a:r>
            <a:r>
              <a:rPr lang="fr-FR" sz="1400" dirty="0">
                <a:solidFill>
                  <a:srgbClr val="000000"/>
                </a:solidFill>
                <a:latin typeface="Consolas" panose="020B0609020204030204" pitchFamily="49" charset="0"/>
              </a:rPr>
              <a:t>, </a:t>
            </a:r>
            <a:r>
              <a:rPr lang="fr-FR" sz="1400" dirty="0">
                <a:solidFill>
                  <a:srgbClr val="098658"/>
                </a:solidFill>
                <a:latin typeface="Consolas" panose="020B0609020204030204" pitchFamily="49" charset="0"/>
              </a:rPr>
              <a:t>1e-3</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return</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a</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b</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T</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err="1">
                <a:solidFill>
                  <a:srgbClr val="0000FF"/>
                </a:solidFill>
                <a:latin typeface="Consolas" panose="020B0609020204030204" pitchFamily="49" charset="0"/>
              </a:rPr>
              <a:t>def</a:t>
            </a:r>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equations</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vars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Tg_top</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Tsi</a:t>
            </a:r>
            <a:r>
              <a:rPr lang="fr-FR" sz="1400" dirty="0">
                <a:solidFill>
                  <a:srgbClr val="000000"/>
                </a:solidFill>
                <a:latin typeface="Consolas" panose="020B0609020204030204" pitchFamily="49" charset="0"/>
              </a:rPr>
              <a:t> = </a:t>
            </a:r>
            <a:r>
              <a:rPr lang="fr-FR" sz="1400" dirty="0">
                <a:solidFill>
                  <a:srgbClr val="001080"/>
                </a:solidFill>
                <a:latin typeface="Consolas" panose="020B0609020204030204" pitchFamily="49" charset="0"/>
              </a:rPr>
              <a:t>vars</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p>
          <a:p>
            <a:r>
              <a:rPr lang="fr-FR" sz="1400" dirty="0">
                <a:solidFill>
                  <a:srgbClr val="000000"/>
                </a:solidFill>
                <a:latin typeface="Consolas" panose="020B0609020204030204" pitchFamily="49" charset="0"/>
              </a:rPr>
              <a:t>    </a:t>
            </a:r>
            <a:r>
              <a:rPr lang="fr-FR" sz="1400" dirty="0">
                <a:solidFill>
                  <a:srgbClr val="0070C1"/>
                </a:solidFill>
                <a:latin typeface="Consolas" panose="020B0609020204030204" pitchFamily="49" charset="0"/>
              </a:rPr>
              <a:t>RHS</a:t>
            </a:r>
            <a:r>
              <a:rPr lang="fr-FR" sz="1400" dirty="0">
                <a:solidFill>
                  <a:srgbClr val="000000"/>
                </a:solidFill>
                <a:latin typeface="Consolas" panose="020B0609020204030204" pitchFamily="49" charset="0"/>
              </a:rPr>
              <a:t> = </a:t>
            </a:r>
            <a:r>
              <a:rPr lang="fr-FR" sz="1400" dirty="0" smtClean="0">
                <a:solidFill>
                  <a:srgbClr val="000000"/>
                </a:solidFill>
                <a:latin typeface="Consolas" panose="020B0609020204030204" pitchFamily="49" charset="0"/>
              </a:rPr>
              <a:t>(</a:t>
            </a:r>
            <a:r>
              <a:rPr lang="fr-FR" sz="1400" dirty="0" smtClean="0">
                <a:solidFill>
                  <a:srgbClr val="001080"/>
                </a:solidFill>
                <a:latin typeface="Consolas" panose="020B0609020204030204" pitchFamily="49" charset="0"/>
              </a:rPr>
              <a:t>h</a:t>
            </a:r>
            <a:r>
              <a:rPr lang="fr-FR" sz="1400" dirty="0" smtClean="0">
                <a:solidFill>
                  <a:srgbClr val="000000"/>
                </a:solidFill>
                <a:latin typeface="Consolas" panose="020B0609020204030204" pitchFamily="49" charset="0"/>
              </a:rPr>
              <a:t>*</a:t>
            </a:r>
            <a:r>
              <a:rPr lang="fr-FR" sz="1400" dirty="0" smtClean="0">
                <a:solidFill>
                  <a:srgbClr val="0070C1"/>
                </a:solidFill>
                <a:latin typeface="Consolas" panose="020B0609020204030204" pitchFamily="49" charset="0"/>
              </a:rPr>
              <a:t>A</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Tg_top</a:t>
            </a:r>
            <a:r>
              <a:rPr lang="fr-FR" sz="1400" dirty="0" err="1">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Tinf</a:t>
            </a:r>
            <a:r>
              <a:rPr lang="fr-FR" sz="1400" dirty="0" smtClean="0">
                <a:solidFill>
                  <a:srgbClr val="000000"/>
                </a:solidFill>
                <a:latin typeface="Consolas" panose="020B0609020204030204" pitchFamily="49" charset="0"/>
              </a:rPr>
              <a:t>)+</a:t>
            </a:r>
          </a:p>
          <a:p>
            <a:r>
              <a:rPr lang="fr-FR" sz="1400" dirty="0" smtClean="0">
                <a:solidFill>
                  <a:srgbClr val="000000"/>
                </a:solidFill>
                <a:latin typeface="Consolas" panose="020B0609020204030204" pitchFamily="49" charset="0"/>
              </a:rPr>
              <a:t>       </a:t>
            </a:r>
            <a:r>
              <a:rPr lang="fr-FR" sz="1400" dirty="0" smtClean="0">
                <a:solidFill>
                  <a:srgbClr val="001080"/>
                </a:solidFill>
                <a:latin typeface="Consolas" panose="020B0609020204030204" pitchFamily="49" charset="0"/>
              </a:rPr>
              <a:t>epsilon</a:t>
            </a:r>
            <a:r>
              <a:rPr lang="fr-FR" sz="1400" dirty="0" smtClean="0">
                <a:solidFill>
                  <a:srgbClr val="000000"/>
                </a:solidFill>
                <a:latin typeface="Consolas" panose="020B0609020204030204" pitchFamily="49" charset="0"/>
              </a:rPr>
              <a:t>*</a:t>
            </a:r>
            <a:r>
              <a:rPr lang="fr-FR" sz="1400" dirty="0" smtClean="0">
                <a:solidFill>
                  <a:srgbClr val="001080"/>
                </a:solidFill>
                <a:latin typeface="Consolas" panose="020B0609020204030204" pitchFamily="49" charset="0"/>
              </a:rPr>
              <a:t>sigma</a:t>
            </a:r>
            <a:r>
              <a:rPr lang="fr-FR" sz="1400" dirty="0" smtClean="0">
                <a:solidFill>
                  <a:srgbClr val="000000"/>
                </a:solidFill>
                <a:latin typeface="Consolas" panose="020B0609020204030204" pitchFamily="49" charset="0"/>
              </a:rPr>
              <a:t>*</a:t>
            </a:r>
            <a:r>
              <a:rPr lang="fr-FR" sz="1400" dirty="0" smtClean="0">
                <a:solidFill>
                  <a:srgbClr val="0070C1"/>
                </a:solidFill>
                <a:latin typeface="Consolas" panose="020B0609020204030204" pitchFamily="49" charset="0"/>
              </a:rPr>
              <a:t>A</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Tg_top</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4</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4</a:t>
            </a:r>
            <a:r>
              <a:rPr lang="fr-FR" sz="1400" dirty="0">
                <a:solidFill>
                  <a:srgbClr val="000000"/>
                </a:solidFill>
                <a:latin typeface="Consolas" panose="020B0609020204030204" pitchFamily="49" charset="0"/>
              </a:rPr>
              <a:t>)-</a:t>
            </a:r>
            <a:r>
              <a:rPr lang="fr-FR" sz="1400" dirty="0" smtClean="0">
                <a:solidFill>
                  <a:srgbClr val="098658"/>
                </a:solidFill>
                <a:latin typeface="Consolas" panose="020B0609020204030204" pitchFamily="49" charset="0"/>
              </a:rPr>
              <a:t>0.1</a:t>
            </a:r>
            <a:r>
              <a:rPr lang="fr-FR" sz="1400" dirty="0" smtClean="0">
                <a:solidFill>
                  <a:srgbClr val="000000"/>
                </a:solidFill>
                <a:latin typeface="Consolas" panose="020B0609020204030204" pitchFamily="49" charset="0"/>
              </a:rPr>
              <a:t>*</a:t>
            </a:r>
            <a:r>
              <a:rPr lang="fr-FR" sz="1400" dirty="0" err="1" smtClean="0">
                <a:solidFill>
                  <a:srgbClr val="001080"/>
                </a:solidFill>
                <a:latin typeface="Consolas" panose="020B0609020204030204" pitchFamily="49" charset="0"/>
              </a:rPr>
              <a:t>Gs</a:t>
            </a:r>
            <a:r>
              <a:rPr lang="fr-FR" sz="1400" dirty="0" smtClean="0">
                <a:solidFill>
                  <a:srgbClr val="000000"/>
                </a:solidFill>
                <a:latin typeface="Consolas" panose="020B0609020204030204" pitchFamily="49" charset="0"/>
              </a:rPr>
              <a:t>*</a:t>
            </a:r>
            <a:r>
              <a:rPr lang="fr-FR" sz="1400" dirty="0" smtClean="0">
                <a:solidFill>
                  <a:srgbClr val="0070C1"/>
                </a:solidFill>
                <a:latin typeface="Consolas" panose="020B0609020204030204" pitchFamily="49" charset="0"/>
              </a:rPr>
              <a:t>A)</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f1</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Tsi</a:t>
            </a:r>
            <a:r>
              <a:rPr lang="fr-FR" sz="1400" dirty="0" err="1">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Tg_top</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Ra</a:t>
            </a:r>
            <a:r>
              <a:rPr lang="fr-FR" sz="1400" dirty="0" err="1">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Rg</a:t>
            </a:r>
            <a:r>
              <a:rPr lang="fr-FR" sz="1400" dirty="0">
                <a:solidFill>
                  <a:srgbClr val="000000"/>
                </a:solidFill>
                <a:latin typeface="Consolas" panose="020B0609020204030204" pitchFamily="49" charset="0"/>
              </a:rPr>
              <a:t>) -</a:t>
            </a:r>
            <a:r>
              <a:rPr lang="fr-FR" sz="1400" dirty="0">
                <a:solidFill>
                  <a:srgbClr val="0070C1"/>
                </a:solidFill>
                <a:latin typeface="Consolas" panose="020B0609020204030204" pitchFamily="49" charset="0"/>
              </a:rPr>
              <a:t>RHS</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0000"/>
                </a:solidFill>
                <a:latin typeface="Consolas" panose="020B0609020204030204" pitchFamily="49" charset="0"/>
              </a:rPr>
              <a:t>    </a:t>
            </a:r>
            <a:r>
              <a:rPr lang="fr-FR" sz="1400" dirty="0">
                <a:solidFill>
                  <a:srgbClr val="0070C1"/>
                </a:solidFill>
                <a:latin typeface="Consolas" panose="020B0609020204030204" pitchFamily="49" charset="0"/>
              </a:rPr>
              <a:t>RHS</a:t>
            </a:r>
            <a:r>
              <a:rPr lang="fr-FR" sz="1400" dirty="0">
                <a:solidFill>
                  <a:srgbClr val="000000"/>
                </a:solidFill>
                <a:latin typeface="Consolas" panose="020B0609020204030204" pitchFamily="49" charset="0"/>
              </a:rPr>
              <a:t> = </a:t>
            </a:r>
            <a:r>
              <a:rPr lang="fr-FR" sz="1400" dirty="0">
                <a:solidFill>
                  <a:srgbClr val="098658"/>
                </a:solidFill>
                <a:latin typeface="Consolas" panose="020B0609020204030204" pitchFamily="49" charset="0"/>
              </a:rPr>
              <a:t>0.83</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Gs</a:t>
            </a:r>
            <a:r>
              <a:rPr lang="fr-FR" sz="1400" dirty="0">
                <a:solidFill>
                  <a:srgbClr val="000000"/>
                </a:solidFill>
                <a:latin typeface="Consolas" panose="020B0609020204030204" pitchFamily="49" charset="0"/>
              </a:rPr>
              <a:t>*</a:t>
            </a:r>
            <a:r>
              <a:rPr lang="fr-FR" sz="1400" dirty="0">
                <a:solidFill>
                  <a:srgbClr val="0070C1"/>
                </a:solidFill>
                <a:latin typeface="Consolas" panose="020B0609020204030204" pitchFamily="49" charset="0"/>
              </a:rPr>
              <a:t>A</a:t>
            </a:r>
            <a:r>
              <a:rPr lang="fr-FR" sz="1400" dirty="0">
                <a:solidFill>
                  <a:srgbClr val="000000"/>
                </a:solidFill>
                <a:latin typeface="Consolas" panose="020B0609020204030204" pitchFamily="49" charset="0"/>
              </a:rPr>
              <a:t>*(</a:t>
            </a:r>
            <a:r>
              <a:rPr lang="fr-FR" sz="1400" dirty="0">
                <a:solidFill>
                  <a:srgbClr val="098658"/>
                </a:solidFill>
                <a:latin typeface="Consolas" panose="020B0609020204030204" pitchFamily="49" charset="0"/>
              </a:rPr>
              <a:t>1</a:t>
            </a:r>
            <a:r>
              <a:rPr lang="fr-FR" sz="1400" dirty="0">
                <a:solidFill>
                  <a:srgbClr val="000000"/>
                </a:solidFill>
                <a:latin typeface="Consolas" panose="020B0609020204030204" pitchFamily="49" charset="0"/>
              </a:rPr>
              <a:t>-</a:t>
            </a:r>
            <a:r>
              <a:rPr lang="fr-FR" sz="1400" dirty="0">
                <a:solidFill>
                  <a:srgbClr val="795E26"/>
                </a:solidFill>
                <a:latin typeface="Consolas" panose="020B0609020204030204" pitchFamily="49" charset="0"/>
              </a:rPr>
              <a:t>eta</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Tsi</a:t>
            </a:r>
            <a:r>
              <a:rPr lang="fr-FR" sz="1400" dirty="0">
                <a:solidFill>
                  <a:srgbClr val="000000"/>
                </a:solidFill>
                <a:latin typeface="Consolas" panose="020B0609020204030204" pitchFamily="49" charset="0"/>
              </a:rPr>
              <a:t>))     </a:t>
            </a:r>
          </a:p>
          <a:p>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f2</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Tsi</a:t>
            </a:r>
            <a:r>
              <a:rPr lang="fr-FR" sz="1400" dirty="0" err="1">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Tg_top</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Ra</a:t>
            </a:r>
            <a:r>
              <a:rPr lang="fr-FR" sz="1400" dirty="0" err="1">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Rg</a:t>
            </a:r>
            <a:r>
              <a:rPr lang="fr-FR" sz="1400" dirty="0">
                <a:solidFill>
                  <a:srgbClr val="000000"/>
                </a:solidFill>
                <a:latin typeface="Consolas" panose="020B0609020204030204" pitchFamily="49" charset="0"/>
              </a:rPr>
              <a:t>) -</a:t>
            </a:r>
            <a:r>
              <a:rPr lang="fr-FR" sz="1400" dirty="0">
                <a:solidFill>
                  <a:srgbClr val="0070C1"/>
                </a:solidFill>
                <a:latin typeface="Consolas" panose="020B0609020204030204" pitchFamily="49" charset="0"/>
              </a:rPr>
              <a:t>RHS</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p>
          <a:p>
            <a:r>
              <a:rPr lang="fr-FR" sz="1400" dirty="0">
                <a:solidFill>
                  <a:srgbClr val="000000"/>
                </a:solidFill>
                <a:latin typeface="Consolas" panose="020B0609020204030204" pitchFamily="49" charset="0"/>
              </a:rPr>
              <a:t>    </a:t>
            </a:r>
            <a:r>
              <a:rPr lang="fr-FR" sz="1400" dirty="0">
                <a:solidFill>
                  <a:srgbClr val="AF00DB"/>
                </a:solidFill>
                <a:latin typeface="Consolas" panose="020B0609020204030204" pitchFamily="49" charset="0"/>
              </a:rPr>
              <a:t>return</a:t>
            </a:r>
            <a:r>
              <a:rPr lang="fr-FR" sz="1400" dirty="0">
                <a:solidFill>
                  <a:srgbClr val="000000"/>
                </a:solidFill>
                <a:latin typeface="Consolas" panose="020B0609020204030204" pitchFamily="49" charset="0"/>
              </a:rPr>
              <a:t> </a:t>
            </a:r>
            <a:r>
              <a:rPr lang="fr-FR" sz="1400" dirty="0" err="1">
                <a:solidFill>
                  <a:srgbClr val="267F99"/>
                </a:solidFill>
                <a:latin typeface="Consolas" panose="020B0609020204030204" pitchFamily="49" charset="0"/>
              </a:rPr>
              <a:t>np</a:t>
            </a:r>
            <a:r>
              <a:rPr lang="fr-FR" sz="1400" dirty="0" err="1">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array</a:t>
            </a:r>
            <a:r>
              <a:rPr lang="fr-FR" sz="1400" dirty="0">
                <a:solidFill>
                  <a:srgbClr val="000000"/>
                </a:solidFill>
                <a:latin typeface="Consolas" panose="020B0609020204030204" pitchFamily="49" charset="0"/>
              </a:rPr>
              <a:t>([</a:t>
            </a:r>
            <a:r>
              <a:rPr lang="fr-FR" sz="1400" dirty="0">
                <a:solidFill>
                  <a:srgbClr val="001080"/>
                </a:solidFill>
                <a:latin typeface="Consolas" panose="020B0609020204030204" pitchFamily="49" charset="0"/>
              </a:rPr>
              <a:t>f1</a:t>
            </a:r>
            <a:r>
              <a:rPr lang="fr-FR" sz="1400" dirty="0">
                <a:solidFill>
                  <a:srgbClr val="000000"/>
                </a:solidFill>
                <a:latin typeface="Consolas" panose="020B0609020204030204" pitchFamily="49" charset="0"/>
              </a:rPr>
              <a:t>, </a:t>
            </a:r>
            <a:r>
              <a:rPr lang="fr-FR" sz="1400" dirty="0">
                <a:solidFill>
                  <a:srgbClr val="001080"/>
                </a:solidFill>
                <a:latin typeface="Consolas" panose="020B0609020204030204" pitchFamily="49" charset="0"/>
              </a:rPr>
              <a:t>f2</a:t>
            </a:r>
            <a:r>
              <a:rPr lang="fr-FR" sz="1400" dirty="0" smtClean="0">
                <a:solidFill>
                  <a:srgbClr val="000000"/>
                </a:solidFill>
                <a:latin typeface="Consolas" panose="020B0609020204030204" pitchFamily="49" charset="0"/>
              </a:rPr>
              <a:t>])</a:t>
            </a:r>
            <a:endParaRPr lang="fr-FR" sz="1400" dirty="0">
              <a:solidFill>
                <a:srgbClr val="000000"/>
              </a:solidFill>
              <a:latin typeface="Consolas" panose="020B0609020204030204" pitchFamily="49" charset="0"/>
            </a:endParaRPr>
          </a:p>
        </p:txBody>
      </p:sp>
      <p:sp>
        <p:nvSpPr>
          <p:cNvPr id="2" name="Espace réservé du numéro de diapositive 1"/>
          <p:cNvSpPr>
            <a:spLocks noGrp="1"/>
          </p:cNvSpPr>
          <p:nvPr>
            <p:ph type="sldNum" sz="quarter" idx="12"/>
          </p:nvPr>
        </p:nvSpPr>
        <p:spPr/>
        <p:txBody>
          <a:bodyPr/>
          <a:lstStyle/>
          <a:p>
            <a:fld id="{CB13DDC6-9977-4A69-882A-1641CFA73689}" type="slidenum">
              <a:rPr lang="fr-FR" smtClean="0"/>
              <a:t>13</a:t>
            </a:fld>
            <a:endParaRPr lang="fr-FR"/>
          </a:p>
        </p:txBody>
      </p:sp>
      <p:sp>
        <p:nvSpPr>
          <p:cNvPr id="3" name="ZoneTexte 2"/>
          <p:cNvSpPr txBox="1"/>
          <p:nvPr/>
        </p:nvSpPr>
        <p:spPr>
          <a:xfrm>
            <a:off x="6061065" y="285750"/>
            <a:ext cx="6247223" cy="6124754"/>
          </a:xfrm>
          <a:prstGeom prst="rect">
            <a:avLst/>
          </a:prstGeom>
          <a:noFill/>
        </p:spPr>
        <p:txBody>
          <a:bodyPr wrap="none" rtlCol="0">
            <a:spAutoFit/>
          </a:bodyPr>
          <a:lstStyle/>
          <a:p>
            <a:r>
              <a:rPr lang="fr-FR" sz="1400" dirty="0">
                <a:solidFill>
                  <a:srgbClr val="008000"/>
                </a:solidFill>
                <a:latin typeface="Consolas" panose="020B0609020204030204" pitchFamily="49" charset="0"/>
              </a:rPr>
              <a:t># Valeurs initiales</a:t>
            </a:r>
            <a:endParaRPr lang="fr-FR" sz="1400" dirty="0">
              <a:solidFill>
                <a:srgbClr val="000000"/>
              </a:solidFill>
              <a:latin typeface="Consolas" panose="020B0609020204030204" pitchFamily="49" charset="0"/>
            </a:endParaRPr>
          </a:p>
          <a:p>
            <a:r>
              <a:rPr lang="fr-FR" sz="1400" dirty="0" err="1">
                <a:solidFill>
                  <a:srgbClr val="001080"/>
                </a:solidFill>
                <a:latin typeface="Consolas" panose="020B0609020204030204" pitchFamily="49" charset="0"/>
              </a:rPr>
              <a:t>initial_guess</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Tsur</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8000"/>
                </a:solidFill>
                <a:latin typeface="Consolas" panose="020B0609020204030204" pitchFamily="49" charset="0"/>
              </a:rPr>
              <a:t># Appel à </a:t>
            </a:r>
            <a:r>
              <a:rPr lang="fr-FR" sz="1400" dirty="0" err="1">
                <a:solidFill>
                  <a:srgbClr val="008000"/>
                </a:solidFill>
                <a:latin typeface="Consolas" panose="020B0609020204030204" pitchFamily="49" charset="0"/>
              </a:rPr>
              <a:t>root</a:t>
            </a:r>
            <a:endParaRPr lang="fr-FR" sz="1400" dirty="0">
              <a:solidFill>
                <a:srgbClr val="000000"/>
              </a:solidFill>
              <a:latin typeface="Consolas" panose="020B0609020204030204" pitchFamily="49" charset="0"/>
            </a:endParaRPr>
          </a:p>
          <a:p>
            <a:r>
              <a:rPr lang="fr-FR" sz="1400" dirty="0">
                <a:solidFill>
                  <a:srgbClr val="008000"/>
                </a:solidFill>
                <a:latin typeface="Consolas" panose="020B0609020204030204" pitchFamily="49" charset="0"/>
              </a:rPr>
              <a:t># </a:t>
            </a:r>
            <a:r>
              <a:rPr lang="fr-FR" sz="1400" dirty="0" err="1">
                <a:solidFill>
                  <a:srgbClr val="008000"/>
                </a:solidFill>
                <a:latin typeface="Consolas" panose="020B0609020204030204" pitchFamily="49" charset="0"/>
              </a:rPr>
              <a:t>hybr</a:t>
            </a:r>
            <a:r>
              <a:rPr lang="fr-FR" sz="1400" dirty="0">
                <a:solidFill>
                  <a:srgbClr val="008000"/>
                </a:solidFill>
                <a:latin typeface="Consolas" panose="020B0609020204030204" pitchFamily="49" charset="0"/>
              </a:rPr>
              <a:t> est l'abréviation de </a:t>
            </a:r>
            <a:r>
              <a:rPr lang="fr-FR" sz="1400" dirty="0" err="1">
                <a:solidFill>
                  <a:srgbClr val="008000"/>
                </a:solidFill>
                <a:latin typeface="Consolas" panose="020B0609020204030204" pitchFamily="49" charset="0"/>
              </a:rPr>
              <a:t>Hybrid</a:t>
            </a:r>
            <a:r>
              <a:rPr lang="fr-FR" sz="1400" dirty="0">
                <a:solidFill>
                  <a:srgbClr val="008000"/>
                </a:solidFill>
                <a:latin typeface="Consolas" panose="020B0609020204030204" pitchFamily="49" charset="0"/>
              </a:rPr>
              <a:t> Powell </a:t>
            </a:r>
            <a:r>
              <a:rPr lang="fr-FR" sz="1400" dirty="0" err="1">
                <a:solidFill>
                  <a:srgbClr val="008000"/>
                </a:solidFill>
                <a:latin typeface="Consolas" panose="020B0609020204030204" pitchFamily="49" charset="0"/>
              </a:rPr>
              <a:t>method</a:t>
            </a:r>
            <a:r>
              <a:rPr lang="fr-FR" sz="1400" dirty="0">
                <a:solidFill>
                  <a:srgbClr val="008000"/>
                </a:solidFill>
                <a:latin typeface="Consolas" panose="020B0609020204030204" pitchFamily="49" charset="0"/>
              </a:rPr>
              <a:t>.</a:t>
            </a:r>
            <a:endParaRPr lang="fr-FR" sz="1400" dirty="0">
              <a:solidFill>
                <a:srgbClr val="000000"/>
              </a:solidFill>
              <a:latin typeface="Consolas" panose="020B0609020204030204" pitchFamily="49" charset="0"/>
            </a:endParaRPr>
          </a:p>
          <a:p>
            <a:r>
              <a:rPr lang="fr-FR" sz="1400" dirty="0">
                <a:solidFill>
                  <a:srgbClr val="008000"/>
                </a:solidFill>
                <a:latin typeface="Consolas" panose="020B0609020204030204" pitchFamily="49" charset="0"/>
              </a:rPr>
              <a:t># méthode par défaut dans </a:t>
            </a:r>
            <a:r>
              <a:rPr lang="fr-FR" sz="1400" dirty="0" err="1">
                <a:solidFill>
                  <a:srgbClr val="008000"/>
                </a:solidFill>
                <a:latin typeface="Consolas" panose="020B0609020204030204" pitchFamily="49" charset="0"/>
              </a:rPr>
              <a:t>scipy.optimize.root</a:t>
            </a:r>
            <a:r>
              <a:rPr lang="fr-FR" sz="1400" dirty="0">
                <a:solidFill>
                  <a:srgbClr val="008000"/>
                </a:solidFill>
                <a:latin typeface="Consolas" panose="020B0609020204030204" pitchFamily="49" charset="0"/>
              </a:rPr>
              <a:t> </a:t>
            </a:r>
            <a:endParaRPr lang="fr-FR" sz="1400" dirty="0">
              <a:solidFill>
                <a:srgbClr val="000000"/>
              </a:solidFill>
              <a:latin typeface="Consolas" panose="020B0609020204030204" pitchFamily="49" charset="0"/>
            </a:endParaRPr>
          </a:p>
          <a:p>
            <a:r>
              <a:rPr lang="fr-FR" sz="1400" dirty="0">
                <a:solidFill>
                  <a:srgbClr val="008000"/>
                </a:solidFill>
                <a:latin typeface="Consolas" panose="020B0609020204030204" pitchFamily="49" charset="0"/>
              </a:rPr>
              <a:t># Elle combine :</a:t>
            </a:r>
            <a:endParaRPr lang="fr-FR" sz="1400" dirty="0">
              <a:solidFill>
                <a:srgbClr val="000000"/>
              </a:solidFill>
              <a:latin typeface="Consolas" panose="020B0609020204030204" pitchFamily="49" charset="0"/>
            </a:endParaRPr>
          </a:p>
          <a:p>
            <a:r>
              <a:rPr lang="fr-FR" sz="1400" dirty="0">
                <a:solidFill>
                  <a:srgbClr val="008000"/>
                </a:solidFill>
                <a:latin typeface="Consolas" panose="020B0609020204030204" pitchFamily="49" charset="0"/>
              </a:rPr>
              <a:t># </a:t>
            </a:r>
            <a:r>
              <a:rPr lang="fr-FR" sz="1400" dirty="0" smtClean="0">
                <a:solidFill>
                  <a:srgbClr val="008000"/>
                </a:solidFill>
                <a:latin typeface="Consolas" panose="020B0609020204030204" pitchFamily="49" charset="0"/>
              </a:rPr>
              <a:t>1. la </a:t>
            </a:r>
            <a:r>
              <a:rPr lang="fr-FR" sz="1400" dirty="0">
                <a:solidFill>
                  <a:srgbClr val="008000"/>
                </a:solidFill>
                <a:latin typeface="Consolas" panose="020B0609020204030204" pitchFamily="49" charset="0"/>
              </a:rPr>
              <a:t>méthode de Newton modifiée </a:t>
            </a:r>
            <a:r>
              <a:rPr lang="fr-FR" sz="1400" dirty="0" smtClean="0">
                <a:solidFill>
                  <a:srgbClr val="008000"/>
                </a:solidFill>
                <a:latin typeface="Consolas" panose="020B0609020204030204" pitchFamily="49" charset="0"/>
              </a:rPr>
              <a:t>si </a:t>
            </a:r>
            <a:r>
              <a:rPr lang="fr-FR" sz="1400" dirty="0">
                <a:solidFill>
                  <a:srgbClr val="008000"/>
                </a:solidFill>
                <a:latin typeface="Consolas" panose="020B0609020204030204" pitchFamily="49" charset="0"/>
              </a:rPr>
              <a:t>le </a:t>
            </a:r>
            <a:r>
              <a:rPr lang="fr-FR" sz="1400" dirty="0" err="1">
                <a:solidFill>
                  <a:srgbClr val="008000"/>
                </a:solidFill>
                <a:latin typeface="Consolas" panose="020B0609020204030204" pitchFamily="49" charset="0"/>
              </a:rPr>
              <a:t>Jacobien</a:t>
            </a:r>
            <a:r>
              <a:rPr lang="fr-FR" sz="1400" dirty="0">
                <a:solidFill>
                  <a:srgbClr val="008000"/>
                </a:solidFill>
                <a:latin typeface="Consolas" panose="020B0609020204030204" pitchFamily="49" charset="0"/>
              </a:rPr>
              <a:t> est fourni </a:t>
            </a:r>
            <a:endParaRPr lang="fr-FR" sz="1400" dirty="0" smtClean="0">
              <a:solidFill>
                <a:srgbClr val="008000"/>
              </a:solidFill>
              <a:latin typeface="Consolas" panose="020B0609020204030204" pitchFamily="49" charset="0"/>
            </a:endParaRPr>
          </a:p>
          <a:p>
            <a:r>
              <a:rPr lang="fr-FR" sz="1400" dirty="0" smtClean="0">
                <a:solidFill>
                  <a:srgbClr val="008000"/>
                </a:solidFill>
                <a:latin typeface="Consolas" panose="020B0609020204030204" pitchFamily="49" charset="0"/>
              </a:rPr>
              <a:t># ou approché,</a:t>
            </a:r>
            <a:endParaRPr lang="fr-FR" sz="1400" dirty="0">
              <a:solidFill>
                <a:srgbClr val="000000"/>
              </a:solidFill>
              <a:latin typeface="Consolas" panose="020B0609020204030204" pitchFamily="49" charset="0"/>
            </a:endParaRPr>
          </a:p>
          <a:p>
            <a:r>
              <a:rPr lang="fr-FR" sz="1400" dirty="0">
                <a:solidFill>
                  <a:srgbClr val="008000"/>
                </a:solidFill>
                <a:latin typeface="Consolas" panose="020B0609020204030204" pitchFamily="49" charset="0"/>
              </a:rPr>
              <a:t># </a:t>
            </a:r>
            <a:r>
              <a:rPr lang="fr-FR" sz="1400" dirty="0" smtClean="0">
                <a:solidFill>
                  <a:srgbClr val="008000"/>
                </a:solidFill>
                <a:latin typeface="Consolas" panose="020B0609020204030204" pitchFamily="49" charset="0"/>
              </a:rPr>
              <a:t>2. des </a:t>
            </a:r>
            <a:r>
              <a:rPr lang="fr-FR" sz="1400" dirty="0">
                <a:solidFill>
                  <a:srgbClr val="008000"/>
                </a:solidFill>
                <a:latin typeface="Consolas" panose="020B0609020204030204" pitchFamily="49" charset="0"/>
              </a:rPr>
              <a:t>techniques de moindres carrés pour la robustesse </a:t>
            </a:r>
            <a:endParaRPr lang="fr-FR" sz="1400" dirty="0" smtClean="0">
              <a:solidFill>
                <a:srgbClr val="008000"/>
              </a:solidFill>
              <a:latin typeface="Consolas" panose="020B0609020204030204" pitchFamily="49" charset="0"/>
            </a:endParaRPr>
          </a:p>
          <a:p>
            <a:r>
              <a:rPr lang="fr-FR" sz="1400" dirty="0" smtClean="0">
                <a:solidFill>
                  <a:srgbClr val="008000"/>
                </a:solidFill>
                <a:latin typeface="Consolas" panose="020B0609020204030204" pitchFamily="49" charset="0"/>
              </a:rPr>
              <a:t># (</a:t>
            </a:r>
            <a:r>
              <a:rPr lang="fr-FR" sz="1400" dirty="0">
                <a:solidFill>
                  <a:srgbClr val="008000"/>
                </a:solidFill>
                <a:latin typeface="Consolas" panose="020B0609020204030204" pitchFamily="49" charset="0"/>
              </a:rPr>
              <a:t>similaire à </a:t>
            </a:r>
            <a:r>
              <a:rPr lang="fr-FR" sz="1400" dirty="0" err="1">
                <a:solidFill>
                  <a:srgbClr val="008000"/>
                </a:solidFill>
                <a:latin typeface="Consolas" panose="020B0609020204030204" pitchFamily="49" charset="0"/>
              </a:rPr>
              <a:t>Levenberg</a:t>
            </a:r>
            <a:r>
              <a:rPr lang="fr-FR" sz="1400" dirty="0">
                <a:solidFill>
                  <a:srgbClr val="008000"/>
                </a:solidFill>
                <a:latin typeface="Consolas" panose="020B0609020204030204" pitchFamily="49" charset="0"/>
              </a:rPr>
              <a:t>–</a:t>
            </a:r>
            <a:r>
              <a:rPr lang="fr-FR" sz="1400" dirty="0" err="1">
                <a:solidFill>
                  <a:srgbClr val="008000"/>
                </a:solidFill>
                <a:latin typeface="Consolas" panose="020B0609020204030204" pitchFamily="49" charset="0"/>
              </a:rPr>
              <a:t>Marquardt</a:t>
            </a:r>
            <a:r>
              <a:rPr lang="fr-FR" sz="1400" dirty="0">
                <a:solidFill>
                  <a:srgbClr val="008000"/>
                </a:solidFill>
                <a:latin typeface="Consolas" panose="020B0609020204030204" pitchFamily="49" charset="0"/>
              </a:rPr>
              <a:t>),</a:t>
            </a:r>
            <a:endParaRPr lang="fr-FR" sz="1400" dirty="0">
              <a:solidFill>
                <a:srgbClr val="000000"/>
              </a:solidFill>
              <a:latin typeface="Consolas" panose="020B0609020204030204" pitchFamily="49" charset="0"/>
            </a:endParaRPr>
          </a:p>
          <a:p>
            <a:r>
              <a:rPr lang="fr-FR" sz="1400" dirty="0">
                <a:solidFill>
                  <a:srgbClr val="008000"/>
                </a:solidFill>
                <a:latin typeface="Consolas" panose="020B0609020204030204" pitchFamily="49" charset="0"/>
              </a:rPr>
              <a:t># </a:t>
            </a:r>
            <a:r>
              <a:rPr lang="fr-FR" sz="1400" dirty="0" smtClean="0">
                <a:solidFill>
                  <a:srgbClr val="008000"/>
                </a:solidFill>
                <a:latin typeface="Consolas" panose="020B0609020204030204" pitchFamily="49" charset="0"/>
              </a:rPr>
              <a:t>3. une </a:t>
            </a:r>
            <a:r>
              <a:rPr lang="fr-FR" sz="1400" dirty="0">
                <a:solidFill>
                  <a:srgbClr val="008000"/>
                </a:solidFill>
                <a:latin typeface="Consolas" panose="020B0609020204030204" pitchFamily="49" charset="0"/>
              </a:rPr>
              <a:t>mise à l’échelle adaptative des variables.</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1080"/>
                </a:solidFill>
                <a:latin typeface="Consolas" panose="020B0609020204030204" pitchFamily="49" charset="0"/>
              </a:rPr>
              <a:t>sol</a:t>
            </a:r>
            <a:r>
              <a:rPr lang="fr-FR" sz="1400" dirty="0">
                <a:solidFill>
                  <a:srgbClr val="000000"/>
                </a:solidFill>
                <a:latin typeface="Consolas" panose="020B0609020204030204" pitchFamily="49" charset="0"/>
              </a:rPr>
              <a:t> = </a:t>
            </a:r>
            <a:r>
              <a:rPr lang="fr-FR" sz="1400" dirty="0" err="1">
                <a:solidFill>
                  <a:srgbClr val="795E26"/>
                </a:solidFill>
                <a:latin typeface="Consolas" panose="020B0609020204030204" pitchFamily="49" charset="0"/>
              </a:rPr>
              <a:t>root</a:t>
            </a:r>
            <a:r>
              <a:rPr lang="fr-FR" sz="1400" dirty="0">
                <a:solidFill>
                  <a:srgbClr val="000000"/>
                </a:solidFill>
                <a:latin typeface="Consolas" panose="020B0609020204030204" pitchFamily="49" charset="0"/>
              </a:rPr>
              <a:t>(</a:t>
            </a:r>
            <a:r>
              <a:rPr lang="fr-FR" sz="1400" dirty="0" err="1">
                <a:solidFill>
                  <a:srgbClr val="795E26"/>
                </a:solidFill>
                <a:latin typeface="Consolas" panose="020B0609020204030204" pitchFamily="49" charset="0"/>
              </a:rPr>
              <a:t>equations</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initial_guess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8000"/>
                </a:solidFill>
                <a:latin typeface="Consolas" panose="020B0609020204030204" pitchFamily="49" charset="0"/>
              </a:rPr>
              <a:t># Affichage</a:t>
            </a:r>
            <a:endParaRPr lang="fr-FR" sz="1400" dirty="0">
              <a:solidFill>
                <a:srgbClr val="000000"/>
              </a:solidFill>
              <a:latin typeface="Consolas" panose="020B0609020204030204" pitchFamily="49" charset="0"/>
            </a:endParaRPr>
          </a:p>
          <a:p>
            <a:r>
              <a:rPr lang="fr-FR" sz="1400" dirty="0">
                <a:solidFill>
                  <a:srgbClr val="AF00DB"/>
                </a:solidFill>
                <a:latin typeface="Consolas" panose="020B0609020204030204" pitchFamily="49" charset="0"/>
              </a:rPr>
              <a:t>if</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sol</a:t>
            </a:r>
            <a:r>
              <a:rPr lang="fr-FR" sz="1400" dirty="0" err="1">
                <a:solidFill>
                  <a:srgbClr val="000000"/>
                </a:solidFill>
                <a:latin typeface="Consolas" panose="020B0609020204030204" pitchFamily="49" charset="0"/>
              </a:rPr>
              <a:t>.success</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Tg_top_sol</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Tsi_sol</a:t>
            </a:r>
            <a:r>
              <a:rPr lang="fr-FR" sz="1400" dirty="0">
                <a:solidFill>
                  <a:srgbClr val="000000"/>
                </a:solidFill>
                <a:latin typeface="Consolas" panose="020B0609020204030204" pitchFamily="49" charset="0"/>
              </a:rPr>
              <a:t> = </a:t>
            </a:r>
            <a:r>
              <a:rPr lang="fr-FR" sz="1400" dirty="0" err="1">
                <a:solidFill>
                  <a:srgbClr val="001080"/>
                </a:solidFill>
                <a:latin typeface="Consolas" panose="020B0609020204030204" pitchFamily="49" charset="0"/>
              </a:rPr>
              <a:t>sol</a:t>
            </a:r>
            <a:r>
              <a:rPr lang="fr-FR" sz="1400" dirty="0" err="1">
                <a:solidFill>
                  <a:srgbClr val="000000"/>
                </a:solidFill>
                <a:latin typeface="Consolas" panose="020B0609020204030204" pitchFamily="49" charset="0"/>
              </a:rPr>
              <a:t>.x</a:t>
            </a:r>
            <a:endParaRPr lang="fr-FR" sz="1400" dirty="0">
              <a:solidFill>
                <a:srgbClr val="000000"/>
              </a:solidFill>
              <a:latin typeface="Consolas" panose="020B0609020204030204" pitchFamily="49" charset="0"/>
            </a:endParaRPr>
          </a:p>
          <a:p>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print</a:t>
            </a:r>
            <a:r>
              <a:rPr lang="fr-FR" sz="1400" dirty="0">
                <a:solidFill>
                  <a:srgbClr val="000000"/>
                </a:solidFill>
                <a:latin typeface="Consolas" panose="020B0609020204030204" pitchFamily="49" charset="0"/>
              </a:rPr>
              <a:t>(</a:t>
            </a:r>
            <a:r>
              <a:rPr lang="fr-FR" sz="1400" dirty="0" err="1">
                <a:solidFill>
                  <a:srgbClr val="0000FF"/>
                </a:solidFill>
                <a:latin typeface="Consolas" panose="020B0609020204030204" pitchFamily="49" charset="0"/>
              </a:rPr>
              <a:t>f</a:t>
            </a:r>
            <a:r>
              <a:rPr lang="fr-FR" sz="1400" dirty="0" err="1">
                <a:solidFill>
                  <a:srgbClr val="A31515"/>
                </a:solidFill>
                <a:latin typeface="Consolas" panose="020B0609020204030204" pitchFamily="49" charset="0"/>
              </a:rPr>
              <a:t>"Solution</a:t>
            </a:r>
            <a:r>
              <a:rPr lang="fr-FR" sz="1400" dirty="0">
                <a:solidFill>
                  <a:srgbClr val="A31515"/>
                </a:solidFill>
                <a:latin typeface="Consolas" panose="020B0609020204030204" pitchFamily="49" charset="0"/>
              </a:rPr>
              <a:t> trouvée : </a:t>
            </a:r>
            <a:r>
              <a:rPr lang="fr-FR" sz="1400" dirty="0" err="1">
                <a:solidFill>
                  <a:srgbClr val="A31515"/>
                </a:solidFill>
                <a:latin typeface="Consolas" panose="020B0609020204030204" pitchFamily="49" charset="0"/>
              </a:rPr>
              <a:t>Tg_top</a:t>
            </a:r>
            <a:r>
              <a:rPr lang="fr-FR" sz="1400" dirty="0">
                <a:solidFill>
                  <a:srgbClr val="A31515"/>
                </a:solidFill>
                <a:latin typeface="Consolas" panose="020B0609020204030204" pitchFamily="49" charset="0"/>
              </a:rPr>
              <a:t> = </a:t>
            </a:r>
            <a:r>
              <a:rPr lang="fr-FR" sz="1400" dirty="0">
                <a:solidFill>
                  <a:srgbClr val="0000FF"/>
                </a:solidFill>
                <a:latin typeface="Consolas" panose="020B0609020204030204" pitchFamily="49" charset="0"/>
              </a:rPr>
              <a:t>{</a:t>
            </a:r>
            <a:r>
              <a:rPr lang="fr-FR" sz="1400" dirty="0">
                <a:solidFill>
                  <a:srgbClr val="001080"/>
                </a:solidFill>
                <a:latin typeface="Consolas" panose="020B0609020204030204" pitchFamily="49" charset="0"/>
              </a:rPr>
              <a:t>Tg_top_sol</a:t>
            </a:r>
            <a:r>
              <a:rPr lang="fr-FR" sz="1400" dirty="0">
                <a:solidFill>
                  <a:srgbClr val="0000FF"/>
                </a:solidFill>
                <a:latin typeface="Consolas" panose="020B0609020204030204" pitchFamily="49" charset="0"/>
              </a:rPr>
              <a:t>:.4f}</a:t>
            </a:r>
            <a:r>
              <a:rPr lang="fr-FR" sz="1400" dirty="0">
                <a:solidFill>
                  <a:srgbClr val="A31515"/>
                </a:solidFill>
                <a:latin typeface="Consolas" panose="020B0609020204030204" pitchFamily="49" charset="0"/>
              </a:rPr>
              <a:t>, </a:t>
            </a:r>
            <a:r>
              <a:rPr lang="fr-FR" sz="1400" dirty="0" smtClean="0">
                <a:solidFill>
                  <a:srgbClr val="A31515"/>
                </a:solidFill>
                <a:latin typeface="Consolas" panose="020B0609020204030204" pitchFamily="49" charset="0"/>
              </a:rPr>
              <a:t>\</a:t>
            </a:r>
          </a:p>
          <a:p>
            <a:r>
              <a:rPr lang="fr-FR" sz="1400" dirty="0">
                <a:solidFill>
                  <a:srgbClr val="A31515"/>
                </a:solidFill>
                <a:latin typeface="Consolas" panose="020B0609020204030204" pitchFamily="49" charset="0"/>
              </a:rPr>
              <a:t>	</a:t>
            </a:r>
            <a:r>
              <a:rPr lang="fr-FR" sz="1400" dirty="0" err="1" smtClean="0">
                <a:solidFill>
                  <a:srgbClr val="A31515"/>
                </a:solidFill>
                <a:latin typeface="Consolas" panose="020B0609020204030204" pitchFamily="49" charset="0"/>
              </a:rPr>
              <a:t>Tsi</a:t>
            </a:r>
            <a:r>
              <a:rPr lang="fr-FR" sz="1400" dirty="0" smtClean="0">
                <a:solidFill>
                  <a:srgbClr val="A31515"/>
                </a:solidFill>
                <a:latin typeface="Consolas" panose="020B0609020204030204" pitchFamily="49" charset="0"/>
              </a:rPr>
              <a:t> </a:t>
            </a:r>
            <a:r>
              <a:rPr lang="fr-FR" sz="1400" dirty="0">
                <a:solidFill>
                  <a:srgbClr val="A31515"/>
                </a:solidFill>
                <a:latin typeface="Consolas" panose="020B0609020204030204" pitchFamily="49" charset="0"/>
              </a:rPr>
              <a:t>= </a:t>
            </a:r>
            <a:r>
              <a:rPr lang="fr-FR" sz="1400" dirty="0">
                <a:solidFill>
                  <a:srgbClr val="0000FF"/>
                </a:solidFill>
                <a:latin typeface="Consolas" panose="020B0609020204030204" pitchFamily="49" charset="0"/>
              </a:rPr>
              <a:t>{</a:t>
            </a:r>
            <a:r>
              <a:rPr lang="fr-FR" sz="1400" dirty="0">
                <a:solidFill>
                  <a:srgbClr val="001080"/>
                </a:solidFill>
                <a:latin typeface="Consolas" panose="020B0609020204030204" pitchFamily="49" charset="0"/>
              </a:rPr>
              <a:t>Tsi_sol</a:t>
            </a:r>
            <a:r>
              <a:rPr lang="fr-FR" sz="1400" dirty="0">
                <a:solidFill>
                  <a:srgbClr val="0000FF"/>
                </a:solidFill>
                <a:latin typeface="Consolas" panose="020B0609020204030204" pitchFamily="49" charset="0"/>
              </a:rPr>
              <a:t>:.4f}</a:t>
            </a:r>
            <a:r>
              <a:rPr lang="fr-FR" sz="1400" dirty="0">
                <a:solidFill>
                  <a:srgbClr val="A31515"/>
                </a:solidFill>
                <a:latin typeface="Consolas" panose="020B0609020204030204" pitchFamily="49" charset="0"/>
              </a:rPr>
              <a:t>"</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print</a:t>
            </a:r>
            <a:r>
              <a:rPr lang="fr-FR" sz="1400" dirty="0">
                <a:solidFill>
                  <a:srgbClr val="000000"/>
                </a:solidFill>
                <a:latin typeface="Consolas" panose="020B0609020204030204" pitchFamily="49" charset="0"/>
              </a:rPr>
              <a:t>(</a:t>
            </a:r>
            <a:r>
              <a:rPr lang="fr-FR" sz="1400" dirty="0" err="1">
                <a:solidFill>
                  <a:srgbClr val="0000FF"/>
                </a:solidFill>
                <a:latin typeface="Consolas" panose="020B0609020204030204" pitchFamily="49" charset="0"/>
              </a:rPr>
              <a:t>f</a:t>
            </a:r>
            <a:r>
              <a:rPr lang="fr-FR" sz="1400" dirty="0" err="1">
                <a:solidFill>
                  <a:srgbClr val="A31515"/>
                </a:solidFill>
                <a:latin typeface="Consolas" panose="020B0609020204030204" pitchFamily="49" charset="0"/>
              </a:rPr>
              <a:t>"Residu</a:t>
            </a:r>
            <a:r>
              <a:rPr lang="fr-FR" sz="1400" dirty="0">
                <a:solidFill>
                  <a:srgbClr val="A31515"/>
                </a:solidFill>
                <a:latin typeface="Consolas" panose="020B0609020204030204" pitchFamily="49" charset="0"/>
              </a:rPr>
              <a:t> : </a:t>
            </a:r>
            <a:r>
              <a:rPr lang="fr-FR" sz="1400" dirty="0">
                <a:solidFill>
                  <a:srgbClr val="0000FF"/>
                </a:solidFill>
                <a:latin typeface="Consolas" panose="020B0609020204030204" pitchFamily="49" charset="0"/>
              </a:rPr>
              <a:t>{</a:t>
            </a:r>
            <a:r>
              <a:rPr lang="fr-FR" sz="1400" dirty="0" err="1">
                <a:solidFill>
                  <a:srgbClr val="795E26"/>
                </a:solidFill>
                <a:latin typeface="Consolas" panose="020B0609020204030204" pitchFamily="49" charset="0"/>
              </a:rPr>
              <a:t>equations</a:t>
            </a:r>
            <a:r>
              <a:rPr lang="fr-FR" sz="1400" dirty="0">
                <a:solidFill>
                  <a:srgbClr val="000000"/>
                </a:solidFill>
                <a:latin typeface="Consolas" panose="020B0609020204030204" pitchFamily="49" charset="0"/>
              </a:rPr>
              <a:t>(</a:t>
            </a:r>
            <a:r>
              <a:rPr lang="fr-FR" sz="1400" dirty="0" err="1">
                <a:solidFill>
                  <a:srgbClr val="001080"/>
                </a:solidFill>
                <a:latin typeface="Consolas" panose="020B0609020204030204" pitchFamily="49" charset="0"/>
              </a:rPr>
              <a:t>sol</a:t>
            </a:r>
            <a:r>
              <a:rPr lang="fr-FR" sz="1400" dirty="0" err="1">
                <a:solidFill>
                  <a:srgbClr val="000000"/>
                </a:solidFill>
                <a:latin typeface="Consolas" panose="020B0609020204030204" pitchFamily="49" charset="0"/>
              </a:rPr>
              <a:t>.x</a:t>
            </a:r>
            <a:r>
              <a:rPr lang="fr-FR" sz="1400" dirty="0">
                <a:solidFill>
                  <a:srgbClr val="000000"/>
                </a:solidFill>
                <a:latin typeface="Consolas" panose="020B0609020204030204" pitchFamily="49" charset="0"/>
              </a:rPr>
              <a:t>)</a:t>
            </a:r>
            <a:r>
              <a:rPr lang="fr-FR" sz="1400" dirty="0">
                <a:solidFill>
                  <a:srgbClr val="0000FF"/>
                </a:solidFill>
                <a:latin typeface="Consolas" panose="020B0609020204030204" pitchFamily="49" charset="0"/>
              </a:rPr>
              <a:t>}</a:t>
            </a:r>
            <a:r>
              <a:rPr lang="fr-FR" sz="1400" dirty="0">
                <a:solidFill>
                  <a:srgbClr val="A31515"/>
                </a:solidFill>
                <a:latin typeface="Consolas" panose="020B0609020204030204" pitchFamily="49" charset="0"/>
              </a:rPr>
              <a:t>"</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p>
          <a:p>
            <a:r>
              <a:rPr lang="fr-FR" sz="1400" dirty="0" err="1">
                <a:solidFill>
                  <a:srgbClr val="AF00DB"/>
                </a:solidFill>
                <a:latin typeface="Consolas" panose="020B0609020204030204" pitchFamily="49" charset="0"/>
              </a:rPr>
              <a:t>else</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t>
            </a:r>
            <a:r>
              <a:rPr lang="fr-FR" sz="1400" dirty="0" err="1">
                <a:solidFill>
                  <a:srgbClr val="795E26"/>
                </a:solidFill>
                <a:latin typeface="Consolas" panose="020B0609020204030204" pitchFamily="49" charset="0"/>
              </a:rPr>
              <a:t>print</a:t>
            </a:r>
            <a:r>
              <a:rPr lang="fr-FR" sz="1400" dirty="0">
                <a:solidFill>
                  <a:srgbClr val="000000"/>
                </a:solidFill>
                <a:latin typeface="Consolas" panose="020B0609020204030204" pitchFamily="49" charset="0"/>
              </a:rPr>
              <a:t>(</a:t>
            </a:r>
            <a:r>
              <a:rPr lang="fr-FR" sz="1400" dirty="0">
                <a:solidFill>
                  <a:srgbClr val="A31515"/>
                </a:solidFill>
                <a:latin typeface="Consolas" panose="020B0609020204030204" pitchFamily="49" charset="0"/>
              </a:rPr>
              <a:t>"Échec de la résolution :"</a:t>
            </a:r>
            <a:r>
              <a:rPr lang="fr-FR" sz="1400" dirty="0">
                <a:solidFill>
                  <a:srgbClr val="000000"/>
                </a:solidFill>
                <a:latin typeface="Consolas" panose="020B0609020204030204" pitchFamily="49" charset="0"/>
              </a:rPr>
              <a:t>, </a:t>
            </a:r>
            <a:r>
              <a:rPr lang="fr-FR" sz="1400" dirty="0" err="1">
                <a:solidFill>
                  <a:srgbClr val="001080"/>
                </a:solidFill>
                <a:latin typeface="Consolas" panose="020B0609020204030204" pitchFamily="49" charset="0"/>
              </a:rPr>
              <a:t>sol</a:t>
            </a:r>
            <a:r>
              <a:rPr lang="fr-FR" sz="1400" dirty="0" err="1">
                <a:solidFill>
                  <a:srgbClr val="000000"/>
                </a:solidFill>
                <a:latin typeface="Consolas" panose="020B0609020204030204" pitchFamily="49" charset="0"/>
              </a:rPr>
              <a:t>.message</a:t>
            </a:r>
            <a:r>
              <a:rPr lang="fr-FR" sz="1400" dirty="0">
                <a:solidFill>
                  <a:srgbClr val="000000"/>
                </a:solidFill>
                <a:latin typeface="Consolas" panose="020B0609020204030204" pitchFamily="49" charset="0"/>
              </a:rPr>
              <a:t>)</a:t>
            </a:r>
          </a:p>
          <a:p>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r>
              <a:rPr lang="fr-FR" sz="1400" dirty="0">
                <a:solidFill>
                  <a:srgbClr val="000000"/>
                </a:solidFill>
                <a:latin typeface="Consolas" panose="020B0609020204030204" pitchFamily="49" charset="0"/>
              </a:rPr>
              <a:t/>
            </a:r>
            <a:br>
              <a:rPr lang="fr-FR" sz="1400" dirty="0">
                <a:solidFill>
                  <a:srgbClr val="000000"/>
                </a:solidFill>
                <a:latin typeface="Consolas" panose="020B0609020204030204" pitchFamily="49" charset="0"/>
              </a:rPr>
            </a:br>
            <a:endParaRPr lang="fr-FR" sz="1400" dirty="0">
              <a:solidFill>
                <a:srgbClr val="000000"/>
              </a:solidFill>
              <a:latin typeface="Consolas" panose="020B0609020204030204" pitchFamily="49" charset="0"/>
            </a:endParaRPr>
          </a:p>
          <a:p>
            <a:endParaRPr lang="fr-FR" sz="1400" dirty="0"/>
          </a:p>
        </p:txBody>
      </p:sp>
      <p:cxnSp>
        <p:nvCxnSpPr>
          <p:cNvPr id="5" name="Connecteur droit 4"/>
          <p:cNvCxnSpPr/>
          <p:nvPr/>
        </p:nvCxnSpPr>
        <p:spPr>
          <a:xfrm>
            <a:off x="5788152" y="201168"/>
            <a:ext cx="0" cy="652030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ZoneTexte 5"/>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40244948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09448" y="461199"/>
            <a:ext cx="5197257" cy="6555641"/>
          </a:xfrm>
          <a:prstGeom prst="rect">
            <a:avLst/>
          </a:prstGeom>
          <a:noFill/>
        </p:spPr>
        <p:txBody>
          <a:bodyPr wrap="none" rtlCol="0">
            <a:spAutoFit/>
          </a:bodyPr>
          <a:lstStyle/>
          <a:p>
            <a:r>
              <a:rPr lang="fr-FR" sz="1200" dirty="0">
                <a:solidFill>
                  <a:srgbClr val="008000"/>
                </a:solidFill>
                <a:latin typeface="Consolas" panose="020B0609020204030204" pitchFamily="49" charset="0"/>
              </a:rPr>
              <a:t># Valeurs initiales</a:t>
            </a:r>
            <a:endParaRPr lang="fr-FR" sz="1200" dirty="0">
              <a:solidFill>
                <a:srgbClr val="000000"/>
              </a:solidFill>
              <a:latin typeface="Consolas" panose="020B0609020204030204" pitchFamily="49" charset="0"/>
            </a:endParaRPr>
          </a:p>
          <a:p>
            <a:r>
              <a:rPr lang="fr-FR" sz="1200" dirty="0" err="1">
                <a:solidFill>
                  <a:srgbClr val="001080"/>
                </a:solidFill>
                <a:latin typeface="Consolas" panose="020B0609020204030204" pitchFamily="49" charset="0"/>
              </a:rPr>
              <a:t>initial_guess</a:t>
            </a:r>
            <a:r>
              <a:rPr lang="fr-FR" sz="1200" dirty="0">
                <a:solidFill>
                  <a:srgbClr val="000000"/>
                </a:solidFill>
                <a:latin typeface="Consolas" panose="020B0609020204030204" pitchFamily="49" charset="0"/>
              </a:rPr>
              <a:t> = [</a:t>
            </a:r>
            <a:r>
              <a:rPr lang="fr-FR" sz="1200" dirty="0" err="1">
                <a:solidFill>
                  <a:srgbClr val="001080"/>
                </a:solidFill>
                <a:latin typeface="Consolas" panose="020B0609020204030204" pitchFamily="49" charset="0"/>
              </a:rPr>
              <a:t>Tsur</a:t>
            </a:r>
            <a:r>
              <a:rPr lang="fr-FR" sz="1200" dirty="0">
                <a:solidFill>
                  <a:srgbClr val="000000"/>
                </a:solidFill>
                <a:latin typeface="Consolas" panose="020B0609020204030204" pitchFamily="49" charset="0"/>
              </a:rPr>
              <a:t>, </a:t>
            </a:r>
            <a:r>
              <a:rPr lang="fr-FR" sz="1200" dirty="0" err="1">
                <a:solidFill>
                  <a:srgbClr val="001080"/>
                </a:solidFill>
                <a:latin typeface="Consolas" panose="020B0609020204030204" pitchFamily="49" charset="0"/>
              </a:rPr>
              <a:t>Tsur</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r>
            <a:br>
              <a:rPr lang="fr-FR" sz="1200" dirty="0">
                <a:solidFill>
                  <a:srgbClr val="000000"/>
                </a:solidFill>
                <a:latin typeface="Consolas" panose="020B0609020204030204" pitchFamily="49" charset="0"/>
              </a:rPr>
            </a:br>
            <a:r>
              <a:rPr lang="fr-FR" sz="1200" dirty="0" smtClean="0">
                <a:solidFill>
                  <a:srgbClr val="008000"/>
                </a:solidFill>
                <a:latin typeface="Consolas" panose="020B0609020204030204" pitchFamily="49" charset="0"/>
              </a:rPr>
              <a:t># Utilisation de </a:t>
            </a:r>
            <a:r>
              <a:rPr lang="fr-FR" sz="1200" dirty="0" err="1" smtClean="0">
                <a:solidFill>
                  <a:srgbClr val="008000"/>
                </a:solidFill>
                <a:latin typeface="Consolas" panose="020B0609020204030204" pitchFamily="49" charset="0"/>
              </a:rPr>
              <a:t>scipy.optimize.root</a:t>
            </a:r>
            <a:endParaRPr lang="fr-FR" sz="1200" dirty="0">
              <a:solidFill>
                <a:srgbClr val="000000"/>
              </a:solidFill>
              <a:latin typeface="Consolas" panose="020B0609020204030204" pitchFamily="49" charset="0"/>
            </a:endParaRPr>
          </a:p>
          <a:p>
            <a:r>
              <a:rPr lang="fr-FR" sz="1200" dirty="0" smtClean="0">
                <a:solidFill>
                  <a:srgbClr val="001080"/>
                </a:solidFill>
                <a:latin typeface="Consolas" panose="020B0609020204030204" pitchFamily="49" charset="0"/>
              </a:rPr>
              <a:t>sol</a:t>
            </a:r>
            <a:r>
              <a:rPr lang="fr-FR" sz="1200" dirty="0" smtClean="0">
                <a:solidFill>
                  <a:srgbClr val="000000"/>
                </a:solidFill>
                <a:latin typeface="Consolas" panose="020B0609020204030204" pitchFamily="49" charset="0"/>
              </a:rPr>
              <a:t> </a:t>
            </a:r>
            <a:r>
              <a:rPr lang="fr-FR" sz="1200" dirty="0">
                <a:solidFill>
                  <a:srgbClr val="000000"/>
                </a:solidFill>
                <a:latin typeface="Consolas" panose="020B0609020204030204" pitchFamily="49" charset="0"/>
              </a:rPr>
              <a:t>= </a:t>
            </a:r>
            <a:r>
              <a:rPr lang="fr-FR" sz="1200" dirty="0" err="1">
                <a:solidFill>
                  <a:srgbClr val="795E26"/>
                </a:solidFill>
                <a:latin typeface="Consolas" panose="020B0609020204030204" pitchFamily="49" charset="0"/>
              </a:rPr>
              <a:t>root</a:t>
            </a:r>
            <a:r>
              <a:rPr lang="fr-FR" sz="1200" dirty="0">
                <a:solidFill>
                  <a:srgbClr val="000000"/>
                </a:solidFill>
                <a:latin typeface="Consolas" panose="020B0609020204030204" pitchFamily="49" charset="0"/>
              </a:rPr>
              <a:t>(</a:t>
            </a:r>
            <a:r>
              <a:rPr lang="fr-FR" sz="1200" dirty="0" err="1">
                <a:solidFill>
                  <a:srgbClr val="795E26"/>
                </a:solidFill>
                <a:latin typeface="Consolas" panose="020B0609020204030204" pitchFamily="49" charset="0"/>
              </a:rPr>
              <a:t>equations</a:t>
            </a:r>
            <a:r>
              <a:rPr lang="fr-FR" sz="1200" dirty="0">
                <a:solidFill>
                  <a:srgbClr val="000000"/>
                </a:solidFill>
                <a:latin typeface="Consolas" panose="020B0609020204030204" pitchFamily="49" charset="0"/>
              </a:rPr>
              <a:t>, </a:t>
            </a:r>
            <a:r>
              <a:rPr lang="fr-FR" sz="1200" dirty="0" err="1">
                <a:solidFill>
                  <a:srgbClr val="001080"/>
                </a:solidFill>
                <a:latin typeface="Consolas" panose="020B0609020204030204" pitchFamily="49" charset="0"/>
              </a:rPr>
              <a:t>initial_guess</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r>
            <a:br>
              <a:rPr lang="fr-FR" sz="1200" dirty="0">
                <a:solidFill>
                  <a:srgbClr val="000000"/>
                </a:solidFill>
                <a:latin typeface="Consolas" panose="020B0609020204030204" pitchFamily="49" charset="0"/>
              </a:rPr>
            </a:br>
            <a:r>
              <a:rPr lang="fr-FR" sz="1200" dirty="0">
                <a:solidFill>
                  <a:srgbClr val="008000"/>
                </a:solidFill>
                <a:latin typeface="Consolas" panose="020B0609020204030204" pitchFamily="49" charset="0"/>
              </a:rPr>
              <a:t># Affichage</a:t>
            </a:r>
            <a:endParaRPr lang="fr-FR" sz="1200" dirty="0">
              <a:solidFill>
                <a:srgbClr val="000000"/>
              </a:solidFill>
              <a:latin typeface="Consolas" panose="020B0609020204030204" pitchFamily="49" charset="0"/>
            </a:endParaRPr>
          </a:p>
          <a:p>
            <a:r>
              <a:rPr lang="fr-FR" sz="1200" dirty="0">
                <a:solidFill>
                  <a:srgbClr val="AF00DB"/>
                </a:solidFill>
                <a:latin typeface="Consolas" panose="020B0609020204030204" pitchFamily="49" charset="0"/>
              </a:rPr>
              <a:t>if</a:t>
            </a:r>
            <a:r>
              <a:rPr lang="fr-FR" sz="1200" dirty="0">
                <a:solidFill>
                  <a:srgbClr val="000000"/>
                </a:solidFill>
                <a:latin typeface="Consolas" panose="020B0609020204030204" pitchFamily="49" charset="0"/>
              </a:rPr>
              <a:t> </a:t>
            </a:r>
            <a:r>
              <a:rPr lang="fr-FR" sz="1200" dirty="0" err="1">
                <a:solidFill>
                  <a:srgbClr val="001080"/>
                </a:solidFill>
                <a:latin typeface="Consolas" panose="020B0609020204030204" pitchFamily="49" charset="0"/>
              </a:rPr>
              <a:t>sol</a:t>
            </a:r>
            <a:r>
              <a:rPr lang="fr-FR" sz="1200" dirty="0" err="1">
                <a:solidFill>
                  <a:srgbClr val="000000"/>
                </a:solidFill>
                <a:latin typeface="Consolas" panose="020B0609020204030204" pitchFamily="49" charset="0"/>
              </a:rPr>
              <a:t>.success</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001080"/>
                </a:solidFill>
                <a:latin typeface="Consolas" panose="020B0609020204030204" pitchFamily="49" charset="0"/>
              </a:rPr>
              <a:t>Tg_top_sol</a:t>
            </a:r>
            <a:r>
              <a:rPr lang="fr-FR" sz="1200" dirty="0">
                <a:solidFill>
                  <a:srgbClr val="000000"/>
                </a:solidFill>
                <a:latin typeface="Consolas" panose="020B0609020204030204" pitchFamily="49" charset="0"/>
              </a:rPr>
              <a:t>, </a:t>
            </a:r>
            <a:r>
              <a:rPr lang="fr-FR" sz="1200" dirty="0" err="1">
                <a:solidFill>
                  <a:srgbClr val="001080"/>
                </a:solidFill>
                <a:latin typeface="Consolas" panose="020B0609020204030204" pitchFamily="49" charset="0"/>
              </a:rPr>
              <a:t>Tsi_sol</a:t>
            </a:r>
            <a:r>
              <a:rPr lang="fr-FR" sz="1200" dirty="0">
                <a:solidFill>
                  <a:srgbClr val="000000"/>
                </a:solidFill>
                <a:latin typeface="Consolas" panose="020B0609020204030204" pitchFamily="49" charset="0"/>
              </a:rPr>
              <a:t> = </a:t>
            </a:r>
            <a:r>
              <a:rPr lang="fr-FR" sz="1200" dirty="0" err="1">
                <a:solidFill>
                  <a:srgbClr val="001080"/>
                </a:solidFill>
                <a:latin typeface="Consolas" panose="020B0609020204030204" pitchFamily="49" charset="0"/>
              </a:rPr>
              <a:t>sol</a:t>
            </a:r>
            <a:r>
              <a:rPr lang="fr-FR" sz="1200" dirty="0" err="1">
                <a:solidFill>
                  <a:srgbClr val="000000"/>
                </a:solidFill>
                <a:latin typeface="Consolas" panose="020B0609020204030204" pitchFamily="49" charset="0"/>
              </a:rPr>
              <a:t>.x</a:t>
            </a:r>
            <a:endParaRPr lang="fr-FR" sz="1200" dirty="0">
              <a:solidFill>
                <a:srgbClr val="000000"/>
              </a:solidFill>
              <a:latin typeface="Consolas" panose="020B0609020204030204" pitchFamily="49" charset="0"/>
            </a:endParaRPr>
          </a:p>
          <a:p>
            <a:r>
              <a:rPr lang="fr-FR" sz="1200" dirty="0">
                <a:solidFill>
                  <a:srgbClr val="000000"/>
                </a:solidFill>
                <a:latin typeface="Consolas" panose="020B0609020204030204" pitchFamily="49" charset="0"/>
              </a:rPr>
              <a:t>    </a:t>
            </a:r>
            <a:r>
              <a:rPr lang="fr-FR" sz="1200" dirty="0" err="1">
                <a:solidFill>
                  <a:srgbClr val="795E26"/>
                </a:solidFill>
                <a:latin typeface="Consolas" panose="020B0609020204030204" pitchFamily="49" charset="0"/>
              </a:rPr>
              <a:t>print</a:t>
            </a:r>
            <a:r>
              <a:rPr lang="fr-FR" sz="1200" dirty="0">
                <a:solidFill>
                  <a:srgbClr val="000000"/>
                </a:solidFill>
                <a:latin typeface="Consolas" panose="020B0609020204030204" pitchFamily="49" charset="0"/>
              </a:rPr>
              <a:t>(</a:t>
            </a:r>
            <a:r>
              <a:rPr lang="fr-FR" sz="1200" dirty="0" err="1">
                <a:solidFill>
                  <a:srgbClr val="0000FF"/>
                </a:solidFill>
                <a:latin typeface="Consolas" panose="020B0609020204030204" pitchFamily="49" charset="0"/>
              </a:rPr>
              <a:t>f</a:t>
            </a:r>
            <a:r>
              <a:rPr lang="fr-FR" sz="1200" dirty="0" err="1">
                <a:solidFill>
                  <a:srgbClr val="A31515"/>
                </a:solidFill>
                <a:latin typeface="Consolas" panose="020B0609020204030204" pitchFamily="49" charset="0"/>
              </a:rPr>
              <a:t>"Solution</a:t>
            </a:r>
            <a:r>
              <a:rPr lang="fr-FR" sz="1200" dirty="0">
                <a:solidFill>
                  <a:srgbClr val="A31515"/>
                </a:solidFill>
                <a:latin typeface="Consolas" panose="020B0609020204030204" pitchFamily="49" charset="0"/>
              </a:rPr>
              <a:t> trouvée : </a:t>
            </a:r>
            <a:r>
              <a:rPr lang="fr-FR" sz="1200" dirty="0" err="1">
                <a:solidFill>
                  <a:srgbClr val="A31515"/>
                </a:solidFill>
                <a:latin typeface="Consolas" panose="020B0609020204030204" pitchFamily="49" charset="0"/>
              </a:rPr>
              <a:t>Tg_top</a:t>
            </a:r>
            <a:r>
              <a:rPr lang="fr-FR" sz="1200" dirty="0">
                <a:solidFill>
                  <a:srgbClr val="A31515"/>
                </a:solidFill>
                <a:latin typeface="Consolas" panose="020B0609020204030204" pitchFamily="49" charset="0"/>
              </a:rPr>
              <a:t> = </a:t>
            </a:r>
            <a:r>
              <a:rPr lang="fr-FR" sz="1200" dirty="0">
                <a:solidFill>
                  <a:srgbClr val="0000FF"/>
                </a:solidFill>
                <a:latin typeface="Consolas" panose="020B0609020204030204" pitchFamily="49" charset="0"/>
              </a:rPr>
              <a:t>{</a:t>
            </a:r>
            <a:r>
              <a:rPr lang="fr-FR" sz="1200" dirty="0">
                <a:solidFill>
                  <a:srgbClr val="001080"/>
                </a:solidFill>
                <a:latin typeface="Consolas" panose="020B0609020204030204" pitchFamily="49" charset="0"/>
              </a:rPr>
              <a:t>Tg_top_sol</a:t>
            </a:r>
            <a:r>
              <a:rPr lang="fr-FR" sz="1200" dirty="0">
                <a:solidFill>
                  <a:srgbClr val="0000FF"/>
                </a:solidFill>
                <a:latin typeface="Consolas" panose="020B0609020204030204" pitchFamily="49" charset="0"/>
              </a:rPr>
              <a:t>:.4f}</a:t>
            </a:r>
            <a:r>
              <a:rPr lang="fr-FR" sz="1200" dirty="0">
                <a:solidFill>
                  <a:srgbClr val="A31515"/>
                </a:solidFill>
                <a:latin typeface="Consolas" panose="020B0609020204030204" pitchFamily="49" charset="0"/>
              </a:rPr>
              <a:t>, </a:t>
            </a:r>
            <a:r>
              <a:rPr lang="fr-FR" sz="1200" dirty="0" smtClean="0">
                <a:solidFill>
                  <a:srgbClr val="A31515"/>
                </a:solidFill>
                <a:latin typeface="Consolas" panose="020B0609020204030204" pitchFamily="49" charset="0"/>
              </a:rPr>
              <a:t>\</a:t>
            </a:r>
          </a:p>
          <a:p>
            <a:r>
              <a:rPr lang="fr-FR" sz="1200" dirty="0">
                <a:solidFill>
                  <a:srgbClr val="A31515"/>
                </a:solidFill>
                <a:latin typeface="Consolas" panose="020B0609020204030204" pitchFamily="49" charset="0"/>
              </a:rPr>
              <a:t>	</a:t>
            </a:r>
            <a:r>
              <a:rPr lang="fr-FR" sz="1200" dirty="0" err="1" smtClean="0">
                <a:solidFill>
                  <a:srgbClr val="A31515"/>
                </a:solidFill>
                <a:latin typeface="Consolas" panose="020B0609020204030204" pitchFamily="49" charset="0"/>
              </a:rPr>
              <a:t>Tsi</a:t>
            </a:r>
            <a:r>
              <a:rPr lang="fr-FR" sz="1200" dirty="0" smtClean="0">
                <a:solidFill>
                  <a:srgbClr val="A31515"/>
                </a:solidFill>
                <a:latin typeface="Consolas" panose="020B0609020204030204" pitchFamily="49" charset="0"/>
              </a:rPr>
              <a:t> </a:t>
            </a:r>
            <a:r>
              <a:rPr lang="fr-FR" sz="1200" dirty="0">
                <a:solidFill>
                  <a:srgbClr val="A31515"/>
                </a:solidFill>
                <a:latin typeface="Consolas" panose="020B0609020204030204" pitchFamily="49" charset="0"/>
              </a:rPr>
              <a:t>= </a:t>
            </a:r>
            <a:r>
              <a:rPr lang="fr-FR" sz="1200" dirty="0">
                <a:solidFill>
                  <a:srgbClr val="0000FF"/>
                </a:solidFill>
                <a:latin typeface="Consolas" panose="020B0609020204030204" pitchFamily="49" charset="0"/>
              </a:rPr>
              <a:t>{</a:t>
            </a:r>
            <a:r>
              <a:rPr lang="fr-FR" sz="1200" dirty="0">
                <a:solidFill>
                  <a:srgbClr val="001080"/>
                </a:solidFill>
                <a:latin typeface="Consolas" panose="020B0609020204030204" pitchFamily="49" charset="0"/>
              </a:rPr>
              <a:t>Tsi_sol</a:t>
            </a:r>
            <a:r>
              <a:rPr lang="fr-FR" sz="1200" dirty="0">
                <a:solidFill>
                  <a:srgbClr val="0000FF"/>
                </a:solidFill>
                <a:latin typeface="Consolas" panose="020B0609020204030204" pitchFamily="49" charset="0"/>
              </a:rPr>
              <a:t>:.4f}</a:t>
            </a:r>
            <a:r>
              <a:rPr lang="fr-FR" sz="1200" dirty="0">
                <a:solidFill>
                  <a:srgbClr val="A31515"/>
                </a:solidFill>
                <a:latin typeface="Consolas" panose="020B0609020204030204" pitchFamily="49" charset="0"/>
              </a:rPr>
              <a:t>"</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795E26"/>
                </a:solidFill>
                <a:latin typeface="Consolas" panose="020B0609020204030204" pitchFamily="49" charset="0"/>
              </a:rPr>
              <a:t>print</a:t>
            </a:r>
            <a:r>
              <a:rPr lang="fr-FR" sz="1200" dirty="0">
                <a:solidFill>
                  <a:srgbClr val="000000"/>
                </a:solidFill>
                <a:latin typeface="Consolas" panose="020B0609020204030204" pitchFamily="49" charset="0"/>
              </a:rPr>
              <a:t>(</a:t>
            </a:r>
            <a:r>
              <a:rPr lang="fr-FR" sz="1200" dirty="0" err="1">
                <a:solidFill>
                  <a:srgbClr val="0000FF"/>
                </a:solidFill>
                <a:latin typeface="Consolas" panose="020B0609020204030204" pitchFamily="49" charset="0"/>
              </a:rPr>
              <a:t>f</a:t>
            </a:r>
            <a:r>
              <a:rPr lang="fr-FR" sz="1200" dirty="0" err="1">
                <a:solidFill>
                  <a:srgbClr val="A31515"/>
                </a:solidFill>
                <a:latin typeface="Consolas" panose="020B0609020204030204" pitchFamily="49" charset="0"/>
              </a:rPr>
              <a:t>"Residu</a:t>
            </a:r>
            <a:r>
              <a:rPr lang="fr-FR" sz="1200" dirty="0">
                <a:solidFill>
                  <a:srgbClr val="A31515"/>
                </a:solidFill>
                <a:latin typeface="Consolas" panose="020B0609020204030204" pitchFamily="49" charset="0"/>
              </a:rPr>
              <a:t> : </a:t>
            </a:r>
            <a:r>
              <a:rPr lang="fr-FR" sz="1200" dirty="0">
                <a:solidFill>
                  <a:srgbClr val="0000FF"/>
                </a:solidFill>
                <a:latin typeface="Consolas" panose="020B0609020204030204" pitchFamily="49" charset="0"/>
              </a:rPr>
              <a:t>{</a:t>
            </a:r>
            <a:r>
              <a:rPr lang="fr-FR" sz="1200" dirty="0" err="1">
                <a:solidFill>
                  <a:srgbClr val="795E26"/>
                </a:solidFill>
                <a:latin typeface="Consolas" panose="020B0609020204030204" pitchFamily="49" charset="0"/>
              </a:rPr>
              <a:t>equations</a:t>
            </a:r>
            <a:r>
              <a:rPr lang="fr-FR" sz="1200" dirty="0">
                <a:solidFill>
                  <a:srgbClr val="000000"/>
                </a:solidFill>
                <a:latin typeface="Consolas" panose="020B0609020204030204" pitchFamily="49" charset="0"/>
              </a:rPr>
              <a:t>(</a:t>
            </a:r>
            <a:r>
              <a:rPr lang="fr-FR" sz="1200" dirty="0" err="1">
                <a:solidFill>
                  <a:srgbClr val="001080"/>
                </a:solidFill>
                <a:latin typeface="Consolas" panose="020B0609020204030204" pitchFamily="49" charset="0"/>
              </a:rPr>
              <a:t>sol</a:t>
            </a:r>
            <a:r>
              <a:rPr lang="fr-FR" sz="1200" dirty="0" err="1">
                <a:solidFill>
                  <a:srgbClr val="000000"/>
                </a:solidFill>
                <a:latin typeface="Consolas" panose="020B0609020204030204" pitchFamily="49" charset="0"/>
              </a:rPr>
              <a:t>.x</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a:t>
            </a:r>
            <a:r>
              <a:rPr lang="fr-FR" sz="1200" dirty="0">
                <a:solidFill>
                  <a:srgbClr val="A31515"/>
                </a:solidFill>
                <a:latin typeface="Consolas" panose="020B0609020204030204" pitchFamily="49" charset="0"/>
              </a:rPr>
              <a:t>"</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p>
          <a:p>
            <a:r>
              <a:rPr lang="fr-FR" sz="1200" dirty="0">
                <a:solidFill>
                  <a:srgbClr val="000000"/>
                </a:solidFill>
                <a:latin typeface="Consolas" panose="020B0609020204030204" pitchFamily="49" charset="0"/>
              </a:rPr>
              <a:t>    </a:t>
            </a:r>
            <a:r>
              <a:rPr lang="fr-FR" sz="1200" dirty="0">
                <a:solidFill>
                  <a:srgbClr val="0070C1"/>
                </a:solidFill>
                <a:latin typeface="Consolas" panose="020B0609020204030204" pitchFamily="49" charset="0"/>
              </a:rPr>
              <a:t>J</a:t>
            </a:r>
            <a:r>
              <a:rPr lang="fr-FR" sz="1200" dirty="0">
                <a:solidFill>
                  <a:srgbClr val="000000"/>
                </a:solidFill>
                <a:latin typeface="Consolas" panose="020B0609020204030204" pitchFamily="49" charset="0"/>
              </a:rPr>
              <a:t> = </a:t>
            </a:r>
            <a:r>
              <a:rPr lang="fr-FR" sz="1200" dirty="0" err="1">
                <a:solidFill>
                  <a:srgbClr val="267F99"/>
                </a:solidFill>
                <a:latin typeface="Consolas" panose="020B0609020204030204" pitchFamily="49" charset="0"/>
              </a:rPr>
              <a:t>np</a:t>
            </a:r>
            <a:r>
              <a:rPr lang="fr-FR" sz="1200" dirty="0" err="1">
                <a:solidFill>
                  <a:srgbClr val="000000"/>
                </a:solidFill>
                <a:latin typeface="Consolas" panose="020B0609020204030204" pitchFamily="49" charset="0"/>
              </a:rPr>
              <a:t>.</a:t>
            </a:r>
            <a:r>
              <a:rPr lang="fr-FR" sz="1200" dirty="0" err="1">
                <a:solidFill>
                  <a:srgbClr val="795E26"/>
                </a:solidFill>
                <a:latin typeface="Consolas" panose="020B0609020204030204" pitchFamily="49" charset="0"/>
              </a:rPr>
              <a:t>zeros</a:t>
            </a:r>
            <a:r>
              <a:rPr lang="fr-FR" sz="1200" dirty="0">
                <a:solidFill>
                  <a:srgbClr val="000000"/>
                </a:solidFill>
                <a:latin typeface="Consolas" panose="020B0609020204030204" pitchFamily="49" charset="0"/>
              </a:rPr>
              <a:t>((</a:t>
            </a:r>
            <a:r>
              <a:rPr lang="fr-FR" sz="1200" dirty="0">
                <a:solidFill>
                  <a:srgbClr val="098658"/>
                </a:solidFill>
                <a:latin typeface="Consolas" panose="020B0609020204030204" pitchFamily="49" charset="0"/>
              </a:rPr>
              <a:t>2</a:t>
            </a:r>
            <a:r>
              <a:rPr lang="fr-FR" sz="1200" dirty="0">
                <a:solidFill>
                  <a:srgbClr val="000000"/>
                </a:solidFill>
                <a:latin typeface="Consolas" panose="020B0609020204030204" pitchFamily="49" charset="0"/>
              </a:rPr>
              <a:t>, </a:t>
            </a:r>
            <a:r>
              <a:rPr lang="fr-FR" sz="1200" dirty="0">
                <a:solidFill>
                  <a:srgbClr val="098658"/>
                </a:solidFill>
                <a:latin typeface="Consolas" panose="020B0609020204030204" pitchFamily="49" charset="0"/>
              </a:rPr>
              <a:t>2</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a:solidFill>
                  <a:srgbClr val="AF00DB"/>
                </a:solidFill>
                <a:latin typeface="Consolas" panose="020B0609020204030204" pitchFamily="49" charset="0"/>
              </a:rPr>
              <a:t>for</a:t>
            </a:r>
            <a:r>
              <a:rPr lang="fr-FR" sz="1200" dirty="0">
                <a:solidFill>
                  <a:srgbClr val="000000"/>
                </a:solidFill>
                <a:latin typeface="Consolas" panose="020B0609020204030204" pitchFamily="49" charset="0"/>
              </a:rPr>
              <a:t> </a:t>
            </a:r>
            <a:r>
              <a:rPr lang="fr-FR" sz="1200" dirty="0">
                <a:solidFill>
                  <a:srgbClr val="001080"/>
                </a:solidFill>
                <a:latin typeface="Consolas" panose="020B0609020204030204" pitchFamily="49" charset="0"/>
              </a:rPr>
              <a:t>i</a:t>
            </a:r>
            <a:r>
              <a:rPr lang="fr-FR" sz="1200" dirty="0">
                <a:solidFill>
                  <a:srgbClr val="000000"/>
                </a:solidFill>
                <a:latin typeface="Consolas" panose="020B0609020204030204" pitchFamily="49" charset="0"/>
              </a:rPr>
              <a:t> </a:t>
            </a:r>
            <a:r>
              <a:rPr lang="fr-FR" sz="1200" dirty="0">
                <a:solidFill>
                  <a:srgbClr val="AF00DB"/>
                </a:solidFill>
                <a:latin typeface="Consolas" panose="020B0609020204030204" pitchFamily="49" charset="0"/>
              </a:rPr>
              <a:t>in</a:t>
            </a:r>
            <a:r>
              <a:rPr lang="fr-FR" sz="1200" dirty="0">
                <a:solidFill>
                  <a:srgbClr val="000000"/>
                </a:solidFill>
                <a:latin typeface="Consolas" panose="020B0609020204030204" pitchFamily="49" charset="0"/>
              </a:rPr>
              <a:t> </a:t>
            </a:r>
            <a:r>
              <a:rPr lang="fr-FR" sz="1200" dirty="0">
                <a:solidFill>
                  <a:srgbClr val="267F99"/>
                </a:solidFill>
                <a:latin typeface="Consolas" panose="020B0609020204030204" pitchFamily="49" charset="0"/>
              </a:rPr>
              <a:t>range</a:t>
            </a:r>
            <a:r>
              <a:rPr lang="fr-FR" sz="1200" dirty="0">
                <a:solidFill>
                  <a:srgbClr val="000000"/>
                </a:solidFill>
                <a:latin typeface="Consolas" panose="020B0609020204030204" pitchFamily="49" charset="0"/>
              </a:rPr>
              <a:t>(</a:t>
            </a:r>
            <a:r>
              <a:rPr lang="fr-FR" sz="1200" dirty="0">
                <a:solidFill>
                  <a:srgbClr val="098658"/>
                </a:solidFill>
                <a:latin typeface="Consolas" panose="020B0609020204030204" pitchFamily="49" charset="0"/>
              </a:rPr>
              <a:t>2</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0000FF"/>
                </a:solidFill>
                <a:latin typeface="Consolas" panose="020B0609020204030204" pitchFamily="49" charset="0"/>
              </a:rPr>
              <a:t>def</a:t>
            </a:r>
            <a:r>
              <a:rPr lang="fr-FR" sz="1200" dirty="0">
                <a:solidFill>
                  <a:srgbClr val="000000"/>
                </a:solidFill>
                <a:latin typeface="Consolas" panose="020B0609020204030204" pitchFamily="49" charset="0"/>
              </a:rPr>
              <a:t> </a:t>
            </a:r>
            <a:r>
              <a:rPr lang="fr-FR" sz="1200" dirty="0">
                <a:solidFill>
                  <a:srgbClr val="795E26"/>
                </a:solidFill>
                <a:latin typeface="Consolas" panose="020B0609020204030204" pitchFamily="49" charset="0"/>
              </a:rPr>
              <a:t>fi</a:t>
            </a:r>
            <a:r>
              <a:rPr lang="fr-FR" sz="1200" dirty="0">
                <a:solidFill>
                  <a:srgbClr val="000000"/>
                </a:solidFill>
                <a:latin typeface="Consolas" panose="020B0609020204030204" pitchFamily="49" charset="0"/>
              </a:rPr>
              <a:t>(</a:t>
            </a:r>
            <a:r>
              <a:rPr lang="fr-FR" sz="1200" dirty="0">
                <a:solidFill>
                  <a:srgbClr val="001080"/>
                </a:solidFill>
                <a:latin typeface="Consolas" panose="020B0609020204030204" pitchFamily="49" charset="0"/>
              </a:rPr>
              <a:t>x</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a:solidFill>
                  <a:srgbClr val="AF00DB"/>
                </a:solidFill>
                <a:latin typeface="Consolas" panose="020B0609020204030204" pitchFamily="49" charset="0"/>
              </a:rPr>
              <a:t>return</a:t>
            </a:r>
            <a:r>
              <a:rPr lang="fr-FR" sz="1200" dirty="0">
                <a:solidFill>
                  <a:srgbClr val="000000"/>
                </a:solidFill>
                <a:latin typeface="Consolas" panose="020B0609020204030204" pitchFamily="49" charset="0"/>
              </a:rPr>
              <a:t> </a:t>
            </a:r>
            <a:r>
              <a:rPr lang="fr-FR" sz="1200" dirty="0" err="1">
                <a:solidFill>
                  <a:srgbClr val="795E26"/>
                </a:solidFill>
                <a:latin typeface="Consolas" panose="020B0609020204030204" pitchFamily="49" charset="0"/>
              </a:rPr>
              <a:t>equations</a:t>
            </a:r>
            <a:r>
              <a:rPr lang="fr-FR" sz="1200" dirty="0">
                <a:solidFill>
                  <a:srgbClr val="000000"/>
                </a:solidFill>
                <a:latin typeface="Consolas" panose="020B0609020204030204" pitchFamily="49" charset="0"/>
              </a:rPr>
              <a:t>(</a:t>
            </a:r>
            <a:r>
              <a:rPr lang="fr-FR" sz="1200" dirty="0">
                <a:solidFill>
                  <a:srgbClr val="001080"/>
                </a:solidFill>
                <a:latin typeface="Consolas" panose="020B0609020204030204" pitchFamily="49" charset="0"/>
              </a:rPr>
              <a:t>x</a:t>
            </a:r>
            <a:r>
              <a:rPr lang="fr-FR" sz="1200" dirty="0">
                <a:solidFill>
                  <a:srgbClr val="000000"/>
                </a:solidFill>
                <a:latin typeface="Consolas" panose="020B0609020204030204" pitchFamily="49" charset="0"/>
              </a:rPr>
              <a:t>)[</a:t>
            </a:r>
            <a:r>
              <a:rPr lang="fr-FR" sz="1200" dirty="0">
                <a:solidFill>
                  <a:srgbClr val="001080"/>
                </a:solidFill>
                <a:latin typeface="Consolas" panose="020B0609020204030204" pitchFamily="49" charset="0"/>
              </a:rPr>
              <a:t>i</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a:solidFill>
                  <a:srgbClr val="0070C1"/>
                </a:solidFill>
                <a:latin typeface="Consolas" panose="020B0609020204030204" pitchFamily="49" charset="0"/>
              </a:rPr>
              <a:t>J</a:t>
            </a:r>
            <a:r>
              <a:rPr lang="fr-FR" sz="1200" dirty="0">
                <a:solidFill>
                  <a:srgbClr val="000000"/>
                </a:solidFill>
                <a:latin typeface="Consolas" panose="020B0609020204030204" pitchFamily="49" charset="0"/>
              </a:rPr>
              <a:t>[</a:t>
            </a:r>
            <a:r>
              <a:rPr lang="fr-FR" sz="1200" dirty="0">
                <a:solidFill>
                  <a:srgbClr val="001080"/>
                </a:solidFill>
                <a:latin typeface="Consolas" panose="020B0609020204030204" pitchFamily="49" charset="0"/>
              </a:rPr>
              <a:t>i</a:t>
            </a:r>
            <a:r>
              <a:rPr lang="fr-FR" sz="1200" dirty="0">
                <a:solidFill>
                  <a:srgbClr val="000000"/>
                </a:solidFill>
                <a:latin typeface="Consolas" panose="020B0609020204030204" pitchFamily="49" charset="0"/>
              </a:rPr>
              <a:t>, :] = </a:t>
            </a:r>
            <a:r>
              <a:rPr lang="fr-FR" sz="1200" dirty="0" err="1">
                <a:solidFill>
                  <a:srgbClr val="795E26"/>
                </a:solidFill>
                <a:latin typeface="Consolas" panose="020B0609020204030204" pitchFamily="49" charset="0"/>
              </a:rPr>
              <a:t>approx_fprime</a:t>
            </a:r>
            <a:r>
              <a:rPr lang="fr-FR" sz="1200" dirty="0">
                <a:solidFill>
                  <a:srgbClr val="000000"/>
                </a:solidFill>
                <a:latin typeface="Consolas" panose="020B0609020204030204" pitchFamily="49" charset="0"/>
              </a:rPr>
              <a:t>(</a:t>
            </a:r>
            <a:r>
              <a:rPr lang="fr-FR" sz="1200" dirty="0" err="1">
                <a:solidFill>
                  <a:srgbClr val="001080"/>
                </a:solidFill>
                <a:latin typeface="Consolas" panose="020B0609020204030204" pitchFamily="49" charset="0"/>
              </a:rPr>
              <a:t>sol</a:t>
            </a:r>
            <a:r>
              <a:rPr lang="fr-FR" sz="1200" dirty="0" err="1">
                <a:solidFill>
                  <a:srgbClr val="000000"/>
                </a:solidFill>
                <a:latin typeface="Consolas" panose="020B0609020204030204" pitchFamily="49" charset="0"/>
              </a:rPr>
              <a:t>.x</a:t>
            </a:r>
            <a:r>
              <a:rPr lang="fr-FR" sz="1200" dirty="0">
                <a:solidFill>
                  <a:srgbClr val="000000"/>
                </a:solidFill>
                <a:latin typeface="Consolas" panose="020B0609020204030204" pitchFamily="49" charset="0"/>
              </a:rPr>
              <a:t>, </a:t>
            </a:r>
            <a:r>
              <a:rPr lang="fr-FR" sz="1200" dirty="0">
                <a:solidFill>
                  <a:srgbClr val="795E26"/>
                </a:solidFill>
                <a:latin typeface="Consolas" panose="020B0609020204030204" pitchFamily="49" charset="0"/>
              </a:rPr>
              <a:t>fi</a:t>
            </a:r>
            <a:r>
              <a:rPr lang="fr-FR" sz="1200" dirty="0">
                <a:solidFill>
                  <a:srgbClr val="000000"/>
                </a:solidFill>
                <a:latin typeface="Consolas" panose="020B0609020204030204" pitchFamily="49" charset="0"/>
              </a:rPr>
              <a:t>, </a:t>
            </a:r>
            <a:r>
              <a:rPr lang="fr-FR" sz="1200" dirty="0">
                <a:solidFill>
                  <a:srgbClr val="001080"/>
                </a:solidFill>
                <a:latin typeface="Consolas" panose="020B0609020204030204" pitchFamily="49" charset="0"/>
              </a:rPr>
              <a:t>epsilon</a:t>
            </a:r>
            <a:r>
              <a:rPr lang="fr-FR" sz="1200" dirty="0">
                <a:solidFill>
                  <a:srgbClr val="000000"/>
                </a:solidFill>
                <a:latin typeface="Consolas" panose="020B0609020204030204" pitchFamily="49" charset="0"/>
              </a:rPr>
              <a:t>= </a:t>
            </a:r>
            <a:r>
              <a:rPr lang="fr-FR" sz="1200" dirty="0">
                <a:solidFill>
                  <a:srgbClr val="098658"/>
                </a:solidFill>
                <a:latin typeface="Consolas" panose="020B0609020204030204" pitchFamily="49" charset="0"/>
              </a:rPr>
              <a:t>1e-6</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p>
          <a:p>
            <a:r>
              <a:rPr lang="fr-FR" sz="1200" dirty="0">
                <a:solidFill>
                  <a:srgbClr val="000000"/>
                </a:solidFill>
                <a:latin typeface="Consolas" panose="020B0609020204030204" pitchFamily="49" charset="0"/>
              </a:rPr>
              <a:t>    </a:t>
            </a:r>
            <a:r>
              <a:rPr lang="fr-FR" sz="1200" dirty="0">
                <a:solidFill>
                  <a:srgbClr val="008000"/>
                </a:solidFill>
                <a:latin typeface="Consolas" panose="020B0609020204030204" pitchFamily="49" charset="0"/>
              </a:rPr>
              <a:t># estimer la variance résiduelle</a:t>
            </a:r>
            <a:endParaRPr lang="fr-FR" sz="1200" dirty="0">
              <a:solidFill>
                <a:srgbClr val="000000"/>
              </a:solidFill>
              <a:latin typeface="Consolas" panose="020B0609020204030204" pitchFamily="49" charset="0"/>
            </a:endParaRPr>
          </a:p>
          <a:p>
            <a:r>
              <a:rPr lang="fr-FR" sz="1200" dirty="0">
                <a:solidFill>
                  <a:srgbClr val="000000"/>
                </a:solidFill>
                <a:latin typeface="Consolas" panose="020B0609020204030204" pitchFamily="49" charset="0"/>
              </a:rPr>
              <a:t>    </a:t>
            </a:r>
            <a:r>
              <a:rPr lang="fr-FR" sz="1200" dirty="0" err="1">
                <a:solidFill>
                  <a:srgbClr val="001080"/>
                </a:solidFill>
                <a:latin typeface="Consolas" panose="020B0609020204030204" pitchFamily="49" charset="0"/>
              </a:rPr>
              <a:t>res</a:t>
            </a:r>
            <a:r>
              <a:rPr lang="fr-FR" sz="1200" dirty="0">
                <a:solidFill>
                  <a:srgbClr val="000000"/>
                </a:solidFill>
                <a:latin typeface="Consolas" panose="020B0609020204030204" pitchFamily="49" charset="0"/>
              </a:rPr>
              <a:t> = </a:t>
            </a:r>
            <a:r>
              <a:rPr lang="fr-FR" sz="1200" dirty="0" err="1">
                <a:solidFill>
                  <a:srgbClr val="267F99"/>
                </a:solidFill>
                <a:latin typeface="Consolas" panose="020B0609020204030204" pitchFamily="49" charset="0"/>
              </a:rPr>
              <a:t>np</a:t>
            </a:r>
            <a:r>
              <a:rPr lang="fr-FR" sz="1200" dirty="0" err="1">
                <a:solidFill>
                  <a:srgbClr val="000000"/>
                </a:solidFill>
                <a:latin typeface="Consolas" panose="020B0609020204030204" pitchFamily="49" charset="0"/>
              </a:rPr>
              <a:t>.</a:t>
            </a:r>
            <a:r>
              <a:rPr lang="fr-FR" sz="1200" dirty="0" err="1">
                <a:solidFill>
                  <a:srgbClr val="795E26"/>
                </a:solidFill>
                <a:latin typeface="Consolas" panose="020B0609020204030204" pitchFamily="49" charset="0"/>
              </a:rPr>
              <a:t>array</a:t>
            </a:r>
            <a:r>
              <a:rPr lang="fr-FR" sz="1200" dirty="0">
                <a:solidFill>
                  <a:srgbClr val="000000"/>
                </a:solidFill>
                <a:latin typeface="Consolas" panose="020B0609020204030204" pitchFamily="49" charset="0"/>
              </a:rPr>
              <a:t>(</a:t>
            </a:r>
            <a:r>
              <a:rPr lang="fr-FR" sz="1200" dirty="0" err="1">
                <a:solidFill>
                  <a:srgbClr val="795E26"/>
                </a:solidFill>
                <a:latin typeface="Consolas" panose="020B0609020204030204" pitchFamily="49" charset="0"/>
              </a:rPr>
              <a:t>equations</a:t>
            </a:r>
            <a:r>
              <a:rPr lang="fr-FR" sz="1200" dirty="0">
                <a:solidFill>
                  <a:srgbClr val="000000"/>
                </a:solidFill>
                <a:latin typeface="Consolas" panose="020B0609020204030204" pitchFamily="49" charset="0"/>
              </a:rPr>
              <a:t>(</a:t>
            </a:r>
            <a:r>
              <a:rPr lang="fr-FR" sz="1200" dirty="0" err="1">
                <a:solidFill>
                  <a:srgbClr val="001080"/>
                </a:solidFill>
                <a:latin typeface="Consolas" panose="020B0609020204030204" pitchFamily="49" charset="0"/>
              </a:rPr>
              <a:t>sol</a:t>
            </a:r>
            <a:r>
              <a:rPr lang="fr-FR" sz="1200" dirty="0" err="1">
                <a:solidFill>
                  <a:srgbClr val="000000"/>
                </a:solidFill>
                <a:latin typeface="Consolas" panose="020B0609020204030204" pitchFamily="49" charset="0"/>
              </a:rPr>
              <a:t>.x</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a:solidFill>
                  <a:srgbClr val="001080"/>
                </a:solidFill>
                <a:latin typeface="Consolas" panose="020B0609020204030204" pitchFamily="49" charset="0"/>
              </a:rPr>
              <a:t>sigma2</a:t>
            </a:r>
            <a:r>
              <a:rPr lang="fr-FR" sz="1200" dirty="0">
                <a:solidFill>
                  <a:srgbClr val="000000"/>
                </a:solidFill>
                <a:latin typeface="Consolas" panose="020B0609020204030204" pitchFamily="49" charset="0"/>
              </a:rPr>
              <a:t> = </a:t>
            </a:r>
            <a:r>
              <a:rPr lang="fr-FR" sz="1200" dirty="0" err="1">
                <a:solidFill>
                  <a:srgbClr val="267F99"/>
                </a:solidFill>
                <a:latin typeface="Consolas" panose="020B0609020204030204" pitchFamily="49" charset="0"/>
              </a:rPr>
              <a:t>np</a:t>
            </a:r>
            <a:r>
              <a:rPr lang="fr-FR" sz="1200" dirty="0" err="1">
                <a:solidFill>
                  <a:srgbClr val="000000"/>
                </a:solidFill>
                <a:latin typeface="Consolas" panose="020B0609020204030204" pitchFamily="49" charset="0"/>
              </a:rPr>
              <a:t>.</a:t>
            </a:r>
            <a:r>
              <a:rPr lang="fr-FR" sz="1200" dirty="0" err="1">
                <a:solidFill>
                  <a:srgbClr val="795E26"/>
                </a:solidFill>
                <a:latin typeface="Consolas" panose="020B0609020204030204" pitchFamily="49" charset="0"/>
              </a:rPr>
              <a:t>sum</a:t>
            </a:r>
            <a:r>
              <a:rPr lang="fr-FR" sz="1200" dirty="0">
                <a:solidFill>
                  <a:srgbClr val="000000"/>
                </a:solidFill>
                <a:latin typeface="Consolas" panose="020B0609020204030204" pitchFamily="49" charset="0"/>
              </a:rPr>
              <a:t>(</a:t>
            </a:r>
            <a:r>
              <a:rPr lang="fr-FR" sz="1200" dirty="0" err="1">
                <a:solidFill>
                  <a:srgbClr val="001080"/>
                </a:solidFill>
                <a:latin typeface="Consolas" panose="020B0609020204030204" pitchFamily="49" charset="0"/>
              </a:rPr>
              <a:t>res</a:t>
            </a:r>
            <a:r>
              <a:rPr lang="fr-FR" sz="1200" dirty="0">
                <a:solidFill>
                  <a:srgbClr val="795E26"/>
                </a:solidFill>
                <a:latin typeface="Consolas" panose="020B0609020204030204" pitchFamily="49" charset="0"/>
              </a:rPr>
              <a:t>**</a:t>
            </a:r>
            <a:r>
              <a:rPr lang="fr-FR" sz="1200" dirty="0">
                <a:solidFill>
                  <a:srgbClr val="098658"/>
                </a:solidFill>
                <a:latin typeface="Consolas" panose="020B0609020204030204" pitchFamily="49" charset="0"/>
              </a:rPr>
              <a:t>2</a:t>
            </a:r>
            <a:r>
              <a:rPr lang="fr-FR" sz="1200" dirty="0">
                <a:solidFill>
                  <a:srgbClr val="000000"/>
                </a:solidFill>
                <a:latin typeface="Consolas" panose="020B0609020204030204" pitchFamily="49" charset="0"/>
              </a:rPr>
              <a:t>) </a:t>
            </a:r>
            <a:r>
              <a:rPr lang="fr-FR" sz="1200" dirty="0">
                <a:solidFill>
                  <a:srgbClr val="795E26"/>
                </a:solidFill>
                <a:latin typeface="Consolas" panose="020B0609020204030204" pitchFamily="49" charset="0"/>
              </a:rPr>
              <a:t>/</a:t>
            </a:r>
            <a:r>
              <a:rPr lang="fr-FR" sz="1200" dirty="0">
                <a:solidFill>
                  <a:srgbClr val="000000"/>
                </a:solidFill>
                <a:latin typeface="Consolas" panose="020B0609020204030204" pitchFamily="49" charset="0"/>
              </a:rPr>
              <a:t> (</a:t>
            </a:r>
            <a:r>
              <a:rPr lang="fr-FR" sz="1200" dirty="0" err="1">
                <a:solidFill>
                  <a:srgbClr val="795E26"/>
                </a:solidFill>
                <a:latin typeface="Consolas" panose="020B0609020204030204" pitchFamily="49" charset="0"/>
              </a:rPr>
              <a:t>len</a:t>
            </a:r>
            <a:r>
              <a:rPr lang="fr-FR" sz="1200" dirty="0">
                <a:solidFill>
                  <a:srgbClr val="000000"/>
                </a:solidFill>
                <a:latin typeface="Consolas" panose="020B0609020204030204" pitchFamily="49" charset="0"/>
              </a:rPr>
              <a:t>(</a:t>
            </a:r>
            <a:r>
              <a:rPr lang="fr-FR" sz="1200" dirty="0" err="1">
                <a:solidFill>
                  <a:srgbClr val="001080"/>
                </a:solidFill>
                <a:latin typeface="Consolas" panose="020B0609020204030204" pitchFamily="49" charset="0"/>
              </a:rPr>
              <a:t>sol</a:t>
            </a:r>
            <a:r>
              <a:rPr lang="fr-FR" sz="1200" dirty="0" err="1">
                <a:solidFill>
                  <a:srgbClr val="000000"/>
                </a:solidFill>
                <a:latin typeface="Consolas" panose="020B0609020204030204" pitchFamily="49" charset="0"/>
              </a:rPr>
              <a:t>.x</a:t>
            </a:r>
            <a:r>
              <a:rPr lang="fr-FR" sz="1200" dirty="0">
                <a:solidFill>
                  <a:srgbClr val="000000"/>
                </a:solidFill>
                <a:latin typeface="Consolas" panose="020B0609020204030204" pitchFamily="49" charset="0"/>
              </a:rPr>
              <a:t>) - </a:t>
            </a:r>
            <a:r>
              <a:rPr lang="fr-FR" sz="1200" dirty="0">
                <a:solidFill>
                  <a:srgbClr val="098658"/>
                </a:solidFill>
                <a:latin typeface="Consolas" panose="020B0609020204030204" pitchFamily="49" charset="0"/>
              </a:rPr>
              <a:t>1</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r>
            <a:br>
              <a:rPr lang="fr-FR" sz="1200" dirty="0">
                <a:solidFill>
                  <a:srgbClr val="000000"/>
                </a:solidFill>
                <a:latin typeface="Consolas" panose="020B0609020204030204" pitchFamily="49" charset="0"/>
              </a:rPr>
            </a:br>
            <a:r>
              <a:rPr lang="fr-FR" sz="1200" dirty="0">
                <a:solidFill>
                  <a:srgbClr val="000000"/>
                </a:solidFill>
                <a:latin typeface="Consolas" panose="020B0609020204030204" pitchFamily="49" charset="0"/>
              </a:rPr>
              <a:t>    </a:t>
            </a:r>
            <a:r>
              <a:rPr lang="fr-FR" sz="1200" dirty="0">
                <a:solidFill>
                  <a:srgbClr val="008000"/>
                </a:solidFill>
                <a:latin typeface="Consolas" panose="020B0609020204030204" pitchFamily="49" charset="0"/>
              </a:rPr>
              <a:t># covariance (si J bien conditionnée)</a:t>
            </a:r>
            <a:endParaRPr lang="fr-FR" sz="1200" dirty="0">
              <a:solidFill>
                <a:srgbClr val="000000"/>
              </a:solidFill>
              <a:latin typeface="Consolas" panose="020B0609020204030204" pitchFamily="49" charset="0"/>
            </a:endParaRPr>
          </a:p>
          <a:p>
            <a:r>
              <a:rPr lang="fr-FR" sz="1200" dirty="0">
                <a:solidFill>
                  <a:srgbClr val="000000"/>
                </a:solidFill>
                <a:latin typeface="Consolas" panose="020B0609020204030204" pitchFamily="49" charset="0"/>
              </a:rPr>
              <a:t>    </a:t>
            </a:r>
            <a:r>
              <a:rPr lang="fr-FR" sz="1200" dirty="0" err="1">
                <a:solidFill>
                  <a:srgbClr val="001080"/>
                </a:solidFill>
                <a:latin typeface="Consolas" panose="020B0609020204030204" pitchFamily="49" charset="0"/>
              </a:rPr>
              <a:t>cov</a:t>
            </a:r>
            <a:r>
              <a:rPr lang="fr-FR" sz="1200" dirty="0">
                <a:solidFill>
                  <a:srgbClr val="000000"/>
                </a:solidFill>
                <a:latin typeface="Consolas" panose="020B0609020204030204" pitchFamily="49" charset="0"/>
              </a:rPr>
              <a:t> = </a:t>
            </a:r>
            <a:r>
              <a:rPr lang="fr-FR" sz="1200" dirty="0">
                <a:solidFill>
                  <a:srgbClr val="001080"/>
                </a:solidFill>
                <a:latin typeface="Consolas" panose="020B0609020204030204" pitchFamily="49" charset="0"/>
              </a:rPr>
              <a:t>sigma2</a:t>
            </a:r>
            <a:r>
              <a:rPr lang="fr-FR" sz="1200" dirty="0">
                <a:solidFill>
                  <a:srgbClr val="000000"/>
                </a:solidFill>
                <a:latin typeface="Consolas" panose="020B0609020204030204" pitchFamily="49" charset="0"/>
              </a:rPr>
              <a:t> </a:t>
            </a:r>
            <a:r>
              <a:rPr lang="fr-FR" sz="1200" dirty="0">
                <a:solidFill>
                  <a:srgbClr val="795E26"/>
                </a:solidFill>
                <a:latin typeface="Consolas" panose="020B0609020204030204" pitchFamily="49" charset="0"/>
              </a:rPr>
              <a:t>*</a:t>
            </a:r>
            <a:r>
              <a:rPr lang="fr-FR" sz="1200" dirty="0">
                <a:solidFill>
                  <a:srgbClr val="000000"/>
                </a:solidFill>
                <a:latin typeface="Consolas" panose="020B0609020204030204" pitchFamily="49" charset="0"/>
              </a:rPr>
              <a:t> </a:t>
            </a:r>
            <a:r>
              <a:rPr lang="fr-FR" sz="1200" dirty="0" err="1">
                <a:solidFill>
                  <a:srgbClr val="267F99"/>
                </a:solidFill>
                <a:latin typeface="Consolas" panose="020B0609020204030204" pitchFamily="49" charset="0"/>
              </a:rPr>
              <a:t>np</a:t>
            </a:r>
            <a:r>
              <a:rPr lang="fr-FR" sz="1200" dirty="0" err="1">
                <a:solidFill>
                  <a:srgbClr val="000000"/>
                </a:solidFill>
                <a:latin typeface="Consolas" panose="020B0609020204030204" pitchFamily="49" charset="0"/>
              </a:rPr>
              <a:t>.</a:t>
            </a:r>
            <a:r>
              <a:rPr lang="fr-FR" sz="1200" dirty="0" err="1">
                <a:solidFill>
                  <a:srgbClr val="267F99"/>
                </a:solidFill>
                <a:latin typeface="Consolas" panose="020B0609020204030204" pitchFamily="49" charset="0"/>
              </a:rPr>
              <a:t>linalg</a:t>
            </a:r>
            <a:r>
              <a:rPr lang="fr-FR" sz="1200" dirty="0" err="1">
                <a:solidFill>
                  <a:srgbClr val="000000"/>
                </a:solidFill>
                <a:latin typeface="Consolas" panose="020B0609020204030204" pitchFamily="49" charset="0"/>
              </a:rPr>
              <a:t>.</a:t>
            </a:r>
            <a:r>
              <a:rPr lang="fr-FR" sz="1200" dirty="0" err="1">
                <a:solidFill>
                  <a:srgbClr val="795E26"/>
                </a:solidFill>
                <a:latin typeface="Consolas" panose="020B0609020204030204" pitchFamily="49" charset="0"/>
              </a:rPr>
              <a:t>inv</a:t>
            </a:r>
            <a:r>
              <a:rPr lang="fr-FR" sz="1200" dirty="0">
                <a:solidFill>
                  <a:srgbClr val="000000"/>
                </a:solidFill>
                <a:latin typeface="Consolas" panose="020B0609020204030204" pitchFamily="49" charset="0"/>
              </a:rPr>
              <a:t>(</a:t>
            </a:r>
            <a:r>
              <a:rPr lang="fr-FR" sz="1200" dirty="0">
                <a:solidFill>
                  <a:srgbClr val="0070C1"/>
                </a:solidFill>
                <a:latin typeface="Consolas" panose="020B0609020204030204" pitchFamily="49" charset="0"/>
              </a:rPr>
              <a:t>J</a:t>
            </a:r>
            <a:r>
              <a:rPr lang="fr-FR" sz="1200" dirty="0">
                <a:solidFill>
                  <a:srgbClr val="000000"/>
                </a:solidFill>
                <a:latin typeface="Consolas" panose="020B0609020204030204" pitchFamily="49" charset="0"/>
              </a:rPr>
              <a:t>.</a:t>
            </a:r>
            <a:r>
              <a:rPr lang="fr-FR" sz="1200" dirty="0">
                <a:solidFill>
                  <a:srgbClr val="001080"/>
                </a:solidFill>
                <a:latin typeface="Consolas" panose="020B0609020204030204" pitchFamily="49" charset="0"/>
              </a:rPr>
              <a:t>T</a:t>
            </a:r>
            <a:r>
              <a:rPr lang="fr-FR" sz="1200" dirty="0">
                <a:solidFill>
                  <a:srgbClr val="000000"/>
                </a:solidFill>
                <a:latin typeface="Consolas" panose="020B0609020204030204" pitchFamily="49" charset="0"/>
              </a:rPr>
              <a:t> </a:t>
            </a:r>
            <a:r>
              <a:rPr lang="fr-FR" sz="1200" dirty="0">
                <a:solidFill>
                  <a:srgbClr val="795E26"/>
                </a:solidFill>
                <a:latin typeface="Consolas" panose="020B0609020204030204" pitchFamily="49" charset="0"/>
              </a:rPr>
              <a:t>@</a:t>
            </a:r>
            <a:r>
              <a:rPr lang="fr-FR" sz="1200" dirty="0">
                <a:solidFill>
                  <a:srgbClr val="000000"/>
                </a:solidFill>
                <a:latin typeface="Consolas" panose="020B0609020204030204" pitchFamily="49" charset="0"/>
              </a:rPr>
              <a:t> </a:t>
            </a:r>
            <a:r>
              <a:rPr lang="fr-FR" sz="1200" dirty="0">
                <a:solidFill>
                  <a:srgbClr val="0070C1"/>
                </a:solidFill>
                <a:latin typeface="Consolas" panose="020B0609020204030204" pitchFamily="49" charset="0"/>
              </a:rPr>
              <a:t>J</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r>
            <a:br>
              <a:rPr lang="fr-FR" sz="1200" dirty="0">
                <a:solidFill>
                  <a:srgbClr val="000000"/>
                </a:solidFill>
                <a:latin typeface="Consolas" panose="020B0609020204030204" pitchFamily="49" charset="0"/>
              </a:rPr>
            </a:br>
            <a:r>
              <a:rPr lang="fr-FR" sz="1200" dirty="0">
                <a:solidFill>
                  <a:srgbClr val="000000"/>
                </a:solidFill>
                <a:latin typeface="Consolas" panose="020B0609020204030204" pitchFamily="49" charset="0"/>
              </a:rPr>
              <a:t>    </a:t>
            </a:r>
            <a:r>
              <a:rPr lang="fr-FR" sz="1200" dirty="0">
                <a:solidFill>
                  <a:srgbClr val="008000"/>
                </a:solidFill>
                <a:latin typeface="Consolas" panose="020B0609020204030204" pitchFamily="49" charset="0"/>
              </a:rPr>
              <a:t># erreur standard (barres d'erreur)</a:t>
            </a:r>
            <a:endParaRPr lang="fr-FR" sz="1200" dirty="0">
              <a:solidFill>
                <a:srgbClr val="000000"/>
              </a:solidFill>
              <a:latin typeface="Consolas" panose="020B0609020204030204" pitchFamily="49" charset="0"/>
            </a:endParaRPr>
          </a:p>
          <a:p>
            <a:r>
              <a:rPr lang="fr-FR" sz="1200" dirty="0">
                <a:solidFill>
                  <a:srgbClr val="000000"/>
                </a:solidFill>
                <a:latin typeface="Consolas" panose="020B0609020204030204" pitchFamily="49" charset="0"/>
              </a:rPr>
              <a:t>    </a:t>
            </a:r>
            <a:r>
              <a:rPr lang="fr-FR" sz="1200" dirty="0" err="1">
                <a:solidFill>
                  <a:srgbClr val="001080"/>
                </a:solidFill>
                <a:latin typeface="Consolas" panose="020B0609020204030204" pitchFamily="49" charset="0"/>
              </a:rPr>
              <a:t>errors</a:t>
            </a:r>
            <a:r>
              <a:rPr lang="fr-FR" sz="1200" dirty="0">
                <a:solidFill>
                  <a:srgbClr val="000000"/>
                </a:solidFill>
                <a:latin typeface="Consolas" panose="020B0609020204030204" pitchFamily="49" charset="0"/>
              </a:rPr>
              <a:t> = </a:t>
            </a:r>
            <a:r>
              <a:rPr lang="fr-FR" sz="1200" dirty="0" err="1">
                <a:solidFill>
                  <a:srgbClr val="267F99"/>
                </a:solidFill>
                <a:latin typeface="Consolas" panose="020B0609020204030204" pitchFamily="49" charset="0"/>
              </a:rPr>
              <a:t>np</a:t>
            </a:r>
            <a:r>
              <a:rPr lang="fr-FR" sz="1200" dirty="0" err="1">
                <a:solidFill>
                  <a:srgbClr val="000000"/>
                </a:solidFill>
                <a:latin typeface="Consolas" panose="020B0609020204030204" pitchFamily="49" charset="0"/>
              </a:rPr>
              <a:t>.</a:t>
            </a:r>
            <a:r>
              <a:rPr lang="fr-FR" sz="1200" dirty="0" err="1">
                <a:solidFill>
                  <a:srgbClr val="001080"/>
                </a:solidFill>
                <a:latin typeface="Consolas" panose="020B0609020204030204" pitchFamily="49" charset="0"/>
              </a:rPr>
              <a:t>sqrt</a:t>
            </a:r>
            <a:r>
              <a:rPr lang="fr-FR" sz="1200" dirty="0">
                <a:solidFill>
                  <a:srgbClr val="000000"/>
                </a:solidFill>
                <a:latin typeface="Consolas" panose="020B0609020204030204" pitchFamily="49" charset="0"/>
              </a:rPr>
              <a:t>(</a:t>
            </a:r>
            <a:r>
              <a:rPr lang="fr-FR" sz="1200" dirty="0" err="1">
                <a:solidFill>
                  <a:srgbClr val="267F99"/>
                </a:solidFill>
                <a:latin typeface="Consolas" panose="020B0609020204030204" pitchFamily="49" charset="0"/>
              </a:rPr>
              <a:t>np</a:t>
            </a:r>
            <a:r>
              <a:rPr lang="fr-FR" sz="1200" dirty="0" err="1">
                <a:solidFill>
                  <a:srgbClr val="000000"/>
                </a:solidFill>
                <a:latin typeface="Consolas" panose="020B0609020204030204" pitchFamily="49" charset="0"/>
              </a:rPr>
              <a:t>.</a:t>
            </a:r>
            <a:r>
              <a:rPr lang="fr-FR" sz="1200" dirty="0" err="1">
                <a:solidFill>
                  <a:srgbClr val="795E26"/>
                </a:solidFill>
                <a:latin typeface="Consolas" panose="020B0609020204030204" pitchFamily="49" charset="0"/>
              </a:rPr>
              <a:t>diag</a:t>
            </a:r>
            <a:r>
              <a:rPr lang="fr-FR" sz="1200" dirty="0">
                <a:solidFill>
                  <a:srgbClr val="000000"/>
                </a:solidFill>
                <a:latin typeface="Consolas" panose="020B0609020204030204" pitchFamily="49" charset="0"/>
              </a:rPr>
              <a:t>(</a:t>
            </a:r>
            <a:r>
              <a:rPr lang="fr-FR" sz="1200" dirty="0" err="1">
                <a:solidFill>
                  <a:srgbClr val="001080"/>
                </a:solidFill>
                <a:latin typeface="Consolas" panose="020B0609020204030204" pitchFamily="49" charset="0"/>
              </a:rPr>
              <a:t>cov</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r>
            <a:br>
              <a:rPr lang="fr-FR" sz="1200" dirty="0">
                <a:solidFill>
                  <a:srgbClr val="000000"/>
                </a:solidFill>
                <a:latin typeface="Consolas" panose="020B0609020204030204" pitchFamily="49" charset="0"/>
              </a:rPr>
            </a:br>
            <a:r>
              <a:rPr lang="fr-FR" sz="1200" dirty="0">
                <a:solidFill>
                  <a:srgbClr val="000000"/>
                </a:solidFill>
                <a:latin typeface="Consolas" panose="020B0609020204030204" pitchFamily="49" charset="0"/>
              </a:rPr>
              <a:t>    </a:t>
            </a:r>
            <a:r>
              <a:rPr lang="fr-FR" sz="1200" dirty="0" err="1">
                <a:solidFill>
                  <a:srgbClr val="795E26"/>
                </a:solidFill>
                <a:latin typeface="Consolas" panose="020B0609020204030204" pitchFamily="49" charset="0"/>
              </a:rPr>
              <a:t>print</a:t>
            </a:r>
            <a:r>
              <a:rPr lang="fr-FR" sz="1200" dirty="0">
                <a:solidFill>
                  <a:srgbClr val="000000"/>
                </a:solidFill>
                <a:latin typeface="Consolas" panose="020B0609020204030204" pitchFamily="49" charset="0"/>
              </a:rPr>
              <a:t>(</a:t>
            </a:r>
            <a:r>
              <a:rPr lang="fr-FR" sz="1200" dirty="0" err="1">
                <a:solidFill>
                  <a:srgbClr val="0000FF"/>
                </a:solidFill>
                <a:latin typeface="Consolas" panose="020B0609020204030204" pitchFamily="49" charset="0"/>
              </a:rPr>
              <a:t>f</a:t>
            </a:r>
            <a:r>
              <a:rPr lang="fr-FR" sz="1200" dirty="0" err="1">
                <a:solidFill>
                  <a:srgbClr val="A31515"/>
                </a:solidFill>
                <a:latin typeface="Consolas" panose="020B0609020204030204" pitchFamily="49" charset="0"/>
              </a:rPr>
              <a:t>"Tg_top</a:t>
            </a:r>
            <a:r>
              <a:rPr lang="fr-FR" sz="1200" dirty="0">
                <a:solidFill>
                  <a:srgbClr val="A31515"/>
                </a:solidFill>
                <a:latin typeface="Consolas" panose="020B0609020204030204" pitchFamily="49" charset="0"/>
              </a:rPr>
              <a:t> = </a:t>
            </a:r>
            <a:r>
              <a:rPr lang="fr-FR" sz="1200" dirty="0">
                <a:solidFill>
                  <a:srgbClr val="0000FF"/>
                </a:solidFill>
                <a:latin typeface="Consolas" panose="020B0609020204030204" pitchFamily="49" charset="0"/>
              </a:rPr>
              <a:t>{</a:t>
            </a:r>
            <a:r>
              <a:rPr lang="fr-FR" sz="1200" dirty="0" err="1">
                <a:solidFill>
                  <a:srgbClr val="001080"/>
                </a:solidFill>
                <a:latin typeface="Consolas" panose="020B0609020204030204" pitchFamily="49" charset="0"/>
              </a:rPr>
              <a:t>sol</a:t>
            </a:r>
            <a:r>
              <a:rPr lang="fr-FR" sz="1200" dirty="0" err="1">
                <a:solidFill>
                  <a:srgbClr val="000000"/>
                </a:solidFill>
                <a:latin typeface="Consolas" panose="020B0609020204030204" pitchFamily="49" charset="0"/>
              </a:rPr>
              <a:t>.x</a:t>
            </a:r>
            <a:r>
              <a:rPr lang="fr-FR" sz="1200" dirty="0">
                <a:solidFill>
                  <a:srgbClr val="000000"/>
                </a:solidFill>
                <a:latin typeface="Consolas" panose="020B0609020204030204" pitchFamily="49" charset="0"/>
              </a:rPr>
              <a:t>[</a:t>
            </a:r>
            <a:r>
              <a:rPr lang="fr-FR" sz="1200" dirty="0">
                <a:solidFill>
                  <a:srgbClr val="098658"/>
                </a:solidFill>
                <a:latin typeface="Consolas" panose="020B0609020204030204" pitchFamily="49" charset="0"/>
              </a:rPr>
              <a:t>0</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:.4f}</a:t>
            </a:r>
            <a:r>
              <a:rPr lang="fr-FR" sz="1200" dirty="0">
                <a:solidFill>
                  <a:srgbClr val="A31515"/>
                </a:solidFill>
                <a:latin typeface="Consolas" panose="020B0609020204030204" pitchFamily="49" charset="0"/>
              </a:rPr>
              <a:t> ± </a:t>
            </a:r>
            <a:r>
              <a:rPr lang="fr-FR" sz="1200" dirty="0">
                <a:solidFill>
                  <a:srgbClr val="0000FF"/>
                </a:solidFill>
                <a:latin typeface="Consolas" panose="020B0609020204030204" pitchFamily="49" charset="0"/>
              </a:rPr>
              <a:t>{</a:t>
            </a:r>
            <a:r>
              <a:rPr lang="fr-FR" sz="1200" dirty="0" err="1">
                <a:solidFill>
                  <a:srgbClr val="001080"/>
                </a:solidFill>
                <a:latin typeface="Consolas" panose="020B0609020204030204" pitchFamily="49" charset="0"/>
              </a:rPr>
              <a:t>errors</a:t>
            </a:r>
            <a:r>
              <a:rPr lang="fr-FR" sz="1200" dirty="0">
                <a:solidFill>
                  <a:srgbClr val="000000"/>
                </a:solidFill>
                <a:latin typeface="Consolas" panose="020B0609020204030204" pitchFamily="49" charset="0"/>
              </a:rPr>
              <a:t>[</a:t>
            </a:r>
            <a:r>
              <a:rPr lang="fr-FR" sz="1200" dirty="0">
                <a:solidFill>
                  <a:srgbClr val="098658"/>
                </a:solidFill>
                <a:latin typeface="Consolas" panose="020B0609020204030204" pitchFamily="49" charset="0"/>
              </a:rPr>
              <a:t>0</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:.4g}</a:t>
            </a:r>
            <a:r>
              <a:rPr lang="fr-FR" sz="1200" dirty="0">
                <a:solidFill>
                  <a:srgbClr val="A31515"/>
                </a:solidFill>
                <a:latin typeface="Consolas" panose="020B0609020204030204" pitchFamily="49" charset="0"/>
              </a:rPr>
              <a:t>"</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795E26"/>
                </a:solidFill>
                <a:latin typeface="Consolas" panose="020B0609020204030204" pitchFamily="49" charset="0"/>
              </a:rPr>
              <a:t>print</a:t>
            </a:r>
            <a:r>
              <a:rPr lang="fr-FR" sz="1200" dirty="0">
                <a:solidFill>
                  <a:srgbClr val="000000"/>
                </a:solidFill>
                <a:latin typeface="Consolas" panose="020B0609020204030204" pitchFamily="49" charset="0"/>
              </a:rPr>
              <a:t>(</a:t>
            </a:r>
            <a:r>
              <a:rPr lang="fr-FR" sz="1200" dirty="0" err="1">
                <a:solidFill>
                  <a:srgbClr val="0000FF"/>
                </a:solidFill>
                <a:latin typeface="Consolas" panose="020B0609020204030204" pitchFamily="49" charset="0"/>
              </a:rPr>
              <a:t>f</a:t>
            </a:r>
            <a:r>
              <a:rPr lang="fr-FR" sz="1200" dirty="0" err="1">
                <a:solidFill>
                  <a:srgbClr val="A31515"/>
                </a:solidFill>
                <a:latin typeface="Consolas" panose="020B0609020204030204" pitchFamily="49" charset="0"/>
              </a:rPr>
              <a:t>"Tsi</a:t>
            </a:r>
            <a:r>
              <a:rPr lang="fr-FR" sz="1200" dirty="0">
                <a:solidFill>
                  <a:srgbClr val="A31515"/>
                </a:solidFill>
                <a:latin typeface="Consolas" panose="020B0609020204030204" pitchFamily="49" charset="0"/>
              </a:rPr>
              <a:t>    = </a:t>
            </a:r>
            <a:r>
              <a:rPr lang="fr-FR" sz="1200" dirty="0">
                <a:solidFill>
                  <a:srgbClr val="0000FF"/>
                </a:solidFill>
                <a:latin typeface="Consolas" panose="020B0609020204030204" pitchFamily="49" charset="0"/>
              </a:rPr>
              <a:t>{</a:t>
            </a:r>
            <a:r>
              <a:rPr lang="fr-FR" sz="1200" dirty="0" err="1">
                <a:solidFill>
                  <a:srgbClr val="001080"/>
                </a:solidFill>
                <a:latin typeface="Consolas" panose="020B0609020204030204" pitchFamily="49" charset="0"/>
              </a:rPr>
              <a:t>sol</a:t>
            </a:r>
            <a:r>
              <a:rPr lang="fr-FR" sz="1200" dirty="0" err="1">
                <a:solidFill>
                  <a:srgbClr val="000000"/>
                </a:solidFill>
                <a:latin typeface="Consolas" panose="020B0609020204030204" pitchFamily="49" charset="0"/>
              </a:rPr>
              <a:t>.x</a:t>
            </a:r>
            <a:r>
              <a:rPr lang="fr-FR" sz="1200" dirty="0">
                <a:solidFill>
                  <a:srgbClr val="000000"/>
                </a:solidFill>
                <a:latin typeface="Consolas" panose="020B0609020204030204" pitchFamily="49" charset="0"/>
              </a:rPr>
              <a:t>[</a:t>
            </a:r>
            <a:r>
              <a:rPr lang="fr-FR" sz="1200" dirty="0">
                <a:solidFill>
                  <a:srgbClr val="098658"/>
                </a:solidFill>
                <a:latin typeface="Consolas" panose="020B0609020204030204" pitchFamily="49" charset="0"/>
              </a:rPr>
              <a:t>1</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:.4f}</a:t>
            </a:r>
            <a:r>
              <a:rPr lang="fr-FR" sz="1200" dirty="0">
                <a:solidFill>
                  <a:srgbClr val="A31515"/>
                </a:solidFill>
                <a:latin typeface="Consolas" panose="020B0609020204030204" pitchFamily="49" charset="0"/>
              </a:rPr>
              <a:t> ± </a:t>
            </a:r>
            <a:r>
              <a:rPr lang="fr-FR" sz="1200" dirty="0">
                <a:solidFill>
                  <a:srgbClr val="0000FF"/>
                </a:solidFill>
                <a:latin typeface="Consolas" panose="020B0609020204030204" pitchFamily="49" charset="0"/>
              </a:rPr>
              <a:t>{</a:t>
            </a:r>
            <a:r>
              <a:rPr lang="fr-FR" sz="1200" dirty="0" err="1">
                <a:solidFill>
                  <a:srgbClr val="001080"/>
                </a:solidFill>
                <a:latin typeface="Consolas" panose="020B0609020204030204" pitchFamily="49" charset="0"/>
              </a:rPr>
              <a:t>errors</a:t>
            </a:r>
            <a:r>
              <a:rPr lang="fr-FR" sz="1200" dirty="0">
                <a:solidFill>
                  <a:srgbClr val="000000"/>
                </a:solidFill>
                <a:latin typeface="Consolas" panose="020B0609020204030204" pitchFamily="49" charset="0"/>
              </a:rPr>
              <a:t>[</a:t>
            </a:r>
            <a:r>
              <a:rPr lang="fr-FR" sz="1200" dirty="0">
                <a:solidFill>
                  <a:srgbClr val="098658"/>
                </a:solidFill>
                <a:latin typeface="Consolas" panose="020B0609020204030204" pitchFamily="49" charset="0"/>
              </a:rPr>
              <a:t>1</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:.4g}</a:t>
            </a:r>
            <a:r>
              <a:rPr lang="fr-FR" sz="1200" dirty="0">
                <a:solidFill>
                  <a:srgbClr val="A31515"/>
                </a:solidFill>
                <a:latin typeface="Consolas" panose="020B0609020204030204" pitchFamily="49" charset="0"/>
              </a:rPr>
              <a:t>"</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p>
          <a:p>
            <a:r>
              <a:rPr lang="fr-FR" sz="1200" dirty="0" err="1">
                <a:solidFill>
                  <a:srgbClr val="AF00DB"/>
                </a:solidFill>
                <a:latin typeface="Consolas" panose="020B0609020204030204" pitchFamily="49" charset="0"/>
              </a:rPr>
              <a:t>else</a:t>
            </a:r>
            <a:r>
              <a:rPr lang="fr-FR" sz="1200" dirty="0">
                <a:solidFill>
                  <a:srgbClr val="000000"/>
                </a:solidFill>
                <a:latin typeface="Consolas" panose="020B0609020204030204" pitchFamily="49" charset="0"/>
              </a:rPr>
              <a:t>:</a:t>
            </a:r>
          </a:p>
          <a:p>
            <a:r>
              <a:rPr lang="fr-FR" sz="1200" dirty="0">
                <a:solidFill>
                  <a:srgbClr val="000000"/>
                </a:solidFill>
                <a:latin typeface="Consolas" panose="020B0609020204030204" pitchFamily="49" charset="0"/>
              </a:rPr>
              <a:t>    </a:t>
            </a:r>
            <a:r>
              <a:rPr lang="fr-FR" sz="1200" dirty="0" err="1">
                <a:solidFill>
                  <a:srgbClr val="795E26"/>
                </a:solidFill>
                <a:latin typeface="Consolas" panose="020B0609020204030204" pitchFamily="49" charset="0"/>
              </a:rPr>
              <a:t>print</a:t>
            </a:r>
            <a:r>
              <a:rPr lang="fr-FR" sz="1200" dirty="0">
                <a:solidFill>
                  <a:srgbClr val="000000"/>
                </a:solidFill>
                <a:latin typeface="Consolas" panose="020B0609020204030204" pitchFamily="49" charset="0"/>
              </a:rPr>
              <a:t>(</a:t>
            </a:r>
            <a:r>
              <a:rPr lang="fr-FR" sz="1200" dirty="0">
                <a:solidFill>
                  <a:srgbClr val="A31515"/>
                </a:solidFill>
                <a:latin typeface="Consolas" panose="020B0609020204030204" pitchFamily="49" charset="0"/>
              </a:rPr>
              <a:t>"Échec de la résolution :"</a:t>
            </a:r>
            <a:r>
              <a:rPr lang="fr-FR" sz="1200" dirty="0">
                <a:solidFill>
                  <a:srgbClr val="000000"/>
                </a:solidFill>
                <a:latin typeface="Consolas" panose="020B0609020204030204" pitchFamily="49" charset="0"/>
              </a:rPr>
              <a:t>, </a:t>
            </a:r>
            <a:r>
              <a:rPr lang="fr-FR" sz="1200" dirty="0" err="1">
                <a:solidFill>
                  <a:srgbClr val="001080"/>
                </a:solidFill>
                <a:latin typeface="Consolas" panose="020B0609020204030204" pitchFamily="49" charset="0"/>
              </a:rPr>
              <a:t>sol</a:t>
            </a:r>
            <a:r>
              <a:rPr lang="fr-FR" sz="1200" dirty="0" err="1">
                <a:solidFill>
                  <a:srgbClr val="000000"/>
                </a:solidFill>
                <a:latin typeface="Consolas" panose="020B0609020204030204" pitchFamily="49" charset="0"/>
              </a:rPr>
              <a:t>.message</a:t>
            </a:r>
            <a:r>
              <a:rPr lang="fr-FR" sz="1200" dirty="0">
                <a:solidFill>
                  <a:srgbClr val="000000"/>
                </a:solidFill>
                <a:latin typeface="Consolas" panose="020B0609020204030204" pitchFamily="49" charset="0"/>
              </a:rPr>
              <a:t>)</a:t>
            </a:r>
          </a:p>
          <a:p>
            <a:endParaRPr lang="fr-FR" sz="1200" dirty="0"/>
          </a:p>
        </p:txBody>
      </p:sp>
      <p:sp>
        <p:nvSpPr>
          <p:cNvPr id="3" name="ZoneTexte 2"/>
          <p:cNvSpPr txBox="1"/>
          <p:nvPr/>
        </p:nvSpPr>
        <p:spPr>
          <a:xfrm>
            <a:off x="5940552" y="5892581"/>
            <a:ext cx="3087705" cy="646331"/>
          </a:xfrm>
          <a:prstGeom prst="rect">
            <a:avLst/>
          </a:prstGeom>
          <a:noFill/>
        </p:spPr>
        <p:txBody>
          <a:bodyPr wrap="none" rtlCol="0">
            <a:spAutoFit/>
          </a:bodyPr>
          <a:lstStyle/>
          <a:p>
            <a:r>
              <a:rPr lang="it-IT" dirty="0"/>
              <a:t>Tg_top = 305.5458 ± 2.318e-13</a:t>
            </a:r>
          </a:p>
          <a:p>
            <a:r>
              <a:rPr lang="it-IT" dirty="0"/>
              <a:t>Tsi    </a:t>
            </a:r>
            <a:r>
              <a:rPr lang="it-IT" dirty="0" smtClean="0"/>
              <a:t>     = </a:t>
            </a:r>
            <a:r>
              <a:rPr lang="it-IT" dirty="0"/>
              <a:t>306.4842 ± 2.423e-13</a:t>
            </a:r>
            <a:endParaRPr lang="fr-FR" dirty="0"/>
          </a:p>
        </p:txBody>
      </p:sp>
      <p:pic>
        <p:nvPicPr>
          <p:cNvPr id="21" name="Image 20" descr="\documentclass{article}&#10;\usepackage{amsmath, amssymb, siunitx}&#10;\usepackage[french]{babel}&#10;\usepackage{bm} % Pour les vecteurs en gras&#10;\usepackage[paperwidth=15cm]{geometry}&#10;\pagestyle{empty}&#10;&#10;\begin{document}&#10;&#10;\subsubsection*{Estimation numérique de la Jacobienne}&#10;\[&#10;J = \begin{bmatrix}&#10;\displaystyle \frac{\partial f_1}{\partial T_{\mathrm{g}}} &amp; \displaystyle \frac{\partial f_1}{\partial T_{\mathrm{si}}} \\&#10;\displaystyle \frac{\partial f_2}{\partial T_{\mathrm{g}}} &amp; \displaystyle \frac{\partial f_2}{\partial T_{\mathrm{si}}}&#10;\end{bmatrix}&#10;\]&#10;Lorsque les dérivées analytiques sont difficiles à calculer, on peut approximer numériquement le Jacobien par la méthodes des \textbf{différences finies centrées}, donnée par :&#10;&#10;\[&#10;\frac{\partial f_i}{\partial T_g} = \frac{f_i(T_g+h, T_{si}) - f_i(T_g-h, T_{si})}{2h}&#10;+\vartheta(h^2)&#10;\]&#10;et&#10;\[&#10;\frac{\partial f_i}{\partial T_{si}} = \frac{f_i(T_g, T_{si}+h) - f_i(T_g, T_{si}-h)}{2h}&#10;+\vartheta(h^2)&#10;\]&#10;&#10;où :&#10;\begin{itemize}&#10;\item $i \in \{1, 2\}$,&#10;  \item $h$ est un petit incrément de l'ordre de $10^{-6}$ ,&#10;  \item le calcul est fait composante par composante, ligne par ligne.&#10;\end{itemize}&#10;&#10;&#10;&#10;\end{document}"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5745200" y="743330"/>
            <a:ext cx="6055010" cy="4820114"/>
          </a:xfrm>
          <a:prstGeom prst="rect">
            <a:avLst/>
          </a:prstGeom>
        </p:spPr>
      </p:pic>
      <p:sp>
        <p:nvSpPr>
          <p:cNvPr id="4" name="Espace réservé du numéro de diapositive 3"/>
          <p:cNvSpPr>
            <a:spLocks noGrp="1"/>
          </p:cNvSpPr>
          <p:nvPr>
            <p:ph type="sldNum" sz="quarter" idx="12"/>
          </p:nvPr>
        </p:nvSpPr>
        <p:spPr/>
        <p:txBody>
          <a:bodyPr/>
          <a:lstStyle/>
          <a:p>
            <a:fld id="{CB13DDC6-9977-4A69-882A-1641CFA73689}" type="slidenum">
              <a:rPr lang="fr-FR" smtClean="0"/>
              <a:t>14</a:t>
            </a:fld>
            <a:endParaRPr lang="fr-FR"/>
          </a:p>
        </p:txBody>
      </p:sp>
      <p:pic>
        <p:nvPicPr>
          <p:cNvPr id="7" name="Image 6" descr="\documentclass{article}&#10;\usepackage{amsmath}&#10;\pagestyle{empty}&#10;\begin{document}&#10;&#10;\subsection*{Estimation des erreurs sur les températures calculées}&#10;&#10;&#10;\end{document}" title="IguanaTex Bitmap Display"/>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555752" y="89621"/>
            <a:ext cx="7147885" cy="245486"/>
          </a:xfrm>
          <a:prstGeom prst="rect">
            <a:avLst/>
          </a:prstGeom>
        </p:spPr>
      </p:pic>
      <p:sp>
        <p:nvSpPr>
          <p:cNvPr id="18" name="Rectangle 17"/>
          <p:cNvSpPr/>
          <p:nvPr/>
        </p:nvSpPr>
        <p:spPr>
          <a:xfrm>
            <a:off x="731520" y="2834640"/>
            <a:ext cx="4690872" cy="1005840"/>
          </a:xfrm>
          <a:prstGeom prst="rect">
            <a:avLst/>
          </a:prstGeom>
          <a:solidFill>
            <a:srgbClr val="FDFD33">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5615868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429370" y="350760"/>
            <a:ext cx="1954318" cy="954107"/>
          </a:xfrm>
          <a:prstGeom prst="rect">
            <a:avLst/>
          </a:prstGeom>
          <a:noFill/>
        </p:spPr>
        <p:txBody>
          <a:bodyPr wrap="none" rtlCol="0">
            <a:spAutoFit/>
          </a:bodyPr>
          <a:lstStyle/>
          <a:p>
            <a:r>
              <a:rPr lang="fr-FR" sz="2800" dirty="0" err="1" smtClean="0"/>
              <a:t>Incropera</a:t>
            </a:r>
            <a:endParaRPr lang="fr-FR" sz="2800" dirty="0" smtClean="0"/>
          </a:p>
          <a:p>
            <a:r>
              <a:rPr lang="fr-FR" sz="2800" dirty="0" err="1" smtClean="0"/>
              <a:t>Example</a:t>
            </a:r>
            <a:r>
              <a:rPr lang="fr-FR" sz="2800" dirty="0" smtClean="0"/>
              <a:t> 3.4</a:t>
            </a:r>
            <a:endParaRPr lang="fr-FR" sz="2800" dirty="0"/>
          </a:p>
        </p:txBody>
      </p:sp>
      <p:pic>
        <p:nvPicPr>
          <p:cNvPr id="10" name="Image 9" descr="\documentclass{article}&#10;\usepackage{amsmath}&#10;\usepackage{siunitx}&#10;\usepackage{xcolor}&#10;\pagestyle{empty}&#10;\begin{document}&#10;&#10;La conductivité thermique d’un nanotube de carbone de diamètre \( D = \SI{14}{\nano\meter} \) est mesurée à l’aide d’un dispositif fabriqué à partir d’une plaque de nitrure de silicium, à une température \( T_\infty = \SI{300}{\kelvin} \).&#10;&#10;Le nanotube, de longueur \( \SI{20}{\micro\meter} \), repose sur deux îlots carrés de \( \SI{10}{\micro\meter} \times \SI{10}{\micro\meter} \), d’épaisseur \( \SI{0.5}{\micro\meter} \), séparés par une distance \( s = \SI{5}{\micro\meter} \).&#10;&#10;{\color{red} Une fine couche de platine est utilisée comme résistance électrique sur l’îlot chauffé (à la température \( T_h \)) pour dissiper une puissance électrique \( q = \SI{11.3}{\micro\watt} \).}&#10;&#10;Sur l’îlot de détection, une couche similaire de platine est utilisée pour déterminer sa température \( T_s \). La résistance électrique du platine, notée \( R(T_s) = E/I \), est obtenue en mesurant la chute de tension et le courant électrique à travers la couche de platine. La température de l’îlot de détection \( T_s \) est ensuite déterminée grâce à la relation entre la résistance électrique du platine et sa température.&#10;&#10;Chaque îlot est suspendu par deux poutres de nitrure de silicium de longueur \( L_{\text{sn}} = \SI{250}{\micro\meter} \), largeur \( w_{\text{sn}} = \SI{3}{\micro\meter} \), et épaisseur \( t_{\text{sn}} = \SI{0.5}{\micro\meter} \).&#10;&#10;Une ligne de platine de largeur \( w_{\text{pt}} = \SI{1}{\micro\meter} \) et d’épaisseur \( t_{\text{pt}} = \SI{0.2}{\micro\meter} \) est déposée à l’intérieur de chaque poutre de nitrure de silicium pour alimenter l’îlot chauffé ou détecter la chute de tension associée à la mesure de \( T_s \).&#10;&#10;L’expérience entière est réalisée sous vide, avec une température ambiante \( T_\infty = \SI{300}{\kelvin} \), et en régime permanent, avec \( T_s = \SI{308.4}{\kelvin} \).&#10;&#10;\bigskip&#10;&#10;Estimez la conductivité thermique du nanotube de carbone.&#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037913" y="350760"/>
            <a:ext cx="7861030" cy="5939653"/>
          </a:xfrm>
          <a:prstGeom prst="rect">
            <a:avLst/>
          </a:prstGeom>
        </p:spPr>
      </p:pic>
      <p:pic>
        <p:nvPicPr>
          <p:cNvPr id="3" name="Image 2"/>
          <p:cNvPicPr>
            <a:picLocks noChangeAspect="1"/>
          </p:cNvPicPr>
          <p:nvPr/>
        </p:nvPicPr>
        <p:blipFill rotWithShape="1">
          <a:blip r:embed="rId4"/>
          <a:srcRect l="10021"/>
          <a:stretch/>
        </p:blipFill>
        <p:spPr>
          <a:xfrm>
            <a:off x="159026" y="1693627"/>
            <a:ext cx="3752393" cy="3657628"/>
          </a:xfrm>
          <a:prstGeom prst="rect">
            <a:avLst/>
          </a:prstGeom>
        </p:spPr>
      </p:pic>
      <p:pic>
        <p:nvPicPr>
          <p:cNvPr id="4" name="Image 3"/>
          <p:cNvPicPr>
            <a:picLocks noChangeAspect="1"/>
          </p:cNvPicPr>
          <p:nvPr/>
        </p:nvPicPr>
        <p:blipFill>
          <a:blip r:embed="rId5"/>
          <a:stretch>
            <a:fillRect/>
          </a:stretch>
        </p:blipFill>
        <p:spPr>
          <a:xfrm>
            <a:off x="159026" y="1572782"/>
            <a:ext cx="3577464" cy="1393053"/>
          </a:xfrm>
          <a:prstGeom prst="rect">
            <a:avLst/>
          </a:prstGeom>
        </p:spPr>
      </p:pic>
      <p:sp>
        <p:nvSpPr>
          <p:cNvPr id="6" name="Rectangle 5"/>
          <p:cNvSpPr/>
          <p:nvPr/>
        </p:nvSpPr>
        <p:spPr>
          <a:xfrm>
            <a:off x="2751151" y="4373217"/>
            <a:ext cx="985339" cy="7633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rot="18725212">
            <a:off x="2317223" y="4373216"/>
            <a:ext cx="985339" cy="7633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vers le bas 6"/>
          <p:cNvSpPr/>
          <p:nvPr/>
        </p:nvSpPr>
        <p:spPr>
          <a:xfrm>
            <a:off x="2719993" y="4149705"/>
            <a:ext cx="119727" cy="986838"/>
          </a:xfrm>
          <a:prstGeom prst="downArrow">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p:cNvPicPr>
            <a:picLocks noChangeAspect="1"/>
          </p:cNvPicPr>
          <p:nvPr/>
        </p:nvPicPr>
        <p:blipFill>
          <a:blip r:embed="rId6"/>
          <a:stretch>
            <a:fillRect/>
          </a:stretch>
        </p:blipFill>
        <p:spPr>
          <a:xfrm>
            <a:off x="1579422" y="5205210"/>
            <a:ext cx="2281141" cy="1085203"/>
          </a:xfrm>
          <a:prstGeom prst="rect">
            <a:avLst/>
          </a:prstGeom>
        </p:spPr>
      </p:pic>
      <p:sp>
        <p:nvSpPr>
          <p:cNvPr id="9" name="Espace réservé du numéro de diapositive 8"/>
          <p:cNvSpPr>
            <a:spLocks noGrp="1"/>
          </p:cNvSpPr>
          <p:nvPr>
            <p:ph type="sldNum" sz="quarter" idx="12"/>
          </p:nvPr>
        </p:nvSpPr>
        <p:spPr/>
        <p:txBody>
          <a:bodyPr/>
          <a:lstStyle/>
          <a:p>
            <a:fld id="{CB13DDC6-9977-4A69-882A-1641CFA73689}" type="slidenum">
              <a:rPr lang="fr-FR" smtClean="0"/>
              <a:t>15</a:t>
            </a:fld>
            <a:endParaRPr lang="fr-FR"/>
          </a:p>
        </p:txBody>
      </p:sp>
    </p:spTree>
    <p:extLst>
      <p:ext uri="{BB962C8B-B14F-4D97-AF65-F5344CB8AC3E}">
        <p14:creationId xmlns:p14="http://schemas.microsoft.com/office/powerpoint/2010/main" val="10273429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607833" y="329536"/>
            <a:ext cx="8009142" cy="3849600"/>
          </a:xfrm>
          <a:prstGeom prst="rect">
            <a:avLst/>
          </a:prstGeom>
        </p:spPr>
      </p:pic>
      <p:pic>
        <p:nvPicPr>
          <p:cNvPr id="3" name="Image 2"/>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607833" y="4583486"/>
            <a:ext cx="6726857" cy="1117714"/>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16</a:t>
            </a:fld>
            <a:endParaRPr lang="fr-FR"/>
          </a:p>
        </p:txBody>
      </p:sp>
    </p:spTree>
    <p:extLst>
      <p:ext uri="{BB962C8B-B14F-4D97-AF65-F5344CB8AC3E}">
        <p14:creationId xmlns:p14="http://schemas.microsoft.com/office/powerpoint/2010/main" val="16836839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965642" y="409051"/>
            <a:ext cx="7122285" cy="1241905"/>
          </a:xfrm>
          <a:prstGeom prst="rect">
            <a:avLst/>
          </a:prstGeom>
        </p:spPr>
      </p:pic>
      <p:pic>
        <p:nvPicPr>
          <p:cNvPr id="5" name="Image 4"/>
          <p:cNvPicPr>
            <a:picLocks noChangeAspect="1"/>
          </p:cNvPicPr>
          <p:nvPr/>
        </p:nvPicPr>
        <p:blipFill>
          <a:blip r:embed="rId4"/>
          <a:stretch>
            <a:fillRect/>
          </a:stretch>
        </p:blipFill>
        <p:spPr>
          <a:xfrm>
            <a:off x="1111696" y="1970935"/>
            <a:ext cx="3718882" cy="3711262"/>
          </a:xfrm>
          <a:prstGeom prst="rect">
            <a:avLst/>
          </a:prstGeom>
        </p:spPr>
      </p:pic>
      <p:pic>
        <p:nvPicPr>
          <p:cNvPr id="6" name="Image 5"/>
          <p:cNvPicPr>
            <a:picLocks noChangeAspect="1"/>
          </p:cNvPicPr>
          <p:nvPr/>
        </p:nvPicPr>
        <p:blipFill rotWithShape="1">
          <a:blip r:embed="rId5"/>
          <a:srcRect l="10021" t="9748"/>
          <a:stretch/>
        </p:blipFill>
        <p:spPr>
          <a:xfrm>
            <a:off x="6356423" y="1843501"/>
            <a:ext cx="4508353" cy="3966129"/>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17</a:t>
            </a:fld>
            <a:endParaRPr lang="fr-FR"/>
          </a:p>
        </p:txBody>
      </p:sp>
    </p:spTree>
    <p:extLst>
      <p:ext uri="{BB962C8B-B14F-4D97-AF65-F5344CB8AC3E}">
        <p14:creationId xmlns:p14="http://schemas.microsoft.com/office/powerpoint/2010/main" val="10866806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documentclass{article}&#10;\usepackage{amsmath}&#10;\pagestyle{empty}&#10;\usepackage[paperwidth=20cm]{geometry}&#10;\begin{document}&#10;&#10;où chaque poutre de support fournit une résistance thermique $R_{t,\text{sup}}$ qui est composée d'une résistance due au nitrure de silicium (sn) en parallèle avec une résistance due à la ligne de platine (pt).&#10;&#10;Les aires de section transversale des matériaux dans les poutres de support sont :&#10;&#10;\begin{align}&#10;A_{\text{pt}} &amp;= w_{\text{pt}} t_{\text{pt}} = (1 \times 10^{-6} \text{ m}) \times (0{,}2 \times 10^{-6} \text{ m}) = 2 \times 10^{-13} \text{ m}^2 \\&#10;A_{\text{sn}} &amp;= w_{\text{sn}} t_{\text{sn}} - A_{\text{pt}} = (3 \times 10^{-6} \text{ m}) \times (0{,}5 \times 10^{-6} \text{ m}) - 2 \times 10^{-13} \text{ m}^2 = 1.3 \times 10^{-12} \text{ m}^2&#10;\end{align}&#10;&#10;tandis que l'aire de section transversale du nanotube de carbone est :&#10;&#10;\begin{equation}&#10;A_{\text{cn}} = \pi D^2/4 = \pi (14 \times 10^{-9} \text{ m})^2/4 = 1.54 \times 10^{-16} \text{ m}^2&#10;\end{equation}&#10;&#10;La résistance thermique de chaque support est :&#10;\begin{equation}&#10;R_{t,\text{sup}} = \left[\frac{1}{R_\text{pt}} + \frac{1}{R_\text{sn}} \right]^{-1} = \left[ \frac{k_{\text{pt}} A_{\text{pt}}}{L_{\text{pt}}} + \frac{k_{\text{sn}} A_{\text{sn}}}{L_{\text{sn}}} \right]^{-1}&#10;\end{equation}&#10;&#10;\begin{equation}&#10;= \left[ \frac{71.6 \text{ W/m} \cdot \text{K} \times 2 \times 10^{-13} \text{ m}^2}{250 \times 10^{-6} \text{ m}} + \frac{15.5 \text{ W/m} \cdot \text{K} \times 1{,}3 \times 10^{-12} \text{ m}^2}{250 \times 10^{-6} \text{ m}} \right]^{-1}&#10;\end{equation}&#10;&#10;\begin{equation}&#10;= 7.25 \times 10^{6} \text{ K/W}&#10;\end{equation}&#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43923" y="402885"/>
            <a:ext cx="9059659" cy="6164562"/>
          </a:xfrm>
          <a:prstGeom prst="rect">
            <a:avLst/>
          </a:prstGeom>
        </p:spPr>
      </p:pic>
      <p:pic>
        <p:nvPicPr>
          <p:cNvPr id="3" name="Image 2"/>
          <p:cNvPicPr>
            <a:picLocks noChangeAspect="1"/>
          </p:cNvPicPr>
          <p:nvPr/>
        </p:nvPicPr>
        <p:blipFill>
          <a:blip r:embed="rId4"/>
          <a:stretch>
            <a:fillRect/>
          </a:stretch>
        </p:blipFill>
        <p:spPr>
          <a:xfrm>
            <a:off x="9365736" y="475767"/>
            <a:ext cx="2615249" cy="1244148"/>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18</a:t>
            </a:fld>
            <a:endParaRPr lang="fr-FR"/>
          </a:p>
        </p:txBody>
      </p:sp>
      <p:sp>
        <p:nvSpPr>
          <p:cNvPr id="5" name="ZoneTexte 4"/>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5140629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descr="\documentclass{article}&#10;\usepackage{amsmath}&#10;\usepackage{xcolor}&#10;\pagestyle{empty}&#10;\usepackage[paperwidth=23cm]{geometry}&#10;\begin{document}&#10;&#10;Le taux combiné de perte de chaleur à travers les deux supports de l'îlot de détection est :&#10;&#10;\begin{equation}&#10;q_s = 2(T_s - T_{\infty})/R_{t,\text{sup}} &#10;\end{equation}&#10;&#10;En utilisant l'équation 1 et en notant que $q_h = q - q_s = 2(T_h - T_{\infty})/R_{t,\text{sup}}$, la considération du circuit thermique reliant $T_h$ et $T_{\infty}$ conduit à la relation :&#10;&#10;\begin{equation}&#10;T_h = T_{\infty} + \frac{1}{2} q_h R_{t,\text{sup}} = T_{\infty} + \frac{1}{2} qR_{t,\text{sup}} - (T_s - T_{\infty}) \tag{2}&#10;\end{equation}&#10;&#10;À partir de la portion du circuit reliant $T_h$ et $T_s$, $q_s = \dfrac{T_h - T_s}{s/(k_{\text{cn}}A_{\text{cn}})}$, qui peut être combinée avec les équations 1 et 2 pour donner :&#10;&#10;\begin{align}&#10;k_{\text{cn}} &amp;= \frac{q_s s}{A_{\text{cn}} (T_h - T_s)} = \frac{2(T_s - T_{\infty}) s/R_{t,\text{sup}}}{A_{\text{cn}} \left( \frac{1}{2} q R_{t,\text{sup}} - 2(T_s - T_{\infty}) \right)} \\[10pt]&#10;&amp;= \frac{2 \times (308.4 \text{ K} - 300 \text{ K}) \times 5 \times 10^{-6} \text{ m}/7.25 \times 10^{6} \text{ K/W}}{1.54 \times 10^{-16} \text{ m}^2 \times \left( \frac{1}{2} \times 11.3 \times 10^{-6} \text{ W} \times 7.25 \times 10^{6} \text{ K/W} - 2 \times (308.4 \text{ K} - 300 \text{ K}) \right)}&#10;\end{align}&#10;&#10;$$k_{\text{cn}} = 3113 \text{ W m}^{-1} \text{K}^{-1}$$&#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929725" y="420471"/>
            <a:ext cx="10417375" cy="5567994"/>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19</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8736536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789046" y="402888"/>
            <a:ext cx="10426976" cy="2387657"/>
          </a:xfrm>
          <a:prstGeom prst="rect">
            <a:avLst/>
          </a:prstGeom>
        </p:spPr>
      </p:pic>
      <p:pic>
        <p:nvPicPr>
          <p:cNvPr id="5" name="Image 4"/>
          <p:cNvPicPr>
            <a:picLocks noChangeAspect="1"/>
          </p:cNvPicPr>
          <p:nvPr/>
        </p:nvPicPr>
        <p:blipFill>
          <a:blip r:embed="rId5"/>
          <a:stretch>
            <a:fillRect/>
          </a:stretch>
        </p:blipFill>
        <p:spPr>
          <a:xfrm>
            <a:off x="6897025" y="3286893"/>
            <a:ext cx="4849500" cy="3269543"/>
          </a:xfrm>
          <a:prstGeom prst="rect">
            <a:avLst/>
          </a:prstGeom>
        </p:spPr>
      </p:pic>
      <p:pic>
        <p:nvPicPr>
          <p:cNvPr id="10" name="Image 9"/>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89046" y="3286893"/>
            <a:ext cx="5554289" cy="2151770"/>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20</a:t>
            </a:fld>
            <a:endParaRPr lang="fr-FR"/>
          </a:p>
        </p:txBody>
      </p:sp>
      <p:sp>
        <p:nvSpPr>
          <p:cNvPr id="6" name="ZoneTexte 5"/>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730266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429370" y="350760"/>
            <a:ext cx="2137060" cy="954107"/>
          </a:xfrm>
          <a:prstGeom prst="rect">
            <a:avLst/>
          </a:prstGeom>
          <a:noFill/>
        </p:spPr>
        <p:txBody>
          <a:bodyPr wrap="none" rtlCol="0">
            <a:spAutoFit/>
          </a:bodyPr>
          <a:lstStyle/>
          <a:p>
            <a:r>
              <a:rPr lang="fr-FR" sz="2800" dirty="0" err="1" smtClean="0"/>
              <a:t>Incropera</a:t>
            </a:r>
            <a:endParaRPr lang="fr-FR" sz="2800" dirty="0" smtClean="0"/>
          </a:p>
          <a:p>
            <a:r>
              <a:rPr lang="fr-FR" sz="2800" dirty="0" err="1" smtClean="0"/>
              <a:t>Example</a:t>
            </a:r>
            <a:r>
              <a:rPr lang="fr-FR" sz="2800" dirty="0" smtClean="0"/>
              <a:t> 3.26</a:t>
            </a:r>
            <a:endParaRPr lang="fr-FR" sz="2800" dirty="0"/>
          </a:p>
        </p:txBody>
      </p:sp>
      <p:pic>
        <p:nvPicPr>
          <p:cNvPr id="4" name="Image 3" descr="\documentclass{article}&#10;\usepackage{amsmath}&#10;\usepackage{amssymb}&#10;\pagestyle{empty}&#10;\usepackage[paperwidth=20cm]{geometry}&#10;\usepackage{siunitx}&#10;&#10;\begin{document}&#10;&#10;\subsection*{Analyse Thermique d'un Transistor de Puissance}&#10;&#10;Considérons un transistor de puissance encapsulé dans un boîtier en aluminium qui est fixé à sa base sur une plaque carrée en aluminium de conductivité thermique $k = \SI{240}{\watt\per\meter\per\kelvin}$. L'épaisseur est $L = \SI{5}{\milli\meter}$, la profondeur et la largeur sont $W = \SI{24}{\milli\meter}$. Le boîtier est joint à la plaque par des vis qui maintiennent une pression de contact de $\SI{1}{\bar}$, et la surface arrière de la plaque transfère la chaleur par convection naturelle et rayonnement vers l'air ambiant et les grandes surfaces environnantes à $T_\infty = T_{\text{sur}} = \SI{30}{\celsius}$. La surface a une émissivité de $\varepsilon = 0.9$, et le coefficient de convection est $h = \SI{8}{\watt\per\meter\squared\per\kelvin}$. Le boîtier est complètement fermé de sorte que le transfert de chaleur peut être supposé se produire exclusivement à travers la plaque de base.&#10;&#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831845" y="218254"/>
            <a:ext cx="9063775" cy="2840227"/>
          </a:xfrm>
          <a:prstGeom prst="rect">
            <a:avLst/>
          </a:prstGeom>
        </p:spPr>
      </p:pic>
      <p:pic>
        <p:nvPicPr>
          <p:cNvPr id="7" name="Image 6"/>
          <p:cNvPicPr>
            <a:picLocks noChangeAspect="1"/>
          </p:cNvPicPr>
          <p:nvPr/>
        </p:nvPicPr>
        <p:blipFill>
          <a:blip r:embed="rId6"/>
          <a:stretch>
            <a:fillRect/>
          </a:stretch>
        </p:blipFill>
        <p:spPr>
          <a:xfrm>
            <a:off x="304250" y="3322250"/>
            <a:ext cx="3995189" cy="2678885"/>
          </a:xfrm>
          <a:prstGeom prst="rect">
            <a:avLst/>
          </a:prstGeom>
        </p:spPr>
      </p:pic>
      <p:pic>
        <p:nvPicPr>
          <p:cNvPr id="14" name="Image 13"/>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4742709" y="3439171"/>
            <a:ext cx="6962745" cy="2129827"/>
          </a:xfrm>
          <a:prstGeom prst="rect">
            <a:avLst/>
          </a:prstGeom>
        </p:spPr>
      </p:pic>
      <p:pic>
        <p:nvPicPr>
          <p:cNvPr id="18" name="Image 17"/>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445214" y="6121253"/>
            <a:ext cx="6814632" cy="521143"/>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21</a:t>
            </a:fld>
            <a:endParaRPr lang="fr-FR"/>
          </a:p>
        </p:txBody>
      </p:sp>
    </p:spTree>
    <p:extLst>
      <p:ext uri="{BB962C8B-B14F-4D97-AF65-F5344CB8AC3E}">
        <p14:creationId xmlns:p14="http://schemas.microsoft.com/office/powerpoint/2010/main" val="34456224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01753" y="2278000"/>
            <a:ext cx="9047319" cy="4143083"/>
          </a:xfrm>
          <a:prstGeom prst="rect">
            <a:avLst/>
          </a:prstGeom>
        </p:spPr>
      </p:pic>
      <p:pic>
        <p:nvPicPr>
          <p:cNvPr id="11" name="Image 10"/>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301753" y="330331"/>
            <a:ext cx="11197719" cy="1638856"/>
          </a:xfrm>
          <a:prstGeom prst="rect">
            <a:avLst/>
          </a:prstGeom>
        </p:spPr>
      </p:pic>
      <p:pic>
        <p:nvPicPr>
          <p:cNvPr id="3" name="Image 2"/>
          <p:cNvPicPr>
            <a:picLocks noChangeAspect="1"/>
          </p:cNvPicPr>
          <p:nvPr/>
        </p:nvPicPr>
        <p:blipFill rotWithShape="1">
          <a:blip r:embed="rId6"/>
          <a:srcRect r="9031"/>
          <a:stretch/>
        </p:blipFill>
        <p:spPr>
          <a:xfrm>
            <a:off x="6661088" y="2578607"/>
            <a:ext cx="5372416" cy="1956818"/>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22</a:t>
            </a:fld>
            <a:endParaRPr lang="fr-FR"/>
          </a:p>
        </p:txBody>
      </p:sp>
      <p:sp>
        <p:nvSpPr>
          <p:cNvPr id="6" name="ZoneTexte 5"/>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7568116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 19"/>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38918" y="224120"/>
            <a:ext cx="11322521" cy="2147658"/>
          </a:xfrm>
          <a:prstGeom prst="rect">
            <a:avLst/>
          </a:prstGeom>
        </p:spPr>
      </p:pic>
      <p:pic>
        <p:nvPicPr>
          <p:cNvPr id="13" name="Image 12"/>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438918" y="2625083"/>
            <a:ext cx="7136918" cy="3782401"/>
          </a:xfrm>
          <a:prstGeom prst="rect">
            <a:avLst/>
          </a:prstGeom>
        </p:spPr>
      </p:pic>
      <p:grpSp>
        <p:nvGrpSpPr>
          <p:cNvPr id="17" name="Groupe 16"/>
          <p:cNvGrpSpPr/>
          <p:nvPr/>
        </p:nvGrpSpPr>
        <p:grpSpPr>
          <a:xfrm>
            <a:off x="7790688" y="3235218"/>
            <a:ext cx="4306823" cy="2851090"/>
            <a:chOff x="7790688" y="3235218"/>
            <a:chExt cx="4306823" cy="2851090"/>
          </a:xfrm>
        </p:grpSpPr>
        <p:pic>
          <p:nvPicPr>
            <p:cNvPr id="7" name="Image 6"/>
            <p:cNvPicPr>
              <a:picLocks noChangeAspect="1"/>
            </p:cNvPicPr>
            <p:nvPr/>
          </p:nvPicPr>
          <p:blipFill rotWithShape="1">
            <a:blip r:embed="rId7"/>
            <a:srcRect l="11632"/>
            <a:stretch/>
          </p:blipFill>
          <p:spPr>
            <a:xfrm>
              <a:off x="7790688" y="3235218"/>
              <a:ext cx="4306823" cy="2851090"/>
            </a:xfrm>
            <a:prstGeom prst="rect">
              <a:avLst/>
            </a:prstGeom>
          </p:spPr>
        </p:pic>
        <p:pic>
          <p:nvPicPr>
            <p:cNvPr id="16" name="Image 15"/>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rot="16200000">
              <a:off x="6608741" y="4427218"/>
              <a:ext cx="2562133" cy="178133"/>
            </a:xfrm>
            <a:prstGeom prst="rect">
              <a:avLst/>
            </a:prstGeom>
            <a:solidFill>
              <a:schemeClr val="bg1"/>
            </a:solidFill>
          </p:spPr>
        </p:pic>
      </p:grpSp>
      <p:sp>
        <p:nvSpPr>
          <p:cNvPr id="2" name="Espace réservé du numéro de diapositive 1"/>
          <p:cNvSpPr>
            <a:spLocks noGrp="1"/>
          </p:cNvSpPr>
          <p:nvPr>
            <p:ph type="sldNum" sz="quarter" idx="12"/>
          </p:nvPr>
        </p:nvSpPr>
        <p:spPr/>
        <p:txBody>
          <a:bodyPr/>
          <a:lstStyle/>
          <a:p>
            <a:fld id="{CB13DDC6-9977-4A69-882A-1641CFA73689}" type="slidenum">
              <a:rPr lang="fr-FR" smtClean="0"/>
              <a:t>23</a:t>
            </a:fld>
            <a:endParaRPr lang="fr-FR"/>
          </a:p>
        </p:txBody>
      </p:sp>
      <p:sp>
        <p:nvSpPr>
          <p:cNvPr id="8" name="ZoneTexte 7"/>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69527386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290.2137"/>
  <p:tag name="ORIGINALWIDTH" val="3043.87"/>
  <p:tag name="OUTPUTTYPE" val="PNG"/>
  <p:tag name="IGUANATEXVERSION" val="161"/>
  <p:tag name="LATEXADDIN" val="\documentclass{article}&#10;\usepackage{amsmath}&#10;\pagestyle{empty}&#10;\begin{document}&#10;&#10;$$&#10;q = \frac{T_i-T_s}{R_{sf}} = \frac{T_s-T}{R_{ins}}&#10; = hA(T-T_\infty) + \epsilon \sigma A(T^4-T_{sur}^4)&#10;$$&#10;&#10;\end{document}"/>
  <p:tag name="IGUANATEXSIZE" val="20"/>
  <p:tag name="IGUANATEXCURSOR" val="142"/>
  <p:tag name="TRANSPARENCY" val="Vrai"/>
  <p:tag name="FILENAME" val=""/>
  <p:tag name="LATEXENGINEID" val="0"/>
  <p:tag name="TEMPFOLDER" val="c:\temp\"/>
  <p:tag name="LATEXFORMHEIGHT" val="320"/>
  <p:tag name="LATEXFORMWIDTH" val="385"/>
  <p:tag name="LATEXFORMWRAP" val="Vrai"/>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604.799"/>
  <p:tag name="ORIGINALWIDTH" val="4299.962"/>
  <p:tag name="OUTPUTTYPE" val="PNG"/>
  <p:tag name="IGUANATEXVERSION" val="161"/>
  <p:tag name="LATEXADDIN" val="\documentclass{article}&#10;\usepackage{amsmath}&#10;\pagestyle{empty}&#10;\begin{document}&#10;&#10;Dans l’Exemple 1.6, nous avons calculé le taux de perte de chaleur d’un corps humain dans des environnements d’air et d’eau. Nous considérons maintenant les mêmes conditions, sauf que le milieu environnant (air ou eau) est à 10°C.&#10;Pour réduire le taux de perte de chaleur, la personne porte un équipement sportif spécial (combinaison de neige ou combinaison de plongée) fabriqué à partir d’un isolant en aérogel de silice, ayant une conductivité thermique extrêmement faible de 0.014W/m·K. L’émissivité de la surface externe des combinaisons est de $\epsilon=0.95$.&#10;Quelle épaisseur d’isolant en aérogel est nécessaire pour réduire le taux de perte de chaleur à q=100W (un taux typique de génération de chaleur métabolique) dans l’air et dans l’eau ? Quelles sont les températures de la peau résultantes ? La personne a une surface $A=1.8\; m^2$.&#10;&#10;\end{document}"/>
  <p:tag name="IGUANATEXSIZE" val="20"/>
  <p:tag name="IGUANATEXCURSOR" val="645"/>
  <p:tag name="TRANSPARENCY" val="Vrai"/>
  <p:tag name="FILENAME" val=""/>
  <p:tag name="LATEXENGINEID" val="0"/>
  <p:tag name="TEMPFOLDER" val="c:\temp\"/>
  <p:tag name="LATEXFORMHEIGHT" val="320"/>
  <p:tag name="LATEXFORMWIDTH" val="385"/>
  <p:tag name="LATEXFORMWRAP" val="Vrai"/>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83.98952"/>
  <p:tag name="ORIGINALWIDTH" val="85.48929"/>
  <p:tag name="OUTPUTTYPE" val="PNG"/>
  <p:tag name="IGUANATEXVERSION" val="160"/>
  <p:tag name="LATEXADDIN" val="\documentclass{article}&#10;\usepackage{amsmath}&#10;\pagestyle{empty}&#10;\begin{document}&#10;&#10;$$T$$&#10;&#10;&#10;\end{document}"/>
  <p:tag name="IGUANATEXSIZE" val="20"/>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03.4871"/>
  <p:tag name="ORIGINALWIDTH" val="111.7361"/>
  <p:tag name="OUTPUTTYPE" val="PNG"/>
  <p:tag name="IGUANATEXVERSION" val="160"/>
  <p:tag name="LATEXADDIN" val="\documentclass{article}&#10;\usepackage{amsmath}&#10;\pagestyle{empty}&#10;\begin{document}&#10;&#10;$$T_s$$&#10;&#10;&#10;\end{document}"/>
  <p:tag name="IGUANATEXSIZE" val="20"/>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1103.862"/>
  <p:tag name="ORIGINALWIDTH" val="4287.964"/>
  <p:tag name="OUTPUTTYPE" val="PNG"/>
  <p:tag name="IGUANATEXVERSION" val="161"/>
  <p:tag name="LATEXADDIN" val="\documentclass{article}&#10;\usepackage{amsmath}&#10;\usepackage{xcolor}&#10;\pagestyle{empty}&#10;\begin{document}&#10;&#10;{\color{red} Avec le rayonnement}, l'équation à résoudre est non linéaire. La méthode consiste&#10;à linéariser le terme radiatif au voisinage de $T_{sur}$ et en faisant intervenir un coefficient radiatif $h_r$:&#10;$$&#10;q = \frac{T_i-T_s}{R_{sf}} = \frac{T_s-T}{R_{ins}}&#10; = hA(T-T_\infty) + h_r A(T-T_{sur})&#10;$$&#10;avec $h_r ({\color{red} T})= \epsilon \sigma (T+T_{sur}) (T^2+T_{sur}^2)$.&#10;\end{document}"/>
  <p:tag name="IGUANATEXSIZE" val="20"/>
  <p:tag name="IGUANATEXCURSOR" val="462"/>
  <p:tag name="TRANSPARENCY" val="Vrai"/>
  <p:tag name="FILENAME" val=""/>
  <p:tag name="LATEXENGINEID" val="0"/>
  <p:tag name="TEMPFOLDER" val="c:\temp\"/>
  <p:tag name="LATEXFORMHEIGHT" val="320"/>
  <p:tag name="LATEXFORMWIDTH" val="694.2"/>
  <p:tag name="LATEXFORMWRAP" val="Vrai"/>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239.595"/>
  <p:tag name="ORIGINALWIDTH" val="4287.214"/>
  <p:tag name="OUTPUTTYPE" val="PNG"/>
  <p:tag name="IGUANATEXVERSION" val="161"/>
  <p:tag name="LATEXADDIN" val="\documentclass{article}&#10;\usepackage{amsmath}&#10;\usepackage{xcolor}&#10;\pagestyle{empty}&#10;\begin{document}&#10;&#10;On obtient symboliquement que :&#10;$$ T = \frac{ q/A + h T_{\infty} +h_r ({\color{red} T}) T_{sur} }&#10;{h+h_r({\color{red} T})}&#10;$$&#10;&#10;La résolution se fait par la méthode de point fixe en initialisant $T$ avec $T_{sur}$: &#10;&#10;à la première itération, la valeur de $T$ sert à estimer $h_r(T)$ puis on calcule une nouvelle de $T$ et ainsi de suite, pour les itérations suivantes.&#10;&#10;On arrête le schéma itératif quand les valeurs de $T$ stagnent. &#10;\end{document}"/>
  <p:tag name="IGUANATEXSIZE" val="20"/>
  <p:tag name="IGUANATEXCURSOR" val="316"/>
  <p:tag name="TRANSPARENCY" val="Vrai"/>
  <p:tag name="FILENAME" val=""/>
  <p:tag name="LATEXENGINEID" val="0"/>
  <p:tag name="TEMPFOLDER" val="c:\temp\"/>
  <p:tag name="LATEXFORMHEIGHT" val="320"/>
  <p:tag name="LATEXFORMWIDTH" val="606.6"/>
  <p:tag name="LATEXFORMWRAP" val="Vrai"/>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528.684"/>
  <p:tag name="ORIGINALWIDTH" val="3749.531"/>
  <p:tag name="OUTPUTTYPE" val="PNG"/>
  <p:tag name="IGUANATEXVERSION" val="160"/>
  <p:tag name="LATEXADDIN" val="\documentclass{article}&#10;\usepackage{amsmath}&#10;\usepackage{xcolor}&#10;\pagestyle{empty}&#10;\begin{document}&#10;&#10;A partir de $T$, on déduit l'épaisseur d'isolant, en prenant $q=100$W :&#10;$$&#10;L_{ins} = k_{ins} A \frac{T_s-T}{q} \quad \text{avec} \quad T_s = T_i-q\; R_{sf}&#10;$$&#10;&#10;\end{document}"/>
  <p:tag name="IGUANATEXSIZE" val="20"/>
  <p:tag name="IGUANATEXCURSOR" val="170"/>
  <p:tag name="TRANSPARENCY" val="Vrai"/>
  <p:tag name="FILENAME" val=""/>
  <p:tag name="LATEXENGINEID" val="0"/>
  <p:tag name="TEMPFOLDER" val="c:\temp\"/>
  <p:tag name="LATEXFORMHEIGHT" val="320"/>
  <p:tag name="LATEXFORMWIDTH" val="606.6"/>
  <p:tag name="LATEXFORMWRAP" val="Vrai"/>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402.6997"/>
  <p:tag name="ORIGINALWIDTH" val="4296.963"/>
  <p:tag name="OUTPUTTYPE" val="PNG"/>
  <p:tag name="IGUANATEXVERSION" val="160"/>
  <p:tag name="LATEXADDIN" val="\documentclass{article}&#10;\usepackage{amsmath}&#10;\usepackage{xcolor}&#10;\pagestyle{empty}&#10;\begin{document}&#10;&#10;L'exploitation de $h_r(T)$ montre qu'il est compris ici entre 4.9 et 5.1 $W.m^{-2}.K$.&#10;On aurait pu prendre, avec une bonne approximation,  $h_r(T_{sur})$ pour toutes les valeurs&#10;de $h$.&#10;&#10;\end{document}"/>
  <p:tag name="IGUANATEXSIZE" val="20"/>
  <p:tag name="IGUANATEXCURSOR" val="254"/>
  <p:tag name="TRANSPARENCY" val="Vrai"/>
  <p:tag name="FILENAME" val=""/>
  <p:tag name="LATEXENGINEID" val="0"/>
  <p:tag name="TEMPFOLDER" val="c:\temp\"/>
  <p:tag name="LATEXFORMHEIGHT" val="320"/>
  <p:tag name="LATEXFORMWIDTH" val="606.6"/>
  <p:tag name="LATEXFORMWRAP" val="Vrai"/>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857.8928"/>
  <p:tag name="ORIGINALWIDTH" val="4287.214"/>
  <p:tag name="OUTPUTTYPE" val="PNG"/>
  <p:tag name="IGUANATEXVERSION" val="160"/>
  <p:tag name="LATEXADDIN" val="\documentclass{article}&#10;\usepackage{amsmath}&#10;\pagestyle{empty}&#10;\begin{document}&#10;&#10;Une puce en silicium et un substrat en aluminium de 8 mm d’épaisseur sont séparés par une couche de colle époxy de 0.02 mm d’épaisseur. La puce et le substrat mesurent chacun 10 mm de côté, et leurs surfaces exposées sont refroidies par de l’air, à une température de 25°C, avec un coefficient de convection de 100 $W/m^2·K$. Si la puce dissipe $\dot{E}''_g=10^4 \; W/m^2$ dans des conditions normales, fonctionnera-t-elle en dessous de la température maximale admissible de 85°C ?&#10;&#10;\end{document}"/>
  <p:tag name="IGUANATEXSIZE" val="20"/>
  <p:tag name="IGUANATEXCURSOR" val="439"/>
  <p:tag name="TRANSPARENCY" val="Vrai"/>
  <p:tag name="FILENAME" val=""/>
  <p:tag name="LATEXENGINEID" val="0"/>
  <p:tag name="TEMPFOLDER" val="c:\temp\"/>
  <p:tag name="LATEXFORMHEIGHT" val="320"/>
  <p:tag name="LATEXFORMWIDTH" val="693"/>
  <p:tag name="LATEXFORMWRAP" val="Vrai"/>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31.9835"/>
  <p:tag name="ORIGINALWIDTH" val="894.6382"/>
  <p:tag name="OUTPUTTYPE" val="PNG"/>
  <p:tag name="IGUANATEXVERSION" val="161"/>
  <p:tag name="LATEXADDIN" val="\documentclass{article}&#10;\usepackage{amsmath}&#10;\pagestyle{empty}&#10;\begin{document}&#10;&#10;$$&#10;q_c'' - q_1'' - q_2'' = 0&#10;$$&#10;&#10;\end{document}"/>
  <p:tag name="IGUANATEXSIZE" val="20"/>
  <p:tag name="IGUANATEXCURSOR" val="109"/>
  <p:tag name="TRANSPARENCY" val="Vrai"/>
  <p:tag name="FILENAME" val=""/>
  <p:tag name="LATEXENGINEID" val="0"/>
  <p:tag name="TEMPFOLDER" val="c:\temp\"/>
  <p:tag name="LATEXFORMHEIGHT" val="320"/>
  <p:tag name="LATEXFORMWIDTH" val="385"/>
  <p:tag name="LATEXFORMWRAP" val="Vrai"/>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36.4829"/>
  <p:tag name="ORIGINALWIDTH" val="1846.269"/>
  <p:tag name="OUTPUTTYPE" val="PNG"/>
  <p:tag name="IGUANATEXVERSION" val="161"/>
  <p:tag name="LATEXADDIN" val="\documentclass{article}&#10;\usepackage{amsmath}&#10;\pagestyle{empty}&#10;\begin{document}&#10;&#10;$$&#10;q_1'' = h \; (T_{top}-T_\infty) \approx h\; (T_c-T_\infty)&#10;$$&#10;&#10;\end{document}"/>
  <p:tag name="IGUANATEXSIZE" val="20"/>
  <p:tag name="IGUANATEXCURSOR" val="123"/>
  <p:tag name="TRANSPARENCY" val="Vrai"/>
  <p:tag name="FILENAME" val=""/>
  <p:tag name="LATEXENGINEID" val="0"/>
  <p:tag name="TEMPFOLDER" val="c:\temp\"/>
  <p:tag name="LATEXFORMHEIGHT" val="320"/>
  <p:tag name="LATEXFORMWIDTH" val="385"/>
  <p:tag name="LATEXFORMWRAP" val="Vrai"/>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268.4665"/>
  <p:tag name="ORIGINALWIDTH" val="4288.714"/>
  <p:tag name="OUTPUTTYPE" val="PNG"/>
  <p:tag name="IGUANATEXVERSION" val="161"/>
  <p:tag name="LATEXADDIN" val="\documentclass{article}&#10;\usepackage{amsmath}&#10;\pagestyle{empty}&#10;\begin{document}&#10;&#10;On suppose que la température $T_c$ de la puce est&#10;homogène. La résistance thermique de l'epoxy par unité de surface est $[0.2, 0.9] \times 10^{-4} m^{2}.K.W^{-1}$.&#10;&#10;&#10;\end{document}"/>
  <p:tag name="IGUANATEXSIZE" val="20"/>
  <p:tag name="IGUANATEXCURSOR" val="245"/>
  <p:tag name="TRANSPARENCY" val="Vrai"/>
  <p:tag name="FILENAME" val=""/>
  <p:tag name="LATEXENGINEID" val="0"/>
  <p:tag name="TEMPFOLDER" val="c:\temp\"/>
  <p:tag name="LATEXFORMHEIGHT" val="320"/>
  <p:tag name="LATEXFORMWIDTH" val="385"/>
  <p:tag name="LATEXFORMWRAP" val="Vrai"/>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05.7368"/>
  <p:tag name="ORIGINALWIDTH" val="1082.865"/>
  <p:tag name="OUTPUTTYPE" val="PNG"/>
  <p:tag name="IGUANATEXVERSION" val="161"/>
  <p:tag name="LATEXADDIN" val="\documentclass{article}&#10;\usepackage{amsmath}&#10;\pagestyle{empty}&#10;\begin{document}&#10;&#10;k = 239 $W m^{-1} K^{-1}$&#10;&#10;&#10;\end{document}"/>
  <p:tag name="IGUANATEXSIZE" val="16"/>
  <p:tag name="IGUANATEXCURSOR" val="106"/>
  <p:tag name="TRANSPARENCY" val="Vrai"/>
  <p:tag name="FILENAME" val=""/>
  <p:tag name="LATEXENGINEID" val="0"/>
  <p:tag name="TEMPFOLDER" val="c:\temp\"/>
  <p:tag name="LATEXFORMHEIGHT" val="320"/>
  <p:tag name="LATEXFORMWIDTH" val="385"/>
  <p:tag name="LATEXFORMWRAP" val="Vrai"/>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301.4623"/>
  <p:tag name="ORIGINALWIDTH" val="2765.654"/>
  <p:tag name="OUTPUTTYPE" val="PNG"/>
  <p:tag name="IGUANATEXVERSION" val="161"/>
  <p:tag name="LATEXADDIN" val="\documentclass{article}&#10;\usepackage{amsmath}&#10;\usepackage{xcolor}&#10;\pagestyle{empty}&#10;\begin{document}&#10;&#10;$$&#10;q_c'' = h\; (T_c-T_\infty) + \frac{T_c-T_\infty}&#10;{{\color{red} R_{t,c}''}+L/k+1/h} = 10^4 Wm^{-2}&#10;$$&#10;&#10;\end{document}"/>
  <p:tag name="IGUANATEXSIZE" val="20"/>
  <p:tag name="IGUANATEXCURSOR" val="185"/>
  <p:tag name="TRANSPARENCY" val="Vrai"/>
  <p:tag name="FILENAME" val=""/>
  <p:tag name="LATEXENGINEID" val="0"/>
  <p:tag name="TEMPFOLDER" val="c:\temp\"/>
  <p:tag name="LATEXFORMHEIGHT" val="320"/>
  <p:tag name="LATEXFORMWIDTH" val="385"/>
  <p:tag name="LATEXFORMWRAP" val="Vrai"/>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51.4811"/>
  <p:tag name="ORIGINALWIDTH" val="2073.491"/>
  <p:tag name="OUTPUTTYPE" val="PNG"/>
  <p:tag name="IGUANATEXVERSION" val="160"/>
  <p:tag name="LATEXADDIN" val="\documentclass{article}&#10;\usepackage{amsmath}&#10;\pagestyle{empty}&#10;\begin{document}&#10;&#10;$$&#10;\dot{E}_g - q_1 - q_2 = 0 \quad \text{tel que} \quad \dot{E}_g = q_c''\; S&#10;$$&#10;&#10;\end{document}"/>
  <p:tag name="IGUANATEXSIZE" val="20"/>
  <p:tag name="IGUANATEXCURSOR" val="144"/>
  <p:tag name="TRANSPARENCY" val="Vrai"/>
  <p:tag name="FILENAME" val=""/>
  <p:tag name="LATEXENGINEID" val="0"/>
  <p:tag name="TEMPFOLDER" val="c:\temp\"/>
  <p:tag name="LATEXFORMHEIGHT" val="320"/>
  <p:tag name="LATEXFORMWIDTH" val="520.5"/>
  <p:tag name="LATEXFORMWRAP" val="Vrai"/>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301.4623"/>
  <p:tag name="ORIGINALWIDTH" val="1229.846"/>
  <p:tag name="OUTPUTTYPE" val="PNG"/>
  <p:tag name="IGUANATEXVERSION" val="160"/>
  <p:tag name="LATEXADDIN" val="\documentclass{article}&#10;\usepackage{amsmath}&#10;\usepackage{xcolor}&#10;\pagestyle{empty}&#10;\begin{document}&#10;&#10;$$&#10;q_2'' = \frac{T_c-T_\infty}&#10;{{\color{red} R_{t,c}''}+L/k+1/h} &#10;$$&#10;&#10;\end{document}"/>
  <p:tag name="IGUANATEXSIZE" val="20"/>
  <p:tag name="IGUANATEXCURSOR" val="166"/>
  <p:tag name="TRANSPARENCY" val="Vrai"/>
  <p:tag name="FILENAME" val=""/>
  <p:tag name="LATEXENGINEID" val="0"/>
  <p:tag name="TEMPFOLDER" val="c:\temp\"/>
  <p:tag name="LATEXFORMHEIGHT" val="320"/>
  <p:tag name="LATEXFORMWIDTH" val="385"/>
  <p:tag name="LATEXFORMWRAP" val="Vrai"/>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900.6374"/>
  <p:tag name="ORIGINALWIDTH" val="3034.871"/>
  <p:tag name="OUTPUTTYPE" val="PNG"/>
  <p:tag name="IGUANATEXVERSION" val="161"/>
  <p:tag name="LATEXADDIN" val="\documentclass{article}&#10;\usepackage{amsmath}&#10;\usepackage{xcolor}&#10;\pagestyle{empty}&#10;\begin{document}&#10;&#10;Comme&#10;$$&#10;\big(h\; + \frac{1}&#10;{{\color{red} R_{t,c}''}+L/k+1/h} \big) (T_c-T_\infty) &#10;= q_c'' &#10;$$&#10;&#10;on a:&#10;$$&#10;T_c-T_{\infty} = \dfrac{ q_c''}{&#10;\big(h\; + \frac{1}&#10;{{\color{red} R_{t,c}''}+L/k+1/h} \big)} &#10;$$&#10;&#10;\end{document}"/>
  <p:tag name="IGUANATEXSIZE" val="20"/>
  <p:tag name="IGUANATEXCURSOR" val="302"/>
  <p:tag name="TRANSPARENCY" val="Vrai"/>
  <p:tag name="FILENAME" val=""/>
  <p:tag name="LATEXENGINEID" val="0"/>
  <p:tag name="TEMPFOLDER" val="c:\temp\"/>
  <p:tag name="LATEXFORMHEIGHT" val="320"/>
  <p:tag name="LATEXFORMWIDTH" val="385"/>
  <p:tag name="LATEXFORMWRAP" val="Vrai"/>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864.6419"/>
  <p:tag name="ORIGINALWIDTH" val="4288.714"/>
  <p:tag name="OUTPUTTYPE" val="PNG"/>
  <p:tag name="IGUANATEXVERSION" val="160"/>
  <p:tag name="LATEXADDIN" val="\documentclass{article}&#10;\usepackage{amsmath}&#10;\pagestyle{empty}&#10;\begin{document}&#10;&#10;Un panneau photovoltaïque est constitué (de haut en bas) d'un verre dopé à la céria (dioxyde de cérium) d'une épaisseur de 3 mm ($k_g = 1.4\,\mathrm{W}/\mathrm{m}\cdot\mathrm{K}$), d'un adhésif de qualité optique d'une épaisseur de 0.1 mm ($k_a = 145\,\mathrm{W}/\mathrm{m}\cdot\mathrm{K}$), d'une couche très mince de silicium dans laquelle l'énergie solaire est convertie en énergie électrique, d'une couche de soudure de 0.1 mm d'épaisseur, et d'un substrat en nitrure d'aluminium de 2 mm d'épaisseur.&#10;&#10;\end{document}"/>
  <p:tag name="IGUANATEXSIZE" val="18"/>
  <p:tag name="IGUANATEXCURSOR" val="185"/>
  <p:tag name="TRANSPARENCY" val="Vrai"/>
  <p:tag name="FILENAME" val=""/>
  <p:tag name="LATEXENGINEID" val="0"/>
  <p:tag name="TEMPFOLDER" val="c:\temp\"/>
  <p:tag name="LATEXFORMHEIGHT" val="320"/>
  <p:tag name="LATEXFORMWIDTH" val="818.4"/>
  <p:tag name="LATEXFORMWRAP" val="Vrai"/>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952.3809"/>
  <p:tag name="ORIGINALWIDTH" val="4288.714"/>
  <p:tag name="OUTPUTTYPE" val="PNG"/>
  <p:tag name="IGUANATEXVERSION" val="161"/>
  <p:tag name="LATEXADDIN" val="\documentclass{article}&#10;\usepackage{amsmath}&#10;\pagestyle{empty}&#10;\begin{document}&#10;&#10;Le rendement de conversion de l'énergie solaire en énergie électrique dans la couche de silicium,&#10;$\eta$, diminue avec l'augmentation de la température du silicium, $T_{si}$, et est donné par l'expression :&#10;\[&#10;\eta = a - b T_{si}, \quad \text{avec } a = 0.553 \text{ et } b = 0.001\,\mathrm{K}^{-1}.&#10;\]&#10;dans l'intervalle $300\,\mathrm{K} \le T_{si} \le 525\,\mathrm{K}$.&#10;&#10;&#10;\end{document}"/>
  <p:tag name="IGUANATEXSIZE" val="18"/>
  <p:tag name="IGUANATEXCURSOR" val="451"/>
  <p:tag name="TRANSPARENCY" val="Vrai"/>
  <p:tag name="FILENAME" val=""/>
  <p:tag name="LATEXENGINEID" val="0"/>
  <p:tag name="TEMPFOLDER" val="c:\temp\"/>
  <p:tag name="LATEXFORMHEIGHT" val="320"/>
  <p:tag name="LATEXFORMWIDTH" val="385"/>
  <p:tag name="LATEXFORMWRAP" val="Vrai"/>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1466.067"/>
  <p:tag name="ORIGINALWIDTH" val="4291.713"/>
  <p:tag name="OUTPUTTYPE" val="PNG"/>
  <p:tag name="IGUANATEXVERSION" val="161"/>
  <p:tag name="LATEXADDIN" val="\documentclass{article}&#10;\usepackage{amsmath}&#10;\pagestyle{empty}&#10;\begin{document}&#10;&#10;&#10;Sur l'irradiance solaire incidente, $G_S = 700\,\mathrm{W}/\mathrm{m}^2$, 7\% est réfléchie à la surface supérieure du verre, 10\% est absorbée par la surface supérieure du verre, et 83\% est transmise et absorbée dans la couche de silicium.&#10;&#10;Une partie de l'énergie solaire absorbée dans le silicium est convertie en énergie thermique, et le reste en énergie électrique. Le verre a une émissivité de $\varepsilon = 0.90$, et le dessous ainsi que les côtés du panneau sont isolés thermiquement.&#10;&#10;Déterminer la puissance électrique $P$ produite par un panneau solaire &#10;dont la surface est $A = L \times w = 0.1 \,\mathrm{m}^2$, dans des conditions caractérisées par un coefficient de convection $h = 35\,\mathrm{W} \mathrm{m}^{-2} \mathrm{K}^{-1}$ et une température ambiante $T_\infty = T_{sur} = 293.15\,\mathrm{K}$.&#10;&#10;\end{document}"/>
  <p:tag name="IGUANATEXSIZE" val="18"/>
  <p:tag name="IGUANATEXCURSOR" val="707"/>
  <p:tag name="TRANSPARENCY" val="Vrai"/>
  <p:tag name="FILENAME" val=""/>
  <p:tag name="LATEXENGINEID" val="0"/>
  <p:tag name="TEMPFOLDER" val="c:\temp\"/>
  <p:tag name="LATEXFORMHEIGHT" val="320"/>
  <p:tag name="LATEXFORMWIDTH" val="818.4"/>
  <p:tag name="LATEXFORMWRAP" val="Vrai"/>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121.4848"/>
  <p:tag name="ORIGINALWIDTH" val="266.2167"/>
  <p:tag name="OUTPUTTYPE" val="PNG"/>
  <p:tag name="IGUANATEXVERSION" val="160"/>
  <p:tag name="LATEXADDIN" val="\documentclass{article}&#10;\usepackage{amsmath}&#10;\pagestyle{empty}&#10;\begin{document}&#10;&#10;$=R_g$&#10;&#10;&#10;\end{document}"/>
  <p:tag name="IGUANATEXSIZE" val="16"/>
  <p:tag name="IGUANATEXCURSOR" val="87"/>
  <p:tag name="TRANSPARENCY" val="Vrai"/>
  <p:tag name="FILENAME" val=""/>
  <p:tag name="LATEXENGINEID" val="0"/>
  <p:tag name="TEMPFOLDER" val="c:\temp\"/>
  <p:tag name="LATEXFORMHEIGHT" val="320"/>
  <p:tag name="LATEXFORMWIDTH" val="385"/>
  <p:tag name="LATEXFORMWRAP" val="Vrai"/>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03.4871"/>
  <p:tag name="ORIGINALWIDTH" val="290.2137"/>
  <p:tag name="OUTPUTTYPE" val="PNG"/>
  <p:tag name="IGUANATEXVERSION" val="160"/>
  <p:tag name="LATEXADDIN" val="\documentclass{article}&#10;\usepackage{amsmath}&#10;\pagestyle{empty}&#10;\begin{document}&#10;&#10;$=R_A$&#10;&#10;&#10;\end{document}"/>
  <p:tag name="IGUANATEXSIZE" val="16"/>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84.73937"/>
  <p:tag name="ORIGINALWIDTH" val="218.9726"/>
  <p:tag name="OUTPUTTYPE" val="PNG"/>
  <p:tag name="IGUANATEXVERSION" val="160"/>
  <p:tag name="LATEXADDIN" val="\documentclass{article}&#10;\usepackage{amsmath}&#10;\pagestyle{empty}&#10;\begin{document}&#10;&#10;$=P$&#10;&#10;&#10;\end{document}"/>
  <p:tag name="IGUANATEXSIZE" val="16"/>
  <p:tag name="IGUANATEXCURSOR" val="84"/>
  <p:tag name="TRANSPARENCY" val="Vrai"/>
  <p:tag name="FILENAME" val=""/>
  <p:tag name="LATEXENGINEID" val="0"/>
  <p:tag name="TEMPFOLDER" val="c:\temp\"/>
  <p:tag name="LATEXFORMHEIGHT" val="320"/>
  <p:tag name="LATEXFORMWIDTH" val="385"/>
  <p:tag name="LATEXFORMWRAP" val="Vrai"/>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539.9325"/>
  <p:tag name="ORIGINALWIDTH" val="3789.276"/>
  <p:tag name="OUTPUTTYPE" val="PNG"/>
  <p:tag name="IGUANATEXVERSION" val="160"/>
  <p:tag name="LATEXADDIN" val="\documentclass{article}&#10;\usepackage{amsmath}&#10;\usepackage[paperwidth=23cm]{geometry}&#10;\pagestyle{empty}&#10;\begin{document}&#10;&#10;La conservation de l'énergie au niveau du Si donne:&#10;$$&#10;+\frac{T_{g,\text{top}}-T_{si}}{R_a + R_g} +  0.83\, G_s A \left(1 - \eta(T_{si})\right) =0&#10;$$&#10;&#10;&#10;\end{document}"/>
  <p:tag name="IGUANATEXSIZE" val="18"/>
  <p:tag name="IGUANATEXCURSOR" val="266"/>
  <p:tag name="TRANSPARENCY" val="Vrai"/>
  <p:tag name="FILENAME" val=""/>
  <p:tag name="LATEXENGINEID" val="0"/>
  <p:tag name="TEMPFOLDER" val="c:\temp\"/>
  <p:tag name="LATEXFORMHEIGHT" val="320"/>
  <p:tag name="LATEXFORMWIDTH" val="562.5"/>
  <p:tag name="LATEXFORMWRAP" val="Vrai"/>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2035.996"/>
  <p:tag name="ORIGINALWIDTH" val="4695.163"/>
  <p:tag name="OUTPUTTYPE" val="PNG"/>
  <p:tag name="IGUANATEXVERSION" val="160"/>
  <p:tag name="LATEXADDIN" val="\documentclass{article}&#10;\usepackage{amsmath}&#10;\usepackage[paperwidth=23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subsection*{Conservation du flux thermique en surface}&#10;&#10;Sur la surface supérieure, la conservation du flux thermique impose :&#10;&#10;$$\dot{E}_g'' - \rtvector{q}''_{\text{cond}} \cdot \rtvector{n}_{12} - &#10;\rtvector{q}''_{\text{conv}} \cdot \rtvector{n}_{21} - \rtvector{q}''_{\text{rad}} \cdot \rtvector{n}_{21} =0&#10;$$&#10;&#10;\noindent&#10;où $\rtvector{n}_{21} = -\rtvector{n}_{12}$. Ou encore:&#10;$$\dot{E}_g''-\rtvector{q}''_{\text{cond}} \cdot \rtvector{n}_{12} = &#10;\rtvector{q}''_{\text{conv}} \cdot \rtvector{n}_{21} + \rtvector{q}''_{\text{rad}} \cdot \rtvector{n}_{21} &#10;$$&#10;&#10;avec $$\rtvector{q}''_{\text{cond}}\cdot \rtvector{n}_{12} \; A = -k \; \left. \dfrac{\partial T}{\partial x} \right|_0\; A\; \rtvector{e}_{x} \cdot \rtvector{n}_{12}&#10;=\frac{T_{g,\text{top}}-T_{si}}{R_a + R_g} $$ et en remarquant que $\rtvector{n}_{21} \equiv \rtvector{n}_{ext}$, &#10;$$\rtvector{q}''_{\text{conv}} \cdot \rtvector{n}_{21} \; A + \rtvector{q}''_{\text{rad}} \cdot \rtvector{n}_{21} \; A=&#10; h(T_{g, top}-T_\infty) \; A+ \epsilon \sigma (T_{g, top}^4-T_{sur}^4) \; A&#10;$$&#10;\end{document}"/>
  <p:tag name="IGUANATEXSIZE" val="18"/>
  <p:tag name="IGUANATEXCURSOR" val="1430"/>
  <p:tag name="TRANSPARENCY" val="Vrai"/>
  <p:tag name="FILENAME" val=""/>
  <p:tag name="LATEXENGINEID" val="0"/>
  <p:tag name="TEMPFOLDER" val="c:\temp\"/>
  <p:tag name="LATEXFORMHEIGHT" val="468.6"/>
  <p:tag name="LATEXFORMWIDTH" val="715.2"/>
  <p:tag name="LATEXFORMWRAP" val="Vrai"/>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290.2137"/>
  <p:tag name="ORIGINALWIDTH" val="3433.071"/>
  <p:tag name="OUTPUTTYPE" val="PNG"/>
  <p:tag name="IGUANATEXVERSION" val="160"/>
  <p:tag name="LATEXADDIN" val="\documentclass{article}&#10;\usepackage{amsmath}&#10;\pagestyle{empty}&#10;\begin{document}&#10;&#10;$$&#10;\frac{T_{si} - T_{g,\text{top}}}{R_a + R_g} +  0.1\, G_s A =  h A (T_{g,\text{top}} - T_\infty) + \varepsilon \sigma A \left( T_{g,\text{top}}^4 - T_{\text{sur}}^4 \right)&#10;$$&#10;&#10;&#10;&#10;\end{document}"/>
  <p:tag name="IGUANATEXSIZE" val="20"/>
  <p:tag name="IGUANATEXCURSOR" val="143"/>
  <p:tag name="TRANSPARENCY" val="Vrai"/>
  <p:tag name="FILENAME" val=""/>
  <p:tag name="LATEXENGINEID" val="0"/>
  <p:tag name="TEMPFOLDER" val="c:\temp\"/>
  <p:tag name="LATEXFORMHEIGHT" val="320"/>
  <p:tag name="LATEXFORMWIDTH" val="385"/>
  <p:tag name="LATEXFORMWRAP" val="Vrai"/>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121.4848"/>
  <p:tag name="ORIGINALWIDTH" val="266.2167"/>
  <p:tag name="OUTPUTTYPE" val="PNG"/>
  <p:tag name="IGUANATEXVERSION" val="160"/>
  <p:tag name="LATEXADDIN" val="\documentclass{article}&#10;\usepackage{amsmath}&#10;\pagestyle{empty}&#10;\begin{document}&#10;&#10;$=R_g$&#10;&#10;&#10;\end{document}"/>
  <p:tag name="IGUANATEXSIZE" val="16"/>
  <p:tag name="IGUANATEXCURSOR" val="87"/>
  <p:tag name="TRANSPARENCY" val="Vrai"/>
  <p:tag name="FILENAME" val=""/>
  <p:tag name="LATEXENGINEID" val="0"/>
  <p:tag name="TEMPFOLDER" val="c:\temp\"/>
  <p:tag name="LATEXFORMHEIGHT" val="320"/>
  <p:tag name="LATEXFORMWIDTH" val="385"/>
  <p:tag name="LATEXFORMWRAP" val="Vrai"/>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103.4871"/>
  <p:tag name="ORIGINALWIDTH" val="290.2137"/>
  <p:tag name="OUTPUTTYPE" val="PNG"/>
  <p:tag name="IGUANATEXVERSION" val="160"/>
  <p:tag name="LATEXADDIN" val="\documentclass{article}&#10;\usepackage{amsmath}&#10;\pagestyle{empty}&#10;\begin{document}&#10;&#10;$=R_A$&#10;&#10;&#10;\end{document}"/>
  <p:tag name="IGUANATEXSIZE" val="16"/>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84.73937"/>
  <p:tag name="ORIGINALWIDTH" val="218.9726"/>
  <p:tag name="OUTPUTTYPE" val="PNG"/>
  <p:tag name="IGUANATEXVERSION" val="160"/>
  <p:tag name="LATEXADDIN" val="\documentclass{article}&#10;\usepackage{amsmath}&#10;\pagestyle{empty}&#10;\begin{document}&#10;&#10;$=P$&#10;&#10;&#10;\end{document}"/>
  <p:tag name="IGUANATEXSIZE" val="16"/>
  <p:tag name="IGUANATEXCURSOR" val="84"/>
  <p:tag name="TRANSPARENCY" val="Vrai"/>
  <p:tag name="FILENAME" val=""/>
  <p:tag name="LATEXENGINEID" val="0"/>
  <p:tag name="TEMPFOLDER" val="c:\temp\"/>
  <p:tag name="LATEXFORMHEIGHT" val="320"/>
  <p:tag name="LATEXFORMWIDTH" val="385"/>
  <p:tag name="LATEXFORMWRAP" val="Vrai"/>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74.24071"/>
  <p:tag name="ORIGINALWIDTH" val="555.6805"/>
  <p:tag name="OUTPUTTYPE" val="PNG"/>
  <p:tag name="IGUANATEXVERSION" val="160"/>
  <p:tag name="LATEXADDIN" val="\documentclass{article}&#10;\usepackage{amsmath}&#10;\pagestyle{empty}&#10;\begin{document}&#10;&#10;$n_{21}=n_{ext}$&#10;&#10;&#10;\end{document}"/>
  <p:tag name="IGUANATEXSIZE" val="20"/>
  <p:tag name="IGUANATEXCURSOR" val="96"/>
  <p:tag name="TRANSPARENCY" val="Vrai"/>
  <p:tag name="FILENAME" val=""/>
  <p:tag name="LATEXENGINEID" val="0"/>
  <p:tag name="TEMPFOLDER" val="c:\temp\"/>
  <p:tag name="LATEXFORMHEIGHT" val="320"/>
  <p:tag name="LATEXFORMWIDTH" val="385"/>
  <p:tag name="LATEXFORMWRAP" val="Vrai"/>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165.7293"/>
  <p:tag name="OUTPUTTYPE" val="PNG"/>
  <p:tag name="IGUANATEXVERSION" val="160"/>
  <p:tag name="LATEXADDIN" val="\documentclass{article}&#10;\usepackage{amsmath}&#10;\pagestyle{empty}&#10;\begin{document}&#10;&#10;$n_{12}$&#10;&#10;&#10;\end{document}"/>
  <p:tag name="IGUANATEXSIZE" val="20"/>
  <p:tag name="IGUANATEXCURSOR" val="88"/>
  <p:tag name="TRANSPARENCY" val="Vrai"/>
  <p:tag name="FILENAME" val=""/>
  <p:tag name="LATEXENGINEID" val="0"/>
  <p:tag name="TEMPFOLDER" val="c:\temp\"/>
  <p:tag name="LATEXFORMHEIGHT" val="320"/>
  <p:tag name="LATEXFORMWIDTH" val="385"/>
  <p:tag name="LATEXFORMWRAP" val="Vrai"/>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149.2313"/>
  <p:tag name="OUTPUTTYPE" val="PNG"/>
  <p:tag name="IGUANATEXVERSION" val="160"/>
  <p:tag name="LATEXADDIN" val="\documentclass{article}&#10;\usepackage{amsmath}&#10;\pagestyle{empty}&#10;\begin{document}&#10;&#10;&#10;$E_g''$&#10;&#10;\end{document}"/>
  <p:tag name="IGUANATEXSIZE" val="16"/>
  <p:tag name="IGUANATEXCURSOR" val="88"/>
  <p:tag name="TRANSPARENCY" val="Faux"/>
  <p:tag name="FILENAME" val=""/>
  <p:tag name="LATEXENGINEID" val="0"/>
  <p:tag name="TEMPFOLDER" val="c:\temp\"/>
  <p:tag name="LATEXFORMHEIGHT" val="320"/>
  <p:tag name="LATEXFORMWIDTH" val="385"/>
  <p:tag name="LATEXFORMWRAP" val="Vrai"/>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952.3809"/>
  <p:tag name="ORIGINALWIDTH" val="4288.714"/>
  <p:tag name="OUTPUTTYPE" val="PNG"/>
  <p:tag name="IGUANATEXVERSION" val="161"/>
  <p:tag name="LATEXADDIN" val="\documentclass{article}&#10;\usepackage{amsmath}&#10;\pagestyle{empty}&#10;\begin{document}&#10;&#10;Le rendement de conversion de l'énergie solaire en énergie électrique dans la couche de silicium,&#10;$\eta$, diminue avec l'augmentation de la température du silicium, $T_{si}$, et est donné par l'expression :&#10;\[&#10;\eta = a - b T_{si}, \quad \text{avec } a = 0.553 \text{ et } b = 0.001\,\mathrm{K}^{-1}.&#10;\]&#10;dans l'intervalle $300\,\mathrm{K} \le T_{si} \le 525\,\mathrm{K}$.&#10;&#10;&#10;\end{document}"/>
  <p:tag name="IGUANATEXSIZE" val="18"/>
  <p:tag name="IGUANATEXCURSOR" val="451"/>
  <p:tag name="TRANSPARENCY" val="Vrai"/>
  <p:tag name="FILENAME" val=""/>
  <p:tag name="LATEXENGINEID" val="0"/>
  <p:tag name="TEMPFOLDER" val="c:\temp\"/>
  <p:tag name="LATEXFORMHEIGHT" val="320"/>
  <p:tag name="LATEXFORMWIDTH" val="385"/>
  <p:tag name="LATEXFORMWRAP" val="Vrai"/>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 1200"/>
  <p:tag name="ORIGINALHEIGHT" val=" 829.3963"/>
  <p:tag name="ORIGINALWIDTH" val=" 3538.058"/>
  <p:tag name="OUTPUTTYPE" val="PNG"/>
  <p:tag name="IGUANATEXVERSION" val="162"/>
  <p:tag name="LATEXADDIN" val="\documentclass{article}&#10;\usepackage{amsmath}&#10;\pagestyle{empty}&#10;\begin{document}&#10;&#10;\[&#10;\left\{&#10;\begin{aligned}&#10;\frac{T_{si} - T_{g,\text{top}}}{R_a + R_g} +  0.1\, G_s A &amp;=  h A (T_{g,\text{top}} - T_\infty) + \varepsilon \sigma A \left( T_{g,\text{top}}^4 - T_{\text{sur}}^4 \right)  \\&#10;\\&#10;\frac{T_{si} - T_{g,\text{top}}}{R_a + R_g} &amp;=  0.83\, G_s A \left(1 - \eta(T_{si})\right)&#10;\end{aligned}&#10;\right.&#10;\]&#10;&#10;&#10;&#10;\end{document}"/>
  <p:tag name="IGUANATEXSIZE" val="20"/>
  <p:tag name="IGUANATEXCURSOR" val="403"/>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965.8793"/>
  <p:tag name="ORIGINALWIDTH" val="6185.227"/>
  <p:tag name="OUTPUTTYPE" val="PNG"/>
  <p:tag name="IGUANATEXVERSION" val="160"/>
  <p:tag name="LATEXADDIN" val="\documentclass{article}&#10;\usepackage{amsmath}&#10;\usepackage[paperwidth=25cm]{geometry}&#10;\pagestyle{empty}&#10;\begin{document}&#10;&#10;La résolution du système d'équations non-linéaires est effectuée avec la routine scipy.optimize. On obtient :&#10;$T_g^{top} = 305.6K$ et $T_{si} = 306.5K$ qui est bien dans l'intervalle $300\,\mathrm{K} \le T_{si} \le 525\,&#10;\mathrm{K}$.&#10;&#10;La puissance produite par le panneau est :&#10;$$&#10;P = 0.83 \; \eta(T_{si})\; G_s \; A = 14.3W &#10;$$&#10;avec $\eta(T_{si}) = 0.247$.&#10;\end{document}"/>
  <p:tag name="IGUANATEXSIZE" val="18"/>
  <p:tag name="IGUANATEXCURSOR" val="413"/>
  <p:tag name="TRANSPARENCY" val="Vrai"/>
  <p:tag name="FILENAME" val=""/>
  <p:tag name="LATEXENGINEID" val="0"/>
  <p:tag name="TEMPFOLDER" val="c:\temp\"/>
  <p:tag name="LATEXFORMHEIGHT" val="320"/>
  <p:tag name="LATEXFORMWIDTH" val="385"/>
  <p:tag name="LATEXFORMWRAP" val="Vrai"/>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405.6993"/>
  <p:tag name="ORIGINALWIDTH" val="4290.213"/>
  <p:tag name="OUTPUTTYPE" val="PNG"/>
  <p:tag name="IGUANATEXVERSION" val="161"/>
  <p:tag name="LATEXADDIN" val="\documentclass{article}&#10;\usepackage{amsmath}&#10;\pagestyle{empty}&#10;\begin{document}&#10;&#10;La résolution du système d'équations non-linéaires est effectuée avec la routine scipy.optimize. On obtient :&#10;$T_g^{top} = 305.6K$ et $T_{si} = 306.5K$ qui est bien dans l'intervalle $300\,\mathrm{K} \le T_{si} \le 525\,&#10;\mathrm{K}$.&#10;\end{document}"/>
  <p:tag name="IGUANATEXSIZE" val="18"/>
  <p:tag name="IGUANATEXCURSOR" val="314"/>
  <p:tag name="TRANSPARENCY" val="Vrai"/>
  <p:tag name="FILENAME" val=""/>
  <p:tag name="LATEXENGINEID" val="0"/>
  <p:tag name="TEMPFOLDER" val="c:\temp\"/>
  <p:tag name="LATEXFORMHEIGHT" val="320"/>
  <p:tag name="LATEXFORMWIDTH" val="385"/>
  <p:tag name="LATEXFORMWRAP" val="Vrai"/>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 1200"/>
  <p:tag name="ORIGINALHEIGHT" val=" 2411.698"/>
  <p:tag name="ORIGINALWIDTH" val=" 5346.082"/>
  <p:tag name="OUTPUTTYPE" val="PNG"/>
  <p:tag name="IGUANATEXVERSION" val="162"/>
  <p:tag name="LATEXADDIN" val="\documentclass{article}&#10;\pagestyle{empty}&#10;\usepackage{amsmath, amssymb, geometry, graphicx}&#10;\usepackage{physics}&#10;\usepackage{siunitx}&#10;\usepackage[french]{babel}&#10;&#10;\begin{document}&#10;&#10;\subsection*{Principe général de la méthode de Newton--Raphson}&#10;&#10;La méthode de Newton--Raphson est une méthode itérative permettant de résoudre un système d'équations non linéaires de la forme :&#10;\[&#10;\vb{F}(\vb{x}) = \vb{0}&#10;\]&#10;où \( \vb{F} : \mathbb{R}^n \to \mathbb{R}^n \) est une fonction vectorielle non linéaire, et \( \vb{x} \in \mathbb{R}^n \) est le vecteur des inconnues.&#10;&#10;L’idée est de linéariser \( \vb{F} \) autour d’une estimation \( \vb{x}^{(k)} \) à l’aide du développement de Taylor :&#10;\[&#10;\vb{F}(\vb{x}^{(k)} + \Delta \vb{x}) \approx \vb{F}(\vb{x}^{(k)}) + J(\vb{x}^{(k)}) \, \Delta \vb{x}&#10;\]&#10;où \( J(\vb{x}^{(k)}) \) est le Jacobien de \( \vb{F} \) en \( \vb{x}^{(k)} \).&#10;&#10;En imposant \( \vb{F}(\vb{x}^{(k)} + \Delta \vb{x}) = 0 \), on obtient le système linéaire :&#10;\[&#10;J(\vb{x}^{(k)}) \, \Delta \vb{x} = -\vb{F}(\vb{x}^{(k)})&#10;\]&#10;puis on met à jour la solution :&#10;\[&#10;\vb{x}^{(k+1)} = \vb{x}^{(k)} + \Delta \vb{x}&#10;\]&#10;&#10;&#10;\end{document}"/>
  <p:tag name="IGUANATEXSIZE" val="18"/>
  <p:tag name="IGUANATEXCURSOR" val="1109"/>
  <p:tag name="TRANSPARENCY" val="Vrai"/>
  <p:tag name="CHOOSECOLOR" val="Faux"/>
  <p:tag name="COLORHEX" val="000000"/>
  <p:tag name="FILENAME" val=""/>
  <p:tag name="LATEXENGINEID" val="0"/>
  <p:tag name="TEMPFOLDER" val="c:\temp\"/>
  <p:tag name="LATEXFORMHEIGHT" val=" 432"/>
  <p:tag name="LATEXFORMWIDTH" val=" 774"/>
  <p:tag name="LATEXFORMWRAP" val="Vrai"/>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 1200"/>
  <p:tag name="ORIGINALHEIGHT" val=" 2995.126"/>
  <p:tag name="ORIGINALWIDTH" val=" 4575.928"/>
  <p:tag name="OUTPUTTYPE" val="PNG"/>
  <p:tag name="IGUANATEXVERSION" val="162"/>
  <p:tag name="LATEXADDIN" val="\documentclass{article}&#10;\pagestyle{empty}&#10;\usepackage{amsmath, amssymb, geometry, graphicx}&#10;\usepackage{physics}&#10;\usepackage{siunitx}&#10;\usepackage[french]{babel}&#10;&#10;\begin{document}&#10;&#10;\subsection*{Application au cas traité}&#10;&#10;Le système d'équations s’écrit :&#10;\[&#10;\begin{cases}&#10;f_1(T_{\mathrm{g}}, T_{\mathrm{si}}) = \dfrac{T_{\mathrm{si}} - T_{\mathrm{g}}}{R_a + R_g} - hA(T_{\mathrm{g}} - T_\infty) - \varepsilon \sigma A (T_{\mathrm{g}}^4 - T_{\mathrm{sur}}^4) + 0.1 G_s A = 0 \\&#10;f_2(T_{\mathrm{g}}, T_{\mathrm{si}}) = \dfrac{T_{\mathrm{si}} - T_{\mathrm{g}}}{R_a + R_g} - 0.83 G_s A \left(1 - \eta(T_{\mathrm{si}})\right) = 0&#10;\end{cases}&#10;\]&#10;avec \( \eta(T) = a-b \; T = 0.553 - 10^{-3} T \) le rendement.&#10;&#10;\subsection*{Jacobien analytique}&#10;&#10;Le Jacobien du système est une matrice \( 2\times 2 \) dont \\les coefficients sont calculés analytiquement :&#10;&#10;\[&#10;J = \begin{bmatrix}&#10;\displaystyle \frac{\partial f_1}{\partial T_{\mathrm{g}}} &amp; \displaystyle \frac{\partial f_1}{\partial T_{\mathrm{si}}} \\&#10;\displaystyle \frac{\partial f_2}{\partial T_{\mathrm{g}}} &amp; \displaystyle \frac{\partial f_2}{\partial T_{\mathrm{si}}}&#10;\end{bmatrix}&#10;\]&#10;&#10;On obtient :&#10;&#10;\end{document}"/>
  <p:tag name="IGUANATEXSIZE" val="18"/>
  <p:tag name="IGUANATEXCURSOR" val="658"/>
  <p:tag name="TRANSPARENCY" val="Vrai"/>
  <p:tag name="CHOOSECOLOR" val="Faux"/>
  <p:tag name="COLORHEX" val="000000"/>
  <p:tag name="FILENAME" val=""/>
  <p:tag name="LATEXENGINEID" val="0"/>
  <p:tag name="TEMPFOLDER" val="c:\temp\"/>
  <p:tag name="LATEXFORMHEIGHT" val=" 548.4"/>
  <p:tag name="LATEXFORMWIDTH" val=" 801.6"/>
  <p:tag name="LATEXFORMWRAP" val="Vrai"/>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 1200"/>
  <p:tag name="ORIGINALHEIGHT" val=" 1519.31"/>
  <p:tag name="ORIGINALWIDTH" val=" 2499.438"/>
  <p:tag name="OUTPUTTYPE" val="PNG"/>
  <p:tag name="IGUANATEXVERSION" val="162"/>
  <p:tag name="LATEXADDIN" val="\documentclass{article}&#10;\usepackage{amsmath, amssymb, geometry, graphicx}&#10;\usepackage{physics}&#10;\usepackage{siunitx}&#10;\usepackage[french]{babel}&#10;\pagestyle{empty}&#10;\begin{document}&#10;&#10;&#10;L’algorithme s’exécute comme suit :&#10;&#10;\begin{enumerate}&#10;  \item Initialiser \( \vb{x}^{(0)} = (T_{\mathrm{g}}^{(0)}, T_{\mathrm{si}}^{(0)}) \)&#10;  \item À chaque itération \( k \) :&#10;  \begin{enumerate}&#10;    \item Calculer \( \vb{F}(\vb{x}^{(k)}) \)&#10;    \item Calculer \( J(\vb{x}^{(k)}) \)&#10;    \item Résoudre \( J \Delta \vb{x} = -\vb{F} \)&#10;    \item Mettre à jour \( \vb{x}^{(k+1)} = \vb{x}^{(k)} + \Delta \vb{x} \)&#10;    \item Tester la convergence sur \( \norm{\vb{F}} \) ou \( \norm{\Delta \vb{x}} \)&#10;  \end{enumerate}&#10;\end{enumerate}&#10;&#10;&#10;\end{document}"/>
  <p:tag name="IGUANATEXSIZE" val="18"/>
  <p:tag name="IGUANATEXCURSOR" val="142"/>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 1200"/>
  <p:tag name="ORIGINALHEIGHT" val=" 574.4282"/>
  <p:tag name="ORIGINALWIDTH" val=" 3229.846"/>
  <p:tag name="OUTPUTTYPE" val="PNG"/>
  <p:tag name="IGUANATEXVERSION" val="162"/>
  <p:tag name="LATEXADDIN" val="\documentclass{article}&#10;\pagestyle{empty}&#10;\usepackage{amsmath, amssymb, geometry, graphicx}&#10;\usepackage{physics}&#10;\usepackage{siunitx}&#10;\usepackage[french]{babel}&#10;&#10;\begin{document}&#10;&#10;\[&#10;J = \begin{bmatrix}&#10;\displaystyle -\frac{1}{R_a + R_g} - hA - 4 \varepsilon \sigma A T_{\mathrm{g}}^3 &amp; &#10;\displaystyle \frac{1}{R_a + R_g} \\&#10;\displaystyle -\frac{1}{R_a + R_g} &amp; &#10;\displaystyle \frac{1}{R_a + R_g} - 0.83 G_s A \cdot b&#10;\end{bmatrix}&#10;\]&#10;&#10;\end{document}"/>
  <p:tag name="IGUANATEXSIZE" val="16"/>
  <p:tag name="IGUANATEXCURSOR" val="417"/>
  <p:tag name="TRANSPARENCY" val="Vrai"/>
  <p:tag name="CHOOSECOLOR" val="Faux"/>
  <p:tag name="COLORHEX" val="000000"/>
  <p:tag name="FILENAME" val=""/>
  <p:tag name="LATEXENGINEID" val="0"/>
  <p:tag name="TEMPFOLDER" val="c:\temp\"/>
  <p:tag name="LATEXFORMHEIGHT" val=" 548.4"/>
  <p:tag name="LATEXFORMWIDTH" val=" 801.6"/>
  <p:tag name="LATEXFORMWRAP" val="Vrai"/>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2965.129"/>
  <p:tag name="ORIGINALWIDTH" val="3724.784"/>
  <p:tag name="OUTPUTTYPE" val="PNG"/>
  <p:tag name="IGUANATEXVERSION" val="160"/>
  <p:tag name="LATEXADDIN" val="\documentclass{article}&#10;\usepackage{amsmath, amssymb, siunitx}&#10;\usepackage[french]{babel}&#10;\usepackage{bm} % Pour les vecteurs en gras&#10;\usepackage[paperwidth=15cm]{geometry}&#10;\pagestyle{empty}&#10;&#10;\begin{document}&#10;&#10;\subsubsection*{Estimation numérique de la Jacobienne}&#10;\[&#10;J = \begin{bmatrix}&#10;\displaystyle \frac{\partial f_1}{\partial T_{\mathrm{g}}} &amp; \displaystyle \frac{\partial f_1}{\partial T_{\mathrm{si}}} \\&#10;\displaystyle \frac{\partial f_2}{\partial T_{\mathrm{g}}} &amp; \displaystyle \frac{\partial f_2}{\partial T_{\mathrm{si}}}&#10;\end{bmatrix}&#10;\]&#10;Lorsque les dérivées analytiques sont difficiles à calculer, on peut approximer numériquement le Jacobien par la méthodes des \textbf{différences finies centrées}, donnée par :&#10;&#10;\[&#10;\frac{\partial f_i}{\partial T_g} = \frac{f_i(T_g+h, T_{si}) - f_i(T_g-h, T_{si})}{2h}&#10;+\vartheta(h^2)&#10;\]&#10;et&#10;\[&#10;\frac{\partial f_i}{\partial T_{si}} = \frac{f_i(T_g, T_{si}+h) - f_i(T_g, T_{si}-h)}{2h}&#10;+\vartheta(h^2)&#10;\]&#10;&#10;où :&#10;\begin{itemize}&#10;\item $i \in \{1, 2\}$,&#10;  \item $h$ est un petit incrément de l'ordre de $10^{-6}$ ,&#10;  \item le calcul est fait composante par composante, ligne par ligne.&#10;\end{itemize}&#10;&#10;&#10;&#10;\end{document}"/>
  <p:tag name="IGUANATEXSIZE" val="16"/>
  <p:tag name="IGUANATEXCURSOR" val="1056"/>
  <p:tag name="TRANSPARENCY" val="Vrai"/>
  <p:tag name="FILENAME" val=""/>
  <p:tag name="LATEXENGINEID" val="0"/>
  <p:tag name="TEMPFOLDER" val="c:\temp\"/>
  <p:tag name="LATEXFORMHEIGHT" val="467.4"/>
  <p:tag name="LATEXFORMWIDTH" val="385"/>
  <p:tag name="LATEXFORMWRAP" val="Vrai"/>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3908.511"/>
  <p:tag name="OUTPUTTYPE" val="PNG"/>
  <p:tag name="IGUANATEXVERSION" val="160"/>
  <p:tag name="LATEXADDIN" val="\documentclass{article}&#10;\usepackage{amsmath}&#10;\pagestyle{empty}&#10;\begin{document}&#10;&#10;\subsection*{Estimation des erreurs sur les températures calculées}&#10;&#10;&#10;\end{document}"/>
  <p:tag name="IGUANATEXSIZE" val="18"/>
  <p:tag name="IGUANATEXCURSOR" val="148"/>
  <p:tag name="TRANSPARENCY" val="Vrai"/>
  <p:tag name="FILENAME" val=""/>
  <p:tag name="LATEXENGINEID" val="0"/>
  <p:tag name="TEMPFOLDER" val="c:\temp\"/>
  <p:tag name="LATEXFORMHEIGHT" val="320"/>
  <p:tag name="LATEXFORMWIDTH" val="385"/>
  <p:tag name="LATEXFORMWRAP" val="Vrai"/>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3247.844"/>
  <p:tag name="ORIGINALWIDTH" val="4298.463"/>
  <p:tag name="OUTPUTTYPE" val="PNG"/>
  <p:tag name="IGUANATEXVERSION" val="160"/>
  <p:tag name="LATEXADDIN" val="\documentclass{article}&#10;\usepackage{amsmath}&#10;\usepackage{siunitx}&#10;\usepackage{xcolor}&#10;\pagestyle{empty}&#10;\begin{document}&#10;&#10;La conductivité thermique d’un nanotube de carbone de diamètre \( D = \SI{14}{\nano\meter} \) est mesurée à l’aide d’un dispositif fabriqué à partir d’une plaque de nitrure de silicium, à une température \( T_\infty = \SI{300}{\kelvin} \).&#10;&#10;Le nanotube, de longueur \( \SI{20}{\micro\meter} \), repose sur deux îlots carrés de \( \SI{10}{\micro\meter} \times \SI{10}{\micro\meter} \), d’épaisseur \( \SI{0.5}{\micro\meter} \), séparés par une distance \( s = \SI{5}{\micro\meter} \).&#10;&#10;{\color{red} Une fine couche de platine est utilisée comme résistance électrique sur l’îlot chauffé (à la température \( T_h \)) pour dissiper une puissance électrique \( q = \SI{11.3}{\micro\watt} \).}&#10;&#10;Sur l’îlot de détection, une couche similaire de platine est utilisée pour déterminer sa température \( T_s \). La résistance électrique du platine, notée \( R(T_s) = E/I \), est obtenue en mesurant la chute de tension et le courant électrique à travers la couche de platine. La température de l’îlot de détection \( T_s \) est ensuite déterminée grâce à la relation entre la résistance électrique du platine et sa température.&#10;&#10;Chaque îlot est suspendu par deux poutres de nitrure de silicium de longueur \( L_{\text{sn}} = \SI{250}{\micro\meter} \), largeur \( w_{\text{sn}} = \SI{3}{\micro\meter} \), et épaisseur \( t_{\text{sn}} = \SI{0.5}{\micro\meter} \).&#10;&#10;Une ligne de platine de largeur \( w_{\text{pt}} = \SI{1}{\micro\meter} \) et d’épaisseur \( t_{\text{pt}} = \SI{0.2}{\micro\meter} \) est déposée à l’intérieur de chaque poutre de nitrure de silicium pour alimenter l’îlot chauffé ou détecter la chute de tension associée à la mesure de \( T_s \).&#10;&#10;L’expérience entière est réalisée sous vide, avec une température ambiante \( T_\infty = \SI{300}{\kelvin} \), et en régime permanent, avec \( T_s = \SI{308.4}{\kelvin} \).&#10;&#10;\bigskip&#10;&#10;Estimez la conductivité thermique du nanotube de carbone.&#10;\end{document}"/>
  <p:tag name="IGUANATEXSIZE" val="18"/>
  <p:tag name="IGUANATEXCURSOR" val="1860"/>
  <p:tag name="TRANSPARENCY" val="Vrai"/>
  <p:tag name="FILENAME" val=""/>
  <p:tag name="LATEXENGINEID" val="0"/>
  <p:tag name="TEMPFOLDER" val="c:\temp\"/>
  <p:tag name="LATEXFORMHEIGHT" val="469.8"/>
  <p:tag name="LATEXFORMWIDTH" val="818.4"/>
  <p:tag name="LATEXFORMWRAP" val="Vrai"/>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2104.987"/>
  <p:tag name="ORIGINALWIDTH" val="4379.453"/>
  <p:tag name="OUTPUTTYPE" val="PNG"/>
  <p:tag name="IGUANATEXVERSION" val="161"/>
  <p:tag name="LATEXADDIN" val="\documentclass{article}&#10;\usepackage{amsmath}&#10;\pagestyle{empty}&#10;\begin{document}&#10;&#10;&#10;\textbf{Hypothèses~:}&#10;\begin{enumerate}&#10;    \item Régime permanent.&#10;    \item Transfert de chaleur unidimensionnel.&#10;    \item Les îlots chauffant et de détection sont isothermes.&#10;    \item Les échanges radiatifs entre les surfaces et leur environnement sont négligeables.&#10;    \item Les pertes par convection sont négligeables.&#10;    \item L’effet Joule dans les lignes de platine servant à la mesure est négligeable.&#10;    \item Les propriétés thermophysiques sont constantes.&#10;    \item La résistance thermique de contact entre le nanotube et les îlots est négligeable.&#10;\end{enumerate}&#10;&#10;\end{document}"/>
  <p:tag name="IGUANATEXSIZE" val="18"/>
  <p:tag name="IGUANATEXCURSOR" val="665"/>
  <p:tag name="TRANSPARENCY" val="Vrai"/>
  <p:tag name="FILENAME" val=""/>
  <p:tag name="LATEXENGINEID" val="0"/>
  <p:tag name="TEMPFOLDER" val="c:\temp\"/>
  <p:tag name="LATEXFORMHEIGHT" val="320"/>
  <p:tag name="LATEXFORMWIDTH" val="773.4"/>
  <p:tag name="LATEXFORMWRAP" val="Vrai"/>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 1200"/>
  <p:tag name="ORIGINALHEIGHT" val=" 611.1736"/>
  <p:tag name="ORIGINALWIDTH" val=" 3678.29"/>
  <p:tag name="OUTPUTTYPE" val="PNG"/>
  <p:tag name="IGUANATEXVERSION" val="162"/>
  <p:tag name="LATEXADDIN" val="\documentclass{article}&#10;\usepackage{amsmath}&#10;\usepackage{siunitx}&#10;\sisetup{locale=US}&#10;&#10;\pagestyle{empty}&#10;\begin{document}&#10;&#10;\textbf{Conductivités thermiques (température supposée : \SI{325}{\kelvin})~:}&#10;\begin{itemize}&#10;    \item \textbf{Platine} : \( k_{\text{pt}} = \SI{71.6}{\watt\per\meter\per\kelvin} \)&#10;    \item \textbf{Nitrure de silicium} : \( k_{\text{sn}} = \SI{15.5}{\watt\per\meter\per\kelvin} \)&#10;\end{itemize}&#10;&#10;&#10;\end{document}"/>
  <p:tag name="IGUANATEXSIZE" val="18"/>
  <p:tag name="IGUANATEXCURSOR" val="84"/>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611.1736"/>
  <p:tag name="ORIGINALWIDTH" val="3505.062"/>
  <p:tag name="OUTPUTTYPE" val="PNG"/>
  <p:tag name="IGUANATEXVERSION" val="161"/>
  <p:tag name="LATEXADDIN" val="\documentclass{article}&#10;\usepackage{amsmath}&#10;\pagestyle{empty}&#10;\begin{document}&#10;&#10;&#10;L’énergie thermique est conduite depuis l’îlot chauffé à la fois :&#10;\begin{itemize}&#10;    \item à travers les deux poutres de support de l’îlot chauffé,&#10;    \item et à travers le nanotube de carbone jusqu’à l’îlot de détection.&#10;\end{itemize}&#10;&#10;\end{document}"/>
  <p:tag name="IGUANATEXSIZE" val="20"/>
  <p:tag name="IGUANATEXCURSOR" val="320"/>
  <p:tag name="TRANSPARENCY" val="Vrai"/>
  <p:tag name="FILENAME" val=""/>
  <p:tag name="LATEXENGINEID" val="0"/>
  <p:tag name="TEMPFOLDER" val="c:\temp\"/>
  <p:tag name="LATEXFORMHEIGHT" val="320"/>
  <p:tag name="LATEXFORMWIDTH" val="385"/>
  <p:tag name="LATEXFORMWRAP" val="Vrai"/>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3370.829"/>
  <p:tag name="ORIGINALWIDTH" val="4953.881"/>
  <p:tag name="OUTPUTTYPE" val="PNG"/>
  <p:tag name="IGUANATEXVERSION" val="160"/>
  <p:tag name="LATEXADDIN" val="\documentclass{article}&#10;\usepackage{amsmath}&#10;\pagestyle{empty}&#10;\usepackage[paperwidth=20cm]{geometry}&#10;\begin{document}&#10;&#10;où chaque poutre de support fournit une résistance thermique $R_{t,\text{sup}}$ qui est composée d'une résistance due au nitrure de silicium (sn) en parallèle avec une résistance due à la ligne de platine (pt).&#10;&#10;Les aires de section transversale des matériaux dans les poutres de support sont :&#10;&#10;\begin{align}&#10;A_{\text{pt}} &amp;= w_{\text{pt}} t_{\text{pt}} = (1 \times 10^{-6} \text{ m}) \times (0{,}2 \times 10^{-6} \text{ m}) = 2 \times 10^{-13} \text{ m}^2 \\&#10;A_{\text{sn}} &amp;= w_{\text{sn}} t_{\text{sn}} - A_{\text{pt}} = (3 \times 10^{-6} \text{ m}) \times (0{,}5 \times 10^{-6} \text{ m}) - 2 \times 10^{-13} \text{ m}^2 = 1.3 \times 10^{-12} \text{ m}^2&#10;\end{align}&#10;&#10;tandis que l'aire de section transversale du nanotube de carbone est :&#10;&#10;\begin{equation}&#10;A_{\text{cn}} = \pi D^2/4 = \pi (14 \times 10^{-9} \text{ m})^2/4 = 1.54 \times 10^{-16} \text{ m}^2&#10;\end{equation}&#10;&#10;La résistance thermique de chaque support est :&#10;\begin{equation}&#10;R_{t,\text{sup}} = \left[\frac{1}{R_\text{pt}} + \frac{1}{R_\text{sn}} \right]^{-1} = \left[ \frac{k_{\text{pt}} A_{\text{pt}}}{L_{\text{pt}}} + \frac{k_{\text{sn}} A_{\text{sn}}}{L_{\text{sn}}} \right]^{-1}&#10;\end{equation}&#10;&#10;\begin{equation}&#10;= \left[ \frac{71.6 \text{ W/m} \cdot \text{K} \times 2 \times 10^{-13} \text{ m}^2}{250 \times 10^{-6} \text{ m}} + \frac{15.5 \text{ W/m} \cdot \text{K} \times 1{,}3 \times 10^{-12} \text{ m}^2}{250 \times 10^{-6} \text{ m}} \right]^{-1}&#10;\end{equation}&#10;&#10;\begin{equation}&#10;= 7.25 \times 10^{6} \text{ K/W}&#10;\end{equation}&#10;&#10;\end{document}"/>
  <p:tag name="IGUANATEXSIZE" val="18"/>
  <p:tag name="IGUANATEXCURSOR" val="1596"/>
  <p:tag name="TRANSPARENCY" val="Vrai"/>
  <p:tag name="FILENAME" val=""/>
  <p:tag name="LATEXENGINEID" val="0"/>
  <p:tag name="TEMPFOLDER" val="c:\temp\"/>
  <p:tag name="LATEXFORMHEIGHT" val="471"/>
  <p:tag name="LATEXFORMWIDTH" val="818.4"/>
  <p:tag name="LATEXFORMWRAP" val="Vrai"/>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3044.619"/>
  <p:tag name="ORIGINALWIDTH" val="5696.288"/>
  <p:tag name="OUTPUTTYPE" val="PNG"/>
  <p:tag name="IGUANATEXVERSION" val="160"/>
  <p:tag name="LATEXADDIN" val="\documentclass{article}&#10;\usepackage{amsmath}&#10;\usepackage{xcolor}&#10;\pagestyle{empty}&#10;\usepackage[paperwidth=23cm]{geometry}&#10;\begin{document}&#10;&#10;Le taux combiné de perte de chaleur à travers les deux supports de l'îlot de détection est :&#10;&#10;\begin{equation}&#10;q_s = 2(T_s - T_{\infty})/R_{t,\text{sup}} &#10;\end{equation}&#10;&#10;En utilisant l'équation 1 et en notant que $q_h = q - q_s = 2(T_h - T_{\infty})/R_{t,\text{sup}}$, la considération du circuit thermique reliant $T_h$ et $T_{\infty}$ conduit à la relation :&#10;&#10;\begin{equation}&#10;T_h = T_{\infty} + \frac{1}{2} q_h R_{t,\text{sup}} = T_{\infty} + \frac{1}{2} qR_{t,\text{sup}} - (T_s - T_{\infty}) \tag{2}&#10;\end{equation}&#10;&#10;À partir de la portion du circuit reliant $T_h$ et $T_s$, $q_s = \dfrac{T_h - T_s}{s/(k_{\text{cn}}A_{\text{cn}})}$, qui peut être combinée avec les équations 1 et 2 pour donner :&#10;&#10;\begin{align}&#10;k_{\text{cn}} &amp;= \frac{q_s s}{A_{\text{cn}} (T_h - T_s)} = \frac{2(T_s - T_{\infty}) s/R_{t,\text{sup}}}{A_{\text{cn}} \left( \frac{1}{2} q R_{t,\text{sup}} - 2(T_s - T_{\infty}) \right)} \\[10pt]&#10;&amp;= \frac{2 \times (308.4 \text{ K} - 300 \text{ K}) \times 5 \times 10^{-6} \text{ m}/7.25 \times 10^{6} \text{ K/W}}{1.54 \times 10^{-16} \text{ m}^2 \times \left( \frac{1}{2} \times 11.3 \times 10^{-6} \text{ W} \times 7.25 \times 10^{6} \text{ K/W} - 2 \times (308.4 \text{ K} - 300 \text{ K}) \right)}&#10;\end{align}&#10;&#10;$$k_{\text{cn}} = 3113 \text{ W m}^{-1} \text{K}^{-1}$$&#10;&#10;\end{document}"/>
  <p:tag name="IGUANATEXSIZE" val="18"/>
  <p:tag name="IGUANATEXCURSOR" val="1413"/>
  <p:tag name="TRANSPARENCY" val="Vrai"/>
  <p:tag name="FILENAME" val=""/>
  <p:tag name="LATEXENGINEID" val="0"/>
  <p:tag name="TEMPFOLDER" val="c:\temp\"/>
  <p:tag name="LATEXFORMHEIGHT" val="471"/>
  <p:tag name="LATEXFORMWIDTH" val="818.4"/>
  <p:tag name="LATEXFORMWRAP" val="Vrai"/>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 1200"/>
  <p:tag name="ORIGINALHEIGHT" val=" 1305.587"/>
  <p:tag name="ORIGINALWIDTH" val=" 5701.537"/>
  <p:tag name="OUTPUTTYPE" val="PNG"/>
  <p:tag name="IGUANATEXVERSION" val="162"/>
  <p:tag name="LATEXADDIN" val="\documentclass{article}&#10;\usepackage{amsmath}&#10;\usepackage{xcolor}&#10;\pagestyle{empty}&#10;\usepackage[paperwidth=23cm]{geometry}&#10;\begin{document}&#10;&#10;\textcolor{red}{\textbf{Commentaires :}}&#10;&#10;\textbf{1.} La conductivité thermique mesurée est extrêmement élevée, comme le montre la comparaison de sa valeur aux conductivités thermiques des métaux purs présentées sur la Figure ci-dessous. \\\\&#10;&#10;\textbf{2.} Les résistances de contact entre le nanotube de carbone et les îlots chauffé et de détection ont été négligées car peu de choses sont connues sur de telles résistances à l'échelle nanométrique. Cependant, \textit{si} une résistance de contact était incluse dans l'analyse, la conductivité thermique mesurée du nanotube de carbone serait encore plus élevée que la valeur prédite.&#10;&#10;\end{document}"/>
  <p:tag name="IGUANATEXSIZE" val="18"/>
  <p:tag name="IGUANATEXCURSOR" val="382"/>
  <p:tag name="TRANSPARENCY" val="Vrai"/>
  <p:tag name="CHOOSECOLOR" val="Faux"/>
  <p:tag name="COLORHEX" val="000000"/>
  <p:tag name="FILENAME" val=""/>
  <p:tag name="LATEXENGINEID" val="0"/>
  <p:tag name="TEMPFOLDER" val="c:\temp\"/>
  <p:tag name="LATEXFORMHEIGHT" val=" 471"/>
  <p:tag name="LATEXFORMWIDTH" val=" 818.4"/>
  <p:tag name="LATEXFORMWRAP" val="Vrai"/>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 1200"/>
  <p:tag name="ORIGINALHEIGHT" val=" 1176.603"/>
  <p:tag name="ORIGINALWIDTH" val=" 3037.12"/>
  <p:tag name="OUTPUTTYPE" val="PNG"/>
  <p:tag name="IGUANATEXVERSION" val="162"/>
  <p:tag name="LATEXADDIN" val="\documentclass{article}&#10;\usepackage{amsmath}&#10;\usepackage{xcolor}&#10;\pagestyle{empty}&#10;\usepackage[paperwidth=12cm]{geometry}&#10;\begin{document}&#10;&#10;\textbf{3.} L'importance du transfert de chaleur par rayonnement peut être estimée en approximant l'îlot chauffé comme un corps noir rayonnant vers $T_{\text{sur}}$ à partir de ses surfaces supérieure et inférieure. À partir de l'expression pour $T_h$ ci-dessus, $T_h = 332.6$ K. Par conséquent, $q_{\text{rad},b} \approx 5.67 \times 10^{-8} \text{ W/m}^2 \cdot \text{K}^4 \times 2 \times (10 \times 10^{-6} \text{ m})^2 \times (332.6^4 - 300^4)\text{K}^4 = 4.7 \times 10^{-8} \text{ W} = 0.047 \, \mu\text{W}$, et le rayonnement est négligeable.&#10;&#10;\end{document}"/>
  <p:tag name="IGUANATEXSIZE" val="18"/>
  <p:tag name="IGUANATEXCURSOR" val="108"/>
  <p:tag name="TRANSPARENCY" val="Vrai"/>
  <p:tag name="CHOOSECOLOR" val="Faux"/>
  <p:tag name="COLORHEX" val="000000"/>
  <p:tag name="FILENAME" val=""/>
  <p:tag name="LATEXENGINEID" val="0"/>
  <p:tag name="TEMPFOLDER" val="c:\temp\"/>
  <p:tag name="LATEXFORMHEIGHT" val=" 471"/>
  <p:tag name="LATEXFORMWIDTH" val=" 818.4"/>
  <p:tag name="LATEXFORMWRAP" val="Vrai"/>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1553.056"/>
  <p:tag name="ORIGINALWIDTH" val="4956.13"/>
  <p:tag name="OUTPUTTYPE" val="PNG"/>
  <p:tag name="IGUANATEXVERSION" val="160"/>
  <p:tag name="LATEXADDIN" val="\documentclass{article}&#10;\usepackage{amsmath}&#10;\usepackage{amssymb}&#10;\pagestyle{empty}&#10;\usepackage[paperwidth=20cm]{geometry}&#10;\usepackage{siunitx}&#10;&#10;\begin{document}&#10;&#10;\subsection*{Analyse Thermique d'un Transistor de Puissance}&#10;&#10;Considérons un transistor de puissance encapsulé dans un boîtier en aluminium qui est fixé à sa base sur une plaque carrée en aluminium de conductivité thermique $k = \SI{240}{\watt\per\meter\per\kelvin}$. L'épaisseur est $L = \SI{5}{\milli\meter}$, la profondeur et la largeur sont $W = \SI{24}{\milli\meter}$. Le boîtier est joint à la plaque par des vis qui maintiennent une pression de contact de $\SI{1}{\bar}$, et la surface arrière de la plaque transfère la chaleur par convection naturelle et rayonnement vers l'air ambiant et les grandes surfaces environnantes à $T_\infty = T_{\text{sur}} = \SI{30}{\celsius}$. La surface a une émissivité de $\varepsilon = 0.9$, et le coefficient de convection est $h = \SI{8}{\watt\per\meter\squared\per\kelvin}$. Le boîtier est complètement fermé de sorte que le transfert de chaleur peut être supposé se produire exclusivement à travers la plaque de base.&#10;&#10;&#10;\end{document}"/>
  <p:tag name="IGUANATEXSIZE" val="18"/>
  <p:tag name="IGUANATEXCURSOR" val="894"/>
  <p:tag name="TRANSPARENCY" val="Vrai"/>
  <p:tag name="FILENAME" val=""/>
  <p:tag name="LATEXENGINEID" val="0"/>
  <p:tag name="TEMPFOLDER" val="c:\temp\"/>
  <p:tag name="LATEXFORMHEIGHT" val="421.2"/>
  <p:tag name="LATEXFORMWIDTH" val="818.4"/>
  <p:tag name="LATEXFORMWRAP" val="Vrai"/>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 1200"/>
  <p:tag name="ORIGINALHEIGHT" val=" 1164.604"/>
  <p:tag name="ORIGINALWIDTH" val=" 3807.274"/>
  <p:tag name="OUTPUTTYPE" val="PNG"/>
  <p:tag name="IGUANATEXVERSION" val="162"/>
  <p:tag name="LATEXADDIN" val="\documentclass{article}&#10;\usepackage{amsmath}&#10;\usepackage{amssymb}&#10;\pagestyle{empty}&#10;\usepackage[paperwidth=15cm]{geometry}&#10;\usepackage{siunitx}&#10;&#10;\begin{document}&#10;&#10;(a) Si l'interface aluminium-aluminium remplie d'air est caractérisée par une aire de $A_c = 2 \times 10^{-4}$ m$^2$ et une rugosité de $\SI{10}{\micro\meter}$, quelle est la dissipation de puissance maximale admissible si la température de surface du boîtier, $T_{s,c}$, ne doit pas dépasser $\SI{85}{\celsius}$ ? \\&#10;&#10;&#10;(b) Le coefficient de convection peut être augmenté en soumettant la surface de la plaque à un écoulement forcé d'air. Explorez l'effet de la variation du coefficient sur la plage $4 \leq h \leq \SI{200}{\watt\per\meter\squared\per\kelvin}$.&#10;&#10;&#10;\end{document}"/>
  <p:tag name="IGUANATEXSIZE" val="18"/>
  <p:tag name="IGUANATEXCURSOR" val="480"/>
  <p:tag name="TRANSPARENCY" val="Vrai"/>
  <p:tag name="CHOOSECOLOR" val="Faux"/>
  <p:tag name="COLORHEX" val="000000"/>
  <p:tag name="FILENAME" val=""/>
  <p:tag name="LATEXENGINEID" val="0"/>
  <p:tag name="TEMPFOLDER" val="c:\temp\"/>
  <p:tag name="LATEXFORMHEIGHT" val=" 421.2"/>
  <p:tag name="LATEXFORMWIDTH" val=" 818.4"/>
  <p:tag name="LATEXFORMWRAP" val="Vrai"/>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 1200"/>
  <p:tag name="ORIGINALHEIGHT" val=" 284.9644"/>
  <p:tag name="ORIGINALWIDTH" val=" 3726.284"/>
  <p:tag name="OUTPUTTYPE" val="PNG"/>
  <p:tag name="IGUANATEXVERSION" val="162"/>
  <p:tag name="LATEXADDIN" val="\documentclass{article}&#10;\usepackage{amsmath}&#10;\usepackage{amssymb}&#10;\pagestyle{empty}&#10;\usepackage[paperwidth=23cm]{geometry}&#10;\usepackage{siunitx}&#10;&#10;\begin{document}&#10;&#10;Interface aluminium-aluminium, remplie d'air, rugosité de $\SI{10}{\micro\meter}$, \\ $R''_{t,c} = 2.75 \times 10^{-4}$ m$^2 \cdot$K / W. \\&#10;&#10;\end{document}"/>
  <p:tag name="IGUANATEXSIZE" val="18"/>
  <p:tag name="IGUANATEXCURSOR" val="235"/>
  <p:tag name="TRANSPARENCY" val="Vrai"/>
  <p:tag name="CHOOSECOLOR" val="Faux"/>
  <p:tag name="COLORHEX" val="000000"/>
  <p:tag name="FILENAME" val=""/>
  <p:tag name="LATEXENGINEID" val="0"/>
  <p:tag name="TEMPFOLDER" val="c:\temp\"/>
  <p:tag name="LATEXFORMHEIGHT" val=" 421.2"/>
  <p:tag name="LATEXFORMWIDTH" val=" 818.4"/>
  <p:tag name="LATEXFORMWRAP" val="Vrai"/>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 1200"/>
  <p:tag name="ORIGINALHEIGHT" val=" 2265.467"/>
  <p:tag name="ORIGINALWIDTH" val=" 4947.132"/>
  <p:tag name="OUTPUTTYPE" val="PNG"/>
  <p:tag name="IGUANATEXVERSION" val="162"/>
  <p:tag name="LATEXADDIN" val="\documentclass{article}&#10;\usepackage{amsmath}&#10;\usepackage{amssymb}&#10;\pagestyle{empty}&#10;\usepackage[paperwidth=20cm]{geometry}&#10;\usepackage{siunitx}&#10;&#10;\begin{document}&#10;&#10;(a) Avec toute la dissipation de chaleur transférée à travers la plaque de base,&#10;&#10;\begin{equation}&#10;P_{\text{élec}} = q = \frac{T_{s,c} - T_\infty}{R_{\text{tot}}}&#10;\end{equation}&#10;où $R_{\text{tot}} = R_{t,c} + R_{\text{cnd}} + \left[(1/R_{\text{cnv}}) + (1/R_{\text{rad}})\right]^{-1}$&#10;\begin{equation}&#10;R_{\text{tot}} = \frac{R''_{t,c}}{A_c} + \frac{L}{kW^2} + \frac{1}{W^2}\left(\frac{1}{h + h_r}\right) &#10;\end{equation}&#10;et &#10;\begin{equation*}&#10;h_r = \varepsilon\sigma (T_{s,p} + T_{\text{sur}})(T^2_{s,p} + T^2_{\text{sur}}) &#10;\end{equation*}&#10;&#10;\noindent&#10;Pour obtenir $T_{s,p}$, le bilan énergétique suivant doit être effectué sur la surface de la plaque,&#10;\begin{equation*}&#10;q = \frac{T_{s,c} - T_{s,p}}{R_{t,c} + R_{\text{cnd}}} = q_{\text{cnv}} + q_{\text{rad}} = hW^2(T_{s,p} - T_\infty) + h_r W^2(T_{s,p} - T_{\text{sur}})&#10;\end{equation*}&#10;&#10;\end{document}"/>
  <p:tag name="IGUANATEXSIZE" val="18"/>
  <p:tag name="IGUANATEXCURSOR" val="713"/>
  <p:tag name="TRANSPARENCY" val="Vrai"/>
  <p:tag name="CHOOSECOLOR" val="Faux"/>
  <p:tag name="COLORHEX" val="000000"/>
  <p:tag name="FILENAME" val=""/>
  <p:tag name="LATEXENGINEID" val="0"/>
  <p:tag name="TEMPFOLDER" val="c:\temp\"/>
  <p:tag name="LATEXFORMHEIGHT" val=" 421.2"/>
  <p:tag name="LATEXFORMWIDTH" val=" 818.4"/>
  <p:tag name="LATEXFORMWRAP" val="Vrai"/>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 1200"/>
  <p:tag name="ORIGINALHEIGHT" val=" 896.1379"/>
  <p:tag name="ORIGINALWIDTH" val=" 6122.984"/>
  <p:tag name="OUTPUTTYPE" val="PNG"/>
  <p:tag name="IGUANATEXVERSION" val="162"/>
  <p:tag name="LATEXADDIN" val="\documentclass{article}&#10;\usepackage{amsmath}&#10;\usepackage{amssymb}&#10;\pagestyle{empty}&#10;\usepackage[paperwidth=23cm]{geometry}&#10;\usepackage{siunitx}&#10;&#10;\begin{document}&#10;&#10;\textbf{HYPOTHÈSES :} (1) Régime permanent, (2) Transfert de chaleur négligeable du boîtier vers l'environnement. (3) Conduction unidimensionnelle dans la plaque de base, (4) Échange radiatif à la surface de la plaque de base avec de grandes surfaces environnantes, (5) Conductivité thermique constante.\\&#10;&#10;\textbf{PROPRIÉTÉS :} Interface aluminium-aluminium, remplie d'air, rugosité de $\SI{10}{\micro\meter}$, $R''_{t,c} = 2.75 \times 10^{-4}$ m$^2 \cdot$K / W. \\&#10;&#10;\end{document}"/>
  <p:tag name="IGUANATEXSIZE" val="18"/>
  <p:tag name="IGUANATEXCURSOR" val="109"/>
  <p:tag name="TRANSPARENCY" val="Vrai"/>
  <p:tag name="CHOOSECOLOR" val="Faux"/>
  <p:tag name="COLORHEX" val="000000"/>
  <p:tag name="FILENAME" val=""/>
  <p:tag name="LATEXENGINEID" val="0"/>
  <p:tag name="TEMPFOLDER" val="c:\temp\"/>
  <p:tag name="LATEXFORMHEIGHT" val=" 421.2"/>
  <p:tag name="LATEXFORMWIDTH" val=" 818.4"/>
  <p:tag name="LATEXFORMWRAP" val="Vrai"/>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 1200"/>
  <p:tag name="ORIGINALHEIGHT" val=" 1174.353"/>
  <p:tag name="ORIGINALWIDTH" val=" 6191.226"/>
  <p:tag name="OUTPUTTYPE" val="PNG"/>
  <p:tag name="IGUANATEXVERSION" val="162"/>
  <p:tag name="LATEXADDIN" val="\documentclass{article}&#10;\usepackage{amsmath}&#10;\usepackage{amssymb}&#10;\pagestyle{empty}&#10;\usepackage[paperwidth=25cm]{geometry}&#10;\usepackage{siunitx}&#10;&#10;\begin{document}&#10;&#10;Avec $R_{t,c} = 2.75 \times 10^{-4}$ m$^2 \cdot$K/W/$2 \times 10^{-4}$ m$^2$ = $\SI{1.375}{\kelvin\per\watt}$, \\ $R_{\text{cnd}} = \SI{0.006}{\meter}/(240$ W/m$\cdot$K $\times 4 \times 10^{-4}$ m$^2) = \SI{0.0625}{\kelvin\per\watt}$, et les valeurs prescrites de $h$, $W$, $T_\infty = T_{\text{sur}}$ et $\varepsilon$, on obtient une température de surface de $T_{s,p} = \SI{357.6}{\kelvin} = \SI{84.6}{\celsius}$ et une dissipation de puissance de&#10;$P_{\text{élec}} = q = \SI{0.268}{\watt}$.&#10;&#10;Les résistances de convection et de rayonnement sont $R_{\text{cnv}} = \SI{625}{\kelvin\per\watt}$ et $R_{\text{rad}} = \SI{345}{\kelvin\per\watt}$, où $h_r = \SI{7.25}{\watt\per\meter\squared\per\kelvin}$.&#10;&#10;(b) Avec la contribution majeure à la résistance totale apportée par la convection, un bénéfice significatif peut être obtenu en augmentant la valeur de $h$.&#10;&#10;\end{document}"/>
  <p:tag name="IGUANATEXSIZE" val="18"/>
  <p:tag name="IGUANATEXCURSOR" val="109"/>
  <p:tag name="TRANSPARENCY" val="Vrai"/>
  <p:tag name="CHOOSECOLOR" val="Faux"/>
  <p:tag name="COLORHEX" val="000000"/>
  <p:tag name="FILENAME" val=""/>
  <p:tag name="LATEXENGINEID" val="0"/>
  <p:tag name="TEMPFOLDER" val="c:\temp\"/>
  <p:tag name="LATEXFORMHEIGHT" val=" 421.2"/>
  <p:tag name="LATEXFORMWIDTH" val=" 818.4"/>
  <p:tag name="LATEXFORMWRAP" val="Vrai"/>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 1200"/>
  <p:tag name="ORIGINALHEIGHT" val=" 2068.241"/>
  <p:tag name="ORIGINALWIDTH" val=" 3902.512"/>
  <p:tag name="OUTPUTTYPE" val="PNG"/>
  <p:tag name="IGUANATEXVERSION" val="162"/>
  <p:tag name="LATEXADDIN" val="\documentclass{article}&#10;\usepackage{amsmath}&#10;\usepackage{amssymb}&#10;\pagestyle{empty}&#10;\usepackage[paperwidth=15cm]{geometry}&#10;\usepackage{siunitx}&#10;&#10;\begin{document}&#10;&#10;Pour $h = \SI{200}{\watt\per\meter\squared\per\kelvin}$, $R_{\text{cnv}} = \SI{12.5}{\kelvin\per\watt}$ et $T_{s,p} = \SI{351.6}{\kelvin}$, donnant $R_{\text{rad}} = \SI{355}{\kelvin\per\watt}$. L'effet du rayonnement est alors négligeable.\\&#10;&#10;\textbf{COMMENTAIRES :} \\&#10;&#10;(1) La résistance de conduction de la plaque est négligeable, et même pour $h = \SI{200}{\watt\per\meter\squared\per\kelvin}$, la résistance de contact est petite par rapport à la résistance de convection. Cependant, $R_{t,c}$ pourrait être rendue négligeable en utilisant une feuille d'indium, au lieu d'un espace d'air, à l'interface. On a $R''_{t,c} = 0.07 \times 10^{-4}$ m$^2 \cdot$K / W, dans ce cas $R_{t,c} = \SI{0.035}{\meter\per\kelvin\per\watt}$.&#10;&#10;(2) Parce que $A_c &lt; W^2$, le transfert de chaleur par conduction dans la plaque est en fait bidimensionnel, rendant la résistance de conduction encore plus petite.&#10;&#10;\end{document}"/>
  <p:tag name="IGUANATEXSIZE" val="18"/>
  <p:tag name="IGUANATEXCURSOR" val="776"/>
  <p:tag name="TRANSPARENCY" val="Vrai"/>
  <p:tag name="CHOOSECOLOR" val="Faux"/>
  <p:tag name="COLORHEX" val="000000"/>
  <p:tag name="FILENAME" val=""/>
  <p:tag name="LATEXENGINEID" val="0"/>
  <p:tag name="TEMPFOLDER" val="c:\temp\"/>
  <p:tag name="LATEXFORMHEIGHT" val=" 421.2"/>
  <p:tag name="LATEXFORMWIDTH" val=" 818.4"/>
  <p:tag name="LATEXFORMWRAP" val="Vrai"/>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 1200"/>
  <p:tag name="ORIGINALHEIGHT" val=" 125.2343"/>
  <p:tag name="ORIGINALWIDTH" val=" 1801.275"/>
  <p:tag name="OUTPUTTYPE" val="PNG"/>
  <p:tag name="IGUANATEXVERSION" val="162"/>
  <p:tag name="LATEXADDIN" val="\documentclass{article}&#10;\usepackage{amsmath}&#10;\pagestyle{empty}&#10;\begin{document}&#10;&#10;Puissance électrique dissipée (W)&#10;&#10;&#10;\end{document}"/>
  <p:tag name="IGUANATEXSIZE" val="14"/>
  <p:tag name="IGUANATEXCURSOR" val="114"/>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2088</TotalTime>
  <Words>195</Words>
  <Application>Microsoft Office PowerPoint</Application>
  <PresentationFormat>Grand écran</PresentationFormat>
  <Paragraphs>206</Paragraphs>
  <Slides>23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23</vt:i4>
      </vt:variant>
    </vt:vector>
  </HeadingPairs>
  <TitlesOfParts>
    <vt:vector size="28" baseType="lpstr">
      <vt:lpstr>Arial</vt:lpstr>
      <vt:lpstr>Calibri</vt:lpstr>
      <vt:lpstr>Calibri Light</vt:lpstr>
      <vt:lpstr>Consolas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toussaij</dc:creator>
  <cp:lastModifiedBy>toussaij</cp:lastModifiedBy>
  <cp:revision>241</cp:revision>
  <dcterms:created xsi:type="dcterms:W3CDTF">2025-06-16T06:26:42Z</dcterms:created>
  <dcterms:modified xsi:type="dcterms:W3CDTF">2025-09-15T13:43:58Z</dcterms:modified>
</cp:coreProperties>
</file>