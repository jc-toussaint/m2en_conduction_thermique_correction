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5" r:id="rId2"/>
    <p:sldId id="266" r:id="rId3"/>
    <p:sldId id="270" r:id="rId4"/>
    <p:sldId id="271" r:id="rId5"/>
    <p:sldId id="316" r:id="rId6"/>
    <p:sldId id="317" r:id="rId7"/>
    <p:sldId id="324" r:id="rId8"/>
    <p:sldId id="331" r:id="rId9"/>
    <p:sldId id="332" r:id="rId10"/>
    <p:sldId id="333" r:id="rId11"/>
    <p:sldId id="327" r:id="rId12"/>
    <p:sldId id="325"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D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5" d="100"/>
          <a:sy n="85" d="100"/>
        </p:scale>
        <p:origin x="96"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9622B-E5E1-4644-8BE4-C757365CC5D3}" type="datetimeFigureOut">
              <a:rPr lang="fr-FR" smtClean="0"/>
              <a:t>10/10/2025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8EF13-3707-4058-A5FA-D483A374818E}" type="slidenum">
              <a:rPr lang="fr-FR" smtClean="0"/>
              <a:t>‹N°›</a:t>
            </a:fld>
            <a:endParaRPr lang="fr-FR"/>
          </a:p>
        </p:txBody>
      </p:sp>
    </p:spTree>
    <p:extLst>
      <p:ext uri="{BB962C8B-B14F-4D97-AF65-F5344CB8AC3E}">
        <p14:creationId xmlns:p14="http://schemas.microsoft.com/office/powerpoint/2010/main" val="1944590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841D8F1B-3591-4418-A39C-4857A9F2BF44}"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7801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384DEF1-2EDD-46F2-B5AD-A86112AC468F}"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45085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2334BAAC-D9C2-4D9C-B70A-F9F0822265ED}"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59159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83B72022-CE44-44A1-9E30-A4E686EA9864}" type="datetime1">
              <a:rPr lang="fr-FR" smtClean="0"/>
              <a:t>10/10/2025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322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1010B30F-5B97-43C1-8F00-AE84FC014CD5}" type="datetime1">
              <a:rPr lang="fr-FR" smtClean="0"/>
              <a:t>10/10/2025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19959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E895ED8F-71E2-4E2D-AA85-5C4A8F3307BC}" type="datetime1">
              <a:rPr lang="fr-FR" smtClean="0"/>
              <a:t>10/10/2025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35370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5951416-3588-4064-A753-1ECD2BACD7E0}" type="datetime1">
              <a:rPr lang="fr-FR" smtClean="0"/>
              <a:t>10/10/2025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548793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A504E5C-B969-4931-8727-F94313788BAD}" type="datetime1">
              <a:rPr lang="fr-FR" smtClean="0"/>
              <a:t>10/10/2025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7644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7438FAA3-034C-4711-BE84-348C17EA3224}" type="datetime1">
              <a:rPr lang="fr-FR" smtClean="0"/>
              <a:t>10/10/2025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28986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5F07CA26-ED7C-4F79-B585-F49AF25209A2}"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240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68B35A9-904E-4399-B472-B5CE8602040E}"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9210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4FB71C-E1E2-4EB2-AACD-617C01001CEB}" type="datetime1">
              <a:rPr lang="fr-FR" smtClean="0"/>
              <a:t>10/10/2025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3DDC6-9977-4A69-882A-1641CFA73689}" type="slidenum">
              <a:rPr lang="fr-FR" smtClean="0"/>
              <a:t>‹N°›</a:t>
            </a:fld>
            <a:endParaRPr lang="fr-FR"/>
          </a:p>
        </p:txBody>
      </p:sp>
    </p:spTree>
    <p:extLst>
      <p:ext uri="{BB962C8B-B14F-4D97-AF65-F5344CB8AC3E}">
        <p14:creationId xmlns:p14="http://schemas.microsoft.com/office/powerpoint/2010/main" val="3298298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tags" Target="../tags/tag13.xm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Layout" Target="../slideLayouts/slideLayout2.xml"/><Relationship Id="rId11" Type="http://schemas.openxmlformats.org/officeDocument/2006/relationships/image" Target="../media/image22.png"/><Relationship Id="rId5" Type="http://schemas.openxmlformats.org/officeDocument/2006/relationships/tags" Target="../tags/tag15.xml"/><Relationship Id="rId10" Type="http://schemas.openxmlformats.org/officeDocument/2006/relationships/image" Target="../media/image21.png"/><Relationship Id="rId4" Type="http://schemas.openxmlformats.org/officeDocument/2006/relationships/tags" Target="../tags/tag14.xml"/><Relationship Id="rId9" Type="http://schemas.openxmlformats.org/officeDocument/2006/relationships/image" Target="../media/image20.png"/><Relationship Id="rId1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20.xml"/><Relationship Id="rId7" Type="http://schemas.openxmlformats.org/officeDocument/2006/relationships/image" Target="../media/image31.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tags" Target="../tags/tag25.xml"/><Relationship Id="rId7" Type="http://schemas.openxmlformats.org/officeDocument/2006/relationships/image" Target="../media/image37.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28524" y="438816"/>
            <a:ext cx="8050284" cy="2986667"/>
          </a:xfrm>
          <a:prstGeom prst="rect">
            <a:avLst/>
          </a:prstGeom>
        </p:spPr>
      </p:pic>
      <p:pic>
        <p:nvPicPr>
          <p:cNvPr id="9" name="Image 8"/>
          <p:cNvPicPr>
            <a:picLocks noChangeAspect="1"/>
          </p:cNvPicPr>
          <p:nvPr/>
        </p:nvPicPr>
        <p:blipFill>
          <a:blip r:embed="rId5"/>
          <a:stretch>
            <a:fillRect/>
          </a:stretch>
        </p:blipFill>
        <p:spPr>
          <a:xfrm>
            <a:off x="8546949" y="920644"/>
            <a:ext cx="3490262" cy="2187130"/>
          </a:xfrm>
          <a:prstGeom prst="rect">
            <a:avLst/>
          </a:prstGeom>
        </p:spPr>
      </p:pic>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328525" y="3874658"/>
            <a:ext cx="10570660" cy="2366477"/>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a:t>
            </a:fld>
            <a:endParaRPr lang="fr-FR"/>
          </a:p>
        </p:txBody>
      </p:sp>
    </p:spTree>
    <p:extLst>
      <p:ext uri="{BB962C8B-B14F-4D97-AF65-F5344CB8AC3E}">
        <p14:creationId xmlns:p14="http://schemas.microsoft.com/office/powerpoint/2010/main" val="622950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03456" y="666203"/>
            <a:ext cx="9510856" cy="929828"/>
          </a:xfrm>
          <a:prstGeom prst="rect">
            <a:avLst/>
          </a:prstGeom>
        </p:spPr>
      </p:pic>
      <p:pic>
        <p:nvPicPr>
          <p:cNvPr id="10" name="Image 9"/>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579659" y="3344091"/>
            <a:ext cx="9516339" cy="2890972"/>
          </a:xfrm>
          <a:prstGeom prst="rect">
            <a:avLst/>
          </a:prstGeom>
        </p:spPr>
      </p:pic>
      <p:pic>
        <p:nvPicPr>
          <p:cNvPr id="5" name="Image 4"/>
          <p:cNvPicPr>
            <a:picLocks noChangeAspect="1"/>
          </p:cNvPicPr>
          <p:nvPr/>
        </p:nvPicPr>
        <p:blipFill>
          <a:blip r:embed="rId6"/>
          <a:stretch>
            <a:fillRect/>
          </a:stretch>
        </p:blipFill>
        <p:spPr>
          <a:xfrm>
            <a:off x="3801117" y="1596031"/>
            <a:ext cx="4023709" cy="1417443"/>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2</a:t>
            </a:fld>
            <a:endParaRPr lang="fr-FR"/>
          </a:p>
        </p:txBody>
      </p:sp>
      <p:sp>
        <p:nvSpPr>
          <p:cNvPr id="6" name="ZoneTexte 5"/>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671245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90563" y="436347"/>
            <a:ext cx="10863237" cy="5920003"/>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3</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686254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78707" y="215286"/>
            <a:ext cx="8048758" cy="3196950"/>
          </a:xfrm>
          <a:prstGeom prst="rect">
            <a:avLst/>
          </a:prstGeom>
        </p:spPr>
      </p:pic>
      <p:pic>
        <p:nvPicPr>
          <p:cNvPr id="6" name="Image 5"/>
          <p:cNvPicPr>
            <a:picLocks noChangeAspect="1"/>
          </p:cNvPicPr>
          <p:nvPr/>
        </p:nvPicPr>
        <p:blipFill>
          <a:blip r:embed="rId4"/>
          <a:stretch>
            <a:fillRect/>
          </a:stretch>
        </p:blipFill>
        <p:spPr>
          <a:xfrm>
            <a:off x="6305644" y="3412236"/>
            <a:ext cx="4969305" cy="3415029"/>
          </a:xfrm>
          <a:prstGeom prst="rect">
            <a:avLst/>
          </a:prstGeom>
        </p:spPr>
      </p:pic>
      <p:pic>
        <p:nvPicPr>
          <p:cNvPr id="4" name="Image 3"/>
          <p:cNvPicPr>
            <a:picLocks noChangeAspect="1"/>
          </p:cNvPicPr>
          <p:nvPr/>
        </p:nvPicPr>
        <p:blipFill>
          <a:blip r:embed="rId5"/>
          <a:stretch>
            <a:fillRect/>
          </a:stretch>
        </p:blipFill>
        <p:spPr>
          <a:xfrm>
            <a:off x="842800" y="3406993"/>
            <a:ext cx="5303557" cy="3228457"/>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4</a:t>
            </a:fld>
            <a:endParaRPr lang="fr-FR"/>
          </a:p>
        </p:txBody>
      </p:sp>
      <p:sp>
        <p:nvSpPr>
          <p:cNvPr id="7" name="ZoneTexte 6"/>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840311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50275" y="159628"/>
            <a:ext cx="11323885" cy="1551086"/>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5</a:t>
            </a:fld>
            <a:endParaRPr lang="fr-FR"/>
          </a:p>
        </p:txBody>
      </p:sp>
      <p:pic>
        <p:nvPicPr>
          <p:cNvPr id="8" name="Image 7"/>
          <p:cNvPicPr>
            <a:picLocks noChangeAspect="1"/>
          </p:cNvPicPr>
          <p:nvPr/>
        </p:nvPicPr>
        <p:blipFill>
          <a:blip r:embed="rId4"/>
          <a:stretch>
            <a:fillRect/>
          </a:stretch>
        </p:blipFill>
        <p:spPr>
          <a:xfrm>
            <a:off x="5619112" y="2683490"/>
            <a:ext cx="5459195" cy="3329985"/>
          </a:xfrm>
          <a:prstGeom prst="rect">
            <a:avLst/>
          </a:prstGeom>
        </p:spPr>
      </p:pic>
      <p:pic>
        <p:nvPicPr>
          <p:cNvPr id="9" name="Image 8"/>
          <p:cNvPicPr>
            <a:picLocks noChangeAspect="1"/>
          </p:cNvPicPr>
          <p:nvPr/>
        </p:nvPicPr>
        <p:blipFill>
          <a:blip r:embed="rId5"/>
          <a:stretch>
            <a:fillRect/>
          </a:stretch>
        </p:blipFill>
        <p:spPr>
          <a:xfrm>
            <a:off x="817685" y="2576348"/>
            <a:ext cx="3563534" cy="3694769"/>
          </a:xfrm>
          <a:prstGeom prst="rect">
            <a:avLst/>
          </a:prstGeom>
        </p:spPr>
      </p:pic>
    </p:spTree>
    <p:extLst>
      <p:ext uri="{BB962C8B-B14F-4D97-AF65-F5344CB8AC3E}">
        <p14:creationId xmlns:p14="http://schemas.microsoft.com/office/powerpoint/2010/main" val="17660325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6</a:t>
            </a:fld>
            <a:endParaRPr lang="fr-FR"/>
          </a:p>
        </p:txBody>
      </p:sp>
      <p:pic>
        <p:nvPicPr>
          <p:cNvPr id="6" name="Image 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62348" y="232899"/>
            <a:ext cx="11322514" cy="7644344"/>
          </a:xfrm>
          <a:prstGeom prst="rect">
            <a:avLst/>
          </a:prstGeom>
          <a:solidFill>
            <a:schemeClr val="bg1"/>
          </a:solidFill>
        </p:spPr>
      </p:pic>
    </p:spTree>
    <p:extLst>
      <p:ext uri="{BB962C8B-B14F-4D97-AF65-F5344CB8AC3E}">
        <p14:creationId xmlns:p14="http://schemas.microsoft.com/office/powerpoint/2010/main" val="20821548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607671" y="350564"/>
            <a:ext cx="7287760" cy="4062155"/>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7</a:t>
            </a:fld>
            <a:endParaRPr lang="fr-FR"/>
          </a:p>
        </p:txBody>
      </p:sp>
      <p:pic>
        <p:nvPicPr>
          <p:cNvPr id="5" name="Image 4"/>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607671" y="4600541"/>
            <a:ext cx="10417354" cy="2024218"/>
          </a:xfrm>
          <a:prstGeom prst="rect">
            <a:avLst/>
          </a:prstGeom>
        </p:spPr>
      </p:pic>
      <p:pic>
        <p:nvPicPr>
          <p:cNvPr id="3" name="Image 2"/>
          <p:cNvPicPr>
            <a:picLocks noChangeAspect="1"/>
          </p:cNvPicPr>
          <p:nvPr/>
        </p:nvPicPr>
        <p:blipFill>
          <a:blip r:embed="rId6"/>
          <a:stretch>
            <a:fillRect/>
          </a:stretch>
        </p:blipFill>
        <p:spPr>
          <a:xfrm>
            <a:off x="7803036" y="1257298"/>
            <a:ext cx="4126587" cy="3064053"/>
          </a:xfrm>
          <a:prstGeom prst="rect">
            <a:avLst/>
          </a:prstGeom>
        </p:spPr>
      </p:pic>
    </p:spTree>
    <p:extLst>
      <p:ext uri="{BB962C8B-B14F-4D97-AF65-F5344CB8AC3E}">
        <p14:creationId xmlns:p14="http://schemas.microsoft.com/office/powerpoint/2010/main" val="9701887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documentclass{article}&#10;\usepackage{amsmath}&#10;\pagestyle{empty}&#10;&#10;\usepackage{amssymb}&#10;\usepackage{setspace}&#10;\usepackage{siunitx}&#10;\usepackage[paperwidth=25cm]{geometry}&#10;\usepackage{xcolor}&#10;\usepackage{framed}&#10;&#10;\begin{document}&#10;&#10;\subsection*{Efficacité thermique de cette ailette annulaire}&#10;&#10;On considère une ailette de forme annulaire, de rayons intérieur \( r_1 \) et extérieur \( r_2 \), et d'épaisseur \( t \). Le matériau est homogène, de conductivité thermique \( k \), et l'ailette dissipe la chaleur par convection avec un fluide ambiant à température \( T_\infty \), selon un coefficient d'échange \( h \). Le bord extérieur (cylindrique) en \( r = r_2 \), de hauteur \( t \), est supposé \textbf{adiabatique}.&#10;&#10;La conduction radiale dans l’ailette obéit à :&#10;\[&#10;\frac{k}{r} \frac{d}{dr} \left( r \frac{dT}{dr} \right) - \frac{2h}{t} (T - T_\infty) = 0&#10;\quad \text{facteur 2 pour les 2 faces}&#10;\]&#10;&#10;On pose \( \theta(r) = T(r) - T_\infty \), \( \theta_b = T_b - T_\infty \), et \( m^2 = \dfrac{2h}{kt} \), ce qui donne :&#10;\[&#10;\frac{1}{r} \frac{d}{dr} \left( r \frac{d\theta}{dr} \right) - m^2 \theta = 0&#10;\]&#10;&#10;&#10;La solution de cette équation différentielle est :&#10;$&#10;\theta(r) = A I_0(mr) + B K_0(mr)&#10;$&#10;où \( I_0 \) et \( K_0 \) sont les fonctions de Bessel modifiées d’ordre 0.&#10;&#10;Les conditions aux limites sont:&#10;\begin{itemize}&#10;  \item En \( r = r_1 \), température imposée : \(\theta(r_1) = \theta_b \)&#10;  \item En \( r = r_2 \), bord adiabatique : \( \left. \dfrac{d{\theta}}{dr} \right|_{r = r_2} = 0 \)&#10;\end{itemize}&#10;&#10;\end{document}\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405456" y="158818"/>
            <a:ext cx="11325239" cy="6282485"/>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8</a:t>
            </a:fld>
            <a:endParaRPr lang="fr-FR"/>
          </a:p>
        </p:txBody>
      </p:sp>
      <p:grpSp>
        <p:nvGrpSpPr>
          <p:cNvPr id="28" name="Groupe 27"/>
          <p:cNvGrpSpPr/>
          <p:nvPr/>
        </p:nvGrpSpPr>
        <p:grpSpPr>
          <a:xfrm>
            <a:off x="9419492" y="1890866"/>
            <a:ext cx="1815490" cy="2293819"/>
            <a:chOff x="9419492" y="1890866"/>
            <a:chExt cx="1815490" cy="2293819"/>
          </a:xfrm>
        </p:grpSpPr>
        <p:pic>
          <p:nvPicPr>
            <p:cNvPr id="6" name="Image 5"/>
            <p:cNvPicPr>
              <a:picLocks noChangeAspect="1"/>
            </p:cNvPicPr>
            <p:nvPr/>
          </p:nvPicPr>
          <p:blipFill>
            <a:blip r:embed="rId8"/>
            <a:stretch>
              <a:fillRect/>
            </a:stretch>
          </p:blipFill>
          <p:spPr>
            <a:xfrm>
              <a:off x="9419492" y="1890866"/>
              <a:ext cx="1767993" cy="2293819"/>
            </a:xfrm>
            <a:prstGeom prst="rect">
              <a:avLst/>
            </a:prstGeom>
          </p:spPr>
        </p:pic>
        <p:cxnSp>
          <p:nvCxnSpPr>
            <p:cNvPr id="20" name="Connecteur droit 19"/>
            <p:cNvCxnSpPr/>
            <p:nvPr/>
          </p:nvCxnSpPr>
          <p:spPr>
            <a:xfrm flipV="1">
              <a:off x="11098530" y="2190750"/>
              <a:ext cx="0" cy="84702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p:nvPr/>
          </p:nvCxnSpPr>
          <p:spPr>
            <a:xfrm>
              <a:off x="10303488" y="2190750"/>
              <a:ext cx="7950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flipV="1">
              <a:off x="10303488" y="2084070"/>
              <a:ext cx="234972" cy="1066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Image 25" descr="\documentclass{article}&#10;\usepackage{amsmath}&#10;\pagestyle{empty}&#10;\begin{document}&#10;&#10;$r_1$&#10;&#10;&#10;\end{document}" title="IguanaTex Bitmap Display"/>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0586720" y="1997456"/>
              <a:ext cx="115200" cy="89600"/>
            </a:xfrm>
            <a:prstGeom prst="rect">
              <a:avLst/>
            </a:prstGeom>
          </p:spPr>
        </p:pic>
        <p:pic>
          <p:nvPicPr>
            <p:cNvPr id="27" name="Image 26" descr="\documentclass{article}&#10;\usepackage{amsmath}&#10;\pagestyle{empty}&#10;\begin{document}&#10;&#10;$r_2$&#10;&#10;&#10;\end{document}" title="IguanaTex Bitmap Display"/>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11116125" y="2085154"/>
              <a:ext cx="118857" cy="89600"/>
            </a:xfrm>
            <a:prstGeom prst="rect">
              <a:avLst/>
            </a:prstGeom>
          </p:spPr>
        </p:pic>
      </p:grpSp>
      <p:grpSp>
        <p:nvGrpSpPr>
          <p:cNvPr id="37" name="Groupe 36"/>
          <p:cNvGrpSpPr/>
          <p:nvPr/>
        </p:nvGrpSpPr>
        <p:grpSpPr>
          <a:xfrm>
            <a:off x="5987222" y="4774223"/>
            <a:ext cx="5655373" cy="2144358"/>
            <a:chOff x="5987222" y="4774223"/>
            <a:chExt cx="5655373" cy="2144358"/>
          </a:xfrm>
        </p:grpSpPr>
        <p:pic>
          <p:nvPicPr>
            <p:cNvPr id="30" name="Image 29"/>
            <p:cNvPicPr>
              <a:picLocks noChangeAspect="1"/>
            </p:cNvPicPr>
            <p:nvPr/>
          </p:nvPicPr>
          <p:blipFill>
            <a:blip r:embed="rId11"/>
            <a:stretch>
              <a:fillRect/>
            </a:stretch>
          </p:blipFill>
          <p:spPr>
            <a:xfrm>
              <a:off x="5987222" y="4774223"/>
              <a:ext cx="2623378" cy="2083777"/>
            </a:xfrm>
            <a:prstGeom prst="rect">
              <a:avLst/>
            </a:prstGeom>
          </p:spPr>
        </p:pic>
        <p:grpSp>
          <p:nvGrpSpPr>
            <p:cNvPr id="36" name="Groupe 35"/>
            <p:cNvGrpSpPr/>
            <p:nvPr/>
          </p:nvGrpSpPr>
          <p:grpSpPr>
            <a:xfrm>
              <a:off x="9128321" y="4774223"/>
              <a:ext cx="2514274" cy="2144358"/>
              <a:chOff x="9128321" y="4774223"/>
              <a:chExt cx="2514274" cy="2144358"/>
            </a:xfrm>
          </p:grpSpPr>
          <p:pic>
            <p:nvPicPr>
              <p:cNvPr id="31" name="Image 30"/>
              <p:cNvPicPr>
                <a:picLocks noChangeAspect="1"/>
              </p:cNvPicPr>
              <p:nvPr/>
            </p:nvPicPr>
            <p:blipFill>
              <a:blip r:embed="rId12"/>
              <a:stretch>
                <a:fillRect/>
              </a:stretch>
            </p:blipFill>
            <p:spPr>
              <a:xfrm>
                <a:off x="9128321" y="4774223"/>
                <a:ext cx="2514274" cy="2144358"/>
              </a:xfrm>
              <a:prstGeom prst="rect">
                <a:avLst/>
              </a:prstGeom>
            </p:spPr>
          </p:pic>
          <p:pic>
            <p:nvPicPr>
              <p:cNvPr id="33" name="Image 32" descr="\documentclass{article}&#10;\usepackage{amsmath}&#10;\usepackage{xcolor}&#10;\pagestyle{empty}&#10;\begin{document}&#10;&#10;{\color{red} singulière en 0}&#10;&#10;&#10;\end{document}" title="IguanaTex Bitmap Display"/>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9450749" y="5494214"/>
                <a:ext cx="1101867" cy="160000"/>
              </a:xfrm>
              <a:prstGeom prst="rect">
                <a:avLst/>
              </a:prstGeom>
            </p:spPr>
          </p:pic>
        </p:grpSp>
      </p:grpSp>
      <p:sp>
        <p:nvSpPr>
          <p:cNvPr id="16" name="ZoneTexte 15"/>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8" name="Image 7" descr="\documentclass{article}&#10;\usepackage{amsmath}&#10;\pagestyle{empty}&#10;\begin{document}&#10;&#10;\noindent&#10;t : épaisseur\\&#10;de l'ailette&#10;&#10;&#10;\end{document}" title="IguanaTex Bitmap Display"/>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10811933" y="3353473"/>
            <a:ext cx="1083733" cy="386438"/>
          </a:xfrm>
          <a:prstGeom prst="rect">
            <a:avLst/>
          </a:prstGeom>
          <a:solidFill>
            <a:srgbClr val="FFFFFF"/>
          </a:solidFill>
        </p:spPr>
      </p:pic>
    </p:spTree>
    <p:extLst>
      <p:ext uri="{BB962C8B-B14F-4D97-AF65-F5344CB8AC3E}">
        <p14:creationId xmlns:p14="http://schemas.microsoft.com/office/powerpoint/2010/main" val="32979250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13DDC6-9977-4A69-882A-1641CFA73689}" type="slidenum">
              <a:rPr lang="fr-FR" smtClean="0"/>
              <a:t>9</a:t>
            </a:fld>
            <a:endParaRPr lang="fr-FR"/>
          </a:p>
        </p:txBody>
      </p:sp>
      <p:pic>
        <p:nvPicPr>
          <p:cNvPr id="3" name="Image 2" descr="\documentclass{article}&#10;\usepackage{amsmath}&#10;\pagestyle{empty}&#10;&#10;\usepackage{amssymb}&#10;\usepackage{setspace}&#10;\usepackage{siunitx}&#10;\usepackage[paperwidth=25cm]{geometry}&#10;\usepackage{xcolor}&#10;\usepackage{framed}&#10;&#10;\begin{document}&#10;Comme &#10;$&#10;\frac{d}{dr} I_0(mr) = m I_1(mr), \quad \frac{d}{dr} K_0(mr) = -m K_1(mr)&#10;$&#10;on obtient :&#10;\[&#10;\left. \frac{d{\theta}}{dr} \right|_{r} = A m I_1(mr) - B m K_1(mr)&#10;\]&#10;&#10;Les deux conditions aux limites conduisent au système linéaire :&#10;&#10;\[&#10;\begin{cases}&#10;A I_0(mr_1) + B K_0(mr_1) = \theta_b \\&#10;A m I_1(mr_2) - B m K_1(mr_2) = 0&#10;\end{cases}&#10;\]&#10;&#10;La résolution de ce système donne les coefficients \( A \) et \( B \).&#10;En les remplaçant dans :&#10;&#10;\[&#10;\left. \frac{d{\theta}}{dr} \right|_{r=r_1} = A m I_1(mr_1) - B m K_1(mr_1)&#10;\]&#10;on obtient :&#10;\begin{equation*}&#10;\boxed{\frac{d{\theta}}{dr}\bigg|_{r=r_1} = m \; \theta_b \;\dfrac{K_1(mr_2)I_1(mr_1) - I_1(mr_2)K_1(mr_1)}{I_0(mr_1)K_1(mr_2) + I_1(mr_2)K_0(mr_1)}}&#10;\end{equation*}&#10;&#10;L’efficacité thermique est le rapport entre le flux $q_f$ et le flux $q_{max}$ :&#10;&#10;\[&#10;\eta_f = \frac{q_f}{q_{max}}&#10;= \frac{-2\pi k t r_1 \left. \dfrac{d{\theta}}{dr} \right|_{r=r_1}}{2\pi h (r_2^2 - r_1^2) \theta_b}&#10;= \frac{-k t r_1 }{h (r_2^2 - r_1^2) \theta_b}\; \left. \dfrac{d{\theta}}{dr} \right|_{r=r_1}&#10;\]&#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50476" y="158824"/>
            <a:ext cx="8616672" cy="6277001"/>
          </a:xfrm>
          <a:prstGeom prst="rect">
            <a:avLst/>
          </a:prstGeom>
        </p:spPr>
      </p:pic>
      <p:grpSp>
        <p:nvGrpSpPr>
          <p:cNvPr id="13" name="Groupe 12"/>
          <p:cNvGrpSpPr/>
          <p:nvPr/>
        </p:nvGrpSpPr>
        <p:grpSpPr>
          <a:xfrm>
            <a:off x="8465669" y="290698"/>
            <a:ext cx="3490262" cy="6197532"/>
            <a:chOff x="8465669" y="158818"/>
            <a:chExt cx="3490262" cy="6197532"/>
          </a:xfrm>
        </p:grpSpPr>
        <p:pic>
          <p:nvPicPr>
            <p:cNvPr id="4" name="Image 3"/>
            <p:cNvPicPr>
              <a:picLocks noChangeAspect="1"/>
            </p:cNvPicPr>
            <p:nvPr/>
          </p:nvPicPr>
          <p:blipFill>
            <a:blip r:embed="rId5"/>
            <a:stretch>
              <a:fillRect/>
            </a:stretch>
          </p:blipFill>
          <p:spPr>
            <a:xfrm>
              <a:off x="8465669" y="158818"/>
              <a:ext cx="3490262" cy="2834886"/>
            </a:xfrm>
            <a:prstGeom prst="rect">
              <a:avLst/>
            </a:prstGeom>
          </p:spPr>
        </p:pic>
        <p:pic>
          <p:nvPicPr>
            <p:cNvPr id="5" name="Image 4"/>
            <p:cNvPicPr>
              <a:picLocks noChangeAspect="1"/>
            </p:cNvPicPr>
            <p:nvPr/>
          </p:nvPicPr>
          <p:blipFill>
            <a:blip r:embed="rId6"/>
            <a:stretch>
              <a:fillRect/>
            </a:stretch>
          </p:blipFill>
          <p:spPr>
            <a:xfrm>
              <a:off x="8717150" y="3536706"/>
              <a:ext cx="3238781" cy="2819644"/>
            </a:xfrm>
            <a:prstGeom prst="rect">
              <a:avLst/>
            </a:prstGeom>
          </p:spPr>
        </p:pic>
        <p:pic>
          <p:nvPicPr>
            <p:cNvPr id="29" name="Image 28" descr="\documentclass{article}&#10;\usepackage{amsmath}&#10;\usepackage{xcolor}&#10;\pagestyle{empty}&#10;\begin{document}&#10;&#10;{\color{red} singulière en 0}&#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9234673" y="4595027"/>
              <a:ext cx="1101867" cy="160000"/>
            </a:xfrm>
            <a:prstGeom prst="rect">
              <a:avLst/>
            </a:prstGeom>
          </p:spPr>
        </p:pic>
      </p:grpSp>
      <p:sp>
        <p:nvSpPr>
          <p:cNvPr id="8" name="ZoneTexte 7"/>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8997889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10</a:t>
            </a:fld>
            <a:endParaRPr lang="fr-FR"/>
          </a:p>
        </p:txBody>
      </p:sp>
      <p:pic>
        <p:nvPicPr>
          <p:cNvPr id="3" name="Image 2" descr="\documentclass{article}&#10;\usepackage{amsmath}&#10;\pagestyle{empty}&#10;&#10;\usepackage{amssymb}&#10;\usepackage{setspace}&#10;\usepackage{siunitx}&#10;\usepackage[paperwidth=25cm]{geometry}&#10;\usepackage{xcolor}&#10;\usepackage{framed}&#10;&#10;\begin{document}&#10;&#10;&#10;\[&#10;\eta_f = \frac{q_f}{q_{max}}&#10;= \frac{-2\pi k {\color{red} t} r_1 \left. \dfrac{d{\theta}}{dr} \right|_{r=r_1}}{2\pi h (r_2^2 - r_1^2) \theta_b}&#10;= \frac{-k {\color{red} t} r_1 }{h (r_2^2 - r_1^2) \theta_b}\; \left. \dfrac{d{\theta}}{dr} \right|_{r=r_1}&#10;\]\\&#10;&#10;\begin{equation*}&#10;{\frac{d{\theta}}{dr}\bigg|_{r=r_1} = m \; \theta_b \;\dfrac{K_1(mr_2)I_1(mr_1) - I_1(mr_2)K_1(mr_1)}{I_0(mr_1)K_1(mr_2) + I_1(mr_2)K_0(mr_1)}}&#10;\end{equation*}\\&#10;&#10;&#10;$$ m^2 = \dfrac{2 h}{k {\color{red}t}} $$&#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140207" y="2206871"/>
            <a:ext cx="5535076" cy="3432667"/>
          </a:xfrm>
          <a:prstGeom prst="rect">
            <a:avLst/>
          </a:prstGeom>
        </p:spPr>
      </p:pic>
      <p:grpSp>
        <p:nvGrpSpPr>
          <p:cNvPr id="17" name="Groupe 16"/>
          <p:cNvGrpSpPr/>
          <p:nvPr/>
        </p:nvGrpSpPr>
        <p:grpSpPr>
          <a:xfrm>
            <a:off x="403622" y="175899"/>
            <a:ext cx="5323447" cy="6545576"/>
            <a:chOff x="403622" y="175899"/>
            <a:chExt cx="5323447" cy="6545576"/>
          </a:xfrm>
        </p:grpSpPr>
        <p:pic>
          <p:nvPicPr>
            <p:cNvPr id="6" name="Image 5"/>
            <p:cNvPicPr>
              <a:picLocks noChangeAspect="1"/>
            </p:cNvPicPr>
            <p:nvPr/>
          </p:nvPicPr>
          <p:blipFill>
            <a:blip r:embed="rId6"/>
            <a:stretch>
              <a:fillRect/>
            </a:stretch>
          </p:blipFill>
          <p:spPr>
            <a:xfrm>
              <a:off x="517531" y="175899"/>
              <a:ext cx="5209538" cy="3134229"/>
            </a:xfrm>
            <a:prstGeom prst="rect">
              <a:avLst/>
            </a:prstGeom>
          </p:spPr>
        </p:pic>
        <p:pic>
          <p:nvPicPr>
            <p:cNvPr id="7" name="Image 6"/>
            <p:cNvPicPr>
              <a:picLocks noChangeAspect="1"/>
            </p:cNvPicPr>
            <p:nvPr/>
          </p:nvPicPr>
          <p:blipFill>
            <a:blip r:embed="rId7"/>
            <a:stretch>
              <a:fillRect/>
            </a:stretch>
          </p:blipFill>
          <p:spPr>
            <a:xfrm>
              <a:off x="403622" y="3530355"/>
              <a:ext cx="5323446" cy="3191120"/>
            </a:xfrm>
            <a:prstGeom prst="rect">
              <a:avLst/>
            </a:prstGeom>
          </p:spPr>
        </p:pic>
        <p:pic>
          <p:nvPicPr>
            <p:cNvPr id="15" name="Image 14" descr="\documentclass{article}&#10;\usepackage{amsmath}&#10;\usepackage{xcolor}&#10;\pagestyle{empty}&#10;\begin{document}&#10;&#10;{\color{red}&#10;$$\eta_f = 0.965$$&#10;}&#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260600" y="4882105"/>
              <a:ext cx="1152000" cy="243810"/>
            </a:xfrm>
            <a:prstGeom prst="rect">
              <a:avLst/>
            </a:prstGeom>
          </p:spPr>
        </p:pic>
        <p:pic>
          <p:nvPicPr>
            <p:cNvPr id="16" name="Image 15" descr="\documentclass{article}&#10;\usepackage{amsmath}&#10;\usepackage{xcolor}&#10;\pagestyle{empty}&#10;\begin{document}&#10;&#10;{\color{red}&#10;$$\eta_f = 0.965$$&#10;}&#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1388533" y="597972"/>
              <a:ext cx="1152000" cy="243810"/>
            </a:xfrm>
            <a:prstGeom prst="rect">
              <a:avLst/>
            </a:prstGeom>
          </p:spPr>
        </p:pic>
      </p:grpSp>
      <p:sp>
        <p:nvSpPr>
          <p:cNvPr id="9" name="ZoneTexte 8"/>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5951446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nvPicPr>
        <p:blipFill>
          <a:blip r:embed="rId4"/>
          <a:stretch>
            <a:fillRect/>
          </a:stretch>
        </p:blipFill>
        <p:spPr>
          <a:xfrm>
            <a:off x="6935737" y="703807"/>
            <a:ext cx="5090601" cy="3779848"/>
          </a:xfrm>
          <a:prstGeom prst="rect">
            <a:avLst/>
          </a:prstGeom>
        </p:spPr>
      </p:pic>
      <p:pic>
        <p:nvPicPr>
          <p:cNvPr id="14" name="Image 13"/>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07675" y="438495"/>
            <a:ext cx="6486858" cy="5340322"/>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11</a:t>
            </a:fld>
            <a:endParaRPr lang="fr-FR"/>
          </a:p>
        </p:txBody>
      </p:sp>
      <p:sp>
        <p:nvSpPr>
          <p:cNvPr id="5" name="ZoneTexte 4"/>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6" name="Image 5" descr="\documentclass{article}&#10;\usepackage{amsmath}&#10;\pagestyle{empty}&#10;\begin{document}&#10;&#10;\subsection*{Température de fusion}&#10;&#10;Aluminium moulé : $\approx 600^\circ C$\\&#10;Fonte : $\approx 1150–1200^\circ C$&#10;&#10;&#10;\end{document}" title="IguanaTex Bitmap Display"/>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553005" y="4987656"/>
            <a:ext cx="2688000" cy="791161"/>
          </a:xfrm>
          <a:prstGeom prst="rect">
            <a:avLst/>
          </a:prstGeom>
        </p:spPr>
      </p:pic>
    </p:spTree>
    <p:extLst>
      <p:ext uri="{BB962C8B-B14F-4D97-AF65-F5344CB8AC3E}">
        <p14:creationId xmlns:p14="http://schemas.microsoft.com/office/powerpoint/2010/main" val="13302777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amsmath}&#10;\pagestyle{empty}&#10;&#10;\usepackage{amssymb}&#10;\usepackage{setspace}&#10;\usepackage{siunitx}&#10;\usepackage[paperwidth=15cm]{geometry}&#10;\usepackage{xcolor}&#10;\usepackage{framed}&#10;&#10;\begin{document}&#10;&#10;\section*{Exemple 3.113}&#10;&#10;Les passages cannelés sont fréquemment formés entre des plaques parallèles pour améliorer le transfert thermique par convection dans les noyaux d'échangeurs thermiques compacts. Une application importante se trouve dans le refroidissement d'équipements électroniques, où une ou plusieurs piles refroidies par air sont placées entre des composants électriques dissipant de la chaleur. Considérons une pile unique d'ailettes rectangulaires de longueur $L$ et d'épaisseur $t$, avec des conditions de convection correspondant à $h$ et $T_{\infty}$. \\&#10;&#10;(a) Obtenez les expressions des taux de transfert (=flux) thermique des ailettes, $q_{f,o}$ et $q_{f,L}$, en fonction des températures de base, $T_o$ et $T_L$.&#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07675" y="350564"/>
            <a:ext cx="6791303" cy="3767303"/>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12</a:t>
            </a:fld>
            <a:endParaRPr lang="fr-FR"/>
          </a:p>
        </p:txBody>
      </p:sp>
      <p:pic>
        <p:nvPicPr>
          <p:cNvPr id="9" name="Image 8"/>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07674" y="4416945"/>
            <a:ext cx="10432439" cy="1573024"/>
          </a:xfrm>
          <a:prstGeom prst="rect">
            <a:avLst/>
          </a:prstGeom>
        </p:spPr>
      </p:pic>
      <p:pic>
        <p:nvPicPr>
          <p:cNvPr id="7" name="Image 6"/>
          <p:cNvPicPr>
            <a:picLocks noChangeAspect="1"/>
          </p:cNvPicPr>
          <p:nvPr/>
        </p:nvPicPr>
        <p:blipFill>
          <a:blip r:embed="rId7"/>
          <a:stretch>
            <a:fillRect/>
          </a:stretch>
        </p:blipFill>
        <p:spPr>
          <a:xfrm>
            <a:off x="8076120" y="556416"/>
            <a:ext cx="4115880" cy="2809038"/>
          </a:xfrm>
          <a:prstGeom prst="rect">
            <a:avLst/>
          </a:prstGeom>
        </p:spPr>
      </p:pic>
      <p:pic>
        <p:nvPicPr>
          <p:cNvPr id="8" name="Image 7"/>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8272587" y="3365454"/>
            <a:ext cx="3526401" cy="377599"/>
          </a:xfrm>
          <a:prstGeom prst="rect">
            <a:avLst/>
          </a:prstGeom>
        </p:spPr>
      </p:pic>
    </p:spTree>
    <p:extLst>
      <p:ext uri="{BB962C8B-B14F-4D97-AF65-F5344CB8AC3E}">
        <p14:creationId xmlns:p14="http://schemas.microsoft.com/office/powerpoint/2010/main" val="56531522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 1200"/>
  <p:tag name="ORIGINALHEIGHT" val=" 1469.816"/>
  <p:tag name="ORIGINALWIDTH" val=" 3961.755"/>
  <p:tag name="OUTPUTTYPE" val="PNG"/>
  <p:tag name="IGUANATEXVERSION" val="162"/>
  <p:tag name="LATEXADDIN" val="\documentclass{article}&#10;\usepackage{amsmath}&#10;\pagestyle{empty}&#10;\usepackage{amsmath}&#10;\usepackage{amsfonts}&#10;\usepackage{amssymb}&#10;\usepackage[paperwidth=16cm]{geometry}&#10;\usepackage{xcolor}&#10;&#10;\begin{document}&#10;&#10;\section*{Exemple 3.6 : épaisseur optimale d'isolant}&#10;&#10;L'existence possible d'une épaisseur d'isolation optimale pour les systèmes radiaux est suggérée par la présence d'effets concurrents associés à une augmentation de cette épaisseur. En particulier, bien que la résistance de conduction augmente avec l'ajout d'isolation, la résistance de convection diminue en raison de l'augmentation de la surface extérieure. Il peut donc exister une épaisseur d'isolation qui minimise les pertes de chaleur en maximisant la résistance totale au transfert de chaleur. Résolvez cette question en considérant le système suivant.&#10;&#10;\end{document}"/>
  <p:tag name="IGUANATEXSIZE" val="20"/>
  <p:tag name="IGUANATEXCURSOR" val="152"/>
  <p:tag name="TRANSPARENCY" val="Vrai"/>
  <p:tag name="CHOOSECOLOR" val="Faux"/>
  <p:tag name="COLORHEX" val="000000"/>
  <p:tag name="FILENAME" val=""/>
  <p:tag name="LATEXENGINEID" val="0"/>
  <p:tag name="TEMPFOLDER" val="c:\temp\"/>
  <p:tag name="LATEXFORMHEIGHT" val=" 466.8"/>
  <p:tag name="LATEXFORMWIDTH" val=" 720.6"/>
  <p:tag name="LATEXFORMWRAP" val="Vrai"/>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 1200"/>
  <p:tag name="ORIGINALHEIGHT" val=" 1164.604"/>
  <p:tag name="ORIGINALWIDTH" val=" 5202.1"/>
  <p:tag name="OUTPUTTYPE" val="PNG"/>
  <p:tag name="IGUANATEXVERSION" val="162"/>
  <p:tag name="LATEXADDIN" val="\documentclass{article}&#10;\usepackage{amsmath}&#10;\pagestyle{empty}&#10;\usepackage{amsmath}&#10;\usepackage{amsfonts}&#10;\usepackage{amssymb}&#10;\usepackage[paperwidth=21cm]{geometry}&#10;\usepackage{xcolor}&#10;&#10;\begin{document}&#10;&#10;\textbf{1.} Un tube de cuivre à paroi mince de rayon $r_i$ est utilisé pour transporter un réfrigérant à basse température et se trouve à une température $T_i$ inférieure à celle de l'air ambiant à $T_\infty$ autour du tube. Existe-t-il une épaisseur optimale associée à l'application d'une isolation au tube ?&#10;&#10;\textbf{2.} Confirmez le résultat ci-dessus en calculant la résistance thermique totale par unité de longueur de tube pour un tube de 10 mm de diamètre ayant les épaisseurs d'isolation suivantes : 0, 2, 5, 10, 20 et 40 mm. L'isolation est composée de verre cellulaire  de conductivité thermique \( k = 0.055~\mathrm{W/(m \cdot K)} \), et le coefficient de convection de surface extérieure est de 5 W/m$^2$ $\cdot$ K.&#10;&#10;&#10;\end{document}"/>
  <p:tag name="IGUANATEXSIZE" val="20"/>
  <p:tag name="IGUANATEXCURSOR" val="812"/>
  <p:tag name="TRANSPARENCY" val="Vrai"/>
  <p:tag name="CHOOSECOLOR" val="Faux"/>
  <p:tag name="COLORHEX" val="000000"/>
  <p:tag name="FILENAME" val=""/>
  <p:tag name="LATEXENGINEID" val="0"/>
  <p:tag name="TEMPFOLDER" val="c:\temp\"/>
  <p:tag name="LATEXFORMHEIGHT" val=" 466.8"/>
  <p:tag name="LATEXFORMWIDTH" val=" 720.6"/>
  <p:tag name="LATEXFORMWRAP" val="Vrai"/>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 1200"/>
  <p:tag name="ORIGINALHEIGHT" val=" 508.4365"/>
  <p:tag name="ORIGINALWIDTH" val=" 5200.6"/>
  <p:tag name="OUTPUTTYPE" val="PNG"/>
  <p:tag name="IGUANATEXVERSION" val="162"/>
  <p:tag name="LATEXADDIN" val="\documentclass{article}&#10;\usepackage{amsmath}&#10;\pagestyle{empty}&#10;\usepackage{amsmath}&#10;\usepackage{amsfonts}&#10;\usepackage{amssymb}&#10;\usepackage[paperwidth=21cm]{geometry}&#10;\usepackage{xcolor}&#10;&#10;\usepackage{amsmath, amssymb}&#10;\usepackage{circuitikz}&#10;\usepackage{siunitx}&#10;&#10;&#10;\begin{document}&#10;&#10;\subsection*{Résistance au transfert de chaleur}&#10;&#10;La résistance au transfert de chaleur entre le réfrigérant et l'air est dominée par la conduction dans l'isolation et la convection dans l'air. Le circuit thermique est donc :&#10;\end{document}"/>
  <p:tag name="IGUANATEXSIZE" val="18"/>
  <p:tag name="IGUANATEXCURSOR" val="507"/>
  <p:tag name="TRANSPARENCY" val="Vrai"/>
  <p:tag name="CHOOSECOLOR" val="Faux"/>
  <p:tag name="COLORHEX" val="000000"/>
  <p:tag name="FILENAME" val=""/>
  <p:tag name="LATEXENGINEID" val="0"/>
  <p:tag name="TEMPFOLDER" val="c:\temp\"/>
  <p:tag name="LATEXFORMHEIGHT" val=" 466.8"/>
  <p:tag name="LATEXFORMWIDTH" val=" 720.6"/>
  <p:tag name="LATEXFORMWRAP" val="Vrai"/>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 1200"/>
  <p:tag name="ORIGINALHEIGHT" val=" 1580.802"/>
  <p:tag name="ORIGINALWIDTH" val=" 5203.6"/>
  <p:tag name="OUTPUTTYPE" val="PNG"/>
  <p:tag name="IGUANATEXVERSION" val="162"/>
  <p:tag name="LATEXADDIN" val="\documentclass{article}&#10;\usepackage{amsmath}&#10;\pagestyle{empty}&#10;\usepackage{amsmath}&#10;\usepackage{amsfonts}&#10;\usepackage{amssymb}&#10;\usepackage[paperwidth=21cm]{geometry}&#10;\usepackage{xcolor}&#10;&#10;\usepackage{amsmath, amssymb}&#10;\usepackage{circuitikz}&#10;\usepackage{siunitx}&#10;&#10;&#10;\begin{document}&#10;&#10;La résistance thermique totale par unité de longueur de tube est alors :&#10;&#10;\begin{equation}&#10;R'_{tot} = \frac{\ln(r/r_i)}{2\pi k} + \frac{1}{2\pi rh}&#10;\end{equation}&#10;&#10;Le premier terme de l'équation représente la résistance thermique due à la conduction à travers l'isolation cylindrique, tandis que le second terme représente la résistance thermique due à la convection à la surface extérieure du tube.&#10;&#10;Le flux de chaleur par unité de longueur est : &#10;$$&#10;q' = \dfrac{T_\infty-T_i}{R'_{tot}}&#10;$$&#10;\end{document}"/>
  <p:tag name="IGUANATEXSIZE" val="18"/>
  <p:tag name="IGUANATEXCURSOR" val="768"/>
  <p:tag name="TRANSPARENCY" val="Vrai"/>
  <p:tag name="CHOOSECOLOR" val="Faux"/>
  <p:tag name="COLORHEX" val="000000"/>
  <p:tag name="FILENAME" val=""/>
  <p:tag name="LATEXENGINEID" val="0"/>
  <p:tag name="TEMPFOLDER" val="c:\temp\"/>
  <p:tag name="LATEXFORMHEIGHT" val=" 466.8"/>
  <p:tag name="LATEXFORMWIDTH" val=" 720.6"/>
  <p:tag name="LATEXFORMWRAP" val="Vrai"/>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2913.386"/>
  <p:tag name="ORIGINALWIDTH" val=" 5346.082"/>
  <p:tag name="OUTPUTTYPE" val="PNG"/>
  <p:tag name="IGUANATEXVERSION" val="162"/>
  <p:tag name="LATEXADDIN" val="\documentclass{article}&#10;\usepackage{amsmath}&#10;\pagestyle{empty}&#10;&#10;\usepackage{amssymb}&#10;\usepackage{geometry}&#10;\usepackage{setspace}&#10;&#10;\begin{document}&#10;&#10;Une épaisseur d'isolation optimale serait associée à la valeur de $r$ qui minimise $q'$ ou maximise $R'_{tot}$. Une telle valeur pourrait être obtenue à partir de l'exigence que :&#10;&#10;\begin{equation}&#10;\frac{dR'_{tot}}{dr} = 0&#10;\end{equation}&#10;&#10;D'où :&#10;\begin{equation}&#10;\dfrac{1}{2\pi kr} - \dfrac{1}{2\pi r^2 h} = 0&#10;\end{equation}&#10;ou&#10;\begin{equation}&#10;r = \frac{k}{h}&#10;\end{equation}&#10;&#10;Pour déterminer si le résultat précédent maximise ou minimise la résistance totale, la dérivée seconde doit être évaluée. D'où :&#10;&#10;\begin{equation}&#10;\frac{d^2R'_{tot}}{dr^2} = -\frac{1}{2\pi kr^2} + \frac{1}{\pi r^3 h}&#10;\end{equation}&#10;&#10;ou, à $r = k/h$ :&#10;&#10;\begin{equation}&#10;\frac{d^2R'_{tot}}{dr^2} = \frac{1}{\pi(k/h)^2} \left(\frac{1}{k} - \frac{1}{2k}\right) = \frac{1}{2\pi k^3/h^2} &gt; 0&#10;\end{equation}&#10;&#10;\end{document}"/>
  <p:tag name="IGUANATEXSIZE" val="20"/>
  <p:tag name="IGUANATEXCURSOR" val="475"/>
  <p:tag name="TRANSPARENCY" val="Vrai"/>
  <p:tag name="CHOOSECOLOR" val="Faux"/>
  <p:tag name="COLORHEX" val="000000"/>
  <p:tag name="FILENAME" val=""/>
  <p:tag name="LATEXENGINEID" val="0"/>
  <p:tag name="TEMPFOLDER" val="c:\temp\"/>
  <p:tag name="LATEXFORMHEIGHT" val=" 436.8"/>
  <p:tag name="LATEXFORMWIDTH" val=" 622.8"/>
  <p:tag name="LATEXFORMWRAP" val="Vrai"/>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 1200"/>
  <p:tag name="ORIGINALHEIGHT" val=" 1573.303"/>
  <p:tag name="ORIGINALWIDTH" val=" 3961.005"/>
  <p:tag name="OUTPUTTYPE" val="PNG"/>
  <p:tag name="IGUANATEXVERSION" val="162"/>
  <p:tag name="LATEXADDIN" val="\documentclass{article}&#10;\usepackage{amsmath}&#10;\pagestyle{empty}&#10;&#10;\usepackage{amssymb}&#10;\usepackage{setspace}&#10;\usepackage{setspace}&#10;\usepackage{siunitx}&#10;\usepackage[paperwidth=16cm]{geometry}&#10;&#10;\sisetup{&#10;    locale = FR,&#10;    per-mode = symbol,&#10;    inter-unit-product = \ensuremath{{}\cdot{}},&#10;    output-decimal-marker = {.}&#10;}&#10;&#10;\begin{document}&#10;&#10;On définit un \textbf{rayon critique d'isolation} : $ r_{c} = \frac{k}{h}$. &#10;Pour $r&lt;r_{c}$, le transfert de chaleur $q'$ augmente avec $r$ tandis qu'il diminue&#10;pour $r&gt;r_c$.&#10;&#10;Avec $h = \SI{5}{\watt\per\meter\squared\per\kelvin}$ et $k = \SI{0.055}{\watt\per\meter\per\kelvin}$, le rayon critique est :&#10;\begin{equation}&#10;r_{c} = \frac{k}{h} = \frac{\SI{0.055}{\watt\per\meter\per\kelvin}}{\SI{5}{\watt\per\meter\squared\per\kelvin}} = \SI{0.011}{\meter}&#10;\end{equation}&#10;&#10;Par conséquent, $r_{c} &gt; r_i$ et le transfert de chaleur augmentera avec l'ajout d'isolation jusqu'à une épaisseur de :&#10;&#10;\begin{equation}&#10;r_{c} - r_i = (\num{0.011} - \num{0.005})~\si{\meter} = \SI{0.006}{\meter}&#10;\end{equation}&#10;&#10;\end{document}"/>
  <p:tag name="IGUANATEXSIZE" val="20"/>
  <p:tag name="IGUANATEXCURSOR" val="84"/>
  <p:tag name="TRANSPARENCY" val="Vrai"/>
  <p:tag name="CHOOSECOLOR" val="Faux"/>
  <p:tag name="COLORHEX" val="000000"/>
  <p:tag name="FILENAME" val=""/>
  <p:tag name="LATEXENGINEID" val="0"/>
  <p:tag name="TEMPFOLDER" val="c:\temp\"/>
  <p:tag name="LATEXFORMHEIGHT" val=" 436.8"/>
  <p:tag name="LATEXFORMWIDTH" val=" 622.8"/>
  <p:tag name="LATEXFORMWRAP" val="Vrai"/>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 1200"/>
  <p:tag name="ORIGINALHEIGHT" val=" 848.1439"/>
  <p:tag name="ORIGINALWIDTH" val=" 6191.976"/>
  <p:tag name="OUTPUTTYPE" val="PNG"/>
  <p:tag name="IGUANATEXVERSION" val="162"/>
  <p:tag name="LATEXADDIN" val="\documentclass{article}&#10;\usepackage{amsmath}&#10;\pagestyle{empty}&#10;&#10;\usepackage{amssymb}&#10;\usepackage{setspace}&#10;\usepackage{setspace}&#10;\usepackage{siunitx}&#10;\usepackage[paperwidth=25cm]{geometry}&#10;\usepackage{booktabs}&#10;&#10;&#10;&#10;\begin{document}&#10;&#10;&#10;\section*{Résumé des résultats de conduction unidimensionnelle}&#10;&#10;De nombreux problèmes importants sont caractérisés par une conduction unidimensionnelle en régime permanent dans des parois planes, cylindriques ou sphériques sans génération d'énergie thermique. Les résultats clés pour ces trois géométries sont résumés dans le Tableau ci-après, où $\Delta T=T_{s,1} - T_{s,2}$, entre les surfaces intérieure et extérieure. &#10;\end{document}"/>
  <p:tag name="IGUANATEXSIZE" val="18"/>
  <p:tag name="IGUANATEXCURSOR" val="656"/>
  <p:tag name="TRANSPARENCY" val="Vrai"/>
  <p:tag name="CHOOSECOLOR" val="Faux"/>
  <p:tag name="COLORHEX" val="000000"/>
  <p:tag name="FILENAME" val=""/>
  <p:tag name="LATEXENGINEID" val="0"/>
  <p:tag name="TEMPFOLDER" val="c:\temp\"/>
  <p:tag name="LATEXFORMHEIGHT" val=" 436.8"/>
  <p:tag name="LATEXFORMWIDTH" val=" 622.8"/>
  <p:tag name="LATEXFORMWRAP" val="Vrai"/>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 1200"/>
  <p:tag name="ORIGINALHEIGHT" val=" 4179.978"/>
  <p:tag name="ORIGINALWIDTH" val=" 6191.226"/>
  <p:tag name="OUTPUTTYPE" val="PNG"/>
  <p:tag name="IGUANATEXVERSION" val="162"/>
  <p:tag name="LATEXADDIN" val="\documentclass{article}&#10;\usepackage{amsmath}&#10;\pagestyle{empty}&#10;&#10;\usepackage{amssymb}&#10;\usepackage{setspace}&#10;\usepackage{setspace}&#10;\usepackage{siunitx}&#10;\usepackage[paperwidth=25cm]{geometry}&#10;\usepackage{booktabs}&#10;\usepackage{array}&#10;\usepackage{xcolor}&#10;&#10;&#10;\begin{document}&#10;&#10;\section*{Solutions unidimensionnelles en régime permanent de l'équation de la chaleur sans génération $\Delta T=T_{s,1} - T_{s,2}$}&#10;&#10;\begin{table}[h!]&#10;\centering&#10;\renewcommand{\arraystretch}{2.5}&#10;\begin{tabular}{|&gt;{\centering\arraybackslash}m{3.5cm}|&gt;{\centering\arraybackslash}m{4cm}|&gt;{\centering\arraybackslash}m{4cm}|&gt;{\centering\arraybackslash}m{4cm}|}&#10;\hline&#10;\color{red}&#10;&amp; \textbf{Paroi plane} &amp; \textbf{Paroi cylindrique}$^a$ &amp; \textbf{Paroi sphérique}$^a$ \\&#10;\hline&#10;\textbf{Équation de la chaleur} &amp; &#10;$\frac{d^2T}{dx^2} = 0$ &amp; &#10;$\frac{1}{r}\frac{d}{dr}\left(r\frac{dT}{dr}\right) = 0$ &amp; &#10;$\frac{1}{r^2}\frac{d}{dr}\left(r^2\frac{dT}{dr}\right) = 0$ \\&#10;\hline&#10;\textbf{Distribution de température} &amp; &#10;$T_{s,1} - \Delta T \frac{x}{L}$ &amp; &#10;$T_{s,2} + \Delta T \frac{\ln(r/r_2)}{\ln(r_1/r_2)}$ &amp; &#10;$T_{s,1} - \Delta T \left[\frac{1-(r_1/r)}{1-(r_1/r_2)}\right]$ \\&#10;\hline&#10;\textbf{Flux de chaleur $(q'')$} &amp; &#10;$k\frac{\Delta T}{L}$ &amp; &#10;$\frac{k\Delta T}{r\ln(r_2/r_1)}$ &amp; &#10;$\frac{k\Delta T}{r^2[(1/r_1)-(1/r_2)]}$ \\&#10;\hline&#10;\textbf{Taux de transfert de chaleur $(q)$} &amp; &#10;$kA\frac{\Delta T}{L}$ &amp; &#10;$\frac{2\pi Lk\Delta T}{\ln(r_2/r_1)}$ &amp; &#10;$\frac{4\pi k\Delta T}{(1/r_1)-(1/r_2)}$ \\&#10;\hline&#10;\textbf{Résistance thermique $(R_{t,cond})$} &amp; &#10;$\frac{L}{kA}$ &amp; &#10;$\frac{\ln(r_2/r_1)}{2\pi Lk}$ &amp; &#10;$\frac{(1/r_1)-(1/r_2)}{4\pi k}$ \\&#10;\hline&#10;\end{tabular}&#10;\end{table}&#10;&#10;\vspace{1cm}&#10;&#10;$^a$ Le rayon critique d'isolation est $r_{cr} = k/h$ pour le cylindre et $r_{cr} = 2k/h$ pour la sphère.&#10;&#10;\end{document}"/>
  <p:tag name="IGUANATEXSIZE" val="18"/>
  <p:tag name="IGUANATEXCURSOR" val="401"/>
  <p:tag name="TRANSPARENCY" val="Vrai"/>
  <p:tag name="CHOOSECOLOR" val="Faux"/>
  <p:tag name="COLORHEX" val="000000"/>
  <p:tag name="FILENAME" val=""/>
  <p:tag name="LATEXENGINEID" val="0"/>
  <p:tag name="TEMPFOLDER" val="c:\temp\"/>
  <p:tag name="LATEXFORMHEIGHT" val=" 436.8"/>
  <p:tag name="LATEXFORMWIDTH" val=" 622.8"/>
  <p:tag name="LATEXFORMWRAP" val="Vrai"/>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 1200"/>
  <p:tag name="ORIGINALHEIGHT" val=" 2221.222"/>
  <p:tag name="ORIGINALWIDTH" val=" 3985.002"/>
  <p:tag name="OUTPUTTYPE" val="PNG"/>
  <p:tag name="IGUANATEXVERSION" val="162"/>
  <p:tag name="LATEXADDIN" val="\documentclass{article}&#10;\usepackage{amsmath}&#10;\pagestyle{empty}&#10;&#10;\usepackage{amssymb}&#10;\usepackage{setspace}&#10;\usepackage{siunitx}&#10;\usepackage[paperwidth=15cm]{geometry}&#10;\usepackage{xcolor}&#10;\usepackage{framed}&#10;&#10;\begin{document}&#10;&#10;\section*{Exemple 3.10}&#10;&#10;Le cylindre moteur d'une motocyclette est construit en alliage d'aluminium 2024-T6 et a une hauteur $H = 100$ mm et un diamètre extérieur $D = 2r_1 = 50$ mm. Dans des conditions de fonctionnement typiques, $q_t = 2$ kW de chaleur est transférée du cylindre vers l'air ambiant à 300 K, avec un coefficient de convection de h = 75 W/m$^2 \cdot$ K. \\&#10;&#10;\noindent&#10; Des ailettes annulaires sont coulées intégralement avec le cylindre pour réduire la température du cylindre. Considérez dix ailettes espacées de manière égale, chacune ayant une épaisseur $t = 4$ mm et une longueur $L = 20$ mm. Quelle réduction de la température du cylindre peut être obtenue par l'utilisation des ailettes ? \\&#10;&#10;\noindent&#10;aluminium 2024-T6 ($T \approx 550$ K) : $k = 186$ W/m $\cdot$ K.&#10;&#10;\end{document}\end{document}"/>
  <p:tag name="IGUANATEXSIZE" val="18"/>
  <p:tag name="IGUANATEXCURSOR" val="577"/>
  <p:tag name="TRANSPARENCY" val="Vrai"/>
  <p:tag name="CHOOSECOLOR" val="Faux"/>
  <p:tag name="COLORHEX" val="000000"/>
  <p:tag name="FILENAME" val=""/>
  <p:tag name="LATEXENGINEID" val="0"/>
  <p:tag name="TEMPFOLDER" val="c:\temp\"/>
  <p:tag name="LATEXFORMHEIGHT" val=" 559.8"/>
  <p:tag name="LATEXFORMWIDTH" val=" 836.4"/>
  <p:tag name="LATEXFORMWRAP" val="Vrai"/>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 1200"/>
  <p:tag name="ORIGINALHEIGHT" val=" 1106.862"/>
  <p:tag name="ORIGINALWIDTH" val=" 5696.288"/>
  <p:tag name="OUTPUTTYPE" val="PNG"/>
  <p:tag name="IGUANATEXVERSION" val="162"/>
  <p:tag name="LATEXADDIN" val="\documentclass{article}&#10;\usepackage{amsmath}&#10;\pagestyle{empty}&#10;&#10;\usepackage{amssymb}&#10;\usepackage{setspace}&#10;\usepackage{siunitx}&#10;\usepackage[paperwidth=23cm]{geometry}&#10;\usepackage{xcolor}&#10;\usepackage{framed}&#10;&#10;\begin{document}&#10;&#10;Comme&#10;$R_{t,o} = \dfrac{\theta_b}{q_t} = \dfrac{1}{\eta_o hA_t}$,&#10;on a :&#10;$$&#10;\theta_b = \frac{q_t}{\eta_o hA_t} \quad \text{avec} \quad \eta_o = 1 - \frac{N\;A_f}{A_t}(1 - \eta_f)&#10;$$&#10;&#10;{\color{red}&#10;Outre le calcul de $A_f$ et $A_t$, il faut étudier un modèle d'ailette annulaire de rayons interne $r_1$&#10;et externe $r_2$ pour estimer $\eta_f$.}&#10;\end{document}\end{document}"/>
  <p:tag name="IGUANATEXSIZE" val="18"/>
  <p:tag name="IGUANATEXCURSOR" val="153"/>
  <p:tag name="TRANSPARENCY" val="Vrai"/>
  <p:tag name="CHOOSECOLOR" val="Faux"/>
  <p:tag name="COLORHEX" val="000000"/>
  <p:tag name="FILENAME" val=""/>
  <p:tag name="LATEXENGINEID" val="0"/>
  <p:tag name="TEMPFOLDER" val="c:\temp\"/>
  <p:tag name="LATEXFORMHEIGHT" val=" 559.8"/>
  <p:tag name="LATEXFORMWIDTH" val=" 836.4"/>
  <p:tag name="LATEXFORMWRAP" val="Vrai"/>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3435.321"/>
  <p:tag name="ORIGINALWIDTH" val="6192.726"/>
  <p:tag name="OUTPUTTYPE" val="PNG"/>
  <p:tag name="IGUANATEXVERSION" val="160"/>
  <p:tag name="LATEXADDIN" val="\documentclass{article}&#10;\usepackage{amsmath}&#10;\pagestyle{empty}&#10;&#10;\usepackage{amssymb}&#10;\usepackage{setspace}&#10;\usepackage{siunitx}&#10;\usepackage[paperwidth=25cm]{geometry}&#10;\usepackage{xcolor}&#10;\usepackage{framed}&#10;&#10;\begin{document}&#10;&#10;\subsection*{Efficacité thermique de cette ailette annulaire}&#10;&#10;On considère une ailette de forme annulaire, de rayons intérieur \( r_1 \) et extérieur \( r_2 \), et d'épaisseur \( t \). Le matériau est homogène, de conductivité thermique \( k \), et l'ailette dissipe la chaleur par convection avec un fluide ambiant à température \( T_\infty \), selon un coefficient d'échange \( h \). Le bord extérieur (cylindrique) en \( r = r_2 \), de hauteur \( t \), est supposé \textbf{adiabatique}.&#10;&#10;La conduction radiale dans l’ailette obéit à :&#10;\[&#10;\frac{k}{r} \frac{d}{dr} \left( r \frac{dT}{dr} \right) - \frac{2h}{t} (T - T_\infty) = 0&#10;\quad \text{facteur 2 pour les 2 faces}&#10;\]&#10;&#10;On pose \( \theta(r) = T(r) - T_\infty \), \( \theta_b = T_b - T_\infty \), et \( m^2 = \dfrac{2h}{kt} \), ce qui donne :&#10;\[&#10;\frac{1}{r} \frac{d}{dr} \left( r \frac{d\theta}{dr} \right) - m^2 \theta = 0&#10;\]&#10;&#10;&#10;La solution de cette équation différentielle est :&#10;$&#10;\theta(r) = A I_0(mr) + B K_0(mr)&#10;$&#10;où \( I_0 \) et \( K_0 \) sont les fonctions de Bessel modifiées d’ordre 0.&#10;&#10;Les conditions aux limites sont:&#10;\begin{itemize}&#10;  \item En \( r = r_1 \), température imposée : \(\theta(r_1) = \theta_b \)&#10;  \item En \( r = r_2 \), bord adiabatique : \( \left. \dfrac{d{\theta}}{dr} \right|_{r = r_2} = 0 \)&#10;\end{itemize}&#10;&#10;\end{document}\end{document}"/>
  <p:tag name="IGUANATEXSIZE" val="18"/>
  <p:tag name="IGUANATEXCURSOR" val="896"/>
  <p:tag name="TRANSPARENCY" val="Vrai"/>
  <p:tag name="FILENAME" val=""/>
  <p:tag name="LATEXENGINEID" val="0"/>
  <p:tag name="TEMPFOLDER" val="c:\temp\"/>
  <p:tag name="LATEXFORMHEIGHT" val="559.8"/>
  <p:tag name="LATEXFORMWIDTH" val="836.4"/>
  <p:tag name="LATEXFORMWRAP" val="Vrai"/>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237.7203"/>
  <p:tag name="ORIGINALWIDTH" val="666.6667"/>
  <p:tag name="OUTPUTTYPE" val="PNG"/>
  <p:tag name="IGUANATEXVERSION" val="160"/>
  <p:tag name="LATEXADDIN" val="\documentclass{article}&#10;\usepackage{amsmath}&#10;\pagestyle{empty}&#10;\begin{document}&#10;&#10;\noindent&#10;t : épaisseur\\&#10;de l'ailette&#10;&#10;&#10;\end{document}"/>
  <p:tag name="IGUANATEXSIZE" val="16"/>
  <p:tag name="IGUANATEXCURSOR" val="90"/>
  <p:tag name="TRANSPARENCY" val="Faux"/>
  <p:tag name="FILENAME" val=""/>
  <p:tag name="LATEXENGINEID" val="0"/>
  <p:tag name="TEMPFOLDER" val="c:\temp\"/>
  <p:tag name="LATEXFORMHEIGHT" val="320"/>
  <p:tag name="LATEXFORMWIDTH" val="385"/>
  <p:tag name="LATEXFORMWRAP" val="Vrai"/>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774.6531"/>
  <p:tag name="OUTPUTTYPE" val="PNG"/>
  <p:tag name="IGUANATEXVERSION" val="160"/>
  <p:tag name="LATEXADDIN" val="\documentclass{article}&#10;\usepackage{amsmath}&#10;\usepackage{xcolor}&#10;\pagestyle{empty}&#10;\begin{document}&#10;&#10;{\color{red} singulière en 0}&#10;&#10;&#10;\end{document}"/>
  <p:tag name="IGUANATEXSIZE" val="14"/>
  <p:tag name="IGUANATEXCURSOR" val="130"/>
  <p:tag name="TRANSPARENCY" val="Vrai"/>
  <p:tag name="FILENAME" val=""/>
  <p:tag name="LATEXENGINEID" val="0"/>
  <p:tag name="TEMPFOLDER" val="c:\temp\"/>
  <p:tag name="LATEXFORMHEIGHT" val="320"/>
  <p:tag name="LATEXFORMWIDTH" val="385"/>
  <p:tag name="LATEXFORMWRAP" val="Vrai"/>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94.48819"/>
  <p:tag name="OUTPUTTYPE" val="PNG"/>
  <p:tag name="IGUANATEXVERSION" val="160"/>
  <p:tag name="LATEXADDIN" val="\documentclass{article}&#10;\usepackage{amsmath}&#10;\pagestyle{empty}&#10;\begin{document}&#10;&#10;$r_1$&#10;&#10;&#10;\end{document}"/>
  <p:tag name="IGUANATEXSIZE" val="12"/>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97.48779"/>
  <p:tag name="OUTPUTTYPE" val="PNG"/>
  <p:tag name="IGUANATEXVERSION" val="160"/>
  <p:tag name="LATEXADDIN" val="\documentclass{article}&#10;\usepackage{amsmath}&#10;\pagestyle{empty}&#10;\begin{document}&#10;&#10;$r_2$&#10;&#10;&#10;\end{document}"/>
  <p:tag name="IGUANATEXSIZE" val="12"/>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3432.321"/>
  <p:tag name="ORIGINALWIDTH" val="4711.661"/>
  <p:tag name="OUTPUTTYPE" val="PNG"/>
  <p:tag name="IGUANATEXVERSION" val="160"/>
  <p:tag name="LATEXADDIN" val="\documentclass{article}&#10;\usepackage{amsmath}&#10;\pagestyle{empty}&#10;&#10;\usepackage{amssymb}&#10;\usepackage{setspace}&#10;\usepackage{siunitx}&#10;\usepackage[paperwidth=25cm]{geometry}&#10;\usepackage{xcolor}&#10;\usepackage{framed}&#10;&#10;\begin{document}&#10;Comme &#10;$&#10;\frac{d}{dr} I_0(mr) = m I_1(mr), \quad \frac{d}{dr} K_0(mr) = -m K_1(mr)&#10;$&#10;on obtient :&#10;\[&#10;\left. \frac{d{\theta}}{dr} \right|_{r} = A m I_1(mr) - B m K_1(mr)&#10;\]&#10;&#10;Les deux conditions aux limites conduisent au système linéaire :&#10;&#10;\[&#10;\begin{cases}&#10;A I_0(mr_1) + B K_0(mr_1) = \theta_b \\&#10;A m I_1(mr_2) - B m K_1(mr_2) = 0&#10;\end{cases}&#10;\]&#10;&#10;La résolution de ce système donne les coefficients \( A \) et \( B \).&#10;En les remplaçant dans :&#10;&#10;\[&#10;\left. \frac{d{\theta}}{dr} \right|_{r=r_1} = A m I_1(mr_1) - B m K_1(mr_1)&#10;\]&#10;on obtient :&#10;\begin{equation*}&#10;\boxed{\frac{d{\theta}}{dr}\bigg|_{r=r_1} = m \; \theta_b \;\dfrac{K_1(mr_2)I_1(mr_1) - I_1(mr_2)K_1(mr_1)}{I_0(mr_1)K_1(mr_2) + I_1(mr_2)K_0(mr_1)}}&#10;\end{equation*}&#10;&#10;L’efficacité thermique est le rapport entre le flux $q_f$ et le flux $q_{max}$ :&#10;&#10;\[&#10;\eta_f = \frac{q_f}{q_{max}}&#10;= \frac{-2\pi k t r_1 \left. \dfrac{d{\theta}}{dr} \right|_{r=r_1}}{2\pi h (r_2^2 - r_1^2) \theta_b}&#10;= \frac{-k t r_1 }{h (r_2^2 - r_1^2) \theta_b}\; \left. \dfrac{d{\theta}}{dr} \right|_{r=r_1}&#10;\]&#10;&#10;\end{document}"/>
  <p:tag name="IGUANATEXSIZE" val="18"/>
  <p:tag name="IGUANATEXCURSOR" val="1039"/>
  <p:tag name="TRANSPARENCY" val="Vrai"/>
  <p:tag name="FILENAME" val=""/>
  <p:tag name="LATEXENGINEID" val="0"/>
  <p:tag name="TEMPFOLDER" val="c:\temp\"/>
  <p:tag name="LATEXFORMHEIGHT" val="559.8"/>
  <p:tag name="LATEXFORMWIDTH" val="836.4"/>
  <p:tag name="LATEXFORMWRAP" val="Vrai"/>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774.6531"/>
  <p:tag name="OUTPUTTYPE" val="PNG"/>
  <p:tag name="IGUANATEXVERSION" val="160"/>
  <p:tag name="LATEXADDIN" val="\documentclass{article}&#10;\usepackage{amsmath}&#10;\usepackage{xcolor}&#10;\pagestyle{empty}&#10;\begin{document}&#10;&#10;{\color{red} singulière en 0}&#10;&#10;&#10;\end{document}"/>
  <p:tag name="IGUANATEXSIZE" val="14"/>
  <p:tag name="IGUANATEXCURSOR" val="130"/>
  <p:tag name="TRANSPARENCY" val="Vrai"/>
  <p:tag name="FILENAME" val=""/>
  <p:tag name="LATEXENGINEID" val="0"/>
  <p:tag name="TEMPFOLDER" val="c:\temp\"/>
  <p:tag name="LATEXFORMHEIGHT" val="320"/>
  <p:tag name="LATEXFORMWIDTH" val="385"/>
  <p:tag name="LATEXFORMWRAP" val="Vrai"/>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877.015"/>
  <p:tag name="ORIGINALWIDTH" val="3026.622"/>
  <p:tag name="OUTPUTTYPE" val="PNG"/>
  <p:tag name="IGUANATEXVERSION" val="160"/>
  <p:tag name="LATEXADDIN" val="\documentclass{article}&#10;\usepackage{amsmath}&#10;\pagestyle{empty}&#10;&#10;\usepackage{amssymb}&#10;\usepackage{setspace}&#10;\usepackage{siunitx}&#10;\usepackage[paperwidth=25cm]{geometry}&#10;\usepackage{xcolor}&#10;\usepackage{framed}&#10;&#10;\begin{document}&#10;&#10;&#10;\[&#10;\eta_f = \frac{q_f}{q_{max}}&#10;= \frac{-2\pi k {\color{red} t} r_1 \left. \dfrac{d{\theta}}{dr} \right|_{r=r_1}}{2\pi h (r_2^2 - r_1^2) \theta_b}&#10;= \frac{-k {\color{red} t} r_1 }{h (r_2^2 - r_1^2) \theta_b}\; \left. \dfrac{d{\theta}}{dr} \right|_{r=r_1}&#10;\]\\&#10;&#10;\begin{equation*}&#10;{\frac{d{\theta}}{dr}\bigg|_{r=r_1} = m \; \theta_b \;\dfrac{K_1(mr_2)I_1(mr_1) - I_1(mr_2)K_1(mr_1)}{I_0(mr_1)K_1(mr_2) + I_1(mr_2)K_0(mr_1)}}&#10;\end{equation*}\\&#10;&#10;&#10;$$ m^2 = \dfrac{2 h}{k {\color{red}t}} $$&#10;&#10;\end{document}"/>
  <p:tag name="IGUANATEXSIZE" val="18"/>
  <p:tag name="IGUANATEXCURSOR" val="290"/>
  <p:tag name="TRANSPARENCY" val="Vrai"/>
  <p:tag name="FILENAME" val=""/>
  <p:tag name="LATEXENGINEID" val="0"/>
  <p:tag name="TEMPFOLDER" val="c:\temp\"/>
  <p:tag name="LATEXFORMHEIGHT" val="559.8"/>
  <p:tag name="LATEXFORMWIDTH" val="836.4"/>
  <p:tag name="LATEXFORMWRAP" val="Vrai"/>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19.985"/>
  <p:tag name="ORIGINALWIDTH" val="566.9291"/>
  <p:tag name="OUTPUTTYPE" val="PNG"/>
  <p:tag name="IGUANATEXVERSION" val="160"/>
  <p:tag name="LATEXADDIN" val="\documentclass{article}&#10;\usepackage{amsmath}&#10;\usepackage{xcolor}&#10;\pagestyle{empty}&#10;\begin{document}&#10;&#10;{\color{red}&#10;$$\eta_f = 0.965$$&#10;}&#10;&#10;&#10;\end{document}"/>
  <p:tag name="IGUANATEXSIZE" val="20"/>
  <p:tag name="IGUANATEXCURSOR" val="134"/>
  <p:tag name="TRANSPARENCY" val="Vrai"/>
  <p:tag name="FILENAME" val=""/>
  <p:tag name="LATEXENGINEID" val="0"/>
  <p:tag name="TEMPFOLDER" val="c:\temp\"/>
  <p:tag name="LATEXFORMHEIGHT" val="320"/>
  <p:tag name="LATEXFORMWIDTH" val="385"/>
  <p:tag name="LATEXFORMWRAP" val="Vrai"/>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19.985"/>
  <p:tag name="ORIGINALWIDTH" val="566.9291"/>
  <p:tag name="OUTPUTTYPE" val="PNG"/>
  <p:tag name="IGUANATEXVERSION" val="160"/>
  <p:tag name="LATEXADDIN" val="\documentclass{article}&#10;\usepackage{amsmath}&#10;\usepackage{xcolor}&#10;\pagestyle{empty}&#10;\begin{document}&#10;&#10;{\color{red}&#10;$$\eta_f = 0.965$$&#10;}&#10;&#10;&#10;\end{document}"/>
  <p:tag name="IGUANATEXSIZE" val="20"/>
  <p:tag name="IGUANATEXCURSOR" val="134"/>
  <p:tag name="TRANSPARENCY" val="Vrai"/>
  <p:tag name="FILENAME" val=""/>
  <p:tag name="LATEXENGINEID" val="0"/>
  <p:tag name="TEMPFOLDER" val="c:\temp\"/>
  <p:tag name="LATEXFORMHEIGHT" val="320"/>
  <p:tag name="LATEXFORMWIDTH" val="385"/>
  <p:tag name="LATEXFORMWRAP" val="Vrai"/>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 1200"/>
  <p:tag name="ORIGINALHEIGHT" val=" 2920.135"/>
  <p:tag name="ORIGINALWIDTH" val=" 3547.057"/>
  <p:tag name="OUTPUTTYPE" val="PNG"/>
  <p:tag name="IGUANATEXVERSION" val="162"/>
  <p:tag name="LATEXADDIN" val="\documentclass{article}&#10;\usepackage{amsmath}&#10;\pagestyle{empty}&#10;&#10;\usepackage{amssymb}&#10;\usepackage{setspace}&#10;\usepackage{siunitx}&#10;\usepackage[paperwidth=15cm]{geometry}&#10;\usepackage{xcolor}&#10;\usepackage{framed}&#10;&#10;\begin{document}&#10;&#10;\noindent&#10;où $$A_f = 2\pi(r_2^2 - r_1^2) = 2\pi[(0.045 \text{ m})^2 - (0.025 \text{ m})^2] = 0.00879 \text{ m}^2$$ &#10;&#10;Comme $N=10$, $H=0.1m$ et $t=0.004m$, on a :&#10;$$A_t = N\;A_f + 2\pi r_1 \;(H - N\;t) = 0.09739 \text{ m}^2$$.&#10;&#10;&#10;${\color{red} \eta_f = 0.965}$ et $\eta_o = 1 - \frac{N\;A_f}{A_t}(1 - \eta_f) = 0.969$.&#10;&#10;\noindent&#10;Comme&#10;$$\theta_b = \frac{q_t}{\eta_o hA_t} = 282.7$$ d'où $$T_b = T_\infty + \theta_b = 582.7K = 310.9^\circ C$$&#10;&#10;\noindent&#10;Sans ailette, &#10;$$\theta_b = \frac{q_t}{h (2\pi\; r_1\; H)} = 1697.6$$ &#10;d'où $$T_b = T_\infty + \theta_b = 1997.6K = 1724.5^\circ C$$&#10;&#10;\end{document}"/>
  <p:tag name="IGUANATEXSIZE" val="18"/>
  <p:tag name="IGUANATEXCURSOR" val="800"/>
  <p:tag name="TRANSPARENCY" val="Vrai"/>
  <p:tag name="CHOOSECOLOR" val="Faux"/>
  <p:tag name="COLORHEX" val="000000"/>
  <p:tag name="FILENAME" val=""/>
  <p:tag name="LATEXENGINEID" val="0"/>
  <p:tag name="TEMPFOLDER" val="c:\temp\"/>
  <p:tag name="LATEXFORMHEIGHT" val=" 559.8"/>
  <p:tag name="LATEXFORMWIDTH" val=" 836.4"/>
  <p:tag name="LATEXFORMWRAP" val="Vrai"/>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486.6891"/>
  <p:tag name="ORIGINALWIDTH" val="1653.543"/>
  <p:tag name="OUTPUTTYPE" val="PNG"/>
  <p:tag name="IGUANATEXVERSION" val="160"/>
  <p:tag name="LATEXADDIN" val="\documentclass{article}&#10;\usepackage{amsmath}&#10;\pagestyle{empty}&#10;\begin{document}&#10;&#10;\subsection*{Température de fusion}&#10;&#10;Aluminium moulé : $\approx 600^\circ C$\\&#10;Fonte : $\approx 1150–1200^\circ C$&#10;&#10;&#10;\end{document}"/>
  <p:tag name="IGUANATEXSIZE" val="16"/>
  <p:tag name="IGUANATEXCURSOR" val="150"/>
  <p:tag name="TRANSPARENCY" val="Vrai"/>
  <p:tag name="FILENAME" val=""/>
  <p:tag name="LATEXENGINEID" val="0"/>
  <p:tag name="TEMPFOLDER" val="c:\temp\"/>
  <p:tag name="LATEXFORMHEIGHT" val="320"/>
  <p:tag name="LATEXFORMWIDTH" val="385"/>
  <p:tag name="LATEXFORMWRAP" val="Vrai"/>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2059.992"/>
  <p:tag name="ORIGINALWIDTH" val="3713.536"/>
  <p:tag name="OUTPUTTYPE" val="PNG"/>
  <p:tag name="IGUANATEXVERSION" val="160"/>
  <p:tag name="LATEXADDIN" val="\documentclass{article}&#10;\usepackage{amsmath}&#10;\pagestyle{empty}&#10;&#10;\usepackage{amssymb}&#10;\usepackage{setspace}&#10;\usepackage{siunitx}&#10;\usepackage[paperwidth=15cm]{geometry}&#10;\usepackage{xcolor}&#10;\usepackage{framed}&#10;&#10;\begin{document}&#10;&#10;\section*{Exemple 3.113}&#10;&#10;Les passages cannelés sont fréquemment formés entre des plaques parallèles pour améliorer le transfert thermique par convection dans les noyaux d'échangeurs thermiques compacts. Une application importante se trouve dans le refroidissement d'équipements électroniques, où une ou plusieurs piles refroidies par air sont placées entre des composants électriques dissipant de la chaleur. Considérons une pile unique d'ailettes rectangulaires de longueur $L$ et d'épaisseur $t$, avec des conditions de convection correspondant à $h$ et $T_{\infty}$. \\&#10;&#10;(a) Obtenez les expressions des taux de transfert (=flux) thermique des ailettes, $q_{f,o}$ et $q_{f,L}$, en fonction des températures de base, $T_o$ et $T_L$.&#10;&#10;\end{document}"/>
  <p:tag name="IGUANATEXSIZE" val="18"/>
  <p:tag name="IGUANATEXCURSOR" val="918"/>
  <p:tag name="TRANSPARENCY" val="Vrai"/>
  <p:tag name="FILENAME" val=""/>
  <p:tag name="LATEXENGINEID" val="0"/>
  <p:tag name="TEMPFOLDER" val="c:\temp\"/>
  <p:tag name="LATEXFORMHEIGHT" val="559.8"/>
  <p:tag name="LATEXFORMWIDTH" val="836.4"/>
  <p:tag name="LATEXFORMWRAP" val="Vrai"/>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 1200"/>
  <p:tag name="ORIGINALHEIGHT" val=" 860.1425"/>
  <p:tag name="ORIGINALWIDTH" val=" 5704.537"/>
  <p:tag name="OUTPUTTYPE" val="PNG"/>
  <p:tag name="IGUANATEXVERSION" val="162"/>
  <p:tag name="LATEXADDIN" val="\documentclass{article}&#10;\usepackage{amsmath}&#10;\pagestyle{empty}&#10;&#10;\usepackage{amssymb}&#10;\usepackage{setspace}&#10;\usepackage{siunitx}&#10;\usepackage[paperwidth=23cm]{geometry}&#10;\usepackage{xcolor}&#10;\usepackage{framed}&#10;&#10;\begin{document}&#10;&#10;(b) Dans une application spécifique, une pile de $W=200$ mm de large et $D=100$ mm de profondeur contient $N_f=50$ ailettes, chacune de longueur $L = 12$ mm. L'ensemble de la pile est fait d'aluminium, qui fait partout 1 mm d'épaisseur. Si les limitations de température associées aux composants électriques joints aux plaques opposées dictent des températures maximales admissibles de plaques de $T_o = 400$ K et $T_L = 350$ K, quelles sont les dissipations de puissance maximales correspondantes si $h = 150$ W/m$^2 \cdot$ K et $T_{\infty} = 300$ K ?&#10;&#10;\end{document}"/>
  <p:tag name="IGUANATEXSIZE" val="18"/>
  <p:tag name="IGUANATEXCURSOR" val="340"/>
  <p:tag name="TRANSPARENCY" val="Vrai"/>
  <p:tag name="CHOOSECOLOR" val="Faux"/>
  <p:tag name="COLORHEX" val="000000"/>
  <p:tag name="FILENAME" val=""/>
  <p:tag name="LATEXENGINEID" val="0"/>
  <p:tag name="TEMPFOLDER" val="c:\temp\"/>
  <p:tag name="LATEXFORMHEIGHT" val=" 559.8"/>
  <p:tag name="LATEXFORMWIDTH" val=" 836.4"/>
  <p:tag name="LATEXFORMWRAP" val="Vrai"/>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 1200"/>
  <p:tag name="ORIGINALHEIGHT" val=" 265.4669"/>
  <p:tag name="ORIGINALWIDTH" val=" 2479.19"/>
  <p:tag name="OUTPUTTYPE" val="PNG"/>
  <p:tag name="IGUANATEXVERSION" val="162"/>
  <p:tag name="LATEXADDIN" val="\documentclass{article}&#10;\usepackage{amsmath}&#10;\pagestyle{empty}&#10;\begin{document}&#10;&#10;$L=12$ mm, $D=100$ mm et $W=200$mm.&#10;&#10;Aluminum (pur), @$375$ K: $k = 240$ W/(m.K).&#10;&#10;\end{document}"/>
  <p:tag name="IGUANATEXSIZE" val="14"/>
  <p:tag name="IGUANATEXCURSOR" val="105"/>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2419</TotalTime>
  <Words>19</Words>
  <Application>Microsoft Office PowerPoint</Application>
  <PresentationFormat>Grand écran</PresentationFormat>
  <Paragraphs>19</Paragraphs>
  <Slides>12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toussaij</dc:creator>
  <cp:lastModifiedBy>toussaij</cp:lastModifiedBy>
  <cp:revision>265</cp:revision>
  <dcterms:created xsi:type="dcterms:W3CDTF">2025-06-16T06:26:42Z</dcterms:created>
  <dcterms:modified xsi:type="dcterms:W3CDTF">2025-10-10T08:23:27Z</dcterms:modified>
</cp:coreProperties>
</file>